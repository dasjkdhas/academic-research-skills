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 — TITLE — ~25s — TIME CHECK: 0:25]</a:t>
            </a:r>
          </a:p>
          <a:p/>
          <a:p>
            <a:r>
              <a:t>Good morning. My name is Liu Haiqiang. I am a tenure-track Lecturer at Yamaguchi University, working on urban thermal environment.</a:t>
            </a:r>
          </a:p>
          <a:p/>
          <a:p>
            <a:r>
              <a:t>In one sentence — I bridge urban thermal research with international collaboration, regional policy, and social implementation.</a:t>
            </a:r>
          </a:p>
          <a:p/>
          <a:p>
            <a:r>
              <a:t>In ten minutes, I will show you why my background fits HIRAKU-Global.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 — PROFILE — ~35s — TIME CHECK: 0:35]</a:t>
            </a:r>
          </a:p>
          <a:p/>
          <a:p>
            <a:r>
              <a:t>Briefly — who I am.</a:t>
            </a:r>
          </a:p>
          <a:p/>
          <a:p>
            <a:r>
              <a:t>Three pillars: Japan-trained (Ph.D. Saga 2017). China-experienced (Associate Professor at ZSTU, 2018 to 2023). Japan-returned (Yamaguchi University since January).</a:t>
            </a:r>
          </a:p>
          <a:p/>
          <a:p>
            <a:r>
              <a:t>The timeline shows ten years across building, person, and city.</a:t>
            </a:r>
          </a:p>
          <a:p/>
          <a:p>
            <a:r>
              <a:t>What this gives me is rare — I work natively across Japan and China, through one continuous urban-heat agenda.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— WHY — ~45s — TIME CHECK: 1:45]</a:t>
            </a:r>
          </a:p>
          <a:p/>
          <a:p>
            <a:r>
              <a:t>Why does this matter?</a:t>
            </a:r>
          </a:p>
          <a:p/>
          <a:p>
            <a:r>
              <a:t>In 2023, Japan recorded over 91,000 emergency heatstroke transports. Yamaguchi — 1,200 cases, 60 percent aged 65 or older. Yamaguchi's elderly share is about 35 percent — well above national 29.</a:t>
            </a:r>
          </a:p>
          <a:p/>
          <a:p>
            <a:r>
              <a:t>But not every street is equally hot. The section shows it — built-up zones trap heat; green-and-wind zones stay cool. Elderly residents walk through this contrast every day.</a:t>
            </a:r>
          </a:p>
          <a:p/>
          <a:p>
            <a:r>
              <a:t>My research asks three simple questions — where, why, and how.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 — TRAJECTORY — ~55s — TIME CHECK: 2:40]</a:t>
            </a:r>
          </a:p>
          <a:p/>
          <a:p>
            <a:r>
              <a:t>Three deliberate stages — building, person, city.</a:t>
            </a:r>
          </a:p>
          <a:p/>
          <a:p>
            <a:r>
              <a:t>Stage 1 building — how does form shape indoor thermal and energy. Physical side.</a:t>
            </a:r>
          </a:p>
          <a:p/>
          <a:p>
            <a:r>
              <a:t>Stage 2 person — how do indoor conditions affect learning, health, behavior. My two Q1 first-author papers come from here — Building and Environment top 5, and Energies.</a:t>
            </a:r>
          </a:p>
          <a:p/>
          <a:p>
            <a:r>
              <a:t>Stage 3 city — how do green-blue infrastructure, wind, and morphology regulate pedestrian heat exposure. This is where the Kumamoto work and the MLIT-cited case sit.</a:t>
            </a:r>
          </a:p>
          <a:p/>
          <a:p>
            <a:r>
              <a:t>Each stage answered what the previous one could not. Stage 3 is where HIRAKU-Global begins.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— ORIGINALITY (CORE) — ~65s — TIME CHECK: 3:45]</a:t>
            </a:r>
          </a:p>
          <a:p/>
          <a:p>
            <a:r>
              <a:t>This is the core of my originality.</a:t>
            </a:r>
          </a:p>
          <a:p/>
          <a:p>
            <a:r>
              <a:t>Three scales chained as one workflow. Satellite — where heat accumulates. Block-scale CFD — why. Pedestrian WBGT — along elderly walking corridors.</a:t>
            </a:r>
          </a:p>
          <a:p/>
          <a:p>
            <a:r>
              <a:t>Four originality points. Multi-source data. Cumulative heat exposure. Applied to Kumamoto green-infrastructure policy. And cited by Japan's MLIT as an Evidence-Based Policy Making case.</a:t>
            </a:r>
          </a:p>
          <a:p/>
          <a:p>
            <a:r>
              <a:t>The real Kumamoto finding — the same forest patch produces 3 to 5 degrees of cooling difference depending on its wind-corridor position.</a:t>
            </a:r>
          </a:p>
          <a:p/>
          <a:p>
            <a:r>
              <a:t>Few researchers combine all four in one workflow.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— OUTPUTS — ~45s — TIME CHECK: 4:30]</a:t>
            </a:r>
          </a:p>
          <a:p/>
          <a:p>
            <a:r>
              <a:t>Publications — quality first, honest positioning.</a:t>
            </a:r>
          </a:p>
          <a:p/>
          <a:p>
            <a:r>
              <a:t>Fifteen peer-reviewed. Ten English SCI or SCIE. Eight with impact factor. Three Q1.</a:t>
            </a:r>
          </a:p>
          <a:p/>
          <a:p>
            <a:r>
              <a:t>I want to be precise — two led, one contributed. As first or co-first: Building and Environment top 5, and Energies. As co-author: Environmental Pollution.</a:t>
            </a:r>
          </a:p>
          <a:p/>
          <a:p>
            <a:r>
              <a:t>The timeline below shows my first or co-first papers year by year.</a:t>
            </a:r>
          </a:p>
          <a:p/>
          <a:p>
            <a:r>
              <a:t>What matters more than the count — one continuous research line from building energy to urban policy.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— INT'L COLLABORATION — ~50s — TIME CHECK: 5:20]</a:t>
            </a:r>
          </a:p>
          <a:p/>
          <a:p>
            <a:r>
              <a:t>For me, collaboration means organizing — not just attending.</a:t>
            </a:r>
          </a:p>
          <a:p/>
          <a:p>
            <a:r>
              <a:t>Three concrete records.</a:t>
            </a:r>
          </a:p>
          <a:p/>
          <a:p>
            <a:r>
              <a:t>Sakura Science Program, 2019 to 2020 — organized exchanges between ZSTU and Japanese universities. Paused by COVID; friendship intact.</a:t>
            </a:r>
          </a:p>
          <a:p/>
          <a:p>
            <a:r>
              <a:t>Zhejiang Carbon-Neutral Center, 2021 to 2022 — I helped build one of only four provincial centers, ZSTU as core unit.</a:t>
            </a:r>
          </a:p>
          <a:p/>
          <a:p>
            <a:r>
              <a:t>Five-country online forum, 2022 — China, Japan, UK at UCL, Indonesia, Bangladesh.</a:t>
            </a:r>
          </a:p>
          <a:p/>
          <a:p>
            <a:r>
              <a:t>The future network builds on these existing friendships. In all three — I was the organizer.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 — FUNDING — ~50s — TIME CHECK: 6:10]</a:t>
            </a:r>
          </a:p>
          <a:p/>
          <a:p>
            <a:r>
              <a:t>Funding — honest picture in three phases.</a:t>
            </a:r>
          </a:p>
          <a:p/>
          <a:p>
            <a:r>
              <a:t>China, 2018 to 2023. Eight projects, approximately 100 million yen total — five as Leading Researcher. Notable: Hangzhou Public Spaces as PI; NSSFC General Project as collaborator.</a:t>
            </a:r>
          </a:p>
          <a:p/>
          <a:p>
            <a:r>
              <a:t>Kumamoto, 2023 to 2025. Municipal post — institutional rule did not permit external Kakenhi from this position. Instead — the MLIT-cited policy work.</a:t>
            </a:r>
          </a:p>
          <a:p/>
          <a:p>
            <a:r>
              <a:t>Yamaguchi, since January. First time eligible. Ranked number one of thirteen — within months. The Japan pattern has started.</a:t>
            </a:r>
          </a:p>
          <a:p/>
          <a:p>
            <a:r>
              <a:t>Forward — Kakenhi Kiban C autumn, then Kiban B during HIRAKU.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 — PLAN (CORE) — ~70s — TIME CHECK: 7:20]</a:t>
            </a:r>
          </a:p>
          <a:p/>
          <a:p>
            <a:r>
              <a:t>This is the HIRAKU project.</a:t>
            </a:r>
          </a:p>
          <a:p/>
          <a:p>
            <a:r>
              <a:t>Three cities — three wind regimes: Matsue lakeside, Yamaguchi basin, Ube coastal. The contrast is what the science needs.</a:t>
            </a:r>
          </a:p>
          <a:p/>
          <a:p>
            <a:r>
              <a:t>The method chain. Satellite screening already running. Block CFD methodology already established. Pedestrian WBGT co-designed with Yamaguchi's elderly-care offices.</a:t>
            </a:r>
          </a:p>
          <a:p/>
          <a:p>
            <a:r>
              <a:t>The five-year plan. Year 1 diagnosis. Year 2 UCL stay. Year 3 CFD plus Zhejiang visit. Year 4 pedestrian field plus international workshop. Year 5 synthesis and Kakenhi B.</a:t>
            </a:r>
          </a:p>
          <a:p/>
          <a:p>
            <a:r>
              <a:t>This does not start from zero. Pipeline running, partners ready, first grant won. Budget allocation below.</a:t>
            </a:r>
          </a:p>
          <a:p/>
          <a:p>
            <a:r>
              <a:t>Risk managed — anchor Yamaguchi first, expand stepwise.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 — ASPIRATIONS — ~55s — TIME CHECK: 8:15]</a:t>
            </a:r>
          </a:p>
          <a:p/>
          <a:p>
            <a:r>
              <a:t>What I will do — during and after HIRAKU.</a:t>
            </a:r>
          </a:p>
          <a:p/>
          <a:p>
            <a:r>
              <a:t>The matrix shows year-by-year deliverables aligned with the 3I framework — Innovative, Influential, Impactful — across five years. Each cell is one specific milestone.</a:t>
            </a:r>
          </a:p>
          <a:p/>
          <a:p>
            <a:r>
              <a:t>After tenure — I will be a long-term anchor at Yamaguchi University. The rings show the path: lab, region, Western Japan as urban thermal hub, Asia platform, Local-to-Global model.</a:t>
            </a:r>
          </a:p>
          <a:p/>
          <a:p>
            <a:r>
              <a:t>I am not only a recipient. I give back — international workshop, China-Japan bridge, graduate teaching, and active department service.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 — CLOSING — ~25s — TIME CHECK: 9:10  ·  FINISH: 9:35]</a:t>
            </a:r>
          </a:p>
          <a:p/>
          <a:p>
            <a:r>
              <a:t>To close.</a:t>
            </a:r>
          </a:p>
          <a:p/>
          <a:p>
            <a:r>
              <a:t>Four foundations — already in motion. Quality. Bridge. Funding. Implementation.</a:t>
            </a:r>
          </a:p>
          <a:p/>
          <a:p>
            <a:r>
              <a:t>And four commitments — research, teaching, collaboration, long-term anchor.</a:t>
            </a:r>
          </a:p>
          <a:p/>
          <a:p>
            <a:r>
              <a:t>HIRAKU-Global is the multiplier — not the starter.</a:t>
            </a:r>
          </a:p>
          <a:p/>
          <a:p>
            <a:r>
              <a:t>Thank you very much. I look forward to your questions.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 A1 — Research Trajectory] Use if a reviewer asks for the detailed evolution of my research, the specific methods at each stage, or how the three stages connect. This is the full framework from my application; Slide 4 is its simplified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 A2 — Cross-Scale Framework] Use if a reviewer wants the scientific depth behind Slide 5 — the Q0/Q1/Q2 questions, the three analytical scales, and how they integrate into one knowledge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 A3 — Workflow &amp; Plan] Use if a reviewer probes feasibility or the year-by-year schedule. Shows the full screening-explanation-validation chain behind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 A4 — Collaboration] Use if a reviewer asks for detail on partner roles, complementarity, or how the network expands. Expands the hub-and-spoke diagram on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YAMAGUCHI UNIVERSITY  ·  HIRAKU-GLOBAL  ·  7TH COHORT  · 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141732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Bridging Cities, Climate,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2514600"/>
            <a:ext cx="27432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6974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Calibri"/>
              </a:rPr>
              <a:t>Urban Thermal Environment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1546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B8C8DC"/>
                </a:solidFill>
                <a:latin typeface="Calibri"/>
              </a:rPr>
              <a:t>from Japanese Regional Cities to International Asia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49039"/>
            <a:ext cx="54864" cy="292608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749039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A961"/>
                </a:solidFill>
                <a:latin typeface="Calibri"/>
              </a:rPr>
              <a:t>HEAT-ADAPTIVE WALKABLE CITIES  ·  CROSS-SCALE ANALYTICAL FRAMEWORK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251960"/>
            <a:ext cx="54864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251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LIU  HAIQIANG, Ph.D.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9A961"/>
                </a:solidFill>
                <a:latin typeface="Calibri"/>
              </a:rPr>
              <a:t>Lecturer (Tenure-track)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0109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Graduate School of Sciences and Technology for Innovation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8DC"/>
                </a:solidFill>
                <a:latin typeface="Calibri"/>
              </a:rPr>
              <a:t>Yamaguchi University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URBAN THERMAL ENVIRONMENT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18504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REGIONAL POLICY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  <a:ln w="9525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4856" y="59893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SOCIAL IMPLEMENTATION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6446520"/>
            <a:ext cx="3108960" cy="292608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601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44200" y="6446520"/>
            <a:ext cx="0" cy="292608"/>
          </a:xfrm>
          <a:prstGeom prst="line">
            <a:avLst/>
          </a:prstGeom>
          <a:ln w="762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686800" y="644652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01 / 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20" y="644652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TITLE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446520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4D29D"/>
                </a:solidFill>
                <a:latin typeface="Calibri"/>
              </a:rPr>
              <a:t>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02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Who I am — a researcher trained between Japan and China.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02/11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JAPAN-TRAINED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Ph.D. (Architectural Environmental Engineering)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Saga University, Japan  ·  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CHINA-EXPERIENCED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Associate Professor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Zhejiang Sci-Tech University  ·  2018–2023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1691640"/>
            <a:ext cx="3703320" cy="128016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75320" y="1691640"/>
            <a:ext cx="73152" cy="12801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1828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E55"/>
                </a:solidFill>
                <a:latin typeface="Calibri"/>
              </a:rPr>
              <a:t>JAPAN-RETURNED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194560"/>
            <a:ext cx="3337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Lecturer (Tenure-track)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Yamaguchi University  ·  since Jan 2026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3364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320040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CAREER TIMELINE  ·  10 YEARS ACROSS BUILDING → PERSON → CITY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4434840"/>
            <a:ext cx="10817352" cy="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4360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2009–2011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-137160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Master's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6" name="Oval 45"/>
          <p:cNvSpPr/>
          <p:nvPr/>
        </p:nvSpPr>
        <p:spPr>
          <a:xfrm>
            <a:off x="221696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6832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2014–2017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544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Ph.D.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49" name="Oval 48"/>
          <p:cNvSpPr/>
          <p:nvPr/>
        </p:nvSpPr>
        <p:spPr>
          <a:xfrm>
            <a:off x="4055912" y="4343400"/>
            <a:ext cx="182880" cy="182880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0727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2017–2018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2439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Saga U.</a:t>
            </a:r>
          </a:p>
        </p:txBody>
      </p:sp>
      <p:sp>
        <p:nvSpPr>
          <p:cNvPr id="52" name="Oval 51"/>
          <p:cNvSpPr/>
          <p:nvPr/>
        </p:nvSpPr>
        <p:spPr>
          <a:xfrm>
            <a:off x="5570341" y="4343400"/>
            <a:ext cx="182880" cy="182880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701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2018–2023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38821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Associate Prof.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ZSTU</a:t>
            </a:r>
          </a:p>
        </p:txBody>
      </p:sp>
      <p:sp>
        <p:nvSpPr>
          <p:cNvPr id="55" name="Oval 54"/>
          <p:cNvSpPr/>
          <p:nvPr/>
        </p:nvSpPr>
        <p:spPr>
          <a:xfrm>
            <a:off x="773381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8517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2023–2025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0229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Researcher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Kumamoto City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Policy Institute</a:t>
            </a:r>
          </a:p>
        </p:txBody>
      </p:sp>
      <p:sp>
        <p:nvSpPr>
          <p:cNvPr id="58" name="Oval 57"/>
          <p:cNvSpPr/>
          <p:nvPr/>
        </p:nvSpPr>
        <p:spPr>
          <a:xfrm>
            <a:off x="9897282" y="4343400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48642" y="3931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2026—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5762" y="457200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Lecturer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61" name="Oval 60"/>
          <p:cNvSpPr/>
          <p:nvPr/>
        </p:nvSpPr>
        <p:spPr>
          <a:xfrm>
            <a:off x="685800" y="5212080"/>
            <a:ext cx="146304" cy="146304"/>
          </a:xfrm>
          <a:prstGeom prst="ellipse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8696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1  ·  BUILDING</a:t>
            </a:r>
          </a:p>
        </p:txBody>
      </p:sp>
      <p:sp>
        <p:nvSpPr>
          <p:cNvPr id="63" name="Oval 62"/>
          <p:cNvSpPr/>
          <p:nvPr/>
        </p:nvSpPr>
        <p:spPr>
          <a:xfrm>
            <a:off x="3154680" y="5212080"/>
            <a:ext cx="146304" cy="146304"/>
          </a:xfrm>
          <a:prstGeom prst="ellipse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5584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2  ·  PERSON</a:t>
            </a:r>
          </a:p>
        </p:txBody>
      </p:sp>
      <p:sp>
        <p:nvSpPr>
          <p:cNvPr id="65" name="Oval 64"/>
          <p:cNvSpPr/>
          <p:nvPr/>
        </p:nvSpPr>
        <p:spPr>
          <a:xfrm>
            <a:off x="5623560" y="5212080"/>
            <a:ext cx="146304" cy="146304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24728" y="51663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4A5568"/>
                </a:solidFill>
                <a:latin typeface="Calibri"/>
              </a:rPr>
              <a:t>STAGE 3  ·  CITY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65099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4400" y="548640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SELECTED DISTINCTIONS &amp; CREDENTIALS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5806440"/>
            <a:ext cx="2715768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8580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2104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C6F33"/>
                </a:solidFill>
                <a:latin typeface="Calibri"/>
              </a:rPr>
              <a:t>2012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99032" y="5833872"/>
            <a:ext cx="1892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42E55"/>
                </a:solidFill>
                <a:latin typeface="Calibri"/>
              </a:rPr>
              <a:t>CCTV-featured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2104" y="6053328"/>
            <a:ext cx="24597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Eco-City 1st Prize on China Central TV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720" y="5806440"/>
            <a:ext cx="2715768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47472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21024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C6F33"/>
                </a:solidFill>
                <a:latin typeface="Calibri"/>
              </a:rPr>
              <a:t>2011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87952" y="5833872"/>
            <a:ext cx="1892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42E55"/>
                </a:solidFill>
                <a:latin typeface="Calibri"/>
              </a:rPr>
              <a:t>Croucher Institute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21024" y="6053328"/>
            <a:ext cx="24597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Adv. Study Institute (Hong Kong)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5806440"/>
            <a:ext cx="2715768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6364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09944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C6F33"/>
                </a:solidFill>
                <a:latin typeface="Calibri"/>
              </a:rPr>
              <a:t>2020–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76872" y="5833872"/>
            <a:ext cx="1892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42E55"/>
                </a:solidFill>
                <a:latin typeface="Calibri"/>
              </a:rPr>
              <a:t>3 Advisory Roles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9944" y="6053328"/>
            <a:ext cx="24597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Urban Regen. · Changzhou · Saga Alumni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052560" y="5806440"/>
            <a:ext cx="2715768" cy="502920"/>
          </a:xfrm>
          <a:prstGeom prst="rect">
            <a:avLst/>
          </a:prstGeom>
          <a:noFill/>
          <a:ln w="762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52560" y="5806440"/>
            <a:ext cx="54864" cy="5029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98864" y="583387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C6F33"/>
                </a:solidFill>
                <a:latin typeface="Calibri"/>
              </a:rPr>
              <a:t>Skills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65792" y="5833872"/>
            <a:ext cx="18928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42E55"/>
                </a:solidFill>
                <a:latin typeface="Calibri"/>
              </a:rPr>
              <a:t>Patent + Languages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98864" y="6053328"/>
            <a:ext cx="24597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Patent CN 210135674 U · 中 / 日 / 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03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PROBLEM SETTING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Climate change becomes a local problem — on every street.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03/11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852160" cy="30175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STREET SECTION  ·  WHAT AN ELDERLY RESIDENT FACES</a:t>
            </a:r>
          </a:p>
        </p:txBody>
      </p:sp>
      <p:sp>
        <p:nvSpPr>
          <p:cNvPr id="28" name="Oval 27"/>
          <p:cNvSpPr/>
          <p:nvPr/>
        </p:nvSpPr>
        <p:spPr>
          <a:xfrm>
            <a:off x="5417820" y="2400300"/>
            <a:ext cx="320040" cy="32004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785866.0" y="2560320.0"/>
            <a:ext cx="96012.0" cy="0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724936.595263112" y="2707416.595263113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7840.0" y="2768346.0"/>
            <a:ext cx="0.0" cy="96012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5362852.668461604" y="2707416.595263113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5273802.0" y="2560320.0"/>
            <a:ext cx="96012.0" cy="0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5362852.668461604" y="2345332.6684616045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577840.0" y="2256282.0"/>
            <a:ext cx="0.0" cy="96012.0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724936.595263112" y="2345332.6684616045"/>
            <a:ext cx="67890.73627528362" cy="67890.73627528269"/>
          </a:xfrm>
          <a:prstGeom prst="line">
            <a:avLst/>
          </a:prstGeom>
          <a:ln w="19050">
            <a:solidFill>
              <a:srgbClr val="D953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60120" y="4297680"/>
            <a:ext cx="5303520" cy="914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" y="318211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Isosceles Triangle 38"/>
          <p:cNvSpPr/>
          <p:nvPr/>
        </p:nvSpPr>
        <p:spPr>
          <a:xfrm>
            <a:off x="1143000" y="301752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4175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4749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53235" y="330555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4175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749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53235" y="349483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57400" y="2816352"/>
            <a:ext cx="822960" cy="658368"/>
          </a:xfrm>
          <a:prstGeom prst="rect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>
            <a:off x="2057400" y="2651760"/>
            <a:ext cx="822960" cy="205740"/>
          </a:xfrm>
          <a:prstGeom prst="triangle">
            <a:avLst/>
          </a:prstGeom>
          <a:noFill/>
          <a:ln w="15240">
            <a:solidFill>
              <a:srgbClr val="2A4D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15615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6189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567635" y="293979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5615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6189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67635" y="3129076"/>
            <a:ext cx="148132" cy="12344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1560" y="4251960"/>
            <a:ext cx="2194560" cy="4572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0" y="4462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D9534F"/>
                </a:solidFill>
                <a:latin typeface="Calibri"/>
              </a:rPr>
              <a:t>HOT  ·  built-up</a:t>
            </a:r>
          </a:p>
        </p:txBody>
      </p:sp>
      <p:sp>
        <p:nvSpPr>
          <p:cNvPr id="56" name="Oval 55"/>
          <p:cNvSpPr/>
          <p:nvPr/>
        </p:nvSpPr>
        <p:spPr>
          <a:xfrm>
            <a:off x="3472891" y="352044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92424" y="368640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46739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9510" y="393786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>
            <a:off x="4343400" y="3291840"/>
            <a:ext cx="731520" cy="512063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636008" y="3803904"/>
            <a:ext cx="146304" cy="219456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>
            <a:off x="5212080" y="3429000"/>
            <a:ext cx="640080" cy="448056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468112" y="3877056"/>
            <a:ext cx="128016" cy="192024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51960" y="4251960"/>
            <a:ext cx="1828800" cy="4572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97680" y="44622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6FA8C6"/>
                </a:solidFill>
                <a:latin typeface="Calibri"/>
              </a:rPr>
              <a:t>COOL  ·  green &amp; wind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051560" y="4663440"/>
            <a:ext cx="502920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5156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1">
                <a:solidFill>
                  <a:srgbClr val="8C6F33"/>
                </a:solidFill>
                <a:latin typeface="Calibri"/>
              </a:rPr>
              <a:t>← 500–1000 m daily-activity corridor →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8122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40880" y="169164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THE NUMBERS  ·  FDMA 2024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2103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D9534F"/>
                </a:solidFill>
                <a:latin typeface="Calibri"/>
              </a:rPr>
              <a:t>91,000+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12280" y="2971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heatstroke emergency transports — Japan, 2023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12280" y="338328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E55"/>
                </a:solidFill>
                <a:latin typeface="Calibri"/>
              </a:rPr>
              <a:t>1,200+ in Yamaguchi  ·  60% aged 65+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12280" y="37947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C6F33"/>
                </a:solidFill>
                <a:latin typeface="Calibri"/>
              </a:rPr>
              <a:t>Yamaguchi 65+ share ≈ 35%   (national avg ≈ 29%)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12280" y="41148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Heat × aging × decline — triple challenge concentrated here.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12280" y="45994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040880" y="443484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MY THREE QUESTIONS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489204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995160" y="48463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WHERE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12280" y="530352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95160" y="5257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WHY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0" y="5294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is it hot?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2280" y="5715000"/>
            <a:ext cx="54864" cy="2743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995160" y="5669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HOW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5705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to cool &amp; re-vitalize the city?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85800" y="6263640"/>
            <a:ext cx="10972800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68680" y="62636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REGIONAL CITIES FACE A TRIPLE CHALLENGE   ·   CLIMATE WARMING  +  AGING SOCIETY  +  CITY-CENTER DECLINE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04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10 years, three stages — Building → Person → City.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04/11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BUILDING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2377440"/>
            <a:ext cx="914400" cy="731520"/>
          </a:xfrm>
          <a:prstGeom prst="rect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3200400" y="2194560"/>
            <a:ext cx="914400" cy="228600"/>
          </a:xfrm>
          <a:prstGeom prst="triangle">
            <a:avLst/>
          </a:prstGeom>
          <a:noFill/>
          <a:ln w="1524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101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387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67328" y="2514600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101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387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2724912"/>
            <a:ext cx="164592" cy="1371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91440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4300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does building type &amp; form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shape indoor thermal &amp; energy?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183 households across 3 cities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Window-to-wall ratio optimization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Residential building types comparison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4300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Sustainability  ·  JCEA  ·  Procedia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056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6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PERSON</a:t>
            </a:r>
          </a:p>
        </p:txBody>
      </p:sp>
      <p:sp>
        <p:nvSpPr>
          <p:cNvPr id="50" name="Oval 49"/>
          <p:cNvSpPr/>
          <p:nvPr/>
        </p:nvSpPr>
        <p:spPr>
          <a:xfrm>
            <a:off x="7324344" y="2194560"/>
            <a:ext cx="256032" cy="256032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178040" y="2496312"/>
            <a:ext cx="54864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6795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18196" y="2953512"/>
            <a:ext cx="109728" cy="16459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70916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3776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916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 indoor conditions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affect learning, health, behavior?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70916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493776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916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Classroom thermal × learning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PM2.5 health-effect assessment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Elderly spatial needs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70916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93776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6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Building &amp; Env. Q1 (Top 5)  ·  Env. Pollution Q1  ·  Energies Q1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75320" y="1691640"/>
            <a:ext cx="370332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3920" y="1691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STAGE 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22402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CITY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812780" y="2606040"/>
            <a:ext cx="105482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936877" y="2331720"/>
            <a:ext cx="105482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60974" y="2743200"/>
            <a:ext cx="105482" cy="36576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185071" y="2468880"/>
            <a:ext cx="105482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309168" y="2651760"/>
            <a:ext cx="105482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433265" y="2240280"/>
            <a:ext cx="105482" cy="8686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557362" y="2560320"/>
            <a:ext cx="105482" cy="5486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8503920" y="304495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732520" y="2880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QUESTION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03920" y="31089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How do GBI, wind &amp; morphology</a:t>
            </a:r>
          </a:p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A1A1A"/>
                </a:solidFill>
                <a:latin typeface="Calibri"/>
              </a:rPr>
              <a:t>regulate pedestrian heat exposure?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503920" y="40050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732520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WORK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920" y="4069080"/>
            <a:ext cx="3337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Satellite LST + Sentinel-2 LCZ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Courtyard CFD wind analysis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4A5568"/>
                </a:solidFill>
                <a:latin typeface="Calibri"/>
              </a:rPr>
              <a:t>Kumamoto green-infra mapping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503920" y="50109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732520" y="48463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OUTPUTS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03920" y="5029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C6F33"/>
                </a:solidFill>
                <a:latin typeface="Calibri"/>
              </a:rPr>
              <a:t>Sustainability Q2  ·  Book Chapter  ·  MLIT EBPM-cited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38912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183880" y="1892808"/>
            <a:ext cx="91440" cy="0"/>
          </a:xfrm>
          <a:prstGeom prst="line">
            <a:avLst/>
          </a:prstGeom>
          <a:ln w="317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685800" y="5577840"/>
            <a:ext cx="10972800" cy="7772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" y="56875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WHAT BINDS THE THREE STAGES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8680" y="59436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Each stage was pushed forward by a question the previous stage could only partly answer.  Stage 3 is where HIRAKU-Global begins.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05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ORIGINALITY  · 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Satellite + measurement + CFD + national-level policy — in one workflow.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05/11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5212080" cy="39319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6868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9728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CROSS-SCALE WORKFLOW  ·  SATELLITE → BLOCK → PEDESTRIAN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286000"/>
            <a:ext cx="0" cy="2926080"/>
          </a:xfrm>
          <a:prstGeom prst="line">
            <a:avLst/>
          </a:prstGeom>
          <a:ln w="1905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15568" y="23774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15568" y="35204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15568" y="470916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15568" y="5120640"/>
            <a:ext cx="146304" cy="0"/>
          </a:xfrm>
          <a:prstGeom prst="line">
            <a:avLst/>
          </a:prstGeom>
          <a:ln w="1270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7240" y="22402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km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0292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3372" y="2499741"/>
            <a:ext cx="310896" cy="349758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0200" y="2558034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83130" y="2558034"/>
            <a:ext cx="194310" cy="233172"/>
          </a:xfrm>
          <a:prstGeom prst="rect">
            <a:avLst/>
          </a:prstGeom>
          <a:noFill/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1988820.0" y="2286000"/>
            <a:ext cx="0.0" cy="213741.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957730" y="2247138"/>
            <a:ext cx="62179" cy="62179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19" y="23774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LANDSAT-8/9  +  SENTINEL-2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19" y="2651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LST × LCZ — 30 m resolution screening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88186" y="3927348"/>
            <a:ext cx="116030" cy="55321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24692" y="3625596"/>
            <a:ext cx="116030" cy="85496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61199" y="4078224"/>
            <a:ext cx="116030" cy="402336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97706" y="3776472"/>
            <a:ext cx="116030" cy="70408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34213" y="3977640"/>
            <a:ext cx="116030" cy="50292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70720" y="3525012"/>
            <a:ext cx="116030" cy="955548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307227" y="3877056"/>
            <a:ext cx="116030" cy="603504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560319" y="3154680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>
            <a:off x="3246120" y="3118104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560319" y="3429000"/>
            <a:ext cx="731521" cy="0"/>
          </a:xfrm>
          <a:prstGeom prst="line">
            <a:avLst/>
          </a:prstGeom>
          <a:ln w="19050">
            <a:solidFill>
              <a:srgbClr val="6FA8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>
            <a:off x="3246120" y="3392424"/>
            <a:ext cx="73152" cy="73152"/>
          </a:xfrm>
          <a:prstGeom prst="triangle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83280" y="3246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BLOCK-SCALE CFD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3280" y="3474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OpenFOAM — wind × morphology × GBI</a:t>
            </a:r>
          </a:p>
        </p:txBody>
      </p:sp>
      <p:sp>
        <p:nvSpPr>
          <p:cNvPr id="55" name="Oval 54"/>
          <p:cNvSpPr/>
          <p:nvPr/>
        </p:nvSpPr>
        <p:spPr>
          <a:xfrm>
            <a:off x="1964131" y="4709160"/>
            <a:ext cx="140817" cy="14081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883664" y="4875123"/>
            <a:ext cx="301752" cy="2514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37979" y="512658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70750" y="5126583"/>
            <a:ext cx="60350" cy="90525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463040" y="5303520"/>
            <a:ext cx="3337560" cy="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>
            <a:off x="2788920" y="4892040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35224" y="5148072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Isosceles Triangle 61"/>
          <p:cNvSpPr/>
          <p:nvPr/>
        </p:nvSpPr>
        <p:spPr>
          <a:xfrm>
            <a:off x="3886200" y="4892040"/>
            <a:ext cx="365760" cy="256031"/>
          </a:xfrm>
          <a:prstGeom prst="triangle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32504" y="5148072"/>
            <a:ext cx="73152" cy="109728"/>
          </a:xfrm>
          <a:prstGeom prst="rect">
            <a:avLst/>
          </a:prstGeom>
          <a:solidFill>
            <a:srgbClr val="6A8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60319" y="4617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PEDESTRIAN  ·  WBGT FIELD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60319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Elderly walking corridor, 500–1000 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1691640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63640" y="1691640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720" y="16916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MULTI-SOURCE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148840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Satellite RS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 on-site measurement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 CFD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52560" y="1691640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052560" y="1691640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89720" y="1691640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92640" y="1691640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CUMULATIVE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148840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Pedestrian-scale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heat retention zones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(not instantaneous 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657599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63640" y="3657599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0" y="365759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03720" y="3657599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POLICY-APPLIED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0" y="4114799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Kumamoto City green-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infrastructure policy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(Book chapter A-1)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052560" y="3657599"/>
            <a:ext cx="2697480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52560" y="3657599"/>
            <a:ext cx="2697480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9720" y="3657599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04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92640" y="3657599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MLIT EBPM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89720" y="4114799"/>
            <a:ext cx="2423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Adopted by MLIT as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an Evidence-Based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Policy Making case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52560" y="3657599"/>
            <a:ext cx="2697480" cy="1874519"/>
          </a:xfrm>
          <a:prstGeom prst="rect">
            <a:avLst/>
          </a:prstGeom>
          <a:noFill/>
          <a:ln w="190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263640" y="5532120"/>
            <a:ext cx="5468112" cy="32004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263640" y="5532120"/>
            <a:ext cx="54864" cy="3200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09944" y="55321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9A961"/>
                </a:solidFill>
                <a:latin typeface="Calibri"/>
              </a:rPr>
              <a:t>  REAL KUMAMOTO FINDING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75320" y="5532120"/>
            <a:ext cx="336499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Same forest patch — daytime cooling varies 3–5 °C by wind-corridor position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8680" y="5641848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895A8"/>
                </a:solidFill>
                <a:latin typeface="Calibri"/>
              </a:rPr>
              <a:t>Methods validated in Sustainability (2024) &amp; Kumamoto book chapter  ·  + Utility Model Patent CN 210135674 U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5800" y="5897880"/>
            <a:ext cx="10972800" cy="4572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8680" y="5943600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RESEARCH  →  POLICY  →  NATIONAL RECOGNITION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8680" y="6126480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Few researchers combine satellite, measurement, CFD, and national-level policy adoption in one continuous workflow.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06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15 peer-reviewed papers · 3 Q1 · 2 led, 1 contributed.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06/11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peer-reviewed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papers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8728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13048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38728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English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SCI / SCIE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1691640"/>
            <a:ext cx="2761488" cy="15544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65976" y="2880360"/>
            <a:ext cx="36576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142E55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5976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with Impact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A5568"/>
                </a:solidFill>
                <a:latin typeface="Calibri"/>
              </a:rPr>
              <a:t>Factor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44584" y="1691640"/>
            <a:ext cx="2761488" cy="1554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18904" y="2880360"/>
            <a:ext cx="36576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1783080"/>
            <a:ext cx="2761488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8904" y="2953512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Q1 papers</a:t>
            </a:r>
          </a:p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(2 led + 1 contributed)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5478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338328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Q1 JOURNALS  ·  HONEST AUTHOR POSITIONING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5800" y="3794760"/>
            <a:ext cx="64008" cy="1188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Building and 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IF ≈ 7.1  ·  Q1  ·  Top 5 in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Co-first author  ·  led design &amp; supervision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Classroom thermal × learning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480560" y="3794760"/>
            <a:ext cx="64008" cy="118872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0916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Energies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IF ≈ 3.1  ·  Q1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6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First author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Classroom comfort × learning efficiency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75320" y="3794760"/>
            <a:ext cx="3703320" cy="118872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75320" y="3794760"/>
            <a:ext cx="64008" cy="1188720"/>
          </a:xfrm>
          <a:prstGeom prst="rect">
            <a:avLst/>
          </a:prstGeom>
          <a:solidFill>
            <a:srgbClr val="889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38862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42E55"/>
                </a:solidFill>
                <a:latin typeface="Calibri"/>
              </a:rPr>
              <a:t>Environmental Pollution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20624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895A8"/>
                </a:solidFill>
                <a:latin typeface="Calibri"/>
              </a:rPr>
              <a:t>IF ≈ 7.3  ·  Q1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4531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Co-author  ·  research-team member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4A5568"/>
                </a:solidFill>
                <a:latin typeface="Calibri"/>
              </a:rPr>
              <a:t>PM2.5 health-effects assessment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85800" y="523951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14400" y="507492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FIRST / CO-FIRST AUTHOR PAPERS  ·  PEER-REVIEWED ENGLISH BY YEAR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6217920"/>
            <a:ext cx="10972800" cy="0"/>
          </a:xfrm>
          <a:prstGeom prst="line">
            <a:avLst/>
          </a:prstGeom>
          <a:ln w="15240">
            <a:solidFill>
              <a:srgbClr val="142E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171907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7240" y="5779008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JCEA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peer-reviewed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2017</a:t>
            </a:r>
          </a:p>
        </p:txBody>
      </p:sp>
      <p:sp>
        <p:nvSpPr>
          <p:cNvPr id="66" name="Oval 65"/>
          <p:cNvSpPr/>
          <p:nvPr/>
        </p:nvSpPr>
        <p:spPr>
          <a:xfrm>
            <a:off x="395935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17520" y="5779008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6324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Lowland Tech.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6324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peer-reviewed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2608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2020</a:t>
            </a:r>
          </a:p>
        </p:txBody>
      </p:sp>
      <p:sp>
        <p:nvSpPr>
          <p:cNvPr id="71" name="Oval 70"/>
          <p:cNvSpPr/>
          <p:nvPr/>
        </p:nvSpPr>
        <p:spPr>
          <a:xfrm>
            <a:off x="619963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257800" y="5779008"/>
            <a:ext cx="2011680" cy="256032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0352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Energies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0352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Q1  ·  first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57800" y="5486400"/>
            <a:ext cx="2011680" cy="25603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03520" y="549554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Sustainability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5614416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Q2  ·  first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36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2021</a:t>
            </a:r>
          </a:p>
        </p:txBody>
      </p:sp>
      <p:sp>
        <p:nvSpPr>
          <p:cNvPr id="79" name="Oval 78"/>
          <p:cNvSpPr/>
          <p:nvPr/>
        </p:nvSpPr>
        <p:spPr>
          <a:xfrm>
            <a:off x="843991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498080" y="5779008"/>
            <a:ext cx="2011680" cy="25603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4380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Building &amp; Env.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54380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Q1 Top 5  ·  co-1st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0664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2023</a:t>
            </a:r>
          </a:p>
        </p:txBody>
      </p:sp>
      <p:sp>
        <p:nvSpPr>
          <p:cNvPr id="84" name="Oval 83"/>
          <p:cNvSpPr/>
          <p:nvPr/>
        </p:nvSpPr>
        <p:spPr>
          <a:xfrm>
            <a:off x="10680192" y="6153912"/>
            <a:ext cx="128016" cy="128016"/>
          </a:xfrm>
          <a:prstGeom prst="ellips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738360" y="5779008"/>
            <a:ext cx="2011680" cy="256032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84080" y="578815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Sustainability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84080" y="5907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Q2  ·  first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738360" y="5486400"/>
            <a:ext cx="2011680" cy="25603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84080" y="549554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4A5568"/>
                </a:solidFill>
                <a:latin typeface="Calibri"/>
              </a:rPr>
              <a:t>Kumamoto Pol. ×2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84080" y="5614416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Japanese  ·  first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46920" y="630936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2024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373368"/>
            <a:ext cx="77724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1">
                <a:solidFill>
                  <a:srgbClr val="142E55"/>
                </a:solidFill>
                <a:latin typeface="Calibri"/>
              </a:rPr>
              <a:t>ONE CONTINUOUS LINE: building energy → indoor comfort → PM2.5 → urban heat → green infra → policy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503920" y="6373368"/>
            <a:ext cx="32004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8895A8"/>
                </a:solidFill>
                <a:latin typeface="Calibri"/>
              </a:rPr>
              <a:t>ORCID 0000-0001-7378-5265  ·  ResearcherID 51035663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07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INTERNATIONAL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Organizer, not just participant — three concrete records.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07/11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172821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SAKURA SCIENCE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1984248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E4D29D"/>
                </a:solidFill>
                <a:latin typeface="Calibri"/>
              </a:rPr>
              <a:t>2019–2020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Organized ZSTU × Japanese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universities student-researcher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exchanges over multiple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Sustained partnership — paused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by COVID, friendship intact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8056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916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172821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ZHEJIANG CARBON-NEUTRAL CENTER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1984248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E4D29D"/>
                </a:solidFill>
                <a:latin typeface="Calibri"/>
              </a:rPr>
              <a:t>2021–2022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Built the Zhejiang International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Co-op Center on Carbon Neutrality,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as ZSTU representative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0916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1 of 4 provincial centers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— ZSTU as core unit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691640"/>
            <a:ext cx="3703320" cy="2926080"/>
          </a:xfrm>
          <a:prstGeom prst="rect">
            <a:avLst/>
          </a:prstGeom>
          <a:solidFill>
            <a:srgbClr val="FFFFFF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1691640"/>
            <a:ext cx="370332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1691640"/>
            <a:ext cx="548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172821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5-COUNTRY ONLINE FORUM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1984248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E4D29D"/>
                </a:solidFill>
                <a:latin typeface="Calibri"/>
              </a:rPr>
              <a:t>2022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2468880"/>
            <a:ext cx="3337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Organized international forum: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China · Japan · UK (UCL) ·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Indonesia · Bangladesh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03920" y="3840480"/>
            <a:ext cx="32461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3931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Multi-country coordination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8C6F33"/>
                </a:solidFill>
                <a:latin typeface="Calibri"/>
              </a:rPr>
              <a:t>under COVID constraints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4754880"/>
            <a:ext cx="10972800" cy="320040"/>
          </a:xfrm>
          <a:prstGeom prst="rect">
            <a:avLst/>
          </a:prstGeom>
          <a:noFill/>
          <a:ln w="635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4754880"/>
            <a:ext cx="54864" cy="3200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8" y="47548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6F33"/>
                </a:solidFill>
                <a:latin typeface="Calibri"/>
              </a:rPr>
              <a:t>INVITED TALKS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42E55"/>
                </a:solidFill>
                <a:latin typeface="Calibri"/>
              </a:rPr>
              <a:t>Shanghai Inst. for Global City (2025)  ·  Shanghai Normal U. (2025)  ·  Hangzhou Fengjinglishe (2021)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5166360"/>
            <a:ext cx="10972800" cy="118872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22960" y="540410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051560" y="5239512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FUTURE NETWORK  ·  BUILDING ON EXISTING FRIENDSHIP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4960" y="5568696"/>
            <a:ext cx="1554480" cy="329184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U.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2057400.0" y="5733288"/>
            <a:ext cx="411480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128016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01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UCL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8016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Dr. Huanfa Chen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3977640.0" y="5733288"/>
            <a:ext cx="219456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320040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ZSTU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Sakura net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172200.0" y="5733288"/>
            <a:ext cx="219456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758952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8952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ZHEJIANG U.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8952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Prof. Jian Ge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172200.0" y="5733288"/>
            <a:ext cx="4114800.0" cy="0"/>
          </a:xfrm>
          <a:prstGeom prst="line">
            <a:avLst/>
          </a:prstGeom>
          <a:ln w="12700">
            <a:solidFill>
              <a:srgbClr val="C9A9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509760" y="55504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42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509760" y="555040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ASIA NODES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593445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4A5568"/>
                </a:solidFill>
                <a:latin typeface="Calibri"/>
              </a:rPr>
              <a:t>Indonesia · Bangladesh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08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FUNDING &amp; PROJECT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≈ 100 million JPY total — and the Japan pattern has already started.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08/11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CHINA  ·  2018–2023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≈ 100 M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JPY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3886200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8 projects · 5 as Leading Researcher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NSSFC General Project (collaborator)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Hangzhou Public Spaces ¥12 M PI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ZSTU Start-up + Carbon Neutrality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C9A961"/>
                </a:solidFill>
                <a:latin typeface="Calibri"/>
              </a:rPr>
              <a:t>HIGH-COMPETITION ENVIRONMENT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1691640"/>
            <a:ext cx="3703320" cy="3657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C6F33"/>
                </a:solidFill>
                <a:latin typeface="Calibri"/>
              </a:rPr>
              <a:t>KUMAMOTO  ·  2023–2025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Municipal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142E55"/>
                </a:solidFill>
                <a:latin typeface="Calibri"/>
              </a:rPr>
              <a:t>post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3886200"/>
            <a:ext cx="731520" cy="12700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Institute of Policy Research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Institutional rule: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external competitive grants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2E55"/>
                </a:solidFill>
                <a:latin typeface="Calibri"/>
              </a:rPr>
              <a:t>not permitted from this post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8C6F33"/>
                </a:solidFill>
                <a:latin typeface="Calibri"/>
              </a:rPr>
              <a:t>POLICY-OUTPUT  ·  MLIT EBPM-CITED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1691640"/>
            <a:ext cx="3703320" cy="36576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0" y="192024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YAMAGUCHI  ·  since 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331720"/>
            <a:ext cx="3246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# 1</a:t>
            </a:r>
          </a:p>
          <a:p>
            <a:pPr algn="l">
              <a:lnSpc>
                <a:spcPct val="95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/ 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03920" y="3886200"/>
            <a:ext cx="731520" cy="127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40690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Top-ranked applicant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in Yamaguchi U. regional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research program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(4 selected, within months)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4983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1">
                <a:solidFill>
                  <a:srgbClr val="C9A961"/>
                </a:solidFill>
                <a:latin typeface="Calibri"/>
              </a:rPr>
              <a:t>JAPAN PATTERN HAS STARTED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577840"/>
            <a:ext cx="10972800" cy="731520"/>
          </a:xfrm>
          <a:prstGeom prst="rect">
            <a:avLst/>
          </a:prstGeom>
          <a:noFill/>
          <a:ln w="1524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669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FORWARD PATH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90702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2E55"/>
                </a:solidFill>
                <a:latin typeface="Calibri"/>
              </a:rPr>
              <a:t>KAKENHI KIBAN C  (FY2026 autumn)   →   KAKENHI KIBAN B  (during HIRAKU)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09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RESEARCH PLAN  ·  FEASIBILITY &amp; INTERNATIONAL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Not from zero — pipeline running, partners ready, first grant won.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09/11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85800" y="1691640"/>
            <a:ext cx="3840480" cy="2743200"/>
          </a:xfrm>
          <a:prstGeom prst="rect">
            <a:avLst/>
          </a:prstGeom>
          <a:solidFill>
            <a:srgbClr val="FAFBFC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19476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51560" y="178308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3 CITIES  ×  3 WIND REGIMES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03120"/>
            <a:ext cx="3291840" cy="59436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SEA OF JAPAN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2697480"/>
            <a:ext cx="3291840" cy="914400"/>
          </a:xfrm>
          <a:prstGeom prst="rect">
            <a:avLst/>
          </a:prstGeom>
          <a:solidFill>
            <a:srgbClr val="F6F8FA"/>
          </a:solidFill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8895A8"/>
                </a:solidFill>
                <a:latin typeface="Calibri"/>
              </a:rPr>
              <a:t>CHUGOKU REGION  ·  WESTERN HONSHU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" y="3611880"/>
            <a:ext cx="3291840" cy="457200"/>
          </a:xfrm>
          <a:prstGeom prst="rect">
            <a:avLst/>
          </a:prstGeom>
          <a:solidFill>
            <a:srgbClr val="6FA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685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SETO INLAND SEA</a:t>
            </a:r>
          </a:p>
        </p:txBody>
      </p:sp>
      <p:sp>
        <p:nvSpPr>
          <p:cNvPr id="34" name="Oval 33"/>
          <p:cNvSpPr/>
          <p:nvPr/>
        </p:nvSpPr>
        <p:spPr>
          <a:xfrm>
            <a:off x="1170432" y="295351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44752" y="293522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MATSUE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309981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LAKESIDE</a:t>
            </a:r>
          </a:p>
        </p:txBody>
      </p:sp>
      <p:sp>
        <p:nvSpPr>
          <p:cNvPr id="37" name="Oval 36"/>
          <p:cNvSpPr/>
          <p:nvPr/>
        </p:nvSpPr>
        <p:spPr>
          <a:xfrm>
            <a:off x="2359152" y="313639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33472" y="31181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YAMAGUCHI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33472" y="32826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BASIN</a:t>
            </a:r>
          </a:p>
        </p:txBody>
      </p:sp>
      <p:sp>
        <p:nvSpPr>
          <p:cNvPr id="40" name="Oval 39"/>
          <p:cNvSpPr/>
          <p:nvPr/>
        </p:nvSpPr>
        <p:spPr>
          <a:xfrm>
            <a:off x="3182112" y="3364992"/>
            <a:ext cx="219456" cy="219456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56432" y="3346704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UBE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3511296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4A5568"/>
                </a:solidFill>
                <a:latin typeface="Calibri"/>
              </a:rPr>
              <a:t>COASTAL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N</a:t>
            </a:r>
          </a:p>
        </p:txBody>
      </p:sp>
      <p:sp>
        <p:nvSpPr>
          <p:cNvPr id="44" name="Isosceles Triangle 43"/>
          <p:cNvSpPr/>
          <p:nvPr/>
        </p:nvSpPr>
        <p:spPr>
          <a:xfrm>
            <a:off x="4178808" y="2194560"/>
            <a:ext cx="146304" cy="274320"/>
          </a:xfrm>
          <a:prstGeom prst="triangle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75488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983480" y="169164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METHOD CHAIN  ·  CITY → CORRIDOR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205740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54880" y="205740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0" y="205740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960" y="2130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SATELLITE SCREENING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24048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Landsat-8/9 LST × Sentinel-2 LCZ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Years 1–2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.0" y="2743200"/>
            <a:ext cx="0.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54880" y="283464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54880" y="283464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283464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29077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BLOCK CFD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318211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OpenFOAM wind × morphology × GBI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309360.0" y="3520440"/>
            <a:ext cx="0.0" cy="91440"/>
          </a:xfrm>
          <a:prstGeom prst="line">
            <a:avLst/>
          </a:prstGeom>
          <a:ln w="2540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754880" y="3611880"/>
            <a:ext cx="310896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54880" y="3611880"/>
            <a:ext cx="50292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361188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9A961"/>
                </a:solidFill>
                <a:latin typeface="Calibri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36850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E55"/>
                </a:solidFill>
                <a:latin typeface="Calibri"/>
              </a:rPr>
              <a:t>PEDESTRIAN VALIDATION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39593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WBGT field measurement</a:t>
            </a:r>
          </a:p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4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09244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321040" y="169164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5-YEAR PLAN  ·  HIRAKU PERIOD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92440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2440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833104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3768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73768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14432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14432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55096" y="2057400"/>
            <a:ext cx="740664" cy="365760"/>
          </a:xfrm>
          <a:prstGeom prst="rect">
            <a:avLst/>
          </a:prstGeom>
          <a:solidFill>
            <a:srgbClr val="F6F8FA"/>
          </a:solidFill>
          <a:ln w="635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55096" y="2057400"/>
            <a:ext cx="7406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Y5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119872" y="2560320"/>
            <a:ext cx="1426464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92440" y="25420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LST × LCZ diagnosis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60536" y="27889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2770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UCL stay (2 months)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01200" y="3017520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92440" y="29992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Block-scale CFD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01200" y="32461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92440" y="32278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Zhejiang U. visit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41864" y="3474720"/>
            <a:ext cx="685800" cy="182880"/>
          </a:xfrm>
          <a:prstGeom prst="rect">
            <a:avLst/>
          </a:prstGeom>
          <a:solidFill>
            <a:srgbClr val="2A4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92440" y="34564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Pedestrian WBGT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41864" y="3703320"/>
            <a:ext cx="685800" cy="18288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92440" y="36850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Int'l workshop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082528" y="3931920"/>
            <a:ext cx="685800" cy="18288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92440" y="3913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>Synthesis + Kakenhi 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47304" y="2560320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LST × LCZ diagnosis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87968" y="27889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UCL stay (2 months)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28632" y="30175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Block-scale CFD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28632" y="32461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Zhejiang U. visit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69296" y="34747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Pedestrian WBGT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69296" y="37033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Int'l workshop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09960" y="3931920"/>
            <a:ext cx="74066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Synthesis + Kakenhi B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85800" y="4526280"/>
            <a:ext cx="10972800" cy="5029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8680" y="4572000"/>
            <a:ext cx="10607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FEASIBILITY — ALREADY PROVEN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477316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Satellite pipeline running  ·  CFD methodology established  ·  Partners aligned  ·  First Japanese grant won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685800" y="5285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914400" y="512064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BUDGET PLAN  ·  STARTUP FUND  ¥ 2 M  /  OVERSEAS DISPATCH  ¥ 2 M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724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¥ 700K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724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Field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equipment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724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WBGT · loggers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radiometers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56032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65176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¥ 350K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65176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Data &amp;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workstation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5176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GIS · CFD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storage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43484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2628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¥ 300K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2628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Student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RAs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Master's students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from Year 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09360" y="5486400"/>
            <a:ext cx="18288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A961"/>
                </a:solidFill>
                <a:latin typeface="Calibri"/>
              </a:rPr>
              <a:t>¥ 300K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Domestic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fieldwork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Yamaguchi · Ube ·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CBD5E0"/>
                </a:solidFill>
                <a:latin typeface="Calibri"/>
              </a:rPr>
              <a:t>Matsue surveys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183880" y="5486400"/>
            <a:ext cx="182880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7532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C6F33"/>
                </a:solidFill>
                <a:latin typeface="Calibri"/>
              </a:rPr>
              <a:t>¥ 800K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7532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UCL stay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Year 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7532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2 months  ·  joint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method paper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058400" y="5486400"/>
            <a:ext cx="182880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149840" y="55321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C6F33"/>
                </a:solidFill>
                <a:latin typeface="Calibri"/>
              </a:rPr>
              <a:t>¥ 400K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49840" y="574243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Zhejiang U.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42E55"/>
                </a:solidFill>
                <a:latin typeface="Calibri"/>
              </a:rPr>
              <a:t>Year 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49840" y="59436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Comparative</a:t>
            </a:r>
          </a:p>
          <a:p>
            <a:pPr algn="l">
              <a:lnSpc>
                <a:spcPct val="120000"/>
              </a:lnSpc>
            </a:pPr>
            <a:r>
              <a:rPr sz="750" b="0" i="1">
                <a:solidFill>
                  <a:srgbClr val="4A5568"/>
                </a:solidFill>
                <a:latin typeface="Calibri"/>
              </a:rPr>
              <a:t>framework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6291072"/>
            <a:ext cx="10972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8C6F33"/>
                </a:solidFill>
                <a:latin typeface="Calibri"/>
              </a:rPr>
              <a:t>RISK MANAGED  ·  ANCHOR YAMAGUCHI FIRST · STEPWISE EXPANSION · ONLINE COLLAB FALLBACK · KUMAMOTO BASELINE AS REFERENCE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YAMAGUCHI UNIVERSITY  ·  HIRAKU-GLOBAL  ·  7TH COHORT INTERVIEW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C9A961"/>
                </a:solidFill>
                <a:latin typeface="Calibri"/>
              </a:rPr>
              <a:t>SHEET  10  /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ASPIRATIONS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0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2E55"/>
                </a:solidFill>
                <a:latin typeface="Calibri"/>
              </a:rPr>
              <a:t>Year-by-year KPI · 3I framework × 5 years.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6492240"/>
            <a:ext cx="3154680" cy="274320"/>
          </a:xfrm>
          <a:prstGeom prst="rect">
            <a:avLst/>
          </a:prstGeom>
          <a:noFill/>
          <a:ln w="762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555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98480" y="6492240"/>
            <a:ext cx="0" cy="274320"/>
          </a:xfrm>
          <a:prstGeom prst="line">
            <a:avLst/>
          </a:prstGeom>
          <a:ln w="762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410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10/11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LIU HAIQIANG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9224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  2026.06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8895A8"/>
                </a:solidFill>
                <a:latin typeface="Calibri"/>
              </a:rPr>
              <a:t>INTERVIEW PRESENTATION  ·  URBAN THERMAL ENVIRONMENT RESEARCH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777240"/>
            <a:ext cx="0" cy="562356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" y="185623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169164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DURING HIRAKU-GLOBAL  ·  YEAR-BY-YEAR KPI MATRIX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2057400"/>
            <a:ext cx="1463040" cy="27432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9A961"/>
                </a:solidFill>
                <a:latin typeface="Calibri"/>
              </a:rPr>
              <a:t>3I  /  YEAR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40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59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59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7878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78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397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397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46916" y="2057400"/>
            <a:ext cx="1874519" cy="27432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6916" y="205740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C9A961"/>
                </a:solidFill>
                <a:latin typeface="Calibri"/>
              </a:rPr>
              <a:t>YEAR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33172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3317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INNOVATIVE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48840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21992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LCZ × LST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diagnosis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59" y="233172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96511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UCL joint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method paper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97878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71030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Mechanism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paper (1st)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397" y="233172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45549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Comparative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paper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6" y="233172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20068" y="233172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Synthesis +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workflow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297180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297180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INFLUENTIAL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148840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21992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Kakenhi C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submission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59" y="297180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96511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First UCL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co-author paper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97878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1030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Q1 mechanism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published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397" y="297180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45549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Q1 + int'l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workshop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6" y="297180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20068" y="297180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Kakenhi B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" y="3611880"/>
            <a:ext cx="1463040" cy="6400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" y="36118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IMPACTFUL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48840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21992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Yamaguchi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baseline data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023359" y="361188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6511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Ube · Matsue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case design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97878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71030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Heat-risk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maps (3 cities)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397" y="3611880"/>
            <a:ext cx="1874519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45549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Intervention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maps delivered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646916" y="3611880"/>
            <a:ext cx="1874519" cy="640080"/>
          </a:xfrm>
          <a:prstGeom prst="rect">
            <a:avLst/>
          </a:prstGeom>
          <a:solidFill>
            <a:srgbClr val="FAFBFC"/>
          </a:solidFill>
          <a:ln w="5080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68" y="3611880"/>
            <a:ext cx="1728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Policy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1A1A1A"/>
                </a:solidFill>
                <a:latin typeface="Calibri"/>
              </a:rPr>
              <a:t>guidelines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85800" y="4535424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914400" y="4370832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POST-TENURE  ·  LOCAL-TO-GLOBAL  ·  LONG-TERM ANCHOR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580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8872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LAB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8872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Stable group at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Yamaguchi U.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2608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92608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2608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2900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REGION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Chugoku-Shikoku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heat toolkit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6636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16636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6636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W. JAPAN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Urban-thermal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research hub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40664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0664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0664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0956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ASIA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90956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EU · CN · SE Asia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platform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46920" y="4663440"/>
            <a:ext cx="2194560" cy="6858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646920" y="4663440"/>
            <a:ext cx="457200" cy="6858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46920" y="466344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C9A961"/>
                </a:solidFill>
                <a:latin typeface="Calibri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149840" y="470916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GLOBAL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49840" y="4937760"/>
            <a:ext cx="1600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Local-to-Global</a:t>
            </a:r>
          </a:p>
          <a:p>
            <a:pPr algn="l">
              <a:lnSpc>
                <a:spcPct val="130000"/>
              </a:lnSpc>
            </a:pPr>
            <a:r>
              <a:rPr sz="850" b="0" i="1">
                <a:solidFill>
                  <a:srgbClr val="4A5568"/>
                </a:solidFill>
                <a:latin typeface="Calibri"/>
              </a:rPr>
              <a:t>model export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85800" y="5605272"/>
            <a:ext cx="182880" cy="0"/>
          </a:xfrm>
          <a:prstGeom prst="line">
            <a:avLst/>
          </a:prstGeom>
          <a:ln w="19050">
            <a:solidFill>
              <a:srgbClr val="C9A9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914400" y="5440680"/>
            <a:ext cx="10744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WHAT I GIVE BACK  ·  ACTIVE MEMBER, NOT ONLY RECIPIENT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8580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8580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5039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INT'L WORKSHOP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Year 4 at Yamaguchi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47472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47472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3931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CHINA–JAPAN BRIDGE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3931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Annual seminar · translation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6364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6364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2823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TEACHING &amp; MENTORING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2823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Grad supervision · seminars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052560" y="5760720"/>
            <a:ext cx="2715768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052560" y="5760720"/>
            <a:ext cx="54864" cy="5486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217152" y="5824728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2E55"/>
                </a:solidFill>
                <a:latin typeface="Calibri"/>
              </a:rPr>
              <a:t>DEPT. &amp; REGION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217152" y="6053328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4A5568"/>
                </a:solidFill>
                <a:latin typeface="Calibri"/>
              </a:rPr>
              <a:t>Faculty collaboration · cities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11480" y="685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11480" y="1371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11480" y="20574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11480" y="27432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1480" y="34290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11480" y="41148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480" y="4800600"/>
            <a:ext cx="11368735" cy="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57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152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4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2800" y="411480"/>
            <a:ext cx="0" cy="6035040"/>
          </a:xfrm>
          <a:prstGeom prst="line">
            <a:avLst/>
          </a:prstGeom>
          <a:ln w="5080">
            <a:solidFill>
              <a:srgbClr val="1C3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0" y="0"/>
            <a:ext cx="2743200" cy="9144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CLOSING  ·  4 FOUNDATIONS  ·  4 COMMITMENTS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822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Four foundations — already in motion.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15 papers · 3 Q1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all 1st / responsible author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Building &amp; Env.  ·  Env. Pollution  ·  Energies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008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93008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BRIDGE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Sakura · Zhejiang Center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· 5-country forum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33088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93008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UCL  ·  Zhejiang U.  ·  Asia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0216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FUNDING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≈ 100 M JPY · # 1 of 13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0296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Kakenhi C →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874519"/>
            <a:ext cx="2697480" cy="54864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7424" y="2039111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IMPLEMENTATION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2468879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Kumamoto green-infra</a:t>
            </a:r>
          </a:p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+ MLIT EBPM case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47504" y="3383279"/>
            <a:ext cx="1417320" cy="635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7424" y="3502151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1">
                <a:solidFill>
                  <a:srgbClr val="CBD5E0"/>
                </a:solidFill>
                <a:latin typeface="Calibri"/>
              </a:rPr>
              <a:t>→ Yamaguchi · Ube · Matsue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160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FOUR COMMITMENTS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RESEARCH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Deliver papers,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workflow, and Kakenhi 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93008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93008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5888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TEACHING &amp; MENTORING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75888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Supervise students;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teaching informed by research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0216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0216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83096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DEPARTMENT &amp; COLLABORATION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83096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Active member of the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faculty community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07424" y="4480560"/>
            <a:ext cx="2697480" cy="914400"/>
          </a:xfrm>
          <a:prstGeom prst="rect">
            <a:avLst/>
          </a:prstGeom>
          <a:noFill/>
          <a:ln w="10160">
            <a:solidFill>
              <a:srgbClr val="C9A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07424" y="4480560"/>
            <a:ext cx="54864" cy="914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90304" y="45720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REGION &amp; LONG-TERM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90304" y="484632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 long-term anchor at</a:t>
            </a:r>
          </a:p>
          <a:p>
            <a:pPr algn="l">
              <a:lnSpc>
                <a:spcPct val="13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Yamaguchi University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5669280"/>
            <a:ext cx="10972800" cy="2540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58064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HIRAKU-Global is the multiplier — not the starter.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63093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961"/>
                </a:solidFill>
                <a:latin typeface="Calibri"/>
              </a:rPr>
              <a:t>Thank you very much.  I look forward to your questions.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APPENDIX  ·  BACKUP FOR Q&amp;A  ·  NOT PART OF THE 10-MIN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142E55"/>
                </a:solidFill>
                <a:latin typeface="Calibri"/>
              </a:rPr>
              <a:t>BACKUP  A1  / 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 APPLICATION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"/>
            <a:ext cx="11430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Research Trajectory &amp; Academic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Figure 1 (application) — full Building → Person → City framework with key actions, methods, and significance.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476203" y="1499235"/>
            <a:ext cx="6740233" cy="4773930"/>
          </a:xfrm>
          <a:prstGeom prst="rect">
            <a:avLst/>
          </a:prstGeom>
          <a:noFill/>
          <a:ln w="9525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g1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728" y="1508760"/>
            <a:ext cx="6721183" cy="4754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372600" y="1508760"/>
            <a:ext cx="2423160" cy="4754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1508760"/>
            <a:ext cx="242316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IF ASKED ABOUT…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21396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21031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My three research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stages in detail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8254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27889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Why each stage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led to the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35112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34747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Specific methods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per stage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192" y="41970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1605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How Stage 3 leads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to this project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APPENDIX  ·  BACKUP FOR Q&amp;A  ·  NOT PART OF THE 10-MIN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142E55"/>
                </a:solidFill>
                <a:latin typeface="Calibri"/>
              </a:rPr>
              <a:t>BACKUP  A2  / 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 APPLICATION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"/>
            <a:ext cx="11430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Cross-Scale Scientific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Figure 2 (application) — green-blue-wind mechanisms, three core scientific questions, technical pathway, and domain-specific knowledge model.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794337" y="1499235"/>
            <a:ext cx="6103966" cy="4773930"/>
          </a:xfrm>
          <a:prstGeom prst="rect">
            <a:avLst/>
          </a:prstGeom>
          <a:noFill/>
          <a:ln w="9525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g2_cross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862" y="1508760"/>
            <a:ext cx="6084916" cy="4754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372600" y="1508760"/>
            <a:ext cx="2423160" cy="4754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1508760"/>
            <a:ext cx="242316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IF ASKED ABOUT…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21396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21031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The 3 core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scientific questions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8254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27889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City / Block /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Human scale detail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35112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34747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How the scales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are integrated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192" y="41970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1605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Expected academic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&amp; applied outcomes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APPENDIX  ·  BACKUP FOR Q&amp;A  ·  NOT PART OF THE 10-MIN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142E55"/>
                </a:solidFill>
                <a:latin typeface="Calibri"/>
              </a:rPr>
              <a:t>BACKUP  A3  / 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 APPLICATION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"/>
            <a:ext cx="11430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Diagnostic Workflow &amp; 5-Year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Figure 3 (application) — three-step sequential chain (screening → mechanism → validation) mapped onto the five-year HIRAKU timeline.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39115" y="2144642"/>
            <a:ext cx="8614410" cy="3483115"/>
          </a:xfrm>
          <a:prstGeom prst="rect">
            <a:avLst/>
          </a:prstGeom>
          <a:noFill/>
          <a:ln w="9525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g3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4167"/>
            <a:ext cx="8595360" cy="346406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372600" y="1508760"/>
            <a:ext cx="2423160" cy="4754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1508760"/>
            <a:ext cx="242316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IF ASKED ABOUT…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21396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21031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Year-by-year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deliverables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8254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27889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The 3-step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method chain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35112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34747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Where UCL &amp;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Zhejiang fit 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192" y="41970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1605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Screening →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validation logic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6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828800" cy="3810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"/>
            <a:ext cx="73152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APPENDIX  ·  BACKUP FOR Q&amp;A  ·  NOT PART OF THE 10-MIN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i="0">
                <a:solidFill>
                  <a:srgbClr val="142E55"/>
                </a:solidFill>
                <a:latin typeface="Calibri"/>
              </a:rPr>
              <a:t>BACKUP  A4  / 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74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C6F33"/>
                </a:solidFill>
                <a:latin typeface="Calibri"/>
              </a:rPr>
              <a:t>ORIGINAL APPLICATION 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"/>
            <a:ext cx="11430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2E55"/>
                </a:solidFill>
                <a:latin typeface="Calibri"/>
              </a:rPr>
              <a:t>International Collaboration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7899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A5568"/>
                </a:solidFill>
                <a:latin typeface="Calibri"/>
              </a:rPr>
              <a:t>Figure 4 (application) — core project team at Yamaguchi with UCL and Zhejiang as primary nodes; US and Thailand as reserve expansion nodes.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825935" y="4114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17375" y="3200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4320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25935" y="6583680"/>
            <a:ext cx="182880" cy="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917375" y="6492240"/>
            <a:ext cx="0" cy="182880"/>
          </a:xfrm>
          <a:prstGeom prst="line">
            <a:avLst/>
          </a:prstGeom>
          <a:ln w="6350">
            <a:solidFill>
              <a:srgbClr val="B8C2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86155" y="1499235"/>
            <a:ext cx="7720330" cy="4773930"/>
          </a:xfrm>
          <a:prstGeom prst="rect">
            <a:avLst/>
          </a:prstGeom>
          <a:noFill/>
          <a:ln w="9525">
            <a:solidFill>
              <a:srgbClr val="B8C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ig4_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680" y="1508760"/>
            <a:ext cx="7701280" cy="4754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372600" y="1508760"/>
            <a:ext cx="2423160" cy="4754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1508760"/>
            <a:ext cx="2423160" cy="411480"/>
          </a:xfrm>
          <a:prstGeom prst="rect">
            <a:avLst/>
          </a:prstGeom>
          <a:solidFill>
            <a:srgbClr val="14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7192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A961"/>
                </a:solidFill>
                <a:latin typeface="Calibri"/>
              </a:rPr>
              <a:t>IF ASKED ABOUT…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7192" y="21396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21031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Roles of UCL &amp;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Zhejiang partners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7192" y="28254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27889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What each partner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contributes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35112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20072" y="34747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Reserve nodes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(US, Thailand)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192" y="4197096"/>
            <a:ext cx="73152" cy="73152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4160520"/>
            <a:ext cx="1965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How the network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grows cumulatively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