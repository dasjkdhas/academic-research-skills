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194560"/>
            <a:ext cx="548640" cy="36576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3172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Bridging Cities, Climate, and People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CBD5E0"/>
                </a:solidFill>
                <a:latin typeface="Calibri"/>
              </a:rPr>
              <a:t>Urban Thermal Environment Research from Local Japan to Global Asia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160520"/>
            <a:ext cx="2011680" cy="95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3434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LIU  HAIQIANG, Ph.D.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CBD5E0"/>
                </a:solidFill>
                <a:latin typeface="Calibri"/>
              </a:rPr>
              <a:t>Lecturer (Tenure-track)  ·  Graduate School of Sciences and Technology for Innovation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29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CBD5E0"/>
                </a:solidFill>
                <a:latin typeface="Calibri"/>
              </a:rPr>
              <a:t>Yamaguchi University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806440"/>
            <a:ext cx="2468880" cy="384048"/>
          </a:xfrm>
          <a:prstGeom prst="rect">
            <a:avLst/>
          </a:prstGeom>
          <a:noFill/>
          <a:ln w="9525">
            <a:solidFill>
              <a:srgbClr val="C9A9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80644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C9A961"/>
                </a:solidFill>
                <a:latin typeface="Calibri"/>
              </a:rPr>
              <a:t>Urban Thermal Environment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5806440"/>
            <a:ext cx="2468880" cy="384048"/>
          </a:xfrm>
          <a:prstGeom prst="rect">
            <a:avLst/>
          </a:prstGeom>
          <a:noFill/>
          <a:ln w="9525">
            <a:solidFill>
              <a:srgbClr val="C9A9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580644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C9A961"/>
                </a:solidFill>
                <a:latin typeface="Calibri"/>
              </a:rPr>
              <a:t>International Collaboration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5806440"/>
            <a:ext cx="2468880" cy="384048"/>
          </a:xfrm>
          <a:prstGeom prst="rect">
            <a:avLst/>
          </a:prstGeom>
          <a:noFill/>
          <a:ln w="9525">
            <a:solidFill>
              <a:srgbClr val="C9A9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0" y="580644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C9A961"/>
                </a:solidFill>
                <a:latin typeface="Calibri"/>
              </a:rPr>
              <a:t>Regional Policy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49640" y="5806440"/>
            <a:ext cx="2468880" cy="384048"/>
          </a:xfrm>
          <a:prstGeom prst="rect">
            <a:avLst/>
          </a:prstGeom>
          <a:noFill/>
          <a:ln w="9525">
            <a:solidFill>
              <a:srgbClr val="C9A9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40" y="580644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C9A961"/>
                </a:solidFill>
                <a:latin typeface="Calibri"/>
              </a:rPr>
              <a:t>Social Implementation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0080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895A8"/>
                </a:solidFill>
                <a:latin typeface="Calibri"/>
              </a:rPr>
              <a:t>HIRAKU-Global  ·  7th Cohort Interview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2011680" cy="36576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6537960"/>
            <a:ext cx="1109167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6019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AA5B1"/>
                </a:solidFill>
                <a:latin typeface="Calibri"/>
              </a:rPr>
              <a:t>02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6019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AA5B1"/>
                </a:solidFill>
                <a:latin typeface="Calibri"/>
              </a:rPr>
              <a:t>HIRAKU-Global  ·  7th Cohort Interview  ·  LIU Haiqiang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A8863F"/>
                </a:solidFill>
                <a:latin typeface="Calibri"/>
              </a:rPr>
              <a:t>WHY MY RESEARCH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0A2540"/>
                </a:solidFill>
                <a:latin typeface="Calibri"/>
              </a:rPr>
              <a:t>Global climate change becomes local — on every street.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4A5568"/>
                </a:solidFill>
                <a:latin typeface="Calibri"/>
              </a:rPr>
              <a:t>Heat ↘  walkability ↘  urban vitality.  Regional aging cities face this triple challenge most strongly.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697480"/>
            <a:ext cx="3703320" cy="219456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697480"/>
            <a:ext cx="73152" cy="219456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926080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A8863F"/>
                </a:solidFill>
                <a:latin typeface="Calibri"/>
              </a:rPr>
              <a:t>GLOBAL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291840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0A2540"/>
                </a:solidFill>
                <a:latin typeface="Calibri"/>
              </a:rPr>
              <a:t>Climate change + urban warming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023360"/>
            <a:ext cx="3246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4A5568"/>
                </a:solidFill>
                <a:latin typeface="Calibri"/>
              </a:rPr>
              <a:t>A worldwide challenge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4A5568"/>
                </a:solidFill>
                <a:latin typeface="Calibri"/>
              </a:rPr>
              <a:t>with very local impact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70832" y="2697480"/>
            <a:ext cx="3703320" cy="219456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70832" y="2697480"/>
            <a:ext cx="73152" cy="219456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45152" y="2926080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A8863F"/>
                </a:solidFill>
                <a:latin typeface="Calibri"/>
              </a:rPr>
              <a:t>CITY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5152" y="3291840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0A2540"/>
                </a:solidFill>
                <a:latin typeface="Calibri"/>
              </a:rPr>
              <a:t>Walkability &amp; vitality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5152" y="4023360"/>
            <a:ext cx="3246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4A5568"/>
                </a:solidFill>
                <a:latin typeface="Calibri"/>
              </a:rPr>
              <a:t>Heat empties streets;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4A5568"/>
                </a:solidFill>
                <a:latin typeface="Calibri"/>
              </a:rPr>
              <a:t>empty streets weaken cities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93024" y="2697480"/>
            <a:ext cx="3703320" cy="219456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93024" y="2697480"/>
            <a:ext cx="73152" cy="219456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67344" y="2926080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A8863F"/>
                </a:solidFill>
                <a:latin typeface="Calibri"/>
              </a:rPr>
              <a:t>PEOPLE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67344" y="3291840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0A2540"/>
                </a:solidFill>
                <a:latin typeface="Calibri"/>
              </a:rPr>
              <a:t>Elderly, students, commuters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67344" y="4023360"/>
            <a:ext cx="3246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4A5568"/>
                </a:solidFill>
                <a:latin typeface="Calibri"/>
              </a:rPr>
              <a:t>Different streets carry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4A5568"/>
                </a:solidFill>
                <a:latin typeface="Calibri"/>
              </a:rPr>
              <a:t>very different heat risks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1663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A8863F"/>
                </a:solidFill>
                <a:latin typeface="Calibri"/>
              </a:rPr>
              <a:t>MY THREE QUESTIONS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486400"/>
            <a:ext cx="3703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A2540"/>
                </a:solidFill>
                <a:latin typeface="Calibri"/>
              </a:rPr>
              <a:t>WHERE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5559552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4A5568"/>
                </a:solidFill>
                <a:latin typeface="Calibri"/>
              </a:rPr>
              <a:t>is it hot?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70832" y="5486400"/>
            <a:ext cx="3703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A2540"/>
                </a:solidFill>
                <a:latin typeface="Calibri"/>
              </a:rPr>
              <a:t>WHY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50992" y="5559552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4A5568"/>
                </a:solidFill>
                <a:latin typeface="Calibri"/>
              </a:rPr>
              <a:t>is it hot?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93024" y="5486400"/>
            <a:ext cx="3703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A2540"/>
                </a:solidFill>
                <a:latin typeface="Calibri"/>
              </a:rPr>
              <a:t>HOW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73184" y="5559552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4A5568"/>
                </a:solidFill>
                <a:latin typeface="Calibri"/>
              </a:rPr>
              <a:t>to cool &amp; re-vitalize the city?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2011680" cy="36576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6537960"/>
            <a:ext cx="1109167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6019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AA5B1"/>
                </a:solidFill>
                <a:latin typeface="Calibri"/>
              </a:rPr>
              <a:t>03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6019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AA5B1"/>
                </a:solidFill>
                <a:latin typeface="Calibri"/>
              </a:rPr>
              <a:t>HIRAKU-Global  ·  7th Cohort Interview  ·  LIU Haiqiang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A8863F"/>
                </a:solidFill>
                <a:latin typeface="Calibri"/>
              </a:rPr>
              <a:t>ORIGINALITY OF MY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0A2540"/>
                </a:solidFill>
                <a:latin typeface="Calibri"/>
              </a:rPr>
              <a:t>I do not only measure heat — I diagnose it, and the diagnosis is already used.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057400"/>
            <a:ext cx="2761488" cy="2788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057400"/>
            <a:ext cx="2761488" cy="41148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057400"/>
            <a:ext cx="7315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961"/>
                </a:solidFill>
                <a:latin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743200"/>
            <a:ext cx="230428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A2540"/>
                </a:solidFill>
                <a:latin typeface="Calibri"/>
              </a:rPr>
              <a:t>MULTI-SOURCE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74720"/>
            <a:ext cx="2304288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4A5568"/>
                </a:solidFill>
                <a:latin typeface="Calibri"/>
              </a:rPr>
              <a:t>Satellite remote sensing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4A5568"/>
                </a:solidFill>
                <a:latin typeface="Calibri"/>
              </a:rPr>
              <a:t>(Landsat-8/9, Sentinel-2)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4A5568"/>
                </a:solidFill>
                <a:latin typeface="Calibri"/>
              </a:rPr>
              <a:t>+ on-site measurement + CFD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74136" y="2057400"/>
            <a:ext cx="2761488" cy="2788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74136" y="2057400"/>
            <a:ext cx="2761488" cy="41148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2736" y="2057400"/>
            <a:ext cx="7315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961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2736" y="2743200"/>
            <a:ext cx="230428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A2540"/>
                </a:solidFill>
                <a:latin typeface="Calibri"/>
              </a:rPr>
              <a:t>CUMULATIVE HEAT EXPOSURE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2736" y="3474720"/>
            <a:ext cx="2304288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4A5568"/>
                </a:solidFill>
                <a:latin typeface="Calibri"/>
              </a:rPr>
              <a:t>Beyond instantaneous T: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4A5568"/>
                </a:solidFill>
                <a:latin typeface="Calibri"/>
              </a:rPr>
              <a:t>evaluate pedestrian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4A5568"/>
                </a:solidFill>
                <a:latin typeface="Calibri"/>
              </a:rPr>
              <a:t>heat retention zones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99632" y="2057400"/>
            <a:ext cx="2761488" cy="2788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99632" y="2057400"/>
            <a:ext cx="2761488" cy="41148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2057400"/>
            <a:ext cx="7315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961"/>
                </a:solidFill>
                <a:latin typeface="Calibr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2" y="2743200"/>
            <a:ext cx="230428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A2540"/>
                </a:solidFill>
                <a:latin typeface="Calibri"/>
              </a:rPr>
              <a:t>POLICY-APPLIED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2" y="3474720"/>
            <a:ext cx="2304288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4A5568"/>
                </a:solidFill>
                <a:latin typeface="Calibri"/>
              </a:rPr>
              <a:t>Applied to Kumamoto City's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4A5568"/>
                </a:solidFill>
                <a:latin typeface="Calibri"/>
              </a:rPr>
              <a:t>green-infrastructure policy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4A5568"/>
                </a:solidFill>
                <a:latin typeface="Calibri"/>
              </a:rPr>
              <a:t>(LST × land-cover map)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25128" y="2057400"/>
            <a:ext cx="2761488" cy="2788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25128" y="2057400"/>
            <a:ext cx="2761488" cy="41148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53728" y="2057400"/>
            <a:ext cx="7315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961"/>
                </a:solidFill>
                <a:latin typeface="Calibr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53728" y="2743200"/>
            <a:ext cx="230428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A2540"/>
                </a:solidFill>
                <a:latin typeface="Calibri"/>
              </a:rPr>
              <a:t>NATIONAL RECOGNITION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53728" y="3474720"/>
            <a:ext cx="2304288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4A5568"/>
                </a:solidFill>
                <a:latin typeface="Calibri"/>
              </a:rPr>
              <a:t>Referenced by MLIT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4A5568"/>
                </a:solidFill>
                <a:latin typeface="Calibri"/>
              </a:rPr>
              <a:t>as an EBPM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4A5568"/>
                </a:solidFill>
                <a:latin typeface="Calibri"/>
              </a:rPr>
              <a:t>evaluation case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212080"/>
            <a:ext cx="11091672" cy="9144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537667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A961"/>
                </a:solidFill>
                <a:latin typeface="Calibri"/>
              </a:rPr>
              <a:t>RESEARCH  →  POLICY  →  NATIONAL RECOGNITION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6692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Few researchers combine satellite, measurement, CFD, and national-level policy adoption in one workflow.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2011680" cy="36576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6537960"/>
            <a:ext cx="1109167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6019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AA5B1"/>
                </a:solidFill>
                <a:latin typeface="Calibri"/>
              </a:rPr>
              <a:t>04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6019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AA5B1"/>
                </a:solidFill>
                <a:latin typeface="Calibri"/>
              </a:rPr>
              <a:t>HIRAKU-Global  ·  7th Cohort Interview  ·  LIU Haiqiang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A8863F"/>
                </a:solidFill>
                <a:latin typeface="Calibri"/>
              </a:rPr>
              <a:t>RESEARCH OUTPUTS  ·  QUALITY &amp; CONTINUITY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0A2540"/>
                </a:solidFill>
                <a:latin typeface="Calibri"/>
              </a:rPr>
              <a:t>Quality first.  Continuity second.  Volume third.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011680"/>
            <a:ext cx="2761488" cy="18288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194560"/>
            <a:ext cx="276148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0" b="1" i="0">
                <a:solidFill>
                  <a:srgbClr val="0A2540"/>
                </a:solidFill>
                <a:latin typeface="Calibri"/>
              </a:rPr>
              <a:t>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46120"/>
            <a:ext cx="27614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4A5568"/>
                </a:solidFill>
                <a:latin typeface="Calibri"/>
              </a:rPr>
              <a:t>peer-reviewed</a:t>
            </a:r>
          </a:p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4A5568"/>
                </a:solidFill>
                <a:latin typeface="Calibri"/>
              </a:rPr>
              <a:t>papers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74136" y="2011680"/>
            <a:ext cx="2761488" cy="18288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74136" y="2194560"/>
            <a:ext cx="276148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0" b="1" i="0">
                <a:solidFill>
                  <a:srgbClr val="0A2540"/>
                </a:solidFill>
                <a:latin typeface="Calibri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74136" y="3246120"/>
            <a:ext cx="27614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4A5568"/>
                </a:solidFill>
                <a:latin typeface="Calibri"/>
              </a:rPr>
              <a:t>English</a:t>
            </a:r>
          </a:p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4A5568"/>
                </a:solidFill>
                <a:latin typeface="Calibri"/>
              </a:rPr>
              <a:t>SCI/SCIE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9632" y="2011680"/>
            <a:ext cx="2761488" cy="18288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9632" y="2194560"/>
            <a:ext cx="276148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0" b="1" i="0">
                <a:solidFill>
                  <a:srgbClr val="0A2540"/>
                </a:solidFill>
                <a:latin typeface="Calibri"/>
              </a:rP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9632" y="3246120"/>
            <a:ext cx="27614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4A5568"/>
                </a:solidFill>
                <a:latin typeface="Calibri"/>
              </a:rPr>
              <a:t>with Impact</a:t>
            </a:r>
          </a:p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4A5568"/>
                </a:solidFill>
                <a:latin typeface="Calibri"/>
              </a:rPr>
              <a:t>Factor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25128" y="2011680"/>
            <a:ext cx="2761488" cy="18288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25128" y="2194560"/>
            <a:ext cx="276148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25128" y="3246120"/>
            <a:ext cx="27614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1" i="0">
                <a:solidFill>
                  <a:srgbClr val="C9A961"/>
                </a:solidFill>
                <a:latin typeface="Calibri"/>
              </a:rPr>
              <a:t>Q1 papers — all</a:t>
            </a:r>
          </a:p>
          <a:p>
            <a:pPr algn="ctr">
              <a:lnSpc>
                <a:spcPct val="130000"/>
              </a:lnSpc>
            </a:pPr>
            <a:r>
              <a:rPr sz="1200" b="1" i="0">
                <a:solidFill>
                  <a:srgbClr val="C9A961"/>
                </a:solidFill>
                <a:latin typeface="Calibri"/>
              </a:rPr>
              <a:t>1st / corresponding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114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A8863F"/>
                </a:solidFill>
                <a:latin typeface="Calibri"/>
              </a:rPr>
              <a:t>Q1 JOURNALS — ALL FIRST / CO-FIRST / CORRESPONDING AUTHOR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526280"/>
            <a:ext cx="370332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C9A9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526280"/>
            <a:ext cx="64008" cy="11887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663440"/>
            <a:ext cx="3337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A2540"/>
                </a:solidFill>
                <a:latin typeface="Calibri"/>
              </a:rPr>
              <a:t>Building and Environment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074920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A8863F"/>
                </a:solidFill>
                <a:latin typeface="Calibri"/>
              </a:rPr>
              <a:t>IF ≈ 7.1  ·  Q1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367528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4A5568"/>
                </a:solidFill>
                <a:latin typeface="Calibri"/>
              </a:rPr>
              <a:t>Top 5 in field  ·  Co-first author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70832" y="4526280"/>
            <a:ext cx="370332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C9A9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70832" y="4526280"/>
            <a:ext cx="64008" cy="11887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99432" y="4663440"/>
            <a:ext cx="3337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A2540"/>
                </a:solidFill>
                <a:latin typeface="Calibri"/>
              </a:rPr>
              <a:t>Environmental Pollution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99432" y="5074920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A8863F"/>
                </a:solidFill>
                <a:latin typeface="Calibri"/>
              </a:rPr>
              <a:t>IF ≈ 7.3  ·  Q1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99432" y="5367528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4A5568"/>
                </a:solidFill>
                <a:latin typeface="Calibri"/>
              </a:rPr>
              <a:t>Top-tier Env. Science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93024" y="4526280"/>
            <a:ext cx="370332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C9A9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93024" y="4526280"/>
            <a:ext cx="64008" cy="11887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21624" y="4663440"/>
            <a:ext cx="3337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A2540"/>
                </a:solidFill>
                <a:latin typeface="Calibri"/>
              </a:rPr>
              <a:t>Energies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21624" y="5074920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A8863F"/>
                </a:solidFill>
                <a:latin typeface="Calibri"/>
              </a:rPr>
              <a:t>IF ≈ 3.1  ·  Q1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21624" y="5367528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4A5568"/>
                </a:solidFill>
                <a:latin typeface="Calibri"/>
              </a:rPr>
              <a:t>First author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897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A8863F"/>
                </a:solidFill>
                <a:latin typeface="Calibri"/>
              </a:rPr>
              <a:t>RESEARCH LINE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19963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A2540"/>
                </a:solidFill>
                <a:latin typeface="Calibri"/>
              </a:rPr>
              <a:t>Building energy  →  Indoor comfort &amp; learning  →  Urban heat &amp; LULC  →  Green-blue infrastructure  →  Pedestrian heat &amp; policy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2011680" cy="36576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6537960"/>
            <a:ext cx="1109167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6019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AA5B1"/>
                </a:solidFill>
                <a:latin typeface="Calibri"/>
              </a:rPr>
              <a:t>05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6019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AA5B1"/>
                </a:solidFill>
                <a:latin typeface="Calibri"/>
              </a:rPr>
              <a:t>HIRAKU-Global  ·  7th Cohort Interview  ·  LIU Haiqiang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A8863F"/>
                </a:solidFill>
                <a:latin typeface="Calibri"/>
              </a:rPr>
              <a:t>INTERNATIONAL COLLABORATION  ·  ORGANIZER, NOT JUST PARTICIPANT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0A2540"/>
                </a:solidFill>
                <a:latin typeface="Calibri"/>
              </a:rPr>
              <a:t>Three concrete records of organizing international cooperation.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057400"/>
            <a:ext cx="370332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057400"/>
            <a:ext cx="3703320" cy="4572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05740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9A961"/>
                </a:solidFill>
                <a:latin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743200"/>
            <a:ext cx="3154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A2540"/>
                </a:solidFill>
                <a:latin typeface="Calibri"/>
              </a:rPr>
              <a:t>Sakura Science Program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429000"/>
            <a:ext cx="3154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4A5568"/>
                </a:solidFill>
                <a:latin typeface="Calibri"/>
              </a:rPr>
              <a:t>Organized ZSTU × Japanese</a:t>
            </a:r>
          </a:p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4A5568"/>
                </a:solidFill>
                <a:latin typeface="Calibri"/>
              </a:rPr>
              <a:t>universities student-researcher</a:t>
            </a:r>
          </a:p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4A5568"/>
                </a:solidFill>
                <a:latin typeface="Calibri"/>
              </a:rPr>
              <a:t>exchanges multiple times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4572000"/>
            <a:ext cx="3154680" cy="63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66344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A8863F"/>
                </a:solidFill>
                <a:latin typeface="Calibri"/>
              </a:rPr>
              <a:t>Sustained partnership</a:t>
            </a:r>
          </a:p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A8863F"/>
                </a:solidFill>
                <a:latin typeface="Calibri"/>
              </a:rPr>
              <a:t>(paused by COVID, friendship intact)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70832" y="2057400"/>
            <a:ext cx="370332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70832" y="2057400"/>
            <a:ext cx="3703320" cy="4572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45152" y="205740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9A961"/>
                </a:solidFill>
                <a:latin typeface="Calibri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5152" y="2743200"/>
            <a:ext cx="3154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A2540"/>
                </a:solidFill>
                <a:latin typeface="Calibri"/>
              </a:rPr>
              <a:t>Zhejiang Carbon-Neutral Center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45152" y="3429000"/>
            <a:ext cx="3154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4A5568"/>
                </a:solidFill>
                <a:latin typeface="Calibri"/>
              </a:rPr>
              <a:t>Built the Zhejiang International</a:t>
            </a:r>
          </a:p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4A5568"/>
                </a:solidFill>
                <a:latin typeface="Calibri"/>
              </a:rPr>
              <a:t>Co-op Center on Carbon Neutrality</a:t>
            </a:r>
          </a:p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4A5568"/>
                </a:solidFill>
                <a:latin typeface="Calibri"/>
              </a:rPr>
              <a:t>as ZSTU representative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45152" y="4572000"/>
            <a:ext cx="3154680" cy="63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45152" y="466344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A8863F"/>
                </a:solidFill>
                <a:latin typeface="Calibri"/>
              </a:rPr>
              <a:t>1 of 4 provincial centers</a:t>
            </a:r>
          </a:p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A8863F"/>
                </a:solidFill>
                <a:latin typeface="Calibri"/>
              </a:rPr>
              <a:t>— ZSTU as core unit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93024" y="2057400"/>
            <a:ext cx="370332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93024" y="2057400"/>
            <a:ext cx="3703320" cy="4572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67344" y="205740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9A961"/>
                </a:solidFill>
                <a:latin typeface="Calibri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67344" y="2743200"/>
            <a:ext cx="3154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A2540"/>
                </a:solidFill>
                <a:latin typeface="Calibri"/>
              </a:rPr>
              <a:t>5-Country Online Forum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67344" y="3429000"/>
            <a:ext cx="3154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4A5568"/>
                </a:solidFill>
                <a:latin typeface="Calibri"/>
              </a:rPr>
              <a:t>Organized international forum:</a:t>
            </a:r>
          </a:p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4A5568"/>
                </a:solidFill>
                <a:latin typeface="Calibri"/>
              </a:rPr>
              <a:t>China · Japan · UK (UCL) ·</a:t>
            </a:r>
          </a:p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4A5568"/>
                </a:solidFill>
                <a:latin typeface="Calibri"/>
              </a:rPr>
              <a:t>Indonesia · Bangladesh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67344" y="4572000"/>
            <a:ext cx="3154680" cy="63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67344" y="466344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A8863F"/>
                </a:solidFill>
                <a:latin typeface="Calibri"/>
              </a:rPr>
              <a:t>Multi-country coordination</a:t>
            </a:r>
          </a:p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A8863F"/>
                </a:solidFill>
                <a:latin typeface="Calibri"/>
              </a:rPr>
              <a:t>under COVID restrictions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440680"/>
            <a:ext cx="11091672" cy="77724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55040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A961"/>
                </a:solidFill>
                <a:latin typeface="Calibri"/>
              </a:rPr>
              <a:t>FUTURE NETWORK · BUILT ON EXISTING FRIENDSHIP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82472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Yamaguchi U.  ↔  UCL (Dr. Huanfa Chen)  ↔  Zhejiang U. (Prof. Jian Ge)  ↔  ZSTU  ↔  Shanghai / Indonesia / Bangladesh nodes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2011680" cy="36576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6537960"/>
            <a:ext cx="1109167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6019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AA5B1"/>
                </a:solidFill>
                <a:latin typeface="Calibri"/>
              </a:rPr>
              <a:t>06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6019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AA5B1"/>
                </a:solidFill>
                <a:latin typeface="Calibri"/>
              </a:rPr>
              <a:t>HIRAKU-Global  ·  7th Cohort Interview  ·  LIU Haiqiang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A8863F"/>
                </a:solidFill>
                <a:latin typeface="Calibri"/>
              </a:rPr>
              <a:t>FUNDING &amp; PROJECT LEADERSHIP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0A2540"/>
                </a:solidFill>
                <a:latin typeface="Calibri"/>
              </a:rPr>
              <a:t>Approximately 100 million yen — and the Japan pattern has already started.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057400"/>
            <a:ext cx="3703320" cy="338328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33172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A961"/>
                </a:solidFill>
                <a:latin typeface="Calibri"/>
              </a:rPr>
              <a:t>CHINA  2018–2023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834640"/>
            <a:ext cx="31546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FFFFFF"/>
                </a:solidFill>
                <a:latin typeface="Calibri"/>
              </a:rPr>
              <a:t>≈ 100 M JPY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069080"/>
            <a:ext cx="731520" cy="95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251960"/>
            <a:ext cx="3154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Across 8 projects ·  5 as Leading Researcher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National Social Science Fund (collaborator)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High-competition environment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70832" y="2057400"/>
            <a:ext cx="3703320" cy="338328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2" y="233172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A8863F"/>
                </a:solidFill>
                <a:latin typeface="Calibri"/>
              </a:rPr>
              <a:t>KUMAMOTO  2023–2025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2834640"/>
            <a:ext cx="31546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0A2540"/>
                </a:solidFill>
                <a:latin typeface="Calibri"/>
              </a:rPr>
              <a:t>Municipal post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45152" y="4069080"/>
            <a:ext cx="731520" cy="9525"/>
          </a:xfrm>
          <a:prstGeom prst="rect">
            <a:avLst/>
          </a:prstGeom>
          <a:solidFill>
            <a:srgbClr val="A88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45152" y="4251960"/>
            <a:ext cx="3154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A2540"/>
                </a:solidFill>
                <a:latin typeface="Calibri"/>
              </a:rPr>
              <a:t>Institutional rule: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A2540"/>
                </a:solidFill>
                <a:latin typeface="Calibri"/>
              </a:rPr>
              <a:t>external competitive grants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A2540"/>
                </a:solidFill>
                <a:latin typeface="Calibri"/>
              </a:rPr>
              <a:t>not permitted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A2540"/>
                </a:solidFill>
                <a:latin typeface="Calibri"/>
              </a:rPr>
              <a:t>→ but produced MLIT EBPM-cited outputs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93024" y="2057400"/>
            <a:ext cx="3703320" cy="338328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67344" y="233172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A961"/>
                </a:solidFill>
                <a:latin typeface="Calibri"/>
              </a:rPr>
              <a:t>YAMAGUCHI  since Jan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67344" y="2834640"/>
            <a:ext cx="31546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FFFFFF"/>
                </a:solidFill>
                <a:latin typeface="Calibri"/>
              </a:rPr>
              <a:t># 1  /  13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67344" y="4069080"/>
            <a:ext cx="731520" cy="95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67344" y="4251960"/>
            <a:ext cx="3154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Ranked #1 of 13 applicants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in Yamaguchi U. regional research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(4 selected) — within months of joining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669280"/>
            <a:ext cx="11091672" cy="640080"/>
          </a:xfrm>
          <a:prstGeom prst="rect">
            <a:avLst/>
          </a:prstGeom>
          <a:noFill/>
          <a:ln w="12700">
            <a:solidFill>
              <a:srgbClr val="C9A9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83387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A2540"/>
                </a:solidFill>
                <a:latin typeface="Calibri"/>
              </a:rPr>
              <a:t>NEXT  →  Kakenhi Kiban C  (FY2026 autumn)  →  Kiban B  during HIRAKU-Global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2011680" cy="36576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6537960"/>
            <a:ext cx="1109167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6019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AA5B1"/>
                </a:solidFill>
                <a:latin typeface="Calibri"/>
              </a:rPr>
              <a:t>07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6019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AA5B1"/>
                </a:solidFill>
                <a:latin typeface="Calibri"/>
              </a:rPr>
              <a:t>HIRAKU-Global  ·  7th Cohort Interview  ·  LIU Haiqiang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A8863F"/>
                </a:solidFill>
                <a:latin typeface="Calibri"/>
              </a:rPr>
              <a:t>RESEARCH PLAN  ·  FEASIBILITY &amp; INTERNATIONAL 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0A2540"/>
                </a:solidFill>
                <a:latin typeface="Calibri"/>
              </a:rPr>
              <a:t>Not starting from zero.  Pipeline running, partners ready, first grant won.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74519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A8863F"/>
                </a:solidFill>
                <a:latin typeface="Calibri"/>
              </a:rPr>
              <a:t>3 CITIES  ×  3 WIND REGIMES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286000"/>
            <a:ext cx="54864" cy="59436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860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A2540"/>
                </a:solidFill>
                <a:latin typeface="Calibri"/>
              </a:rPr>
              <a:t>YAMAGUCHI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517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4A5568"/>
                </a:solidFill>
                <a:latin typeface="Calibri"/>
              </a:rPr>
              <a:t>Inland basin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063240"/>
            <a:ext cx="54864" cy="59436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0632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A2540"/>
                </a:solidFill>
                <a:latin typeface="Calibri"/>
              </a:rPr>
              <a:t>UBE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429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4A5568"/>
                </a:solidFill>
                <a:latin typeface="Calibri"/>
              </a:rPr>
              <a:t>Coastal sea-breeze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840480"/>
            <a:ext cx="54864" cy="59436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8404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A2540"/>
                </a:solidFill>
                <a:latin typeface="Calibri"/>
              </a:rPr>
              <a:t>MATSUE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2062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4A5568"/>
                </a:solidFill>
                <a:latin typeface="Calibri"/>
              </a:rPr>
              <a:t>Sea-of-Japan lakeside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1874519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A8863F"/>
                </a:solidFill>
                <a:latin typeface="Calibri"/>
              </a:rPr>
              <a:t>METHOD CHAIN  ·  CITY-TO-CORRIDOR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46320" y="2286000"/>
            <a:ext cx="548640" cy="59436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0" y="2286000"/>
            <a:ext cx="5486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C9A961"/>
                </a:solidFill>
                <a:latin typeface="Calibr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32120" y="22860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A2540"/>
                </a:solidFill>
                <a:latin typeface="Calibri"/>
              </a:rPr>
              <a:t>Satellite diagnosis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20" y="265176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4A5568"/>
                </a:solidFill>
                <a:latin typeface="Calibri"/>
              </a:rPr>
              <a:t>Landsat-8/9 LST × Sentinel-2 LCZ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46320" y="3063240"/>
            <a:ext cx="548640" cy="59436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46320" y="3063240"/>
            <a:ext cx="5486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C9A961"/>
                </a:solidFill>
                <a:latin typeface="Calibri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30632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A2540"/>
                </a:solidFill>
                <a:latin typeface="Calibri"/>
              </a:rPr>
              <a:t>Block-scale CFD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342900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4A5568"/>
                </a:solidFill>
                <a:latin typeface="Calibri"/>
              </a:rPr>
              <a:t>OpenFOAM wind × morphology × GBI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46320" y="3840480"/>
            <a:ext cx="548640" cy="59436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46320" y="3840480"/>
            <a:ext cx="5486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C9A961"/>
                </a:solidFill>
                <a:latin typeface="Calibr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32120" y="3840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A2540"/>
                </a:solidFill>
                <a:latin typeface="Calibri"/>
              </a:rPr>
              <a:t>Pedestrian validation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32120" y="420624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4A5568"/>
                </a:solidFill>
                <a:latin typeface="Calibri"/>
              </a:rPr>
              <a:t>WBGT along elderly walking corridors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1874519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A8863F"/>
                </a:solidFill>
                <a:latin typeface="Calibri"/>
              </a:rPr>
              <a:t>PARTNERS  ·  ALREADY ON BOARD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69680" y="2286000"/>
            <a:ext cx="54864" cy="59436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52560" y="22860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0A2540"/>
                </a:solidFill>
                <a:latin typeface="Calibri"/>
              </a:rPr>
              <a:t>UCL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0" y="265176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4A5568"/>
                </a:solidFill>
                <a:latin typeface="Calibri"/>
              </a:rPr>
              <a:t>Dr. Huanfa Chen   ·   2-month stay  ·  Year 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69680" y="3063240"/>
            <a:ext cx="54864" cy="59436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0" y="30632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0A2540"/>
                </a:solidFill>
                <a:latin typeface="Calibri"/>
              </a:rPr>
              <a:t>Zhejiang U.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60" y="342900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4A5568"/>
                </a:solidFill>
                <a:latin typeface="Calibri"/>
              </a:rPr>
              <a:t>Prof. Jian Ge   ·   Short visit  ·  Year 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869680" y="3840480"/>
            <a:ext cx="54864" cy="59436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52560" y="3840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0A2540"/>
                </a:solidFill>
                <a:latin typeface="Calibri"/>
              </a:rPr>
              <a:t>Sakura net &amp; 5-country forum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0" y="420624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4A5568"/>
                </a:solidFill>
                <a:latin typeface="Calibri"/>
              </a:rPr>
              <a:t>Indonesia · Bangladesh · UCL   ·   Reactivation as expansion nodes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5349240"/>
            <a:ext cx="11091672" cy="9144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" y="551383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A961"/>
                </a:solidFill>
                <a:latin typeface="Calibri"/>
              </a:rPr>
              <a:t>FEASIBILITY — ALREADY PROVEN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58064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Satellite pipeline running (C-1, 2024)  ·  CFD methodology established  ·  Partners aligned  ·  First Japanese grant won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2011680" cy="36576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6537960"/>
            <a:ext cx="1109167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6019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AA5B1"/>
                </a:solidFill>
                <a:latin typeface="Calibri"/>
              </a:rPr>
              <a:t>08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6019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AA5B1"/>
                </a:solidFill>
                <a:latin typeface="Calibri"/>
              </a:rPr>
              <a:t>HIRAKU-Global  ·  7th Cohort Interview  ·  LIU Haiqiang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A8863F"/>
                </a:solidFill>
                <a:latin typeface="Calibri"/>
              </a:rPr>
              <a:t>DURING HIRAKU-GLOBAL  ·  MEET &amp; EXCEED THE 3I GOAL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0A2540"/>
                </a:solidFill>
                <a:latin typeface="Calibri"/>
              </a:rPr>
              <a:t>Aligning my action plan with HIRAKU-Global's 3I framework.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74519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A8863F"/>
                </a:solidFill>
                <a:latin typeface="Calibri"/>
              </a:rPr>
              <a:t>HIRAKU-GLOBAL  3I  FRAMEWORK   →   MY DELIVERABLES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286000"/>
            <a:ext cx="2194560" cy="86868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286000"/>
            <a:ext cx="21945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C9A961"/>
                </a:solidFill>
                <a:latin typeface="Calibri"/>
              </a:rPr>
              <a:t>INNOVATIVE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34640" y="2286000"/>
            <a:ext cx="45720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2286000"/>
            <a:ext cx="43891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Cross-scale wind × GBI × pedestrian-heat mechanism paper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0" y="2286000"/>
            <a:ext cx="4690872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35240" y="2286000"/>
            <a:ext cx="44805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Reproducible city-to-corridor diagnostic workflow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246120"/>
            <a:ext cx="2194560" cy="86868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46120"/>
            <a:ext cx="21945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C9A961"/>
                </a:solidFill>
                <a:latin typeface="Calibri"/>
              </a:rPr>
              <a:t>INFLUENTIAL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34640" y="3246120"/>
            <a:ext cx="45720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71800" y="3246120"/>
            <a:ext cx="43891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Continued Q1 publications during HIRAKU period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80" y="3246120"/>
            <a:ext cx="4690872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35240" y="3246120"/>
            <a:ext cx="44805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Kakenhi Kiban C (FY2026)  →  Kiban 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206240"/>
            <a:ext cx="2194560" cy="86868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206240"/>
            <a:ext cx="21945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C9A961"/>
                </a:solidFill>
                <a:latin typeface="Calibri"/>
              </a:rPr>
              <a:t>IMPACTFUL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34640" y="4206240"/>
            <a:ext cx="45720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71800" y="4206240"/>
            <a:ext cx="43891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Deliver outputs to Yamaguchi, Ube, Matsue municipalities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98080" y="4206240"/>
            <a:ext cx="4690872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35240" y="4206240"/>
            <a:ext cx="44805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Continue MLIT EBPM-aligned policy translation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212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A8863F"/>
                </a:solidFill>
                <a:latin typeface="Calibri"/>
              </a:rPr>
              <a:t>WHAT I GIVE BACK  ·  ACTIVE MEMBER, NOT ONLY RECIPIENT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623560"/>
            <a:ext cx="54864" cy="7315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623560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A2540"/>
                </a:solidFill>
                <a:latin typeface="Calibri"/>
              </a:rPr>
              <a:t>Year-4 international workshop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007608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4A5568"/>
                </a:solidFill>
                <a:latin typeface="Calibri"/>
              </a:rPr>
              <a:t>Urban thermal × GBI × climate adaptation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70832" y="5623560"/>
            <a:ext cx="54864" cy="7315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53712" y="5623560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A2540"/>
                </a:solidFill>
                <a:latin typeface="Calibri"/>
              </a:rPr>
              <a:t>China–Japan bridging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53712" y="6007608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4A5568"/>
                </a:solidFill>
                <a:latin typeface="Calibri"/>
              </a:rPr>
              <a:t>Annual seminar · translation · fieldwork support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93024" y="5623560"/>
            <a:ext cx="54864" cy="7315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75904" y="5623560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A2540"/>
                </a:solidFill>
                <a:latin typeface="Calibri"/>
              </a:rPr>
              <a:t>Cross-discipline seminars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75904" y="6007608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4A5568"/>
                </a:solidFill>
                <a:latin typeface="Calibri"/>
              </a:rPr>
              <a:t>Cross-scale analysis · translational research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2011680" cy="36576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6537960"/>
            <a:ext cx="1109167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6019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AA5B1"/>
                </a:solidFill>
                <a:latin typeface="Calibri"/>
              </a:rPr>
              <a:t>09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6019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AA5B1"/>
                </a:solidFill>
                <a:latin typeface="Calibri"/>
              </a:rPr>
              <a:t>HIRAKU-Global  ·  7th Cohort Interview  ·  LIU Haiqiang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A8863F"/>
                </a:solidFill>
                <a:latin typeface="Calibri"/>
              </a:rPr>
              <a:t>POST-TENURE  ·  LONG-TERM VISION &amp; LEADERSHIP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0A2540"/>
                </a:solidFill>
                <a:latin typeface="Calibri"/>
              </a:rPr>
              <a:t>A long-term anchor — not a short-term passenger.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A8863F"/>
                </a:solidFill>
                <a:latin typeface="Calibri"/>
              </a:rPr>
              <a:t>LOCAL-TO-GLOBAL  ·  EXPANDING IMPACT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423160"/>
            <a:ext cx="320040" cy="32004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42316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C9A961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33172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A2540"/>
                </a:solidFill>
                <a:latin typeface="Calibri"/>
              </a:rPr>
              <a:t>LAB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6060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4A5568"/>
                </a:solidFill>
                <a:latin typeface="Calibri"/>
              </a:rPr>
              <a:t>Stable research group at Yamaguchi U.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2990088"/>
            <a:ext cx="320040" cy="32004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990088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C9A961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2898648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A2540"/>
                </a:solidFill>
                <a:latin typeface="Calibri"/>
              </a:rPr>
              <a:t>REGION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317296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4A5568"/>
                </a:solidFill>
                <a:latin typeface="Calibri"/>
              </a:rPr>
              <a:t>Chugoku-Shikoku heat-adaptation toolkit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7824" y="3557016"/>
            <a:ext cx="320040" cy="32004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3557016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C9A961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465576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A2540"/>
                </a:solidFill>
                <a:latin typeface="Calibri"/>
              </a:rPr>
              <a:t>WESTERN JAPAN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739896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4A5568"/>
                </a:solidFill>
                <a:latin typeface="Calibri"/>
              </a:rPr>
              <a:t>Urban-thermal research hub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42416" y="4123944"/>
            <a:ext cx="320040" cy="32004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2416" y="4123944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C9A961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99616" y="4032504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A2540"/>
                </a:solidFill>
                <a:latin typeface="Calibri"/>
              </a:rPr>
              <a:t>ASIA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99616" y="4306824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4A5568"/>
                </a:solidFill>
                <a:latin typeface="Calibri"/>
              </a:rPr>
              <a:t>Comparative platform: EU · China · SE Asia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07008" y="4690872"/>
            <a:ext cx="320040" cy="32004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07008" y="4690872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C9A961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64208" y="459943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A2540"/>
                </a:solidFill>
                <a:latin typeface="Calibri"/>
              </a:rPr>
              <a:t>GLOBAL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64208" y="487375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4A5568"/>
                </a:solidFill>
                <a:latin typeface="Calibri"/>
              </a:rPr>
              <a:t>Local-to-Global model for aging climate cities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18288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A8863F"/>
                </a:solidFill>
                <a:latin typeface="Calibri"/>
              </a:rPr>
              <a:t>STRATEGIC ANCHORS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75120" y="2331720"/>
            <a:ext cx="496519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9A9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675120" y="2331720"/>
            <a:ext cx="73152" cy="9144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03720" y="242316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A2540"/>
                </a:solidFill>
                <a:latin typeface="Calibri"/>
              </a:rPr>
              <a:t>KAKENHI KIBAN 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2715768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4A5568"/>
                </a:solidFill>
                <a:latin typeface="Calibri"/>
              </a:rPr>
              <a:t>as PI — wind × GBI cross-scale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4A5568"/>
                </a:solidFill>
                <a:latin typeface="Calibri"/>
              </a:rPr>
              <a:t>mechanism, using Chugoku-Shikoku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4A5568"/>
                </a:solidFill>
                <a:latin typeface="Calibri"/>
              </a:rPr>
              <a:t>evidence base as pilot foundation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75120" y="3337560"/>
            <a:ext cx="496519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9A9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675120" y="3337560"/>
            <a:ext cx="73152" cy="9144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03720" y="342900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A2540"/>
                </a:solidFill>
                <a:latin typeface="Calibri"/>
              </a:rPr>
              <a:t>YAMAGUCHI U. AS HUB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03720" y="3721608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4A5568"/>
                </a:solidFill>
                <a:latin typeface="Calibri"/>
              </a:rPr>
              <a:t>Western Japan's reference point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4A5568"/>
                </a:solidFill>
                <a:latin typeface="Calibri"/>
              </a:rPr>
              <a:t>for urban thermal science &amp;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4A5568"/>
                </a:solidFill>
                <a:latin typeface="Calibri"/>
              </a:rPr>
              <a:t>climate-adaptive spatial design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75120" y="4343400"/>
            <a:ext cx="496519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9A9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675120" y="4343400"/>
            <a:ext cx="73152" cy="9144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03720" y="44348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A2540"/>
                </a:solidFill>
                <a:latin typeface="Calibri"/>
              </a:rPr>
              <a:t>LOCAL-TO-GLOBAL EXPORT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03720" y="4727448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4A5568"/>
                </a:solidFill>
                <a:latin typeface="Calibri"/>
              </a:rPr>
              <a:t>Diagnostic workflow exportable to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4A5568"/>
                </a:solidFill>
                <a:latin typeface="Calibri"/>
              </a:rPr>
              <a:t>Asian &amp; global cities facing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4A5568"/>
                </a:solidFill>
                <a:latin typeface="Calibri"/>
              </a:rPr>
              <a:t>aging × climate-change crises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486400"/>
            <a:ext cx="11091672" cy="86868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" y="5623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A961"/>
                </a:solidFill>
                <a:latin typeface="Calibri"/>
              </a:rPr>
              <a:t>COMMITMENT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587044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Anchor Yamaguchi University inside the international urban-climate network — as a long-term faculty, not a short-term visitor.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0" cy="5486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A961"/>
                </a:solidFill>
                <a:latin typeface="Calibri"/>
              </a:rP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Four foundations — already in motion.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94560"/>
            <a:ext cx="2697480" cy="7315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C9A961"/>
                </a:solidFill>
                <a:latin typeface="Calibri"/>
              </a:rPr>
              <a:t>QUALITY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80360"/>
            <a:ext cx="26974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15 papers · 3 Q1</a:t>
            </a:r>
          </a:p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all 1st / responsible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3977640"/>
            <a:ext cx="1417320" cy="63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114800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050" b="0" i="1">
                <a:solidFill>
                  <a:srgbClr val="CBD5E0"/>
                </a:solidFill>
                <a:latin typeface="Calibri"/>
              </a:rPr>
              <a:t>Building &amp; Env.  ·  Env. Pollution  ·  Energies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38728" y="2194560"/>
            <a:ext cx="2697480" cy="7315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38728" y="237744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C9A961"/>
                </a:solidFill>
                <a:latin typeface="Calibri"/>
              </a:rPr>
              <a:t>BRIDGE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8" y="2880360"/>
            <a:ext cx="26974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Sakura · Zhejiang Center · 5-country forum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78808" y="3977640"/>
            <a:ext cx="1417320" cy="63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8728" y="4114800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050" b="0" i="1">
                <a:solidFill>
                  <a:srgbClr val="CBD5E0"/>
                </a:solidFill>
                <a:latin typeface="Calibri"/>
              </a:rPr>
              <a:t>UCL  ·  Zhejiang U.  ·  Asia network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45936" y="2194560"/>
            <a:ext cx="2697480" cy="7315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45936" y="237744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C9A961"/>
                </a:solidFill>
                <a:latin typeface="Calibri"/>
              </a:rPr>
              <a:t>FUNDING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2880360"/>
            <a:ext cx="26974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≈ 100 M JPY · # 1 of 13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86016" y="3977640"/>
            <a:ext cx="1417320" cy="63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5936" y="4114800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050" b="0" i="1">
                <a:solidFill>
                  <a:srgbClr val="CBD5E0"/>
                </a:solidFill>
                <a:latin typeface="Calibri"/>
              </a:rPr>
              <a:t>Kakenhi Kiban C → Kiban 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53144" y="2194560"/>
            <a:ext cx="2697480" cy="7315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53144" y="237744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C9A961"/>
                </a:solidFill>
                <a:latin typeface="Calibri"/>
              </a:rPr>
              <a:t>IMPLEMENTATION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53144" y="2880360"/>
            <a:ext cx="26974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Kumamoto green-infra policy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793224" y="3977640"/>
            <a:ext cx="1417320" cy="63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4114800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050" b="0" i="1">
                <a:solidFill>
                  <a:srgbClr val="CBD5E0"/>
                </a:solidFill>
                <a:latin typeface="Calibri"/>
              </a:rPr>
              <a:t>MLIT EBPM evaluation case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5074920"/>
            <a:ext cx="10725912" cy="457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257800"/>
            <a:ext cx="1072591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HIRAKU-Global is the multiplier — not the starter.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760720"/>
            <a:ext cx="1072591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CBD5E0"/>
                </a:solidFill>
                <a:latin typeface="Calibri"/>
              </a:rPr>
              <a:t>I will give it back to Yamaguchi University, to the Chugoku-Shikoku region, and to the HIRAKU community.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355080"/>
            <a:ext cx="107259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A961"/>
                </a:solidFill>
                <a:latin typeface="Calibri"/>
              </a:rPr>
              <a:t>Thank you very much.  I look forward to your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