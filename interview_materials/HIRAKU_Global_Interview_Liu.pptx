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 — TITLE — ~25s]</a:t>
            </a:r>
          </a:p>
          <a:p/>
          <a:p>
            <a:r>
              <a:t>Good morning. My name is Liu Haiqiang. I am a tenure-track Lecturer at Yamaguchi University, working on urban thermal environment.</a:t>
            </a:r>
          </a:p>
          <a:p/>
          <a:p>
            <a:r>
              <a:t>In one sentence — I bridge urban thermal research with international collaboration, regional policy, and social implementation.</a:t>
            </a:r>
          </a:p>
          <a:p/>
          <a:p>
            <a:r>
              <a:t>In ten minutes, I will show you why my background fits HIRAKU-Global.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2 — PROFILE — ~45s]</a:t>
            </a:r>
          </a:p>
          <a:p/>
          <a:p>
            <a:r>
              <a:t>Briefly — who I am.</a:t>
            </a:r>
          </a:p>
          <a:p/>
          <a:p>
            <a:r>
              <a:t>Three pillars. Japan-trained: Ph.D. from Saga University in 2017. China-experienced: Associate Professor at Zhejiang Sci-Tech University, 2018 to 2023. Japan-returned: Yamaguchi University since January 2026.</a:t>
            </a:r>
          </a:p>
          <a:p/>
          <a:p>
            <a:r>
              <a:t>The timeline below shows ten years of continuity, moving from building, to person, to city.</a:t>
            </a:r>
          </a:p>
          <a:p/>
          <a:p>
            <a:r>
              <a:t>What this gives me is rare — I work natively in both Japanese regional cities and Chinese high-density urbanism, through one continuous research agenda on urban heat.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 — WHY MY RESEARCH MATTERS — ~50s]</a:t>
            </a:r>
          </a:p>
          <a:p/>
          <a:p>
            <a:r>
              <a:t>Why does this research matter?</a:t>
            </a:r>
          </a:p>
          <a:p/>
          <a:p>
            <a:r>
              <a:t>In 2023, Japan recorded over 91,000 emergency heatstroke transports. In Yamaguchi alone, 1,200 cases — and 60 percent were aged 65 or older.</a:t>
            </a:r>
          </a:p>
          <a:p/>
          <a:p>
            <a:r>
              <a:t>But not every street is equally hot. As the section drawing shows: built-up zones trap heat; green-and-wind zones stay cool. Elderly residents walk through this contrast every day, over 500 to 1,000 meters.</a:t>
            </a:r>
          </a:p>
          <a:p/>
          <a:p>
            <a:r>
              <a:t>So my research asks three simple questions — Where is it hot? Why is it hot? How can we cool the city while keeping it walkable?</a:t>
            </a:r>
          </a:p>
          <a:p/>
          <a:p>
            <a:r>
              <a:t>This sits at the intersection of climate warming, aging society, and city-center decline — the triple challenge of regional cities.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4 — RESEARCH TRAJECTORY — ~60s]</a:t>
            </a:r>
          </a:p>
          <a:p/>
          <a:p>
            <a:r>
              <a:t>My research has moved through three stages — not jumped between topics.</a:t>
            </a:r>
          </a:p>
          <a:p/>
          <a:p>
            <a:r>
              <a:t>Stage 1 — Building. How does form shape indoor thermal and energy performance? This gave me the physical side, but not the human side.</a:t>
            </a:r>
          </a:p>
          <a:p/>
          <a:p>
            <a:r>
              <a:t>Stage 2 — Person. How do indoor conditions affect learning, health, behavior? This is where my two Q1 papers come from — Building and Environment, top 5 in its field, and Environmental Pollution. But I was still indoors.</a:t>
            </a:r>
          </a:p>
          <a:p/>
          <a:p>
            <a:r>
              <a:t>Stage 3 — City. How do green-blue infrastructure, wind, and morphology together regulate pedestrian heat exposure? This is where the Kumamoto work — and the MLIT-cited case — comes from.</a:t>
            </a:r>
          </a:p>
          <a:p/>
          <a:p>
            <a:r>
              <a:t>Each stage was pushed forward by a question the previous one could only partly answer. Stage 3 is where HIRAKU-Global begins.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 — ORIGINALITY (CORE) — ~70s]</a:t>
            </a:r>
          </a:p>
          <a:p/>
          <a:p>
            <a:r>
              <a:t>This is the core of my originality.</a:t>
            </a:r>
          </a:p>
          <a:p/>
          <a:p>
            <a:r>
              <a:t>I work at three scales — chained as one workflow, not three separate studies.</a:t>
            </a:r>
          </a:p>
          <a:p/>
          <a:p>
            <a:r>
              <a:t>Top — satellite. Landsat-8/9 and Sentinel-2 tell me where heat accumulates.</a:t>
            </a:r>
          </a:p>
          <a:p/>
          <a:p>
            <a:r>
              <a:t>Middle — block-scale CFD. OpenFOAM tells me why, given wind and building form.</a:t>
            </a:r>
          </a:p>
          <a:p/>
          <a:p>
            <a:r>
              <a:t>Bottom — pedestrian validation. WBGT along the actual 500-to-1,000-meter walking corridors of elderly residents.</a:t>
            </a:r>
          </a:p>
          <a:p/>
          <a:p>
            <a:r>
              <a:t>Four things make this original. First, multi-source data fusion. Second, cumulative heat exposure — not instantaneous temperature. Third, already applied to Kumamoto's green-infrastructure policy.</a:t>
            </a:r>
          </a:p>
          <a:p/>
          <a:p>
            <a:r>
              <a:t>And fourth — most importantly — cited by Japan's MLIT as an Evidence-Based Policy Making case.</a:t>
            </a:r>
          </a:p>
          <a:p/>
          <a:p>
            <a:r>
              <a:t>Few researchers can show all four — satellite, measurement, CFD, and national policy adoption — in one workflow.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 — RESEARCH OUTPUTS — ~50s]</a:t>
            </a:r>
          </a:p>
          <a:p/>
          <a:p>
            <a:r>
              <a:t>Now my publications — quality first, and honest positioning.</a:t>
            </a:r>
          </a:p>
          <a:p/>
          <a:p>
            <a:r>
              <a:t>Fifteen peer-reviewed papers. Ten English SCI or SCIE. Eight with impact factor. Three in Q1.</a:t>
            </a:r>
          </a:p>
          <a:p/>
          <a:p>
            <a:r>
              <a:t>I want to be precise about authorship — I led two of the three Q1 papers, and contributed to one. As first or co-first author: Building and Environment, top 5 in its field; and Energies. As co-author: Environmental Pollution, where I joined a research-team study on PM2.5 health.</a:t>
            </a:r>
          </a:p>
          <a:p/>
          <a:p>
            <a:r>
              <a:t>The timeline below shows my first or co-first authored papers by year — including two Kumamoto Urban Policy articles in 2024.</a:t>
            </a:r>
          </a:p>
          <a:p/>
          <a:p>
            <a:r>
              <a:t>What matters more than journal count is the line that connects them — building energy, indoor comfort, PM2.5 health, urban heat, green infrastructure, policy. One continuous research agenda.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7 — INTERNATIONAL COLLABORATION — ~55s]</a:t>
            </a:r>
          </a:p>
          <a:p/>
          <a:p>
            <a:r>
              <a:t>International collaboration, for me, means organizing — not just attending.</a:t>
            </a:r>
          </a:p>
          <a:p/>
          <a:p>
            <a:r>
              <a:t>Three concrete records.</a:t>
            </a:r>
          </a:p>
          <a:p/>
          <a:p>
            <a:r>
              <a:t>One — the Sakura Science Program. I organized exchanges between Zhejiang Sci-Tech University and Japanese universities over multiple years. Paused by COVID; friendship intact.</a:t>
            </a:r>
          </a:p>
          <a:p/>
          <a:p>
            <a:r>
              <a:t>Two — during COVID, I helped build the Zhejiang International Cooperation Center on Carbon Neutrality. Only four such centers province-wide; ZSTU was the core unit of one.</a:t>
            </a:r>
          </a:p>
          <a:p/>
          <a:p>
            <a:r>
              <a:t>Three — I organized a five-country online forum: China, Japan, UK at UCL, Indonesia, and Bangladesh.</a:t>
            </a:r>
          </a:p>
          <a:p/>
          <a:p>
            <a:r>
              <a:t>The future network below builds on these existing friendships, with Yamaguchi University at the center.</a:t>
            </a:r>
          </a:p>
          <a:p/>
          <a:p>
            <a:r>
              <a:t>In all three cases — I was the organizer.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8 — FUNDING &amp; LEADERSHIP — ~60s]</a:t>
            </a:r>
          </a:p>
          <a:p/>
          <a:p>
            <a:r>
              <a:t>Funding — the honest picture in three phases.</a:t>
            </a:r>
          </a:p>
          <a:p/>
          <a:p>
            <a:r>
              <a:t>China, 2018 to 2023. Across eight projects, approximately 100 million yen total. Five as Leading Researcher, in a highly competitive environment.</a:t>
            </a:r>
          </a:p>
          <a:p/>
          <a:p>
            <a:r>
              <a:t>Kumamoto, 2023 to 2025. Municipal post — institutional rule did not permit external grants such as Kakenhi. What I produced instead was the MLIT EBPM-cited policy work.</a:t>
            </a:r>
          </a:p>
          <a:p/>
          <a:p>
            <a:r>
              <a:t>Yamaguchi, since January 2026 — the first time I could apply in Japan. Within months, I was ranked number one out of thirteen applicants in the Yamaguchi regional research program. Four were selected.</a:t>
            </a:r>
          </a:p>
          <a:p/>
          <a:p>
            <a:r>
              <a:t>Forward path — Kakenhi Kiban C this autumn, building toward Kiban B during HIRAKU. The Japan pattern has started.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9 — RESEARCH PLAN (CORE) — ~70s]</a:t>
            </a:r>
          </a:p>
          <a:p/>
          <a:p>
            <a:r>
              <a:t>This is the project I will run during HIRAKU-Global.</a:t>
            </a:r>
          </a:p>
          <a:p/>
          <a:p>
            <a:r>
              <a:t>Left — three cities, three wind regimes within one region: Matsue lakeside, Yamaguchi basin, Ube coastal. The contrast is exactly what the science needs.</a:t>
            </a:r>
          </a:p>
          <a:p/>
          <a:p>
            <a:r>
              <a:t>Middle — the method chain. Step 1 satellite screening — already running. Step 2 block CFD — methodology already established. Step 3 pedestrian WBGT — co-designed with Yamaguchi City's elderly-care offices.</a:t>
            </a:r>
          </a:p>
          <a:p/>
          <a:p>
            <a:r>
              <a:t>Right — the five-year plan. Year 1 diagnosis. Year 2 UCL stay with Dr. Huanfa Chen. Year 3 CFD plus Zhejiang visit. Year 4 pedestrian field plus international workshop at Yamaguchi. Year 5 synthesis and Kakenhi B.</a:t>
            </a:r>
          </a:p>
          <a:p/>
          <a:p>
            <a:r>
              <a:t>This plan does not start from zero. Pipeline running. Partners ready. First grant won.</a:t>
            </a:r>
          </a:p>
          <a:p/>
          <a:p>
            <a:r>
              <a:t>I also manage risk — anchor Yamaguchi first, expand stepwise, use online collaboration when needed. Deliver, not over-promise.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10 — ASPIRATIONS — ~60s]</a:t>
            </a:r>
          </a:p>
          <a:p/>
          <a:p>
            <a:r>
              <a:t>What will I do during and after HIRAKU-Global?</a:t>
            </a:r>
          </a:p>
          <a:p/>
          <a:p>
            <a:r>
              <a:t>Aligned with the 3I framework. Innovative — the cross-scale mechanism paper and a reusable diagnostic workflow. Influential — continued Q1 publications and the Kakenhi path. Impactful — deliverables to Yamaguchi, Ube, and Matsue.</a:t>
            </a:r>
          </a:p>
          <a:p/>
          <a:p>
            <a:r>
              <a:t>After tenure — and this is critical — I will be a long-term anchor at Yamaguchi University. The rings on the right show the path: from my lab, to the region, to Western Japan as an urban thermal hub, to an Asia platform, to a Local-to-Global model.</a:t>
            </a:r>
          </a:p>
          <a:p/>
          <a:p>
            <a:r>
              <a:t>I am not only a recipient. I will give back — an international workshop at Yamaguchi, a China–Japan academic bridge, teaching and mentoring graduate students, and active service to the department and the region.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11 — CLOSING — ~25s]</a:t>
            </a:r>
          </a:p>
          <a:p/>
          <a:p>
            <a:r>
              <a:t>To close.</a:t>
            </a:r>
          </a:p>
          <a:p/>
          <a:p>
            <a:r>
              <a:t>Four foundations — already in motion. Quality. Bridge. Funding. Implementation.</a:t>
            </a:r>
          </a:p>
          <a:p/>
          <a:p>
            <a:r>
              <a:t>And four commitments — research, teaching, collaboration, long-term anchor.</a:t>
            </a:r>
          </a:p>
          <a:p/>
          <a:p>
            <a:r>
              <a:t>HIRAKU-Global is the multiplier — not the starter.</a:t>
            </a:r>
          </a:p>
          <a:p/>
          <a:p>
            <a:r>
              <a:t>Thank you very much. I look forward to your questions.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 A1 — Research Trajectory] Use if a reviewer asks for the detailed evolution of my research, the specific methods at each stage, or how the three stages connect. This is the full framework from my application; Slide 4 is its simplified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 A2 — Cross-Scale Framework] Use if a reviewer wants the scientific depth behind Slide 5 — the Q0/Q1/Q2 questions, the three analytical scales, and how they integrate into one knowledge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 A3 — Workflow &amp; Plan] Use if a reviewer probes feasibility or the year-by-year schedule. Shows the full screening-explanation-validation chain behind Slide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 A4 — Collaboration] Use if a reviewer asks for detail on partner roles, complementarity, or how the network expands. Expands the hub-and-spoke diagram on Slide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11480" y="6858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11480" y="13716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11480" y="20574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11480" y="27432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11480" y="34290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11480" y="41148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1480" y="48006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28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432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6576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720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486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00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3152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2296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440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058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2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0" y="0"/>
            <a:ext cx="2743200" cy="914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YAMAGUCHI UNIVERSITY  ·  HIRAKU-GLOBAL  ·  7TH COHORT  · 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141732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Bridging Cities, Climate, and People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2514600"/>
            <a:ext cx="27432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697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FFFFF"/>
                </a:solidFill>
                <a:latin typeface="Calibri"/>
              </a:rPr>
              <a:t>Urban Thermal Environment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1546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B8C8DC"/>
                </a:solidFill>
                <a:latin typeface="Calibri"/>
              </a:rPr>
              <a:t>from Japanese Regional Cities to International Asia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749039"/>
            <a:ext cx="54864" cy="29260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3749039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HEAT-ADAPTIVE WALKABLE CITIES  ·  CROSS-SCALE ANALYTICAL FRAMEWORK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251960"/>
            <a:ext cx="54864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2519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LIU  HAIQIANG, Ph.D.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709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C9A961"/>
                </a:solidFill>
                <a:latin typeface="Calibri"/>
              </a:rPr>
              <a:t>Lecturer (Tenure-track)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01091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8C8DC"/>
                </a:solidFill>
                <a:latin typeface="Calibri"/>
              </a:rPr>
              <a:t>Graduate School of Sciences and Technology for Innovation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257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8C8DC"/>
                </a:solidFill>
                <a:latin typeface="Calibri"/>
              </a:rPr>
              <a:t>Yamaguchi University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989320"/>
            <a:ext cx="2697480" cy="365760"/>
          </a:xfrm>
          <a:prstGeom prst="rect">
            <a:avLst/>
          </a:prstGeom>
          <a:noFill/>
          <a:ln w="9525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98932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URBAN THERMAL ENVIRONMENT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02152" y="5989320"/>
            <a:ext cx="2697480" cy="365760"/>
          </a:xfrm>
          <a:prstGeom prst="rect">
            <a:avLst/>
          </a:prstGeom>
          <a:noFill/>
          <a:ln w="9525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02152" y="598932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INTERNATIONAL COLLABORATION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18504" y="5989320"/>
            <a:ext cx="2697480" cy="365760"/>
          </a:xfrm>
          <a:prstGeom prst="rect">
            <a:avLst/>
          </a:prstGeom>
          <a:noFill/>
          <a:ln w="9525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18504" y="598932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REGIONAL POLICY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34856" y="5989320"/>
            <a:ext cx="2697480" cy="365760"/>
          </a:xfrm>
          <a:prstGeom prst="rect">
            <a:avLst/>
          </a:prstGeom>
          <a:noFill/>
          <a:ln w="9525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34856" y="598932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SOCIAL IMPLEMENTATION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0" y="6446520"/>
            <a:ext cx="3108960" cy="292608"/>
          </a:xfrm>
          <a:prstGeom prst="rect">
            <a:avLst/>
          </a:prstGeom>
          <a:noFill/>
          <a:ln w="762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9601200" y="6446520"/>
            <a:ext cx="0" cy="292608"/>
          </a:xfrm>
          <a:prstGeom prst="line">
            <a:avLst/>
          </a:prstGeom>
          <a:ln w="762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744200" y="6446520"/>
            <a:ext cx="0" cy="292608"/>
          </a:xfrm>
          <a:prstGeom prst="line">
            <a:avLst/>
          </a:prstGeom>
          <a:ln w="762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686800" y="644652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E4D29D"/>
                </a:solidFill>
                <a:latin typeface="Calibri"/>
              </a:rPr>
              <a:t>  01 / 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46920" y="644652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E4D29D"/>
                </a:solidFill>
                <a:latin typeface="Calibri"/>
              </a:rPr>
              <a:t>  TITLE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89920" y="6446520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E4D29D"/>
                </a:solidFill>
                <a:latin typeface="Calibri"/>
              </a:rPr>
              <a:t>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02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Who I am — a researcher trained between Japan and China.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02/11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3703320" cy="12801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1691640"/>
            <a:ext cx="73152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1828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181051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JAPAN-TRAINED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2194560"/>
            <a:ext cx="3337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Ph.D. (Architectural Environmental Engineering)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Saga University, Japan  ·  2017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1691640"/>
            <a:ext cx="3703320" cy="12801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80560" y="1691640"/>
            <a:ext cx="73152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9160" y="1828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181051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CHINA-EXPERIENCED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9160" y="2194560"/>
            <a:ext cx="3337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Associate Professor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Zhejiang Sci-Tech University  ·  2018–2023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75320" y="1691640"/>
            <a:ext cx="3703320" cy="12801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75320" y="1691640"/>
            <a:ext cx="73152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3920" y="1828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181051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JAPAN-RETURNED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2194560"/>
            <a:ext cx="3337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Lecturer (Tenure-track)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Yamaguchi University  ·  since Jan 2026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336499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14400" y="3200400"/>
            <a:ext cx="7086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CAREER TIMELINE  ·  10 YEARS ACROSS BUILDING → PERSON → CITY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85800" y="4434840"/>
            <a:ext cx="10817352" cy="0"/>
          </a:xfrm>
          <a:prstGeom prst="line">
            <a:avLst/>
          </a:prstGeom>
          <a:ln w="1905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594360" y="4343400"/>
            <a:ext cx="182880" cy="182880"/>
          </a:xfrm>
          <a:prstGeom prst="ellipse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2009–2011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-137160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Master's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Saga U.</a:t>
            </a:r>
          </a:p>
        </p:txBody>
      </p:sp>
      <p:sp>
        <p:nvSpPr>
          <p:cNvPr id="46" name="Oval 45"/>
          <p:cNvSpPr/>
          <p:nvPr/>
        </p:nvSpPr>
        <p:spPr>
          <a:xfrm>
            <a:off x="2216962" y="4343400"/>
            <a:ext cx="182880" cy="182880"/>
          </a:xfrm>
          <a:prstGeom prst="ellipse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68322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2014–2017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85442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Ph.D.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Saga U.</a:t>
            </a:r>
          </a:p>
        </p:txBody>
      </p:sp>
      <p:sp>
        <p:nvSpPr>
          <p:cNvPr id="49" name="Oval 48"/>
          <p:cNvSpPr/>
          <p:nvPr/>
        </p:nvSpPr>
        <p:spPr>
          <a:xfrm>
            <a:off x="4055912" y="4343400"/>
            <a:ext cx="182880" cy="182880"/>
          </a:xfrm>
          <a:prstGeom prst="ellipse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07272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2017–2018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24392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Researcher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Saga U.</a:t>
            </a:r>
          </a:p>
        </p:txBody>
      </p:sp>
      <p:sp>
        <p:nvSpPr>
          <p:cNvPr id="52" name="Oval 51"/>
          <p:cNvSpPr/>
          <p:nvPr/>
        </p:nvSpPr>
        <p:spPr>
          <a:xfrm>
            <a:off x="5570341" y="4343400"/>
            <a:ext cx="182880" cy="18288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1701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2018–2023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38821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Associate Prof.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ZSTU</a:t>
            </a:r>
          </a:p>
        </p:txBody>
      </p:sp>
      <p:sp>
        <p:nvSpPr>
          <p:cNvPr id="55" name="Oval 54"/>
          <p:cNvSpPr/>
          <p:nvPr/>
        </p:nvSpPr>
        <p:spPr>
          <a:xfrm>
            <a:off x="7733812" y="4343400"/>
            <a:ext cx="182880" cy="182880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85172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2023–2025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02292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Researcher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Kumamoto City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Policy Institute</a:t>
            </a:r>
          </a:p>
        </p:txBody>
      </p:sp>
      <p:sp>
        <p:nvSpPr>
          <p:cNvPr id="58" name="Oval 57"/>
          <p:cNvSpPr/>
          <p:nvPr/>
        </p:nvSpPr>
        <p:spPr>
          <a:xfrm>
            <a:off x="9897282" y="4343400"/>
            <a:ext cx="182880" cy="182880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48642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2026—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65762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Lecturer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Yamaguchi U.</a:t>
            </a:r>
          </a:p>
        </p:txBody>
      </p:sp>
      <p:sp>
        <p:nvSpPr>
          <p:cNvPr id="61" name="Oval 60"/>
          <p:cNvSpPr/>
          <p:nvPr/>
        </p:nvSpPr>
        <p:spPr>
          <a:xfrm>
            <a:off x="685800" y="5212080"/>
            <a:ext cx="146304" cy="146304"/>
          </a:xfrm>
          <a:prstGeom prst="ellipse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86968" y="51663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4A5568"/>
                </a:solidFill>
                <a:latin typeface="Calibri"/>
              </a:rPr>
              <a:t>STAGE 1  ·  BUILDING</a:t>
            </a:r>
          </a:p>
        </p:txBody>
      </p:sp>
      <p:sp>
        <p:nvSpPr>
          <p:cNvPr id="63" name="Oval 62"/>
          <p:cNvSpPr/>
          <p:nvPr/>
        </p:nvSpPr>
        <p:spPr>
          <a:xfrm>
            <a:off x="3154680" y="5212080"/>
            <a:ext cx="146304" cy="146304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355848" y="51663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4A5568"/>
                </a:solidFill>
                <a:latin typeface="Calibri"/>
              </a:rPr>
              <a:t>STAGE 2  ·  PERSON</a:t>
            </a:r>
          </a:p>
        </p:txBody>
      </p:sp>
      <p:sp>
        <p:nvSpPr>
          <p:cNvPr id="65" name="Oval 64"/>
          <p:cNvSpPr/>
          <p:nvPr/>
        </p:nvSpPr>
        <p:spPr>
          <a:xfrm>
            <a:off x="5623560" y="5212080"/>
            <a:ext cx="146304" cy="146304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824728" y="51663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4A5568"/>
                </a:solidFill>
                <a:latin typeface="Calibri"/>
              </a:rPr>
              <a:t>STAGE 3  ·  CITY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85800" y="565099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14400" y="5486400"/>
            <a:ext cx="7086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SELECTED DISTINCTIONS  ·  RECOGNITION &amp; SERVICE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5800" y="5806440"/>
            <a:ext cx="3703320" cy="502920"/>
          </a:xfrm>
          <a:prstGeom prst="rect">
            <a:avLst/>
          </a:prstGeom>
          <a:noFill/>
          <a:ln w="762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85800" y="5806440"/>
            <a:ext cx="54864" cy="5029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50392" y="583387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C6F33"/>
                </a:solidFill>
                <a:latin typeface="Calibri"/>
              </a:rPr>
              <a:t>2012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99032" y="5833872"/>
            <a:ext cx="2880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CCTV-featured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0392" y="6062472"/>
            <a:ext cx="3429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Eco-City Design 1st Prize on China Central TV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80560" y="5806440"/>
            <a:ext cx="3703320" cy="502920"/>
          </a:xfrm>
          <a:prstGeom prst="rect">
            <a:avLst/>
          </a:prstGeom>
          <a:noFill/>
          <a:ln w="762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80560" y="5806440"/>
            <a:ext cx="54864" cy="5029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45152" y="583387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C6F33"/>
                </a:solidFill>
                <a:latin typeface="Calibri"/>
              </a:rPr>
              <a:t>2011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93792" y="5833872"/>
            <a:ext cx="2880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Croucher Institute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645152" y="6062472"/>
            <a:ext cx="3429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Adv. Study Institute (Hong Kong) — early international training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20" y="5806440"/>
            <a:ext cx="3703320" cy="502920"/>
          </a:xfrm>
          <a:prstGeom prst="rect">
            <a:avLst/>
          </a:prstGeom>
          <a:noFill/>
          <a:ln w="762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275320" y="5806440"/>
            <a:ext cx="54864" cy="5029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39912" y="583387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C6F33"/>
                </a:solidFill>
                <a:latin typeface="Calibri"/>
              </a:rPr>
              <a:t>2020–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88552" y="5833872"/>
            <a:ext cx="2880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3 Advisory Roles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39912" y="6062472"/>
            <a:ext cx="3429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Urban Regen. · Changzhou Sci-Tech Expert · Saga Alumni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03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PROBLEM SETTING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Climate change becomes a local problem — on every street.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03/11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5852160" cy="3017520"/>
          </a:xfrm>
          <a:prstGeom prst="rect">
            <a:avLst/>
          </a:prstGeom>
          <a:solidFill>
            <a:srgbClr val="FAFBFC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22960" y="19476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51560" y="178308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STREET SECTION  ·  WHAT AN ELDERLY RESIDENT FACES</a:t>
            </a:r>
          </a:p>
        </p:txBody>
      </p:sp>
      <p:sp>
        <p:nvSpPr>
          <p:cNvPr id="28" name="Oval 27"/>
          <p:cNvSpPr/>
          <p:nvPr/>
        </p:nvSpPr>
        <p:spPr>
          <a:xfrm>
            <a:off x="5417820" y="2400300"/>
            <a:ext cx="320040" cy="320040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785866.0" y="2560320.0"/>
            <a:ext cx="96012.0" cy="0.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724936.595263112" y="2707416.595263113"/>
            <a:ext cx="67890.73627528362" cy="67890.73627528269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7840.0" y="2768346.0"/>
            <a:ext cx="0.0" cy="96012.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5362852.668461604" y="2707416.595263113"/>
            <a:ext cx="67890.73627528362" cy="67890.73627528269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5273802.0" y="2560320.0"/>
            <a:ext cx="96012.0" cy="0.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5362852.668461604" y="2345332.6684616045"/>
            <a:ext cx="67890.73627528362" cy="67890.73627528269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5577840.0" y="2256282.0"/>
            <a:ext cx="0.0" cy="96012.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724936.595263112" y="2345332.6684616045"/>
            <a:ext cx="67890.73627528362" cy="67890.73627528269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60120" y="4297680"/>
            <a:ext cx="5303520" cy="914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" y="3182112"/>
            <a:ext cx="822960" cy="658368"/>
          </a:xfrm>
          <a:prstGeom prst="rect">
            <a:avLst/>
          </a:prstGeom>
          <a:noFill/>
          <a:ln w="15240">
            <a:solidFill>
              <a:srgbClr val="2A4D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Isosceles Triangle 38"/>
          <p:cNvSpPr/>
          <p:nvPr/>
        </p:nvSpPr>
        <p:spPr>
          <a:xfrm>
            <a:off x="1143000" y="3017520"/>
            <a:ext cx="822960" cy="205740"/>
          </a:xfrm>
          <a:prstGeom prst="triangle">
            <a:avLst/>
          </a:prstGeom>
          <a:noFill/>
          <a:ln w="15240">
            <a:solidFill>
              <a:srgbClr val="2A4D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241755" y="330555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47495" y="330555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653235" y="330555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241755" y="349483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47495" y="349483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53235" y="349483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057400" y="2816352"/>
            <a:ext cx="822960" cy="658368"/>
          </a:xfrm>
          <a:prstGeom prst="rect">
            <a:avLst/>
          </a:prstGeom>
          <a:noFill/>
          <a:ln w="15240">
            <a:solidFill>
              <a:srgbClr val="2A4D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Isosceles Triangle 46"/>
          <p:cNvSpPr/>
          <p:nvPr/>
        </p:nvSpPr>
        <p:spPr>
          <a:xfrm>
            <a:off x="2057400" y="2651760"/>
            <a:ext cx="822960" cy="205740"/>
          </a:xfrm>
          <a:prstGeom prst="triangle">
            <a:avLst/>
          </a:prstGeom>
          <a:noFill/>
          <a:ln w="15240">
            <a:solidFill>
              <a:srgbClr val="2A4D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156155" y="293979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361895" y="293979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567635" y="293979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156155" y="312907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361895" y="312907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567635" y="312907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51560" y="4251960"/>
            <a:ext cx="2194560" cy="4572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97280" y="44622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534F"/>
                </a:solidFill>
                <a:latin typeface="Calibri"/>
              </a:rPr>
              <a:t>HOT  ·  built-up</a:t>
            </a:r>
          </a:p>
        </p:txBody>
      </p:sp>
      <p:sp>
        <p:nvSpPr>
          <p:cNvPr id="56" name="Oval 55"/>
          <p:cNvSpPr/>
          <p:nvPr/>
        </p:nvSpPr>
        <p:spPr>
          <a:xfrm>
            <a:off x="3472891" y="3520440"/>
            <a:ext cx="140817" cy="14081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392424" y="3686403"/>
            <a:ext cx="301752" cy="2514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446739" y="3937863"/>
            <a:ext cx="60350" cy="90525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79510" y="3937863"/>
            <a:ext cx="60350" cy="90525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Isosceles Triangle 59"/>
          <p:cNvSpPr/>
          <p:nvPr/>
        </p:nvSpPr>
        <p:spPr>
          <a:xfrm>
            <a:off x="4343400" y="3291840"/>
            <a:ext cx="731520" cy="512063"/>
          </a:xfrm>
          <a:prstGeom prst="triangle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636008" y="3803904"/>
            <a:ext cx="146304" cy="219456"/>
          </a:xfrm>
          <a:prstGeom prst="rect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Isosceles Triangle 61"/>
          <p:cNvSpPr/>
          <p:nvPr/>
        </p:nvSpPr>
        <p:spPr>
          <a:xfrm>
            <a:off x="5212080" y="3429000"/>
            <a:ext cx="640080" cy="448056"/>
          </a:xfrm>
          <a:prstGeom prst="triangle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468112" y="3877056"/>
            <a:ext cx="128016" cy="192024"/>
          </a:xfrm>
          <a:prstGeom prst="rect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251960" y="4251960"/>
            <a:ext cx="1828800" cy="45720"/>
          </a:xfrm>
          <a:prstGeom prst="rect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97680" y="44622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6FA8C6"/>
                </a:solidFill>
                <a:latin typeface="Calibri"/>
              </a:rPr>
              <a:t>COOL  ·  green &amp; wind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051560" y="4663440"/>
            <a:ext cx="5029200" cy="0"/>
          </a:xfrm>
          <a:prstGeom prst="line">
            <a:avLst/>
          </a:prstGeom>
          <a:ln w="2540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05156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1">
                <a:solidFill>
                  <a:srgbClr val="8C6F33"/>
                </a:solidFill>
                <a:latin typeface="Calibri"/>
              </a:rPr>
              <a:t>← 500–1000 m daily-activity corridor →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812280" y="18562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40880" y="1691640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THE NUMBERS  ·  FDMA 2024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12280" y="2103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D9534F"/>
                </a:solidFill>
                <a:latin typeface="Calibri"/>
              </a:rPr>
              <a:t>91,000+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12280" y="29718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heatstroke emergency transports — Japan, 2023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12280" y="3383280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2E55"/>
                </a:solidFill>
                <a:latin typeface="Calibri"/>
              </a:rPr>
              <a:t>1,200+  in Yamaguchi  ·  60%  aged 65+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12280" y="3886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8"/>
                </a:solidFill>
                <a:latin typeface="Calibri"/>
              </a:rPr>
              <a:t>Heat is no longer just weather — it is a regional public-health issue.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812280" y="45994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7040880" y="4434840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MY THREE QUESTIONS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812280" y="4892040"/>
            <a:ext cx="54864" cy="2743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995160" y="48463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E55"/>
                </a:solidFill>
                <a:latin typeface="Calibri"/>
              </a:rPr>
              <a:t>WHERE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29600" y="488289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is it hot?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12280" y="5303520"/>
            <a:ext cx="54864" cy="2743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995160" y="5257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E55"/>
                </a:solidFill>
                <a:latin typeface="Calibri"/>
              </a:rPr>
              <a:t>WHY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5294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is it hot?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812280" y="5715000"/>
            <a:ext cx="54864" cy="2743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995160" y="5669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E55"/>
                </a:solidFill>
                <a:latin typeface="Calibri"/>
              </a:rPr>
              <a:t>HOW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29600" y="5705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to cool &amp; re-vitalize the city?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85800" y="6263640"/>
            <a:ext cx="10972800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8680" y="62636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REGIONAL CITIES FACE A TRIPLE CHALLENGE   ·   CLIMATE WARMING  +  AGING SOCIETY  +  CITY-CENTER DECLINE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04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RESEARCH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10 years, three stages — Building → Person → City.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04/11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3703320" cy="365760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1691640"/>
            <a:ext cx="370332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169164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STAGE 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2402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BUILDING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2377440"/>
            <a:ext cx="914400" cy="731520"/>
          </a:xfrm>
          <a:prstGeom prst="rect">
            <a:avLst/>
          </a:prstGeom>
          <a:noFill/>
          <a:ln w="1524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Isosceles Triangle 29"/>
          <p:cNvSpPr/>
          <p:nvPr/>
        </p:nvSpPr>
        <p:spPr>
          <a:xfrm>
            <a:off x="3200400" y="2194560"/>
            <a:ext cx="914400" cy="228600"/>
          </a:xfrm>
          <a:prstGeom prst="triangle">
            <a:avLst/>
          </a:prstGeom>
          <a:noFill/>
          <a:ln w="1524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10128" y="2514600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538728" y="2514600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67328" y="2514600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10128" y="2724912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38728" y="2724912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67328" y="2724912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914400" y="304495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43000" y="2880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QUESTION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31089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How does building type &amp; form</a:t>
            </a:r>
          </a:p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shape indoor thermal &amp; energy?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14400" y="40050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143000" y="38404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WORK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069080"/>
            <a:ext cx="3337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183 households across 3 cities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Window-to-wall ratio optimization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Residential building types comparison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14400" y="501091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143000" y="48463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OUTPUTS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5029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C6F33"/>
                </a:solidFill>
                <a:latin typeface="Calibri"/>
              </a:rPr>
              <a:t>Sustainability  ·  JCEA  ·  Procedia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60" y="1691640"/>
            <a:ext cx="3703320" cy="365760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480560" y="1691640"/>
            <a:ext cx="370332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09160" y="169164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STAGE 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09160" y="22402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PERSON</a:t>
            </a:r>
          </a:p>
        </p:txBody>
      </p:sp>
      <p:sp>
        <p:nvSpPr>
          <p:cNvPr id="50" name="Oval 49"/>
          <p:cNvSpPr/>
          <p:nvPr/>
        </p:nvSpPr>
        <p:spPr>
          <a:xfrm>
            <a:off x="7324344" y="2194560"/>
            <a:ext cx="256032" cy="256032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178040" y="2496312"/>
            <a:ext cx="548640" cy="4572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76795" y="2953512"/>
            <a:ext cx="109728" cy="164592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18196" y="2953512"/>
            <a:ext cx="109728" cy="164592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709160" y="304495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937760" y="2880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QUESTION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09160" y="31089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How do indoor conditions</a:t>
            </a:r>
          </a:p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affect learning, health, behavior?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709160" y="40050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4937760" y="38404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WORK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09160" y="4069080"/>
            <a:ext cx="3337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Classroom thermal × learning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PM2.5 health-effect assessment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Elderly spatial needs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709160" y="501091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937760" y="48463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OUTPUTS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09160" y="5029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C6F33"/>
                </a:solidFill>
                <a:latin typeface="Calibri"/>
              </a:rPr>
              <a:t>Building &amp; Env. Q1 (Top 5)  ·  Env. Pollution Q1  ·  Energies Q1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75320" y="1691640"/>
            <a:ext cx="3703320" cy="365760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75320" y="1691640"/>
            <a:ext cx="370332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3920" y="169164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STAGE 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22402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CITY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812780" y="2606040"/>
            <a:ext cx="105482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936877" y="2331720"/>
            <a:ext cx="105482" cy="7772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060974" y="2743200"/>
            <a:ext cx="105482" cy="3657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1185071" y="2468880"/>
            <a:ext cx="105482" cy="6400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309168" y="2651760"/>
            <a:ext cx="105482" cy="4572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433265" y="2240280"/>
            <a:ext cx="105482" cy="8686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557362" y="2560320"/>
            <a:ext cx="105482" cy="5486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8503920" y="304495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8732520" y="2880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QUESTION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03920" y="31089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How do GBI, wind &amp; morphology</a:t>
            </a:r>
          </a:p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regulate pedestrian heat exposure?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8503920" y="40050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8732520" y="38404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WORK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03920" y="4069080"/>
            <a:ext cx="3337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Satellite LST + Sentinel-2 LCZ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Courtyard CFD wind analysis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Kumamoto green-infra mapping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8503920" y="501091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8732520" y="48463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OUTPUTS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503920" y="5029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C6F33"/>
                </a:solidFill>
                <a:latin typeface="Calibri"/>
              </a:rPr>
              <a:t>Sustainability Q2  ·  Book Chapter  ·  MLIT EBPM-cited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389120" y="1892808"/>
            <a:ext cx="91440" cy="0"/>
          </a:xfrm>
          <a:prstGeom prst="line">
            <a:avLst/>
          </a:prstGeom>
          <a:ln w="317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8183880" y="1892808"/>
            <a:ext cx="91440" cy="0"/>
          </a:xfrm>
          <a:prstGeom prst="line">
            <a:avLst/>
          </a:prstGeom>
          <a:ln w="317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685800" y="5577840"/>
            <a:ext cx="10972800" cy="7772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8680" y="5687568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WHAT BINDS THE THREE STAGES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68680" y="59436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Each stage was pushed forward by a question the previous stage could only partly answer.  Stage 3 is where HIRAKU-Global begins.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05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ORIGINALITY  · 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Satellite + measurement + CFD + national-level policy — in one workflow.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05/11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5212080" cy="3931920"/>
          </a:xfrm>
          <a:prstGeom prst="rect">
            <a:avLst/>
          </a:prstGeom>
          <a:solidFill>
            <a:srgbClr val="FAFBFC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68680" y="19476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97280" y="178308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CROSS-SCALE WORKFLOW  ·  SATELLITE → BLOCK → PEDESTRIAN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88720" y="2286000"/>
            <a:ext cx="0" cy="2926080"/>
          </a:xfrm>
          <a:prstGeom prst="line">
            <a:avLst/>
          </a:prstGeom>
          <a:ln w="1905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15568" y="2377440"/>
            <a:ext cx="146304" cy="0"/>
          </a:xfrm>
          <a:prstGeom prst="line">
            <a:avLst/>
          </a:prstGeom>
          <a:ln w="1270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115568" y="3520440"/>
            <a:ext cx="146304" cy="0"/>
          </a:xfrm>
          <a:prstGeom prst="line">
            <a:avLst/>
          </a:prstGeom>
          <a:ln w="1270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15568" y="4709160"/>
            <a:ext cx="146304" cy="0"/>
          </a:xfrm>
          <a:prstGeom prst="line">
            <a:avLst/>
          </a:prstGeom>
          <a:ln w="1270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15568" y="5120640"/>
            <a:ext cx="146304" cy="0"/>
          </a:xfrm>
          <a:prstGeom prst="line">
            <a:avLst/>
          </a:prstGeom>
          <a:ln w="1270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77240" y="224028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km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02920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33372" y="2499741"/>
            <a:ext cx="310896" cy="349758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00200" y="2558034"/>
            <a:ext cx="194310" cy="233172"/>
          </a:xfrm>
          <a:prstGeom prst="rect">
            <a:avLst/>
          </a:prstGeom>
          <a:noFill/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83130" y="2558034"/>
            <a:ext cx="194310" cy="233172"/>
          </a:xfrm>
          <a:prstGeom prst="rect">
            <a:avLst/>
          </a:prstGeom>
          <a:noFill/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1988820.0" y="2286000"/>
            <a:ext cx="0.0" cy="213741.0"/>
          </a:xfrm>
          <a:prstGeom prst="line">
            <a:avLst/>
          </a:prstGeom>
          <a:ln w="1524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1957730" y="2247138"/>
            <a:ext cx="62179" cy="62179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19" y="23774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LANDSAT-8/9  +  SENTINEL-2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60319" y="26517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LST × LCZ — 30 m resolution screening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88186" y="3927348"/>
            <a:ext cx="116030" cy="553212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24692" y="3625596"/>
            <a:ext cx="116030" cy="85496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61199" y="4078224"/>
            <a:ext cx="116030" cy="402336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897706" y="3776472"/>
            <a:ext cx="116030" cy="704088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034213" y="3977640"/>
            <a:ext cx="116030" cy="502920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70720" y="3525012"/>
            <a:ext cx="116030" cy="955548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307227" y="3877056"/>
            <a:ext cx="116030" cy="60350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560319" y="3154680"/>
            <a:ext cx="731521" cy="0"/>
          </a:xfrm>
          <a:prstGeom prst="line">
            <a:avLst/>
          </a:prstGeom>
          <a:ln w="19050">
            <a:solidFill>
              <a:srgbClr val="6FA8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Isosceles Triangle 49"/>
          <p:cNvSpPr/>
          <p:nvPr/>
        </p:nvSpPr>
        <p:spPr>
          <a:xfrm>
            <a:off x="3246120" y="3118104"/>
            <a:ext cx="73152" cy="73152"/>
          </a:xfrm>
          <a:prstGeom prst="triangle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560319" y="3429000"/>
            <a:ext cx="731521" cy="0"/>
          </a:xfrm>
          <a:prstGeom prst="line">
            <a:avLst/>
          </a:prstGeom>
          <a:ln w="19050">
            <a:solidFill>
              <a:srgbClr val="6FA8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Isosceles Triangle 51"/>
          <p:cNvSpPr/>
          <p:nvPr/>
        </p:nvSpPr>
        <p:spPr>
          <a:xfrm>
            <a:off x="3246120" y="3392424"/>
            <a:ext cx="73152" cy="73152"/>
          </a:xfrm>
          <a:prstGeom prst="triangle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83280" y="32461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BLOCK-SCALE CFD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83280" y="3474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OpenFOAM — wind × morphology × GBI</a:t>
            </a:r>
          </a:p>
        </p:txBody>
      </p:sp>
      <p:sp>
        <p:nvSpPr>
          <p:cNvPr id="55" name="Oval 54"/>
          <p:cNvSpPr/>
          <p:nvPr/>
        </p:nvSpPr>
        <p:spPr>
          <a:xfrm>
            <a:off x="1964131" y="4709160"/>
            <a:ext cx="140817" cy="14081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883664" y="4875123"/>
            <a:ext cx="301752" cy="2514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37979" y="5126583"/>
            <a:ext cx="60350" cy="90525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070750" y="5126583"/>
            <a:ext cx="60350" cy="90525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463040" y="5303520"/>
            <a:ext cx="3337560" cy="0"/>
          </a:xfrm>
          <a:prstGeom prst="line">
            <a:avLst/>
          </a:prstGeom>
          <a:ln w="2540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/>
          <p:cNvSpPr/>
          <p:nvPr/>
        </p:nvSpPr>
        <p:spPr>
          <a:xfrm>
            <a:off x="2788920" y="4892040"/>
            <a:ext cx="365760" cy="256031"/>
          </a:xfrm>
          <a:prstGeom prst="triangle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935224" y="5148072"/>
            <a:ext cx="73152" cy="109728"/>
          </a:xfrm>
          <a:prstGeom prst="rect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Isosceles Triangle 61"/>
          <p:cNvSpPr/>
          <p:nvPr/>
        </p:nvSpPr>
        <p:spPr>
          <a:xfrm>
            <a:off x="3886200" y="4892040"/>
            <a:ext cx="365760" cy="256031"/>
          </a:xfrm>
          <a:prstGeom prst="triangle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032504" y="5148072"/>
            <a:ext cx="73152" cy="109728"/>
          </a:xfrm>
          <a:prstGeom prst="rect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560319" y="4617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PEDESTRIAN  ·  WBGT FIELD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60319" y="48463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Elderly walking corridor, 500–1000 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63640" y="1691640"/>
            <a:ext cx="2697480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263640" y="1691640"/>
            <a:ext cx="2697480" cy="3200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8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01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03720" y="1691640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MULTI-SOURCE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2148840"/>
            <a:ext cx="2423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Satellite RS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+ on-site measurement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+ CFD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052560" y="1691640"/>
            <a:ext cx="2697480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052560" y="1691640"/>
            <a:ext cx="2697480" cy="3200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8972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02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92640" y="1691640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CUMULATIVE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89720" y="2148840"/>
            <a:ext cx="2423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Pedestrian-scale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heat retention zones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(not instantaneous T)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3657599"/>
            <a:ext cx="2697480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263640" y="3657599"/>
            <a:ext cx="2697480" cy="3200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0" y="3657599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03720" y="3657599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POLICY-APPLIED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0" y="4114799"/>
            <a:ext cx="2423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Kumamoto City green-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infrastructure policy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(Book chapter A-1)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052560" y="3657599"/>
            <a:ext cx="2697480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052560" y="3657599"/>
            <a:ext cx="2697480" cy="3200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89720" y="3657599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04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692640" y="3657599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MLIT EBPM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89720" y="4114799"/>
            <a:ext cx="2423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Adopted by MLIT as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an Evidence-Based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Policy Making case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052560" y="3657599"/>
            <a:ext cx="2697480" cy="1874519"/>
          </a:xfrm>
          <a:prstGeom prst="rect">
            <a:avLst/>
          </a:prstGeom>
          <a:noFill/>
          <a:ln w="1905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68680" y="5641848"/>
            <a:ext cx="4846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895A8"/>
                </a:solidFill>
                <a:latin typeface="Calibri"/>
              </a:rPr>
              <a:t>Methods validated in C-1 (Sustainability 2024) &amp; A-1 book chapter  ·  + Utility Model Patent CN 210135674 U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85800" y="5897880"/>
            <a:ext cx="10972800" cy="4572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68680" y="5943600"/>
            <a:ext cx="10607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RESEARCH  →  POLICY  →  NATIONAL RECOGNITION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68680" y="6126480"/>
            <a:ext cx="10607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Few researchers combine satellite, measurement, CFD, and national-level policy adoption in one continuous workflow.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06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RESEARCH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15 peer-reviewed papers · 3 Q1 · 2 led, 1 contributed.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06/11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2761488" cy="15544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0120" y="2880360"/>
            <a:ext cx="36576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1783080"/>
            <a:ext cx="276148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0" b="1" i="0">
                <a:solidFill>
                  <a:srgbClr val="142E55"/>
                </a:solidFill>
                <a:latin typeface="Calibri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2953512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A5568"/>
                </a:solidFill>
                <a:latin typeface="Calibri"/>
              </a:rPr>
              <a:t>peer-reviewed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A5568"/>
                </a:solidFill>
                <a:latin typeface="Calibri"/>
              </a:rPr>
              <a:t>papers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38728" y="1691640"/>
            <a:ext cx="2761488" cy="15544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813048" y="2880360"/>
            <a:ext cx="36576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38728" y="1783080"/>
            <a:ext cx="276148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0" b="1" i="0">
                <a:solidFill>
                  <a:srgbClr val="142E55"/>
                </a:solidFill>
                <a:latin typeface="Calibri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3048" y="2953512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A5568"/>
                </a:solidFill>
                <a:latin typeface="Calibri"/>
              </a:rPr>
              <a:t>English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A5568"/>
                </a:solidFill>
                <a:latin typeface="Calibri"/>
              </a:rPr>
              <a:t>SCI / SCIE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91656" y="1691640"/>
            <a:ext cx="2761488" cy="15544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65976" y="2880360"/>
            <a:ext cx="36576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783080"/>
            <a:ext cx="276148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0" b="1" i="0">
                <a:solidFill>
                  <a:srgbClr val="142E55"/>
                </a:solidFill>
                <a:latin typeface="Calibr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5976" y="2953512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A5568"/>
                </a:solidFill>
                <a:latin typeface="Calibri"/>
              </a:rPr>
              <a:t>with Impact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A5568"/>
                </a:solidFill>
                <a:latin typeface="Calibri"/>
              </a:rPr>
              <a:t>Factor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44584" y="1691640"/>
            <a:ext cx="2761488" cy="1554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18904" y="2880360"/>
            <a:ext cx="36576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44584" y="1783080"/>
            <a:ext cx="276148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18904" y="2953512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Q1 papers</a:t>
            </a:r>
          </a:p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(2 led + 1 contributed)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5800" y="35478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14400" y="3383280"/>
            <a:ext cx="10744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Q1 JOURNALS  ·  HONEST AUTHOR POSITIONING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3794760"/>
            <a:ext cx="3703320" cy="118872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85800" y="3794760"/>
            <a:ext cx="64008" cy="1188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3886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42E55"/>
                </a:solidFill>
                <a:latin typeface="Calibri"/>
              </a:rPr>
              <a:t>Building and Environment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420624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IF ≈ 7.1  ·  Q1  ·  Top 5 in field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4453128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Co-first author  ·  led design &amp; supervision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Classroom thermal × learning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80560" y="3794760"/>
            <a:ext cx="3703320" cy="118872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480560" y="3794760"/>
            <a:ext cx="64008" cy="1188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09160" y="3886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42E55"/>
                </a:solidFill>
                <a:latin typeface="Calibri"/>
              </a:rPr>
              <a:t>Energies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09160" y="420624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IF ≈ 3.1  ·  Q1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09160" y="4453128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First author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Classroom comfort × learning efficiency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75320" y="3794760"/>
            <a:ext cx="3703320" cy="118872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275320" y="3794760"/>
            <a:ext cx="64008" cy="1188720"/>
          </a:xfrm>
          <a:prstGeom prst="rect">
            <a:avLst/>
          </a:prstGeom>
          <a:solidFill>
            <a:srgbClr val="889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3886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42E55"/>
                </a:solidFill>
                <a:latin typeface="Calibri"/>
              </a:rPr>
              <a:t>Environmental Pollution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420624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895A8"/>
                </a:solidFill>
                <a:latin typeface="Calibri"/>
              </a:rPr>
              <a:t>IF ≈ 7.3  ·  Q1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03920" y="4453128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Co-author  ·  research-team member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PM2.5 health-effects assessment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85800" y="523951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14400" y="5074920"/>
            <a:ext cx="10744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FIRST / CO-FIRST AUTHOR PAPERS  ·  PEER-REVIEWED ENGLISH BY YEAR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85800" y="6217920"/>
            <a:ext cx="10972800" cy="0"/>
          </a:xfrm>
          <a:prstGeom prst="line">
            <a:avLst/>
          </a:prstGeom>
          <a:ln w="1524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1719072" y="6153912"/>
            <a:ext cx="128016" cy="128016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7240" y="5779008"/>
            <a:ext cx="2011680" cy="25603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2960" y="5788152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4A5568"/>
                </a:solidFill>
                <a:latin typeface="Calibri"/>
              </a:rPr>
              <a:t>JCEA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5907024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peer-reviewed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630936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2017</a:t>
            </a:r>
          </a:p>
        </p:txBody>
      </p:sp>
      <p:sp>
        <p:nvSpPr>
          <p:cNvPr id="66" name="Oval 65"/>
          <p:cNvSpPr/>
          <p:nvPr/>
        </p:nvSpPr>
        <p:spPr>
          <a:xfrm>
            <a:off x="3959352" y="6153912"/>
            <a:ext cx="128016" cy="128016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017520" y="5779008"/>
            <a:ext cx="2011680" cy="25603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63240" y="5788152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4A5568"/>
                </a:solidFill>
                <a:latin typeface="Calibri"/>
              </a:rPr>
              <a:t>Lowland Tech.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63240" y="5907024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peer-reviewed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26080" y="630936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2020</a:t>
            </a:r>
          </a:p>
        </p:txBody>
      </p:sp>
      <p:sp>
        <p:nvSpPr>
          <p:cNvPr id="71" name="Oval 70"/>
          <p:cNvSpPr/>
          <p:nvPr/>
        </p:nvSpPr>
        <p:spPr>
          <a:xfrm>
            <a:off x="6199632" y="6153912"/>
            <a:ext cx="128016" cy="128016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257800" y="5779008"/>
            <a:ext cx="2011680" cy="256032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03520" y="5788152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Energies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03520" y="5907024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FFFFFF"/>
                </a:solidFill>
                <a:latin typeface="Calibri"/>
              </a:rPr>
              <a:t>Q1  ·  first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257800" y="5486400"/>
            <a:ext cx="2011680" cy="256032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03520" y="5495544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Sustainability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03520" y="5614416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FFFFFF"/>
                </a:solidFill>
                <a:latin typeface="Calibri"/>
              </a:rPr>
              <a:t>Q2  ·  first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66360" y="630936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2021</a:t>
            </a:r>
          </a:p>
        </p:txBody>
      </p:sp>
      <p:sp>
        <p:nvSpPr>
          <p:cNvPr id="79" name="Oval 78"/>
          <p:cNvSpPr/>
          <p:nvPr/>
        </p:nvSpPr>
        <p:spPr>
          <a:xfrm>
            <a:off x="8439912" y="6153912"/>
            <a:ext cx="128016" cy="128016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498080" y="5779008"/>
            <a:ext cx="2011680" cy="2560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543800" y="5788152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Building &amp; Env.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43800" y="5907024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FFFFFF"/>
                </a:solidFill>
                <a:latin typeface="Calibri"/>
              </a:rPr>
              <a:t>Q1 Top 5  ·  co-1st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06640" y="630936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2023</a:t>
            </a:r>
          </a:p>
        </p:txBody>
      </p:sp>
      <p:sp>
        <p:nvSpPr>
          <p:cNvPr id="84" name="Oval 83"/>
          <p:cNvSpPr/>
          <p:nvPr/>
        </p:nvSpPr>
        <p:spPr>
          <a:xfrm>
            <a:off x="10680192" y="6153912"/>
            <a:ext cx="128016" cy="128016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738360" y="5779008"/>
            <a:ext cx="2011680" cy="256032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784080" y="5788152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Sustainability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784080" y="5907024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FFFFFF"/>
                </a:solidFill>
                <a:latin typeface="Calibri"/>
              </a:rPr>
              <a:t>Q2  ·  first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738360" y="5486400"/>
            <a:ext cx="2011680" cy="25603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84080" y="5495544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4A5568"/>
                </a:solidFill>
                <a:latin typeface="Calibri"/>
              </a:rPr>
              <a:t>Kumamoto Pol. ×2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784080" y="5614416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Japanese  ·  first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46920" y="630936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2024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" y="6373368"/>
            <a:ext cx="1097280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1">
                <a:solidFill>
                  <a:srgbClr val="142E55"/>
                </a:solidFill>
                <a:latin typeface="Calibri"/>
              </a:rPr>
              <a:t>ONE CONTINUOUS LINE: building energy → indoor comfort → PM2.5 → urban heat → green infra → policy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07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INTERNATIONAL COLLABORATION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Organizer, not just participant — three concrete records.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07/11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3703320" cy="292608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1691640"/>
            <a:ext cx="370332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1691640"/>
            <a:ext cx="548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169164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C9A961"/>
                </a:solidFill>
                <a:latin typeface="Calibri"/>
              </a:rPr>
              <a:t>SAKURA SCIENCE 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2468880"/>
            <a:ext cx="3337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Organized ZSTU × Japanese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universities student-researcher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exchanges over multiple years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3840480"/>
            <a:ext cx="32461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931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Sustained partnership — paused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by COVID, friendship intact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80560" y="1691640"/>
            <a:ext cx="3703320" cy="292608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80560" y="1691640"/>
            <a:ext cx="370332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09160" y="1691640"/>
            <a:ext cx="548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169164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C9A961"/>
                </a:solidFill>
                <a:latin typeface="Calibri"/>
              </a:rPr>
              <a:t>ZHEJIANG CARBON-NEUTRAL CENTER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9160" y="2468880"/>
            <a:ext cx="3337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Built the Zhejiang International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Co-op Center on Carbon Neutrality,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as ZSTU representative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09160" y="3840480"/>
            <a:ext cx="32461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09160" y="3931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1 of 4 provincial centers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— ZSTU as core unit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75320" y="1691640"/>
            <a:ext cx="3703320" cy="292608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75320" y="1691640"/>
            <a:ext cx="370332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03920" y="1691640"/>
            <a:ext cx="548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169164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C9A961"/>
                </a:solidFill>
                <a:latin typeface="Calibri"/>
              </a:rPr>
              <a:t>5-COUNTRY ONLINE FORUM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2468880"/>
            <a:ext cx="3337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Organized international forum: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China · Japan · UK (UCL) ·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Indonesia · Bangladesh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03920" y="3840480"/>
            <a:ext cx="32461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03920" y="3931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Multi-country coordination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under COVID constraints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4754880"/>
            <a:ext cx="10972800" cy="320040"/>
          </a:xfrm>
          <a:prstGeom prst="rect">
            <a:avLst/>
          </a:prstGeom>
          <a:noFill/>
          <a:ln w="635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85800" y="4754880"/>
            <a:ext cx="54864" cy="3200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8" y="475488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C6F33"/>
                </a:solidFill>
                <a:latin typeface="Calibri"/>
              </a:rPr>
              <a:t>INVITED TALKS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832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42E55"/>
                </a:solidFill>
                <a:latin typeface="Calibri"/>
              </a:rPr>
              <a:t>Shanghai Inst. for Global City (2025)  ·  Shanghai Normal U. (2025)  ·  Hangzhou Fengjinglishe (2021)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5166360"/>
            <a:ext cx="10972800" cy="1188720"/>
          </a:xfrm>
          <a:prstGeom prst="rect">
            <a:avLst/>
          </a:prstGeom>
          <a:solidFill>
            <a:srgbClr val="FAFBFC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822960" y="5404104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051560" y="5239512"/>
            <a:ext cx="7086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FUTURE NETWORK  ·  BUILDING ON EXISTING FRIENDSHIP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94960" y="5568696"/>
            <a:ext cx="1554480" cy="329184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394960" y="555040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YAMAGUCHI U.</a:t>
            </a:r>
          </a:p>
        </p:txBody>
      </p:sp>
      <p:cxnSp>
        <p:nvCxnSpPr>
          <p:cNvPr id="55" name="Connector 54"/>
          <p:cNvCxnSpPr/>
          <p:nvPr/>
        </p:nvCxnSpPr>
        <p:spPr>
          <a:xfrm flipH="1">
            <a:off x="2057400.0" y="5733288"/>
            <a:ext cx="4114800.0" cy="0"/>
          </a:xfrm>
          <a:prstGeom prst="line">
            <a:avLst/>
          </a:prstGeom>
          <a:ln w="12700">
            <a:solidFill>
              <a:srgbClr val="C9A9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1280160" y="5550408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80160" y="555040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UCL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0160" y="593445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Dr. Huanfa Chen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3977640.0" y="5733288"/>
            <a:ext cx="2194560.0" cy="0"/>
          </a:xfrm>
          <a:prstGeom prst="line">
            <a:avLst/>
          </a:prstGeom>
          <a:ln w="12700">
            <a:solidFill>
              <a:srgbClr val="C9A9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3200400" y="5550408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0" y="555040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ZSTU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00400" y="593445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Sakura net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172200.0" y="5733288"/>
            <a:ext cx="2194560.0" cy="0"/>
          </a:xfrm>
          <a:prstGeom prst="line">
            <a:avLst/>
          </a:prstGeom>
          <a:ln w="12700">
            <a:solidFill>
              <a:srgbClr val="C9A9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7589520" y="5550408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589520" y="555040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ZHEJIANG U.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89520" y="593445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Prof. Jian Ge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172200.0" y="5733288"/>
            <a:ext cx="4114800.0" cy="0"/>
          </a:xfrm>
          <a:prstGeom prst="line">
            <a:avLst/>
          </a:prstGeom>
          <a:ln w="12700">
            <a:solidFill>
              <a:srgbClr val="C9A9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9509760" y="5550408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509760" y="555040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ASIA NODES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09760" y="593445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Indonesia · Bangladesh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08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FUNDING &amp; PROJECT LEADERSHIP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≈ 100 million JPY total — and the Japan pattern has already started.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08/11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3703320" cy="36576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192024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CHINA  ·  2018–2023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2331720"/>
            <a:ext cx="32461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≈ 100 M</a:t>
            </a:r>
          </a:p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JPY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3886200"/>
            <a:ext cx="731520" cy="127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0690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8 projects  ·  5 as Leading Researcher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Including NSSFC General Project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(collaborator)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98348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1">
                <a:solidFill>
                  <a:srgbClr val="C9A961"/>
                </a:solidFill>
                <a:latin typeface="Calibri"/>
              </a:rPr>
              <a:t>HIGH-COMPETITION ENVIRONMENT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0560" y="1691640"/>
            <a:ext cx="3703320" cy="36576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9160" y="192024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C6F33"/>
                </a:solidFill>
                <a:latin typeface="Calibri"/>
              </a:rPr>
              <a:t>KUMAMOTO  ·  2023–2025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2331720"/>
            <a:ext cx="32461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142E55"/>
                </a:solidFill>
                <a:latin typeface="Calibri"/>
              </a:rPr>
              <a:t>Municipal</a:t>
            </a:r>
          </a:p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142E55"/>
                </a:solidFill>
                <a:latin typeface="Calibri"/>
              </a:rPr>
              <a:t>post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60" y="3886200"/>
            <a:ext cx="731520" cy="12700"/>
          </a:xfrm>
          <a:prstGeom prst="rect">
            <a:avLst/>
          </a:prstGeom>
          <a:solidFill>
            <a:srgbClr val="8C6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09160" y="40690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2E55"/>
                </a:solidFill>
                <a:latin typeface="Calibri"/>
              </a:rPr>
              <a:t>Institutional rule: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2E55"/>
                </a:solidFill>
                <a:latin typeface="Calibri"/>
              </a:rPr>
              <a:t>external competitive grants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2E55"/>
                </a:solidFill>
                <a:latin typeface="Calibri"/>
              </a:rPr>
              <a:t>not permitted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9160" y="498348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1">
                <a:solidFill>
                  <a:srgbClr val="8C6F33"/>
                </a:solidFill>
                <a:latin typeface="Calibri"/>
              </a:rPr>
              <a:t>POLICY-OUTPUT  ·  MLIT EBPM-CITED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5320" y="1691640"/>
            <a:ext cx="3703320" cy="36576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3920" y="192024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YAMAGUCHI  ·  since Jan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2331720"/>
            <a:ext cx="32461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# 1</a:t>
            </a:r>
          </a:p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/ 13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03920" y="3886200"/>
            <a:ext cx="731520" cy="127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03920" y="40690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Top-ranked applicant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in Yamaguchi U. regional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research program (4 selected)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498348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1">
                <a:solidFill>
                  <a:srgbClr val="C9A961"/>
                </a:solidFill>
                <a:latin typeface="Calibri"/>
              </a:rPr>
              <a:t>JAPAN PATTERN HAS STARTED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5577840"/>
            <a:ext cx="10972800" cy="731520"/>
          </a:xfrm>
          <a:prstGeom prst="rect">
            <a:avLst/>
          </a:prstGeom>
          <a:noFill/>
          <a:ln w="1524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" y="56692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FORWARD PATH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" y="590702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E55"/>
                </a:solidFill>
                <a:latin typeface="Calibri"/>
              </a:rPr>
              <a:t>KAKENHI KIBAN C  (FY2026 autumn)   →   KAKENHI KIBAN B  (during HIRAKU)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09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RESEARCH PLAN  ·  FEASIBILITY &amp; INTERNATIONAL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Not from zero — pipeline running, partners ready, first grant won.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09/11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3840480" cy="2743200"/>
          </a:xfrm>
          <a:prstGeom prst="rect">
            <a:avLst/>
          </a:prstGeom>
          <a:solidFill>
            <a:srgbClr val="FAFBFC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22960" y="19476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51560" y="178308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3 CITIES  ×  3 WIND REGIMES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" y="2103120"/>
            <a:ext cx="3291840" cy="594360"/>
          </a:xfrm>
          <a:prstGeom prst="rect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21488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1">
                <a:solidFill>
                  <a:srgbClr val="FFFFFF"/>
                </a:solidFill>
                <a:latin typeface="Calibri"/>
              </a:rPr>
              <a:t>SEA OF JAPAN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2697480"/>
            <a:ext cx="3291840" cy="914400"/>
          </a:xfrm>
          <a:prstGeom prst="rect">
            <a:avLst/>
          </a:prstGeom>
          <a:solidFill>
            <a:srgbClr val="F6F8FA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2743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1">
                <a:solidFill>
                  <a:srgbClr val="8895A8"/>
                </a:solidFill>
                <a:latin typeface="Calibri"/>
              </a:rPr>
              <a:t>CHUGOKU REGION  ·  WESTERN HONSHU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" y="3611880"/>
            <a:ext cx="3291840" cy="457200"/>
          </a:xfrm>
          <a:prstGeom prst="rect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3685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1">
                <a:solidFill>
                  <a:srgbClr val="FFFFFF"/>
                </a:solidFill>
                <a:latin typeface="Calibri"/>
              </a:rPr>
              <a:t>SETO INLAND SEA</a:t>
            </a:r>
          </a:p>
        </p:txBody>
      </p:sp>
      <p:sp>
        <p:nvSpPr>
          <p:cNvPr id="34" name="Oval 33"/>
          <p:cNvSpPr/>
          <p:nvPr/>
        </p:nvSpPr>
        <p:spPr>
          <a:xfrm>
            <a:off x="1170432" y="2953512"/>
            <a:ext cx="219456" cy="219456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44752" y="2935224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MATSUE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4752" y="3099816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4A5568"/>
                </a:solidFill>
                <a:latin typeface="Calibri"/>
              </a:rPr>
              <a:t>LAKESIDE</a:t>
            </a:r>
          </a:p>
        </p:txBody>
      </p:sp>
      <p:sp>
        <p:nvSpPr>
          <p:cNvPr id="37" name="Oval 36"/>
          <p:cNvSpPr/>
          <p:nvPr/>
        </p:nvSpPr>
        <p:spPr>
          <a:xfrm>
            <a:off x="2359152" y="3136392"/>
            <a:ext cx="219456" cy="219456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633472" y="3118104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YAMAGUCHI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33472" y="3282696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4A5568"/>
                </a:solidFill>
                <a:latin typeface="Calibri"/>
              </a:rPr>
              <a:t>BASIN</a:t>
            </a:r>
          </a:p>
        </p:txBody>
      </p:sp>
      <p:sp>
        <p:nvSpPr>
          <p:cNvPr id="40" name="Oval 39"/>
          <p:cNvSpPr/>
          <p:nvPr/>
        </p:nvSpPr>
        <p:spPr>
          <a:xfrm>
            <a:off x="3182112" y="3364992"/>
            <a:ext cx="219456" cy="219456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56432" y="3346704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UBE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56432" y="3511296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4A5568"/>
                </a:solidFill>
                <a:latin typeface="Calibri"/>
              </a:rPr>
              <a:t>COASTAL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0" y="24688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N</a:t>
            </a:r>
          </a:p>
        </p:txBody>
      </p:sp>
      <p:sp>
        <p:nvSpPr>
          <p:cNvPr id="44" name="Isosceles Triangle 43"/>
          <p:cNvSpPr/>
          <p:nvPr/>
        </p:nvSpPr>
        <p:spPr>
          <a:xfrm>
            <a:off x="4178808" y="2194560"/>
            <a:ext cx="146304" cy="274320"/>
          </a:xfrm>
          <a:prstGeom prst="triangl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4754880" y="18562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983480" y="1691640"/>
            <a:ext cx="2880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METHOD CHAIN  ·  CITY → CORRIDOR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0" y="2057400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754880" y="2057400"/>
            <a:ext cx="50292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4880" y="2057400"/>
            <a:ext cx="502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94960" y="21305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SATELLITE SCREENING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240487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Landsat-8/9 LST × Sentinel-2 LCZ</a:t>
            </a:r>
          </a:p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Years 1–2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309360.0" y="2743200"/>
            <a:ext cx="0.0" cy="91440"/>
          </a:xfrm>
          <a:prstGeom prst="line">
            <a:avLst/>
          </a:prstGeom>
          <a:ln w="2540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4754880" y="2834640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54880" y="2834640"/>
            <a:ext cx="50292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0" y="2834640"/>
            <a:ext cx="502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29077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BLOCK CFD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94960" y="318211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OpenFOAM wind × morphology × GBI</a:t>
            </a:r>
          </a:p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Year 3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309360.0" y="3520440"/>
            <a:ext cx="0.0" cy="91440"/>
          </a:xfrm>
          <a:prstGeom prst="line">
            <a:avLst/>
          </a:prstGeom>
          <a:ln w="2540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4754880" y="3611880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754880" y="3611880"/>
            <a:ext cx="50292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0" y="3611880"/>
            <a:ext cx="502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94960" y="36850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PEDESTRIAN VALIDATION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94960" y="395935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WBGT field measurement</a:t>
            </a:r>
          </a:p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Year 4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092440" y="18562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8321040" y="1691640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5-YEAR PLAN  ·  HIRAKU PERIOD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92440" y="2057400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92440" y="2057400"/>
            <a:ext cx="7406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833104" y="2057400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833104" y="2057400"/>
            <a:ext cx="7406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3768" y="2057400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573768" y="2057400"/>
            <a:ext cx="7406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314432" y="2057400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14432" y="2057400"/>
            <a:ext cx="7406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055096" y="2057400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055096" y="2057400"/>
            <a:ext cx="7406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119872" y="2560320"/>
            <a:ext cx="1426464" cy="182880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92440" y="25420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LST × LCZ diagnosis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60536" y="2788920"/>
            <a:ext cx="685800" cy="1828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92440" y="27706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UCL stay (2 months)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601200" y="3017520"/>
            <a:ext cx="685800" cy="182880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092440" y="29992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Block-scale CFD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01200" y="3246120"/>
            <a:ext cx="685800" cy="1828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092440" y="32278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Zhejiang U. visit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341864" y="3474720"/>
            <a:ext cx="685800" cy="182880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092440" y="34564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Pedestrian WBGT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341864" y="3703320"/>
            <a:ext cx="685800" cy="1828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92440" y="36850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Int'l workshop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1082528" y="3931920"/>
            <a:ext cx="685800" cy="18288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092440" y="39136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Synthesis + Kakenhi B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147304" y="2560320"/>
            <a:ext cx="148132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LST × LCZ diagnosis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87968" y="27889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UCL stay (2 months)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628632" y="30175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Block-scale CFD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628632" y="32461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Zhejiang U. visit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369296" y="34747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Pedestrian WBGT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369296" y="37033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Int'l workshop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09960" y="39319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Synthesis + Kakenhi B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85800" y="4526280"/>
            <a:ext cx="1097280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68680" y="4572000"/>
            <a:ext cx="10607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FEASIBILITY — ALREADY PROVEN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4773168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Satellite pipeline running  ·  CFD methodology established  ·  Partners aligned  ·  First Japanese grant won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685800" y="52852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914400" y="5120640"/>
            <a:ext cx="10744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BUDGET PLAN  ·  STARTUP FUND  ¥ 2 M  /  OVERSEAS DISPATCH  ¥ 2 M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5800" y="5486400"/>
            <a:ext cx="18288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77240" y="553212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961"/>
                </a:solidFill>
                <a:latin typeface="Calibri"/>
              </a:rPr>
              <a:t>¥ 700K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77240" y="574243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Field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equipment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77240" y="59436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WBGT · loggers ·</a:t>
            </a:r>
          </a:p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radiometers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560320" y="5486400"/>
            <a:ext cx="18288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651760" y="553212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961"/>
                </a:solidFill>
                <a:latin typeface="Calibri"/>
              </a:rPr>
              <a:t>¥ 350K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651760" y="574243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Data &amp;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workstation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51760" y="59436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GIS · CFD ·</a:t>
            </a:r>
          </a:p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storage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434840" y="5486400"/>
            <a:ext cx="18288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26280" y="553212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961"/>
                </a:solidFill>
                <a:latin typeface="Calibri"/>
              </a:rPr>
              <a:t>¥ 300K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526280" y="574243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Student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RAs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26280" y="59436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Master's students</a:t>
            </a:r>
          </a:p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from Year 1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309360" y="5486400"/>
            <a:ext cx="18288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400800" y="553212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961"/>
                </a:solidFill>
                <a:latin typeface="Calibri"/>
              </a:rPr>
              <a:t>¥ 300K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400800" y="574243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Domestic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fieldwork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00800" y="59436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Yamaguchi · Ube ·</a:t>
            </a:r>
          </a:p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Matsue surveys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183880" y="5486400"/>
            <a:ext cx="182880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275320" y="553212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C6F33"/>
                </a:solidFill>
                <a:latin typeface="Calibri"/>
              </a:rPr>
              <a:t>¥ 800K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275320" y="574243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UCL stay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Year 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275320" y="59436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2 months  ·  joint</a:t>
            </a:r>
          </a:p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method paper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058400" y="5486400"/>
            <a:ext cx="182880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149840" y="553212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C6F33"/>
                </a:solidFill>
                <a:latin typeface="Calibri"/>
              </a:rPr>
              <a:t>¥ 400K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149840" y="574243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Zhejiang U.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Year 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149840" y="59436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Comparative</a:t>
            </a:r>
          </a:p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framework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85800" y="6291072"/>
            <a:ext cx="10972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8C6F33"/>
                </a:solidFill>
                <a:latin typeface="Calibri"/>
              </a:rPr>
              <a:t>RISK MANAGED  ·  ANCHOR YAMAGUCHI FIRST · STEPWISE EXPANSION · ONLINE COLLAB FALLBACK · KUMAMOTO BASELINE AS REFERENCE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10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ASPIRATIONS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Year-by-year KPI · 3I framework × 5 years.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10/11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5800" y="18562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14400" y="1691640"/>
            <a:ext cx="10744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DURING HIRAKU-GLOBAL  ·  YEAR-BY-YEAR KPI MATRIX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2057400"/>
            <a:ext cx="1463040" cy="274320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20574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3I  /  YEAR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48840" y="2057400"/>
            <a:ext cx="1874519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48840" y="205740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C9A961"/>
                </a:solidFill>
                <a:latin typeface="Calibri"/>
              </a:rPr>
              <a:t>YEAR 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59" y="2057400"/>
            <a:ext cx="1874519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23359" y="205740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C9A961"/>
                </a:solidFill>
                <a:latin typeface="Calibri"/>
              </a:rPr>
              <a:t>YEAR 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97878" y="2057400"/>
            <a:ext cx="1874519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97878" y="205740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C9A961"/>
                </a:solidFill>
                <a:latin typeface="Calibri"/>
              </a:rPr>
              <a:t>YEAR 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397" y="2057400"/>
            <a:ext cx="1874519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397" y="205740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C9A961"/>
                </a:solidFill>
                <a:latin typeface="Calibri"/>
              </a:rPr>
              <a:t>YEAR 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46916" y="2057400"/>
            <a:ext cx="1874519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46916" y="205740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C9A961"/>
                </a:solidFill>
                <a:latin typeface="Calibri"/>
              </a:rPr>
              <a:t>YEAR 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2331720"/>
            <a:ext cx="1463040" cy="6400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233172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INNOVATIVE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48840" y="233172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21992" y="233172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LCZ × LST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diagnosis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23359" y="2331720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96511" y="233172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UCL joint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method paper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97878" y="233172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71030" y="233172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Mechanism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paper (1st)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397" y="2331720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45549" y="233172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Comparative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paper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916" y="233172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20068" y="233172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Synthesis +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workflow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2971800"/>
            <a:ext cx="1463040" cy="6400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5800" y="297180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INFLUENTIAL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148840" y="2971800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21992" y="297180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Kakenhi C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submission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59" y="297180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096511" y="297180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First UCL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co-author paper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97878" y="2971800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71030" y="297180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Q1 mechanism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published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72397" y="297180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45549" y="297180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Q1 + int'l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workshop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46916" y="2971800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20068" y="297180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Kakenhi B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submission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85800" y="3611880"/>
            <a:ext cx="1463040" cy="6400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5800" y="361188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IMPACTFUL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148840" y="361188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221992" y="361188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Yamaguchi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baseline data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023359" y="3611880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96511" y="361188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Ube · Matsue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case design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897878" y="361188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971030" y="361188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Heat-risk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maps (3 cities)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772397" y="3611880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45549" y="361188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Intervention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maps delivered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646916" y="361188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720068" y="361188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Policy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guidelines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85800" y="4535424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914400" y="4370832"/>
            <a:ext cx="10744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POST-TENURE  ·  LOCAL-TO-GLOBAL  ·  LONG-TERM ANCHOR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5800" y="4663440"/>
            <a:ext cx="219456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85800" y="4663440"/>
            <a:ext cx="4572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85800" y="4663440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88720" y="470916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LAB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88720" y="4937760"/>
            <a:ext cx="1600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Stable group at</a:t>
            </a:r>
          </a:p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Yamaguchi U.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26080" y="4663440"/>
            <a:ext cx="219456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926080" y="4663440"/>
            <a:ext cx="4572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926080" y="4663440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429000" y="470916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REGION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29000" y="4937760"/>
            <a:ext cx="1600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Chugoku-Shikoku</a:t>
            </a:r>
          </a:p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heat toolkit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166360" y="4663440"/>
            <a:ext cx="219456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166360" y="4663440"/>
            <a:ext cx="4572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66360" y="4663440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0" y="470916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W. JAPAN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69280" y="4937760"/>
            <a:ext cx="1600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Urban-thermal</a:t>
            </a:r>
          </a:p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research hub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406640" y="4663440"/>
            <a:ext cx="219456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06640" y="4663440"/>
            <a:ext cx="4572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406640" y="4663440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909560" y="470916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ASIA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909560" y="4937760"/>
            <a:ext cx="1600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EU · CN · SE Asia</a:t>
            </a:r>
          </a:p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platform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646920" y="4663440"/>
            <a:ext cx="219456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646920" y="4663440"/>
            <a:ext cx="4572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646920" y="4663440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149840" y="470916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GLOBAL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149840" y="4937760"/>
            <a:ext cx="1600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Local-to-Global</a:t>
            </a:r>
          </a:p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model export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685800" y="56052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914400" y="5440680"/>
            <a:ext cx="10744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WHAT I GIVE BACK  ·  ACTIVE MEMBER, NOT ONLY RECIPIENT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85800" y="5760720"/>
            <a:ext cx="2715768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85800" y="5760720"/>
            <a:ext cx="54864" cy="5486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50392" y="5824728"/>
            <a:ext cx="24414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INT'L WORKSHOP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0392" y="6053328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Year 4 at Yamaguchi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474720" y="5760720"/>
            <a:ext cx="2715768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474720" y="5760720"/>
            <a:ext cx="54864" cy="5486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639312" y="5824728"/>
            <a:ext cx="24414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CHINA–JAPAN BRIDGE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39312" y="6053328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Annual seminar · translation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263640" y="5760720"/>
            <a:ext cx="2715768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263640" y="5760720"/>
            <a:ext cx="54864" cy="5486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428232" y="5824728"/>
            <a:ext cx="24414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TEACHING &amp; MENTORING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428232" y="6053328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Grad supervision · seminars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052560" y="5760720"/>
            <a:ext cx="2715768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052560" y="5760720"/>
            <a:ext cx="54864" cy="5486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217152" y="5824728"/>
            <a:ext cx="24414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DEPT. &amp; REGION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217152" y="6053328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Faculty collaboration · cities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11480" y="6858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11480" y="13716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11480" y="20574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11480" y="27432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11480" y="34290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11480" y="41148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1480" y="48006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28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432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6576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720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486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00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3152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2296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440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058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2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0" y="0"/>
            <a:ext cx="2743200" cy="914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CLOSING  ·  4 FOUNDATIONS  ·  4 COMMITMENTS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822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Four foundations — already in motion.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1874519"/>
            <a:ext cx="2697480" cy="5486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039111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QUALITY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2468879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15 papers · 3 Q1</a:t>
            </a:r>
          </a:p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all 1st / responsible author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5880" y="3383279"/>
            <a:ext cx="14173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502151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CBD5E0"/>
                </a:solidFill>
                <a:latin typeface="Calibri"/>
              </a:rPr>
              <a:t>Building &amp; Env.  ·  Env. Pollution  ·  Energies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93008" y="1874519"/>
            <a:ext cx="2697480" cy="5486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93008" y="2039111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BRIDGE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68879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Sakura · Zhejiang Center</a:t>
            </a:r>
          </a:p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· 5-country forum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33088" y="3383279"/>
            <a:ext cx="14173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93008" y="3502151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CBD5E0"/>
                </a:solidFill>
                <a:latin typeface="Calibri"/>
              </a:rPr>
              <a:t>UCL  ·  Zhejiang U.  ·  Asia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0216" y="1874519"/>
            <a:ext cx="2697480" cy="5486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0216" y="2039111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FUNDING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2468879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≈ 100 M JPY · # 1 of 13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0296" y="3383279"/>
            <a:ext cx="14173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0216" y="3502151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CBD5E0"/>
                </a:solidFill>
                <a:latin typeface="Calibri"/>
              </a:rPr>
              <a:t>Kakenhi C → 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07424" y="1874519"/>
            <a:ext cx="2697480" cy="5486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07424" y="2039111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IMPLEMENTATION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07424" y="2468879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Kumamoto green-infra</a:t>
            </a:r>
          </a:p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+ MLIT EBPM case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47504" y="3383279"/>
            <a:ext cx="14173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07424" y="3502151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CBD5E0"/>
                </a:solidFill>
                <a:latin typeface="Calibri"/>
              </a:rPr>
              <a:t>→ Yamaguchi · Ube · Matsue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4160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FOUR COMMITMENTS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4480560"/>
            <a:ext cx="2697480" cy="914400"/>
          </a:xfrm>
          <a:prstGeom prst="rect">
            <a:avLst/>
          </a:prstGeom>
          <a:noFill/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85800" y="4480560"/>
            <a:ext cx="54864" cy="914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45720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RESEARCH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" y="484632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Deliver papers,</a:t>
            </a:r>
          </a:p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workflow, and Kakenhi 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93008" y="4480560"/>
            <a:ext cx="2697480" cy="914400"/>
          </a:xfrm>
          <a:prstGeom prst="rect">
            <a:avLst/>
          </a:prstGeom>
          <a:noFill/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493008" y="4480560"/>
            <a:ext cx="54864" cy="914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75888" y="45720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TEACHING &amp; MENTORING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75888" y="484632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Supervise students;</a:t>
            </a:r>
          </a:p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teaching informed by research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0216" y="4480560"/>
            <a:ext cx="2697480" cy="914400"/>
          </a:xfrm>
          <a:prstGeom prst="rect">
            <a:avLst/>
          </a:prstGeom>
          <a:noFill/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00216" y="4480560"/>
            <a:ext cx="54864" cy="914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83096" y="45720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DEPARTMENT &amp; COLLABORATION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83096" y="484632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Active member of the</a:t>
            </a:r>
          </a:p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faculty community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07424" y="4480560"/>
            <a:ext cx="2697480" cy="914400"/>
          </a:xfrm>
          <a:prstGeom prst="rect">
            <a:avLst/>
          </a:prstGeom>
          <a:noFill/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107424" y="4480560"/>
            <a:ext cx="54864" cy="914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90304" y="45720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REGION &amp; LONG-TERM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90304" y="484632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A long-term anchor at</a:t>
            </a:r>
          </a:p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Yamaguchi University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85800" y="5669280"/>
            <a:ext cx="10972800" cy="25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" y="58064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HIRAKU-Global is the multiplier — not the starter.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63093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Thank you very much.  I look forward to your questions.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6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APPENDIX  ·  BACKUP FOR Q&amp;A  ·  NOT PART OF THE 10-MIN TALK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142E55"/>
                </a:solidFill>
                <a:latin typeface="Calibri"/>
              </a:rPr>
              <a:t>BACKUP  A1  /  A4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ORIGINAL APPLICATION FIGURE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03504"/>
            <a:ext cx="11430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Research Trajectory &amp; Academic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78992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8"/>
                </a:solidFill>
                <a:latin typeface="Calibri"/>
              </a:rPr>
              <a:t>Figure 1 (application) — full Building → Person → City framework with key actions, methods, and significance.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476203" y="1499235"/>
            <a:ext cx="6740233" cy="4773930"/>
          </a:xfrm>
          <a:prstGeom prst="rect">
            <a:avLst/>
          </a:prstGeom>
          <a:noFill/>
          <a:ln w="9525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ig1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728" y="1508760"/>
            <a:ext cx="6721183" cy="47548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9372600" y="1508760"/>
            <a:ext cx="2423160" cy="4754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72600" y="1508760"/>
            <a:ext cx="242316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37192" y="150876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IF ASKED ABOUT…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37192" y="21396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0072" y="21031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My three research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stages in detail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37192" y="28254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20072" y="27889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Why each stage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led to the next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37192" y="35112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20072" y="34747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Specific methods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per stage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7192" y="41970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20072" y="41605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How Stage 3 leads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to this project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6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APPENDIX  ·  BACKUP FOR Q&amp;A  ·  NOT PART OF THE 10-MIN TALK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142E55"/>
                </a:solidFill>
                <a:latin typeface="Calibri"/>
              </a:rPr>
              <a:t>BACKUP  A2  /  A4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ORIGINAL APPLICATION FIGURE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03504"/>
            <a:ext cx="11430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Cross-Scale Scientific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78992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8"/>
                </a:solidFill>
                <a:latin typeface="Calibri"/>
              </a:rPr>
              <a:t>Figure 2 (application) — green-blue-wind mechanisms, three core scientific questions, technical pathway, and domain-specific knowledge model.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794337" y="1499235"/>
            <a:ext cx="6103966" cy="4773930"/>
          </a:xfrm>
          <a:prstGeom prst="rect">
            <a:avLst/>
          </a:prstGeom>
          <a:noFill/>
          <a:ln w="9525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ig2_cross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862" y="1508760"/>
            <a:ext cx="6084916" cy="47548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9372600" y="1508760"/>
            <a:ext cx="2423160" cy="4754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72600" y="1508760"/>
            <a:ext cx="242316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37192" y="150876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IF ASKED ABOUT…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37192" y="21396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0072" y="21031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The 3 core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scientific questions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37192" y="28254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20072" y="27889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City / Block /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Human scale detail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37192" y="35112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20072" y="34747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How the scales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are integrated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7192" y="41970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20072" y="41605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Expected academic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&amp; applied outcomes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6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APPENDIX  ·  BACKUP FOR Q&amp;A  ·  NOT PART OF THE 10-MIN TALK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142E55"/>
                </a:solidFill>
                <a:latin typeface="Calibri"/>
              </a:rPr>
              <a:t>BACKUP  A3  /  A4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ORIGINAL APPLICATION FIGURE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03504"/>
            <a:ext cx="11430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Diagnostic Workflow &amp; 5-Year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78992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8"/>
                </a:solidFill>
                <a:latin typeface="Calibri"/>
              </a:rPr>
              <a:t>Figure 3 (application) — three-step sequential chain (screening → mechanism → validation) mapped onto the five-year HIRAKU timeline.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39115" y="2144642"/>
            <a:ext cx="8614410" cy="3483115"/>
          </a:xfrm>
          <a:prstGeom prst="rect">
            <a:avLst/>
          </a:prstGeom>
          <a:noFill/>
          <a:ln w="9525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ig3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4167"/>
            <a:ext cx="8595360" cy="346406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9372600" y="1508760"/>
            <a:ext cx="2423160" cy="4754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72600" y="1508760"/>
            <a:ext cx="242316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37192" y="150876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IF ASKED ABOUT…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37192" y="21396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0072" y="21031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Year-by-year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deliverables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37192" y="28254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20072" y="27889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The 3-step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method chain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37192" y="35112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20072" y="34747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Where UCL &amp;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Zhejiang fit 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7192" y="41970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20072" y="41605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Screening →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validation logic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6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APPENDIX  ·  BACKUP FOR Q&amp;A  ·  NOT PART OF THE 10-MIN TALK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142E55"/>
                </a:solidFill>
                <a:latin typeface="Calibri"/>
              </a:rPr>
              <a:t>BACKUP  A4  /  A4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ORIGINAL APPLICATION FIGURE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03504"/>
            <a:ext cx="11430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International Collaboration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78992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8"/>
                </a:solidFill>
                <a:latin typeface="Calibri"/>
              </a:rPr>
              <a:t>Figure 4 (application) — core project team at Yamaguchi with UCL and Zhejiang as primary nodes; US and Thailand as reserve expansion nodes.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986155" y="1499235"/>
            <a:ext cx="7720330" cy="4773930"/>
          </a:xfrm>
          <a:prstGeom prst="rect">
            <a:avLst/>
          </a:prstGeom>
          <a:noFill/>
          <a:ln w="9525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ig4_collabo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680" y="1508760"/>
            <a:ext cx="7701280" cy="47548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9372600" y="1508760"/>
            <a:ext cx="2423160" cy="4754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72600" y="1508760"/>
            <a:ext cx="242316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37192" y="150876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IF ASKED ABOUT…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37192" y="21396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0072" y="21031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Roles of UCL &amp;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Zhejiang partners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37192" y="28254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20072" y="27889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What each partner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contributes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37192" y="35112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20072" y="34747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Reserve nodes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(US, Thailand)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7192" y="41970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20072" y="41605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How the network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grows cumulatively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