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48" r:id="rId2"/>
  </p:sldMasterIdLst>
  <p:notesMasterIdLst>
    <p:notesMasterId r:id="rId18"/>
  </p:notesMasterIdLst>
  <p:sldIdLst>
    <p:sldId id="343" r:id="rId3"/>
    <p:sldId id="344" r:id="rId4"/>
    <p:sldId id="345" r:id="rId5"/>
    <p:sldId id="346" r:id="rId6"/>
    <p:sldId id="347" r:id="rId7"/>
    <p:sldId id="348" r:id="rId8"/>
    <p:sldId id="349" r:id="rId9"/>
    <p:sldId id="350" r:id="rId10"/>
    <p:sldId id="351" r:id="rId11"/>
    <p:sldId id="352" r:id="rId12"/>
    <p:sldId id="353" r:id="rId13"/>
    <p:sldId id="354" r:id="rId14"/>
    <p:sldId id="355" r:id="rId15"/>
    <p:sldId id="356" r:id="rId16"/>
    <p:sldId id="35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191"/>
    <p:restoredTop sz="69435"/>
  </p:normalViewPr>
  <p:slideViewPr>
    <p:cSldViewPr snapToGrid="0" snapToObjects="1">
      <p:cViewPr varScale="1">
        <p:scale>
          <a:sx n="152" d="100"/>
          <a:sy n="152" d="100"/>
        </p:scale>
        <p:origin x="550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62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Good morning. I am Liu Haiqiang, a tenure-track lecturer at Yamaguchi University working on urban thermal environments.</a:t>
            </a:r>
          </a:p>
          <a:p>
            <a:endParaRPr lang="en-US"/>
          </a:p>
          <a:p>
            <a:r>
              <a:rPr lang="en-US"/>
              <a:t>My message is simple: </a:t>
            </a:r>
          </a:p>
          <a:p>
            <a:r>
              <a:rPr lang="en-US"/>
              <a:t>I connect cities, climate, and people—</a:t>
            </a:r>
          </a:p>
          <a:p>
            <a:endParaRPr lang="en-US"/>
          </a:p>
          <a:p>
            <a:r>
              <a:rPr lang="en-US"/>
              <a:t>showing how street-level heat evidence can support local policy and how HIRAKU-Global can multiply an already working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I was trained in Japan, worked in China, and returned to Japan.</a:t>
            </a:r>
          </a:p>
          <a:p>
            <a:endParaRPr lang="en-US"/>
          </a:p>
          <a:p>
            <a:r>
              <a:rPr lang="en-US"/>
              <a:t>After a Ph.D. at Saga University, I worked at Zhejiang Sci-Tech University and the Kumamoto City Policy Institute before joining Yamaguchi University in January 2026.</a:t>
            </a:r>
          </a:p>
          <a:p>
            <a:endParaRPr lang="en-US"/>
          </a:p>
          <a:p>
            <a:r>
              <a:rPr lang="en-US"/>
              <a:t>My career line is Building, Person, City—leading to my current focus on urban heat, exposure, and policy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I study climate change at street scale.</a:t>
            </a:r>
          </a:p>
          <a:p>
            <a:endParaRPr lang="en-US"/>
          </a:p>
          <a:p>
            <a:r>
              <a:rPr lang="en-US"/>
              <a:t>For residents, heat is a daily route to a bus stop, school, hospital, or shop. In regional Japanese cities, heat, aging, and city-center decline overlap.</a:t>
            </a:r>
          </a:p>
          <a:p>
            <a:endParaRPr lang="en-US"/>
          </a:p>
          <a:p>
            <a:r>
              <a:rPr lang="en-US"/>
              <a:t>So I ask: Where is it hot, why is it hot, and how can we cool and revitalize the city?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My research developed from Building, to Person, to City.</a:t>
            </a:r>
          </a:p>
          <a:p>
            <a:endParaRPr lang="en-US"/>
          </a:p>
          <a:p>
            <a:r>
              <a:rPr lang="en-US"/>
              <a:t>I first studied how building form shapes indoor heat and energy, then how indoor conditions affect learning, health, and behavior.</a:t>
            </a:r>
          </a:p>
          <a:p>
            <a:endParaRPr lang="en-US"/>
          </a:p>
          <a:p>
            <a:r>
              <a:rPr lang="en-US"/>
              <a:t>Now I study how green-blue infrastructure, wind, and urban form shape pedestrian heat exposure, making HIRAKU a natural continuation.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My originality is one chain: satellite, measurement, CFD, and policy.</a:t>
            </a:r>
          </a:p>
          <a:p>
            <a:endParaRPr lang="en-US"/>
          </a:p>
          <a:p>
            <a:r>
              <a:rPr lang="en-US"/>
              <a:t>Satellite data finds hot spots; fieldwork checks what people feel; CFD explains wind, buildings, trees, and water; policy translation turns results into priority corridors.</a:t>
            </a:r>
          </a:p>
          <a:p>
            <a:endParaRPr lang="en-US"/>
          </a:p>
          <a:p>
            <a:r>
              <a:rPr lang="en-US"/>
              <a:t>Kumamoto shows this method can support municipal decisions, not only academic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 have 15 peer-reviewed papers, including 10 in English international journals. Three are in top-tier — Q1 — journals.</a:t>
            </a:r>
          </a:p>
          <a:p/>
          <a:p>
            <a:r>
              <a:t>I want to be precise on authorship. In two of those three I was first or co-first author. In the third I was a team contributor.</a:t>
            </a:r>
          </a:p>
          <a:p/>
          <a:p>
            <a:r>
              <a:t>The lead student on the Building and Environment paper is one of three PhD students I have mentored — now at Tsinghua, Okayama, and the University of Tokyo.</a:t>
            </a:r>
          </a:p>
          <a:p/>
          <a:p>
            <a:r>
              <a:t>The topics form one line — building, health, air, urban heat, and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HIRAKU-Global requires collaboration capacity, and I have already built it as an organizer.</a:t>
            </a:r>
          </a:p>
          <a:p>
            <a:endParaRPr lang="en-US"/>
          </a:p>
          <a:p>
            <a:r>
              <a:rPr lang="en-US"/>
              <a:t>I organized Sakura Science exchanges, helped build the Zhejiang carbon-neutral center, and coordinated a five-country forum during COVID.</a:t>
            </a:r>
          </a:p>
          <a:p>
            <a:endParaRPr lang="en-US"/>
          </a:p>
          <a:p>
            <a:r>
              <a:rPr lang="en-US"/>
              <a:t>For HIRAKU, these existing links can become active research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This slide shows feasibility and project leadership.</a:t>
            </a:r>
          </a:p>
          <a:p>
            <a:endParaRPr lang="en-US"/>
          </a:p>
          <a:p>
            <a:r>
              <a:rPr lang="en-US"/>
              <a:t>In China, I led or contributed to projects totaling about 100 million Japanese yen. In Kumamoto, despite grant restrictions, I produced policy output.</a:t>
            </a:r>
          </a:p>
          <a:p>
            <a:endParaRPr lang="en-US"/>
          </a:p>
          <a:p>
            <a:r>
              <a:rPr lang="en-US"/>
              <a:t>At Yamaguchi University, the Japan path has begun: regional research program, then KAKENHI Kiban C and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My HIRAKU plan compares Matsue, Yamaguchi, and Ube—lakeside, basin, and coastal cities.</a:t>
            </a:r>
          </a:p>
          <a:p>
            <a:endParaRPr lang="en-US"/>
          </a:p>
          <a:p>
            <a:r>
              <a:rPr lang="en-US"/>
              <a:t>The method is stepwise: satellite screening finds hot spots, CFD explains wind and morphology, and WBGT validation checks real walking spaces.</a:t>
            </a:r>
          </a:p>
          <a:p>
            <a:endParaRPr lang="en-US"/>
          </a:p>
          <a:p>
            <a:r>
              <a:rPr lang="en-US"/>
              <a:t>Across five years, the plan moves from diagnosis to CFD, fieldwork, workshop, and policy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This slide translates the plan into 3I.</a:t>
            </a:r>
          </a:p>
          <a:p>
            <a:endParaRPr lang="en-US"/>
          </a:p>
          <a:p>
            <a:r>
              <a:rPr lang="en-US"/>
              <a:t>Innovative: cross-scale LST, LCZ, CFD, and field validation. Influential: papers, grants, and international collaboration. Impactful: heat-risk maps, intervention maps, and policy guidelines.</a:t>
            </a:r>
          </a:p>
          <a:p>
            <a:endParaRPr lang="en-US"/>
          </a:p>
          <a:p>
            <a:r>
              <a:rPr lang="en-US"/>
              <a:t>I will also give back through workshops, mentoring, and local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[TIME CHECK ~8:00 — if under 1:30 remains, skip 12-14 and jump to Slide 15.]</a:t>
            </a:r>
          </a:p>
          <a:p/>
          <a:p>
            <a:r>
              <a:t>From here, I use the former backup pages as a bridge, not extra detail.</a:t>
            </a:r>
          </a:p>
          <a:p/>
          <a:p>
            <a:r>
              <a:t>They support three points: Building to Person to City; cross-scale diagnosis; and delivery through case, network, and plan.</a:t>
            </a:r>
          </a:p>
          <a:p/>
          <a:p>
            <a:r>
              <a:t>The phrase to remember is: research to policy to internationalization.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scientific core is cross-scale diagnosis of pedestrian heat exposure.</a:t>
            </a:r>
          </a:p>
          <a:p>
            <a:endParaRPr lang="en-US"/>
          </a:p>
          <a:p>
            <a:r>
              <a:rPr lang="en-US"/>
              <a:t>I ask how green-blue infrastructure, urban form, and wind shape cooling, and how those mechanisms become human exposure and policy risk.</a:t>
            </a:r>
          </a:p>
          <a:p>
            <a:endParaRPr lang="en-US"/>
          </a:p>
          <a:p>
            <a:r>
              <a:rPr lang="en-US"/>
              <a:t>The path is city, block, pedestrian, and policy. HIRAKU adds international validation to an already working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Kumamoto shows how urban-thermal research becomes municipal policy evidence.</a:t>
            </a:r>
          </a:p>
          <a:p>
            <a:endParaRPr lang="en-US"/>
          </a:p>
          <a:p>
            <a:r>
              <a:rPr lang="en-US"/>
              <a:t>The key question is where green infrastructure should be placed so wind carries cooling to people.</a:t>
            </a:r>
          </a:p>
          <a:p>
            <a:endParaRPr lang="en-US"/>
          </a:p>
          <a:p>
            <a:r>
              <a:rPr lang="en-US"/>
              <a:t>The workflow is Screen, Diagnose, Validate, and Translate: find hot spots, test wind and form, check exposure, and convert scenarios into policy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After Kumamoto, the next step is international validation.</a:t>
            </a:r>
          </a:p>
          <a:p>
            <a:endParaRPr lang="en-US"/>
          </a:p>
          <a:p>
            <a:r>
              <a:rPr lang="en-US"/>
              <a:t>Kumamoto is the Japanese policy anchor. UCL adds geospatial analysis, Zhejiang adds high-density urban comparison, and reserve nodes test other climates.</a:t>
            </a:r>
          </a:p>
          <a:p>
            <a:endParaRPr lang="en-US"/>
          </a:p>
          <a:p>
            <a:r>
              <a:rPr lang="en-US"/>
              <a:t>The aim is not to restart, but to test transferability and turn one pipeline into an Asian and global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Let me close with four foundations: quality, bridge, funding, and implementation.</a:t>
            </a:r>
          </a:p>
          <a:p>
            <a:endParaRPr lang="en-US"/>
          </a:p>
          <a:p>
            <a:r>
              <a:rPr lang="en-US"/>
              <a:t>Quality is papers; bridge is networks; funding is project experience and the KAKENHI path; implementation is the Kumamoto case.</a:t>
            </a:r>
          </a:p>
          <a:p>
            <a:endParaRPr lang="en-US"/>
          </a:p>
          <a:p>
            <a:r>
              <a:rPr lang="en-US"/>
              <a:t>HIRAKU-Global is the multiplier, not the starter. It will make an already moving research base more international, influential, and useful for society.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/>
              <a:t>Thank you.</a:t>
            </a:r>
            <a:r>
              <a:rPr lang="zh-CN" altLang="en-US"/>
              <a:t> </a:t>
            </a:r>
            <a:r>
              <a:rPr lang="en-US" altLang="zh-CN"/>
              <a:t>Thank you.very</a:t>
            </a:r>
            <a:r>
              <a:rPr lang="zh-CN" altLang="en-US"/>
              <a:t> </a:t>
            </a:r>
            <a:r>
              <a:rPr lang="en-US" altLang="zh-CN"/>
              <a:t>much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looking</a:t>
            </a:r>
            <a:r>
              <a:rPr lang="zh-CN" altLang="en-US"/>
              <a:t> </a:t>
            </a:r>
            <a:r>
              <a:rPr lang="en-US" altLang="zh-CN"/>
              <a:t>forward</a:t>
            </a:r>
            <a:r>
              <a:rPr lang="zh-CN" altLang="en-US"/>
              <a:t> </a:t>
            </a:r>
            <a:r>
              <a:rPr lang="en-US" altLang="zh-CN"/>
              <a:t>your</a:t>
            </a:r>
            <a:r>
              <a:rPr lang="zh-CN" altLang="en-US"/>
              <a:t> </a:t>
            </a:r>
            <a:r>
              <a:rPr lang="en-US" altLang="zh-CN"/>
              <a:t>question</a:t>
            </a:r>
            <a:r>
              <a:rPr lang="zh-CN" altLang="en-US"/>
              <a:t>。</a:t>
            </a:r>
            <a:endParaRPr lang="en-US" altLang="zh-CN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/>
          </a:p>
          <a:p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YAMAGUCHI UNIVERSITY  ·  HIRAKU-GLOBAL  ·  7TH COHORT  · 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417320"/>
            <a:ext cx="107899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Bridging Cities, Climate,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514600"/>
            <a:ext cx="27432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269748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Calibri"/>
              </a:rPr>
              <a:t>Urban Thermal Environment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154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B8C8DC"/>
                </a:solidFill>
                <a:latin typeface="Calibri"/>
              </a:rPr>
              <a:t>from Japanese Regional Cities to International Asia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49039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" y="3749039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HEAT-ADAPTIVE WALKABLE CITIES  ·  CROSS-SCALE ANALYTICAL FRAMEWORK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519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LIU  HAIQIANG, Ph.D.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9A961"/>
                </a:solidFill>
                <a:latin typeface="Calibri"/>
              </a:rPr>
              <a:t>Lecturer (Tenure-track)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01091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Graduate School of Sciences and Technology for Innovation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Yamaguchi University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6063933"/>
            <a:ext cx="2697480" cy="2165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URBAN THERMAL ENVIRONMENT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02152" y="6063933"/>
            <a:ext cx="2697480" cy="2165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18504" y="6063933"/>
            <a:ext cx="2697480" cy="2165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REGIONAL POLICY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34856" y="6063933"/>
            <a:ext cx="2697480" cy="2165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SOCIAL IMPLEMENTATION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6446520"/>
            <a:ext cx="3108960" cy="292608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9601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44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686800" y="644652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01 / 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644652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44652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2026.06</a:t>
            </a:r>
          </a:p>
        </p:txBody>
      </p:sp>
    </p:spTree>
    <p:extLst>
      <p:ext uri="{BB962C8B-B14F-4D97-AF65-F5344CB8AC3E}">
        <p14:creationId xmlns:p14="http://schemas.microsoft.com/office/powerpoint/2010/main" val="1068916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02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Who I am — a researcher trained between Japan and China.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02/15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1828800"/>
            <a:ext cx="5486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81051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JAPAN-TRAINED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194560"/>
            <a:ext cx="3337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Ph.D. (Architectural Environmental Engineering)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Saga University, Japan  ·  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60" y="1828800"/>
            <a:ext cx="5486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181051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CHINA-EXPERIENCED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2194560"/>
            <a:ext cx="3337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Associate Professor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Zhejiang Sci-Tech University  ·  2018–2023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27532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03920" y="1828800"/>
            <a:ext cx="5486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181051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JAPAN-RETURNED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194560"/>
            <a:ext cx="3337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Lecturer (Tenure-track)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Yamaguchi University  ·  since Jan 2026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364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3200400"/>
            <a:ext cx="7086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CAREER TIMELINE  ·  10 YEARS ACROSS BUILDING → PERSON → CITY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434840"/>
            <a:ext cx="10817352" cy="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4360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3931920"/>
            <a:ext cx="1280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2009–2011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080" y="4572000"/>
            <a:ext cx="164592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Master's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6" name="Oval 45"/>
          <p:cNvSpPr/>
          <p:nvPr/>
        </p:nvSpPr>
        <p:spPr>
          <a:xfrm>
            <a:off x="221696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034082" y="3931920"/>
            <a:ext cx="1280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2014–2017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6682" y="4572000"/>
            <a:ext cx="164592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Ph.D.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9" name="Oval 48"/>
          <p:cNvSpPr/>
          <p:nvPr/>
        </p:nvSpPr>
        <p:spPr>
          <a:xfrm>
            <a:off x="405591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873032" y="3931920"/>
            <a:ext cx="1280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2017–2018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5632" y="4572000"/>
            <a:ext cx="164592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52" name="Oval 51"/>
          <p:cNvSpPr/>
          <p:nvPr/>
        </p:nvSpPr>
        <p:spPr>
          <a:xfrm>
            <a:off x="5570341" y="4343400"/>
            <a:ext cx="182880" cy="18288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387461" y="3931920"/>
            <a:ext cx="1280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2018–2023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0061" y="4572000"/>
            <a:ext cx="164592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Associate Prof.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ZSTU</a:t>
            </a:r>
          </a:p>
        </p:txBody>
      </p:sp>
      <p:sp>
        <p:nvSpPr>
          <p:cNvPr id="55" name="Oval 54"/>
          <p:cNvSpPr/>
          <p:nvPr/>
        </p:nvSpPr>
        <p:spPr>
          <a:xfrm>
            <a:off x="773381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50932" y="3931920"/>
            <a:ext cx="1280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2023–2025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13532" y="4572000"/>
            <a:ext cx="1645920" cy="562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Kumamoto City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Policy Institute</a:t>
            </a:r>
          </a:p>
        </p:txBody>
      </p:sp>
      <p:sp>
        <p:nvSpPr>
          <p:cNvPr id="58" name="Oval 57"/>
          <p:cNvSpPr/>
          <p:nvPr/>
        </p:nvSpPr>
        <p:spPr>
          <a:xfrm>
            <a:off x="989728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714402" y="3931920"/>
            <a:ext cx="1280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2026—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77002" y="4572000"/>
            <a:ext cx="164592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Lecturer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61" name="Oval 60"/>
          <p:cNvSpPr/>
          <p:nvPr/>
        </p:nvSpPr>
        <p:spPr>
          <a:xfrm>
            <a:off x="685800" y="5098368"/>
            <a:ext cx="146304" cy="146304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86968" y="5080701"/>
            <a:ext cx="228600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STAGE 1  ·  BUILDING</a:t>
            </a:r>
          </a:p>
        </p:txBody>
      </p:sp>
      <p:sp>
        <p:nvSpPr>
          <p:cNvPr id="63" name="Oval 62"/>
          <p:cNvSpPr/>
          <p:nvPr/>
        </p:nvSpPr>
        <p:spPr>
          <a:xfrm>
            <a:off x="3154680" y="5098368"/>
            <a:ext cx="146304" cy="146304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355848" y="5080701"/>
            <a:ext cx="228600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STAGE 2  ·  PERSON</a:t>
            </a:r>
          </a:p>
        </p:txBody>
      </p:sp>
      <p:sp>
        <p:nvSpPr>
          <p:cNvPr id="65" name="Oval 64"/>
          <p:cNvSpPr/>
          <p:nvPr/>
        </p:nvSpPr>
        <p:spPr>
          <a:xfrm>
            <a:off x="5623560" y="5098368"/>
            <a:ext cx="146304" cy="146304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24728" y="5080701"/>
            <a:ext cx="228600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STAGE 3  ·  CITY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650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4400" y="5436075"/>
            <a:ext cx="7086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SELECTED DISTINCTIONS &amp; CREDENTIALS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8580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2104" y="5833872"/>
            <a:ext cx="64008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2012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99032" y="5833872"/>
            <a:ext cx="189280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CCTV-featured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" y="6053328"/>
            <a:ext cx="2459736" cy="155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Eco-City 1st Prize on China Central TV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72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47472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621024" y="5833872"/>
            <a:ext cx="64008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2011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87952" y="5833872"/>
            <a:ext cx="189280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Croucher Institute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21024" y="6053328"/>
            <a:ext cx="2459736" cy="155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Adv. Study Institute (Hong Kong)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26364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09944" y="5833872"/>
            <a:ext cx="64008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2020–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76872" y="5833872"/>
            <a:ext cx="189280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3 Advisory Roles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9944" y="6053328"/>
            <a:ext cx="2459736" cy="155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Urban Regen. · Changzhou · Saga Alumni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5256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05256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198864" y="5833872"/>
            <a:ext cx="64008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Skills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65792" y="5833872"/>
            <a:ext cx="189280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Patent + Languages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98864" y="6053328"/>
            <a:ext cx="2459736" cy="154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Patent CN 210135674 U · 中 / 日 / EN</a:t>
            </a:r>
          </a:p>
        </p:txBody>
      </p:sp>
    </p:spTree>
    <p:extLst>
      <p:ext uri="{BB962C8B-B14F-4D97-AF65-F5344CB8AC3E}">
        <p14:creationId xmlns:p14="http://schemas.microsoft.com/office/powerpoint/2010/main" val="631441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03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PROBLEM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Climate change becomes a local problem — on every street.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03/15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852160" cy="30175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STREET SECTION  ·  WHAT AN ELDERLY RESIDENT FACES</a:t>
            </a:r>
          </a:p>
        </p:txBody>
      </p:sp>
      <p:sp>
        <p:nvSpPr>
          <p:cNvPr id="28" name="Oval 27"/>
          <p:cNvSpPr/>
          <p:nvPr/>
        </p:nvSpPr>
        <p:spPr>
          <a:xfrm>
            <a:off x="5417820" y="2400300"/>
            <a:ext cx="320040" cy="32004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60120" y="4297680"/>
            <a:ext cx="5303520" cy="914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43000" y="318211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Isosceles Triangle 38"/>
          <p:cNvSpPr/>
          <p:nvPr/>
        </p:nvSpPr>
        <p:spPr>
          <a:xfrm>
            <a:off x="1143000" y="301752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24175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44749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65323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24175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44749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65323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057400" y="281635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Isosceles Triangle 46"/>
          <p:cNvSpPr/>
          <p:nvPr/>
        </p:nvSpPr>
        <p:spPr>
          <a:xfrm>
            <a:off x="2057400" y="265176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15615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36189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56763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15615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36189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56763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051560" y="4251960"/>
            <a:ext cx="2194560" cy="457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97280" y="4462272"/>
            <a:ext cx="22860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9534F"/>
                </a:solidFill>
                <a:latin typeface="Calibri"/>
              </a:rPr>
              <a:t>HOT  ·  built-up</a:t>
            </a:r>
          </a:p>
        </p:txBody>
      </p:sp>
      <p:sp>
        <p:nvSpPr>
          <p:cNvPr id="56" name="Oval 55"/>
          <p:cNvSpPr/>
          <p:nvPr/>
        </p:nvSpPr>
        <p:spPr>
          <a:xfrm>
            <a:off x="3472891" y="352044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392424" y="368640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446739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579510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Isosceles Triangle 59"/>
          <p:cNvSpPr/>
          <p:nvPr/>
        </p:nvSpPr>
        <p:spPr>
          <a:xfrm>
            <a:off x="4343400" y="3291840"/>
            <a:ext cx="731520" cy="512063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636008" y="3803904"/>
            <a:ext cx="146304" cy="219456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Isosceles Triangle 61"/>
          <p:cNvSpPr/>
          <p:nvPr/>
        </p:nvSpPr>
        <p:spPr>
          <a:xfrm>
            <a:off x="5212080" y="3429000"/>
            <a:ext cx="640080" cy="448056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468112" y="3877056"/>
            <a:ext cx="128016" cy="192024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251960" y="4251960"/>
            <a:ext cx="1828800" cy="4572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297680" y="4462272"/>
            <a:ext cx="22860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FA8C6"/>
                </a:solidFill>
                <a:latin typeface="Calibri"/>
              </a:rPr>
              <a:t>COOL  ·  green &amp; wind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51560" y="4663440"/>
            <a:ext cx="502920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51560" y="4750275"/>
            <a:ext cx="5029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← 500–1000 m daily-activity corridor 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122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40880" y="1691640"/>
            <a:ext cx="4800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THE NUMBERS  ·  FDMA 2024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2103120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D9534F"/>
                </a:solidFill>
                <a:latin typeface="Calibri"/>
              </a:rPr>
              <a:t>91,000+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2971800"/>
            <a:ext cx="512064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heatstroke emergency transports — Japan, 2023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12280" y="338328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E55"/>
                </a:solidFill>
                <a:latin typeface="Calibri"/>
              </a:rPr>
              <a:t>1,200+ in Yamaguchi  ·  60% aged 65+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79476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Yamaguchi 65+ share ≈ 35%   (national avg ≈ 29%)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12280" y="411480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4A5568"/>
                </a:solidFill>
                <a:latin typeface="Calibri"/>
              </a:rPr>
              <a:t>Heat × aging × decline — triple challenge concentrated here.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12280" y="45994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040880" y="4434840"/>
            <a:ext cx="4800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MY THREE QUESTIONS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489204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995160" y="48463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WHERE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3657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12280" y="530352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995160" y="52578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0" y="5294376"/>
            <a:ext cx="3657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2280" y="571500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995160" y="5669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HOW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5705856"/>
            <a:ext cx="3657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A5568"/>
                </a:solidFill>
                <a:latin typeface="Calibri"/>
              </a:rPr>
              <a:t>to cool &amp; re-vitalize the city?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800" y="6263640"/>
            <a:ext cx="10972800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68680" y="6284197"/>
            <a:ext cx="1060704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REGIONAL CITIES FACE A TRIPLE CHALLENGE   ·   CLIMATE WARMING  +  AGING SOCIETY  +  CITY-CENTER DECLINE</a:t>
            </a:r>
          </a:p>
        </p:txBody>
      </p:sp>
    </p:spTree>
    <p:extLst>
      <p:ext uri="{BB962C8B-B14F-4D97-AF65-F5344CB8AC3E}">
        <p14:creationId xmlns:p14="http://schemas.microsoft.com/office/powerpoint/2010/main" val="4269132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04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10 years, three stages — Building → Person → 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04/15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1780778"/>
            <a:ext cx="13716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STAGE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240280"/>
            <a:ext cx="1874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377440"/>
            <a:ext cx="914400" cy="731520"/>
          </a:xfrm>
          <a:prstGeom prst="rect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/>
          <p:cNvSpPr/>
          <p:nvPr/>
        </p:nvSpPr>
        <p:spPr>
          <a:xfrm>
            <a:off x="3200400" y="2194560"/>
            <a:ext cx="914400" cy="228600"/>
          </a:xfrm>
          <a:prstGeom prst="triangle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3101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5387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7673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3101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5387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673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91440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3000" y="2880360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177583"/>
            <a:ext cx="3337560" cy="4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1">
                <a:solidFill>
                  <a:srgbClr val="1A1A1A"/>
                </a:solidFill>
                <a:latin typeface="Calibri"/>
              </a:rPr>
              <a:t>How does building type &amp; form</a:t>
            </a:r>
          </a:p>
          <a:p>
            <a:pPr algn="l">
              <a:lnSpc>
                <a:spcPct val="135000"/>
              </a:lnSpc>
            </a:pPr>
            <a:r>
              <a:rPr sz="1150" b="1" i="1">
                <a:solidFill>
                  <a:srgbClr val="1A1A1A"/>
                </a:solidFill>
                <a:latin typeface="Calibri"/>
              </a:rPr>
              <a:t>shape indoor thermal &amp; energy?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3906079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3741487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009207"/>
            <a:ext cx="3337560" cy="688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183 households across 3 cities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Window-to-wall ratio optimization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Residential building types comparison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43000" y="4846320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399" y="5110819"/>
            <a:ext cx="3859099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 ·  JCEA  ·  Procedia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48056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709160" y="1780778"/>
            <a:ext cx="13716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STAGE 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2240280"/>
            <a:ext cx="1874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PERSON</a:t>
            </a:r>
          </a:p>
        </p:txBody>
      </p:sp>
      <p:sp>
        <p:nvSpPr>
          <p:cNvPr id="50" name="Oval 49"/>
          <p:cNvSpPr/>
          <p:nvPr/>
        </p:nvSpPr>
        <p:spPr>
          <a:xfrm>
            <a:off x="7324344" y="2194560"/>
            <a:ext cx="256032" cy="256032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178040" y="2496312"/>
            <a:ext cx="54864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76795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518196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Connector 53"/>
          <p:cNvCxnSpPr/>
          <p:nvPr/>
        </p:nvCxnSpPr>
        <p:spPr>
          <a:xfrm>
            <a:off x="470916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37760" y="2880360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3177583"/>
            <a:ext cx="3337560" cy="4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1">
                <a:solidFill>
                  <a:srgbClr val="1A1A1A"/>
                </a:solidFill>
                <a:latin typeface="Calibri"/>
              </a:rPr>
              <a:t>How do indoor conditions</a:t>
            </a:r>
          </a:p>
          <a:p>
            <a:pPr algn="l">
              <a:lnSpc>
                <a:spcPct val="135000"/>
              </a:lnSpc>
            </a:pPr>
            <a:r>
              <a:rPr sz="1150" b="1" i="1">
                <a:solidFill>
                  <a:srgbClr val="1A1A1A"/>
                </a:solidFill>
                <a:latin typeface="Calibri"/>
              </a:rPr>
              <a:t>affect learning, health, behavior?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709160" y="3906079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937760" y="3741487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4009207"/>
            <a:ext cx="3337560" cy="688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Classroom thermal × learning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PM2.5 health-effect assessment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Elderly spatial needs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70916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937760" y="4846320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59" y="5110819"/>
            <a:ext cx="3859099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Building &amp; Env. Q1 (Top 5)  ·  Env. Pollution Q1  ·  Energies Q1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827532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503920" y="1780778"/>
            <a:ext cx="13716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STAGE 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2240280"/>
            <a:ext cx="1874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12780" y="2606040"/>
            <a:ext cx="105482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936877" y="2331720"/>
            <a:ext cx="105482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1060974" y="2743200"/>
            <a:ext cx="105482" cy="3657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1185071" y="2468880"/>
            <a:ext cx="105482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1309168" y="2651760"/>
            <a:ext cx="105482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11433265" y="2240280"/>
            <a:ext cx="105482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11557362" y="2560320"/>
            <a:ext cx="105482" cy="5486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>
            <a:off x="850392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732520" y="2880360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03920" y="3177583"/>
            <a:ext cx="3337560" cy="4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1">
                <a:solidFill>
                  <a:srgbClr val="1A1A1A"/>
                </a:solidFill>
                <a:latin typeface="Calibri"/>
              </a:rPr>
              <a:t>How do GBI, wind &amp; morphology</a:t>
            </a:r>
          </a:p>
          <a:p>
            <a:pPr algn="l">
              <a:lnSpc>
                <a:spcPct val="135000"/>
              </a:lnSpc>
            </a:pPr>
            <a:r>
              <a:rPr sz="1150" b="1" i="1">
                <a:solidFill>
                  <a:srgbClr val="1A1A1A"/>
                </a:solidFill>
                <a:latin typeface="Calibri"/>
              </a:rPr>
              <a:t>regulate pedestrian heat exposure?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503920" y="3906079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20" y="3741487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920" y="4009207"/>
            <a:ext cx="3337560" cy="688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Satellite LST + Sentinel-2 LCZ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Courtyard CFD wind analysis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4A5568"/>
                </a:solidFill>
                <a:latin typeface="Calibri"/>
              </a:rPr>
              <a:t>Kumamoto green-infra mapping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50392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732520" y="4846320"/>
            <a:ext cx="31089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03919" y="5110819"/>
            <a:ext cx="3859099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Q2  ·  Book Chapter  ·  MLIT EBPM-cited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38912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18388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685800" y="5577840"/>
            <a:ext cx="10972800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68680" y="5644117"/>
            <a:ext cx="106070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WHAT BINDS THE THREE STAGES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" y="600225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Each stage was pushed forward by a question the previous stage could only partly answer.  Stage 3 is where HIRAKU-Global begins.</a:t>
            </a:r>
          </a:p>
        </p:txBody>
      </p:sp>
    </p:spTree>
    <p:extLst>
      <p:ext uri="{BB962C8B-B14F-4D97-AF65-F5344CB8AC3E}">
        <p14:creationId xmlns:p14="http://schemas.microsoft.com/office/powerpoint/2010/main" val="16756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05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ORIGINALITY  · 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Satellite + measurement + CFD + national-level policy — in one workflow.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05/15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555666"/>
            <a:ext cx="5212080" cy="39319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868680" y="1811698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7280" y="1647106"/>
            <a:ext cx="43434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CROSS-SCALE WORKFLOW  ·  SATELLITE → BLOCK → PEDESTRIAN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150026"/>
            <a:ext cx="0" cy="292608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15568" y="2241466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15568" y="3384466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15568" y="4573186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" y="4984666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0015" y="2104306"/>
            <a:ext cx="3657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1">
                <a:solidFill>
                  <a:srgbClr val="8895A8"/>
                </a:solidFill>
                <a:latin typeface="Calibri"/>
              </a:rPr>
              <a:t>km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015" y="4893226"/>
            <a:ext cx="3657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1">
                <a:solidFill>
                  <a:srgbClr val="8895A8"/>
                </a:solidFill>
                <a:latin typeface="Calibri"/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3372" y="2363767"/>
            <a:ext cx="310896" cy="349758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600200" y="2422060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183130" y="2422060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 flipV="1">
            <a:off x="0" y="2150026"/>
            <a:ext cx="0" cy="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957730" y="2111164"/>
            <a:ext cx="62179" cy="62179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560319" y="2241466"/>
            <a:ext cx="32004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LANDSAT-8/9  +  SENTINEL-2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19" y="2515786"/>
            <a:ext cx="32004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4A5568"/>
                </a:solidFill>
                <a:latin typeface="Calibri"/>
              </a:rPr>
              <a:t>LST × LCZ — 30 m resolution screening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88186" y="3791374"/>
            <a:ext cx="116030" cy="55321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624692" y="3489622"/>
            <a:ext cx="116030" cy="85496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761199" y="3942250"/>
            <a:ext cx="116030" cy="402336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897706" y="3640498"/>
            <a:ext cx="116030" cy="70408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034213" y="3841666"/>
            <a:ext cx="116030" cy="50292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170720" y="3389038"/>
            <a:ext cx="116030" cy="95554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307227" y="3741082"/>
            <a:ext cx="116030" cy="60350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2560319" y="3018706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3246120" y="2982130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2560319" y="3293026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>
            <a:off x="3246120" y="3256450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383280" y="3110146"/>
            <a:ext cx="2743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BLOCK-SCALE CFD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3338746"/>
            <a:ext cx="27432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4A5568"/>
                </a:solidFill>
                <a:latin typeface="Calibri"/>
              </a:rPr>
              <a:t>OpenFOAM — wind × morphology × GBI</a:t>
            </a:r>
          </a:p>
        </p:txBody>
      </p:sp>
      <p:sp>
        <p:nvSpPr>
          <p:cNvPr id="55" name="Oval 54"/>
          <p:cNvSpPr/>
          <p:nvPr/>
        </p:nvSpPr>
        <p:spPr>
          <a:xfrm>
            <a:off x="1964131" y="4573186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883664" y="4739149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937979" y="4990609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070750" y="4990609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>
            <a:off x="1463040" y="5167546"/>
            <a:ext cx="333756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>
            <a:off x="2788920" y="4756066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935224" y="5012098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Isosceles Triangle 61"/>
          <p:cNvSpPr/>
          <p:nvPr/>
        </p:nvSpPr>
        <p:spPr>
          <a:xfrm>
            <a:off x="3886200" y="4756066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032504" y="5012098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560319" y="4328723"/>
            <a:ext cx="32004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PEDESTRIAN  ·  WBGT FIELD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19" y="4557323"/>
            <a:ext cx="32004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4A5568"/>
                </a:solidFill>
                <a:latin typeface="Calibri"/>
              </a:rPr>
              <a:t>Elderly walking corridor, 500–1000 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555666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263640" y="1555666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400800" y="1599084"/>
            <a:ext cx="4572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1615723"/>
            <a:ext cx="196596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MULTI-SOURCE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012866"/>
            <a:ext cx="24231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Satellite RS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+ on-site measurement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+ CFD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52560" y="1555666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9052560" y="1555666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189720" y="1599084"/>
            <a:ext cx="4572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1615723"/>
            <a:ext cx="196596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CUMULATIVE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012866"/>
            <a:ext cx="24231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Pedestrian-scale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heat retention zones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(not instantaneous 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521625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263640" y="3521625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400800" y="3565043"/>
            <a:ext cx="4572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03720" y="3581682"/>
            <a:ext cx="196596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POLICY-APPLIED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3978825"/>
            <a:ext cx="24231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Kumamoto City green-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infrastructure policy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(Book chapter A-1)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052560" y="3521625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052560" y="3521625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9189720" y="3565043"/>
            <a:ext cx="45720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3581682"/>
            <a:ext cx="196596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MLIT EBPM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89720" y="3978825"/>
            <a:ext cx="24231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Adopted by MLIT as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an Evidence-Based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Policy Making case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52560" y="3521625"/>
            <a:ext cx="2697480" cy="1874519"/>
          </a:xfrm>
          <a:prstGeom prst="rect">
            <a:avLst/>
          </a:prstGeom>
          <a:noFill/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263640" y="5396146"/>
            <a:ext cx="5468112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263640" y="5396146"/>
            <a:ext cx="54864" cy="3200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301587" y="5456203"/>
            <a:ext cx="182880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  REAL KUMAMOTO FINDING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75320" y="5384388"/>
            <a:ext cx="3364992" cy="3435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Same forest patch — daytime cooling varies 3–5 °C by wind-corridor position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5518690"/>
            <a:ext cx="5333997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8895A8"/>
                </a:solidFill>
                <a:latin typeface="Calibri"/>
              </a:rPr>
              <a:t>Methods validated in Sustainability (2024) &amp; Kumamoto book chapter  ·  + Utility Model Patent CN 210135674 U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5800" y="5897880"/>
            <a:ext cx="1097280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68680" y="5943600"/>
            <a:ext cx="1060704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RESEARCH  →  POLICY  →  NATIONAL RECOGNITION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8680" y="6126480"/>
            <a:ext cx="10607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Few researchers combine satellite, measurement, CFD, and national-level policy adoption in one continuous workflow.</a:t>
            </a:r>
          </a:p>
        </p:txBody>
      </p:sp>
    </p:spTree>
    <p:extLst>
      <p:ext uri="{BB962C8B-B14F-4D97-AF65-F5344CB8AC3E}">
        <p14:creationId xmlns:p14="http://schemas.microsoft.com/office/powerpoint/2010/main" val="2138610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06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15 peer-reviewed papers · 3 Q1 · 2 led, 1 contributed.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06/15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386839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60120" y="2575559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1478279"/>
            <a:ext cx="27614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648711"/>
            <a:ext cx="1965959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peer-reviewed</a:t>
            </a:r>
            <a:r>
              <a:rPr lang="zh-CN" altLang="en-US" sz="1200" b="1" i="0">
                <a:solidFill>
                  <a:srgbClr val="4A5568"/>
                </a:solidFill>
                <a:latin typeface="Calibri"/>
              </a:rPr>
              <a:t>  </a:t>
            </a:r>
            <a:r>
              <a:rPr sz="1200" b="1" i="0">
                <a:solidFill>
                  <a:srgbClr val="4A5568"/>
                </a:solidFill>
                <a:latin typeface="Calibri"/>
              </a:rPr>
              <a:t>papers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8728" y="1386839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813048" y="2575559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38728" y="1478279"/>
            <a:ext cx="27614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2648711"/>
            <a:ext cx="2212848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English</a:t>
            </a:r>
            <a:r>
              <a:rPr lang="zh-CN" altLang="en-US" sz="1200" b="1" i="0">
                <a:solidFill>
                  <a:srgbClr val="4A5568"/>
                </a:solidFill>
                <a:latin typeface="Calibri"/>
              </a:rPr>
              <a:t>    </a:t>
            </a:r>
            <a:r>
              <a:rPr sz="1200" b="1" i="0">
                <a:solidFill>
                  <a:srgbClr val="4A5568"/>
                </a:solidFill>
                <a:latin typeface="Calibri"/>
              </a:rPr>
              <a:t>SCI / SCIE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386839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65976" y="2575559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478279"/>
            <a:ext cx="27614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5976" y="2648711"/>
            <a:ext cx="2212848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4A5568"/>
                </a:solidFill>
                <a:latin typeface="Calibri"/>
              </a:rPr>
              <a:t>with Impact</a:t>
            </a:r>
            <a:r>
              <a:rPr lang="zh-CN" altLang="en-US" sz="1200" b="1" i="0">
                <a:solidFill>
                  <a:srgbClr val="4A5568"/>
                </a:solidFill>
                <a:latin typeface="Calibri"/>
              </a:rPr>
              <a:t>   </a:t>
            </a:r>
            <a:r>
              <a:rPr sz="1200" b="1" i="0">
                <a:solidFill>
                  <a:srgbClr val="4A5568"/>
                </a:solidFill>
                <a:latin typeface="Calibri"/>
              </a:rPr>
              <a:t>Factor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584" y="1386839"/>
            <a:ext cx="2761488" cy="1554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518904" y="2575559"/>
            <a:ext cx="36576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44584" y="1478279"/>
            <a:ext cx="27614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903" y="2648711"/>
            <a:ext cx="2551169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Q1 papers</a:t>
            </a:r>
            <a:r>
              <a:rPr lang="zh-CN" altLang="en-US" sz="1200" b="1" i="0">
                <a:solidFill>
                  <a:srgbClr val="C9A961"/>
                </a:solidFill>
                <a:latin typeface="Calibri"/>
              </a:rPr>
              <a:t>      </a:t>
            </a:r>
            <a:r>
              <a:rPr sz="1200" b="1" i="0">
                <a:solidFill>
                  <a:srgbClr val="C9A961"/>
                </a:solidFill>
                <a:latin typeface="Calibri"/>
              </a:rPr>
              <a:t>(2 led + 1 contributed)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402188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237596"/>
            <a:ext cx="10744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Q1 JOURNALS  ·  HONEST AUTHOR POSITIONING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3557636"/>
            <a:ext cx="3703320" cy="1088137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5800" y="3557636"/>
            <a:ext cx="64002" cy="1097281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4400" y="3649076"/>
            <a:ext cx="33375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Building and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3969116"/>
            <a:ext cx="33375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IF ≈ 7.1  ·  Q1  ·  Top 5 in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216004"/>
            <a:ext cx="333756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Co-first author  ·  led design &amp; supervision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Classroom thermal ×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3557636"/>
            <a:ext cx="3703320" cy="1089659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480560" y="3557636"/>
            <a:ext cx="64008" cy="1089659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09160" y="3649076"/>
            <a:ext cx="33375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Energies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3969116"/>
            <a:ext cx="33375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IF ≈ 3.1  ·  Q1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60" y="4216004"/>
            <a:ext cx="333756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First author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Classroom comfort × learning efficiency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20" y="3557636"/>
            <a:ext cx="3703320" cy="1089659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275320" y="3557636"/>
            <a:ext cx="73152" cy="1089659"/>
          </a:xfrm>
          <a:prstGeom prst="rect">
            <a:avLst/>
          </a:prstGeom>
          <a:solidFill>
            <a:srgbClr val="889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503920" y="3649076"/>
            <a:ext cx="33375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Environmental Pollution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3969116"/>
            <a:ext cx="33375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895A8"/>
                </a:solidFill>
                <a:latin typeface="Calibri"/>
              </a:rPr>
              <a:t>IF ≈ 7.3  · 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216004"/>
            <a:ext cx="333756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Co-author  ·  research-team member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PM2.5 health-effects assessment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85800" y="5153761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14400" y="4877704"/>
            <a:ext cx="10744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FIRST / CO-FIRST AUTHOR PAPERS  ·  PEER-REVIEWED ENGLISH BY YEAR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911471"/>
            <a:ext cx="10972800" cy="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1719072" y="5847463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77240" y="5472559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2960" y="5481703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JCEA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600575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002911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2017</a:t>
            </a:r>
          </a:p>
        </p:txBody>
      </p:sp>
      <p:sp>
        <p:nvSpPr>
          <p:cNvPr id="66" name="Oval 65"/>
          <p:cNvSpPr/>
          <p:nvPr/>
        </p:nvSpPr>
        <p:spPr>
          <a:xfrm>
            <a:off x="3959352" y="5847463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017520" y="5472559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063240" y="5481703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Lowland Tech.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63240" y="5600575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0" y="6002911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2020</a:t>
            </a:r>
          </a:p>
        </p:txBody>
      </p:sp>
      <p:sp>
        <p:nvSpPr>
          <p:cNvPr id="71" name="Oval 70"/>
          <p:cNvSpPr/>
          <p:nvPr/>
        </p:nvSpPr>
        <p:spPr>
          <a:xfrm>
            <a:off x="6199632" y="5847463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257800" y="5472559"/>
            <a:ext cx="2011680" cy="25603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303520" y="5481703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Energies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600575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 ·  first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800" y="5179951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303520" y="5189095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307967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360" y="6002911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2021</a:t>
            </a:r>
          </a:p>
        </p:txBody>
      </p:sp>
      <p:sp>
        <p:nvSpPr>
          <p:cNvPr id="79" name="Oval 78"/>
          <p:cNvSpPr/>
          <p:nvPr/>
        </p:nvSpPr>
        <p:spPr>
          <a:xfrm>
            <a:off x="8439912" y="5847463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7498080" y="5472559"/>
            <a:ext cx="2011680" cy="2560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7543800" y="5481703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Building &amp; Env.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3800" y="5600575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Top 5  ·  co-1st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002911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2023</a:t>
            </a:r>
          </a:p>
        </p:txBody>
      </p:sp>
      <p:sp>
        <p:nvSpPr>
          <p:cNvPr id="84" name="Oval 83"/>
          <p:cNvSpPr/>
          <p:nvPr/>
        </p:nvSpPr>
        <p:spPr>
          <a:xfrm>
            <a:off x="10680192" y="5847463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738360" y="5472559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784080" y="5481703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84080" y="5600575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738360" y="5179951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784080" y="5189095"/>
            <a:ext cx="192024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Kumamoto Pol. ×2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5307967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Japanese  ·  first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46920" y="6002911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243697"/>
            <a:ext cx="7772400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42E55"/>
                </a:solidFill>
                <a:latin typeface="Calibri"/>
              </a:rPr>
              <a:t>ONE CONTINUOUS LINE: building energy → indoor comfort → PM2.5 → urban heat → green infra → policy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03920" y="6204700"/>
            <a:ext cx="3200400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895A8"/>
                </a:solidFill>
                <a:latin typeface="Calibri"/>
              </a:rPr>
              <a:t>ORCID 0000-0001-7378-5265  ·  ResearcherID 51035663</a:t>
            </a:r>
          </a:p>
        </p:txBody>
      </p:sp>
    </p:spTree>
    <p:extLst>
      <p:ext uri="{BB962C8B-B14F-4D97-AF65-F5344CB8AC3E}">
        <p14:creationId xmlns:p14="http://schemas.microsoft.com/office/powerpoint/2010/main" val="3045761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07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Organizer, not just participant — three concrete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07/15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385937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1385937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1653" y="1504155"/>
            <a:ext cx="548640" cy="2664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422513"/>
            <a:ext cx="278892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SAKURA SCIENCE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1678545"/>
            <a:ext cx="278892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E4D29D"/>
                </a:solidFill>
                <a:latin typeface="Calibri"/>
              </a:rPr>
              <a:t>2019–2020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163177"/>
            <a:ext cx="33375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Organized ZSTU × Japanese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universities student-researcher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exchanges over multiple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534777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626217"/>
            <a:ext cx="3337560" cy="476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Sustained partnership — paused</a:t>
            </a:r>
          </a:p>
          <a:p>
            <a:pPr algn="l">
              <a:lnSpc>
                <a:spcPct val="13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by COVID, friendship intact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0" y="1385937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480560" y="1385937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46413" y="1504155"/>
            <a:ext cx="548640" cy="2664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1422513"/>
            <a:ext cx="278892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ZHEJIANG CARBON-NEUTRAL CENTER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1678545"/>
            <a:ext cx="278892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E4D29D"/>
                </a:solidFill>
                <a:latin typeface="Calibri"/>
              </a:rPr>
              <a:t>2021–2022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2163177"/>
            <a:ext cx="33375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Built the Zhejiang International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Co-op Center on Carbon Neutrality,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as ZSTU representative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3534777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09160" y="3626217"/>
            <a:ext cx="3337560" cy="476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1 of 4 provincial centers</a:t>
            </a:r>
          </a:p>
          <a:p>
            <a:pPr algn="l">
              <a:lnSpc>
                <a:spcPct val="13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— ZSTU as core unit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385937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385937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03920" y="1504155"/>
            <a:ext cx="548640" cy="2664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1422513"/>
            <a:ext cx="278892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5-COUNTRY ONLINE FORUM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1678545"/>
            <a:ext cx="278892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E4D29D"/>
                </a:solidFill>
                <a:latin typeface="Calibri"/>
              </a:rPr>
              <a:t>2022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2163177"/>
            <a:ext cx="3337560" cy="75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Organized international forum: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China · Japan · UK (UCL) ·</a:t>
            </a:r>
          </a:p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Indonesia · Bangladesh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03920" y="3534777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03920" y="3626217"/>
            <a:ext cx="3337560" cy="476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Multi-country coordination</a:t>
            </a:r>
          </a:p>
          <a:p>
            <a:pPr algn="l">
              <a:lnSpc>
                <a:spcPct val="13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under COVID constraints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4521087"/>
            <a:ext cx="10972800" cy="320040"/>
          </a:xfrm>
          <a:prstGeom prst="rect">
            <a:avLst/>
          </a:prstGeom>
          <a:noFill/>
          <a:ln w="63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85800" y="4521087"/>
            <a:ext cx="54864" cy="3200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1248" y="4564505"/>
            <a:ext cx="256032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INVITED TALKS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4581144"/>
            <a:ext cx="822960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Shanghai Inst. for Global City (2025)  ·  Shanghai Normal U. (2025)  ·  Hangzhou Fengjinglishe (2021)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5057874"/>
            <a:ext cx="10972800" cy="11887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Connector 53"/>
          <p:cNvCxnSpPr/>
          <p:nvPr/>
        </p:nvCxnSpPr>
        <p:spPr>
          <a:xfrm>
            <a:off x="822960" y="5414490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51560" y="5131026"/>
            <a:ext cx="70866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FUTURE NETWORK  ·  BUILDING ON EXISTING FRIENDSHIP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60" y="5579082"/>
            <a:ext cx="1554480" cy="329184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394960" y="556079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U.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0" y="5733288"/>
            <a:ext cx="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280160" y="5560794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280160" y="556079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UCL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80160" y="594484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Dr. Huanfa Chen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0" y="5733288"/>
            <a:ext cx="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200400" y="5560794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0" y="556079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ZSTU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594484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Sakura net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0" y="5733288"/>
            <a:ext cx="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7589520" y="5560794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589520" y="556079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ZHEJIANG U.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89520" y="594484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Prof. Jian Ge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0" y="5733288"/>
            <a:ext cx="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509760" y="5560794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509760" y="556079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 NODES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594484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Indonesia · Bangladesh</a:t>
            </a:r>
          </a:p>
        </p:txBody>
      </p:sp>
    </p:spTree>
    <p:extLst>
      <p:ext uri="{BB962C8B-B14F-4D97-AF65-F5344CB8AC3E}">
        <p14:creationId xmlns:p14="http://schemas.microsoft.com/office/powerpoint/2010/main" val="3413461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08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FUNDING &amp; PROJECT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434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≈ 100 million JPY </a:t>
            </a:r>
            <a:r>
              <a:rPr lang="en-US" sz="2800" b="1" i="0">
                <a:solidFill>
                  <a:srgbClr val="142E55"/>
                </a:solidFill>
                <a:latin typeface="Calibri"/>
              </a:rPr>
              <a:t>Total</a:t>
            </a:r>
            <a:r>
              <a:rPr sz="2800" b="1" i="0">
                <a:solidFill>
                  <a:srgbClr val="142E55"/>
                </a:solidFill>
                <a:latin typeface="Calibri"/>
              </a:rPr>
              <a:t> — and the Japan pattern has already started.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08/15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22393" y="1537154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0993" y="1765754"/>
            <a:ext cx="324612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CHINA  ·  2018–2023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992" y="2177234"/>
            <a:ext cx="3703319" cy="134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≈ 100 M</a:t>
            </a:r>
            <a:endParaRPr lang="en-US" sz="4600" b="1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95000"/>
              </a:lnSpc>
            </a:pPr>
            <a:r>
              <a:rPr lang="en-US" sz="4600" b="1" i="0">
                <a:solidFill>
                  <a:srgbClr val="FFFFFF"/>
                </a:solidFill>
                <a:latin typeface="Calibri"/>
              </a:rPr>
              <a:t>JPY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0993" y="3596248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0993" y="3733743"/>
            <a:ext cx="3246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8 projects · 5 as Leading 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NSSFC General Project (collaborator)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Hangzhou Public Spaces ¥12 M PI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ZSTU Start-up + Carbon Neutrality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993" y="4887479"/>
            <a:ext cx="324612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C9A961"/>
                </a:solidFill>
                <a:latin typeface="Calibri"/>
              </a:rPr>
              <a:t>HIGH-COMPETITION ENVIRONMENT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7153" y="1537154"/>
            <a:ext cx="3703320" cy="3657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45753" y="1765754"/>
            <a:ext cx="324612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KUMAMOTO  ·  2023–2025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5753" y="2177234"/>
            <a:ext cx="3474720" cy="134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Municipal</a:t>
            </a:r>
            <a:endParaRPr lang="en-US" sz="4600" b="1" i="0">
              <a:solidFill>
                <a:srgbClr val="142E55"/>
              </a:solidFill>
              <a:latin typeface="Calibri"/>
            </a:endParaRPr>
          </a:p>
          <a:p>
            <a:pPr algn="l">
              <a:lnSpc>
                <a:spcPct val="95000"/>
              </a:lnSpc>
            </a:pPr>
            <a:r>
              <a:rPr lang="en-US" sz="4600" b="1" i="0">
                <a:solidFill>
                  <a:srgbClr val="142E55"/>
                </a:solidFill>
                <a:latin typeface="Calibri"/>
              </a:rPr>
              <a:t>post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5753" y="3596248"/>
            <a:ext cx="731520" cy="12700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45753" y="3733743"/>
            <a:ext cx="3246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Institute of Policy Research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Institutional rule: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external competitive grants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not permitted from this post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5753" y="4887479"/>
            <a:ext cx="324612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8C6F33"/>
                </a:solidFill>
                <a:latin typeface="Calibri"/>
              </a:rPr>
              <a:t>POLICY-OUTPUT  ·  MLIT EBPM-CITED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11913" y="1537154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40513" y="1765754"/>
            <a:ext cx="324612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YAMAGUCHI  ·  since 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0513" y="2177234"/>
            <a:ext cx="324612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# 1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/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40513" y="3596248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40513" y="3733743"/>
            <a:ext cx="3246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Top-ranked applicant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 Yamaguchi U. regional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research program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(4 selected, within months)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0513" y="4887479"/>
            <a:ext cx="324612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C9A961"/>
                </a:solidFill>
                <a:latin typeface="Calibri"/>
              </a:rPr>
              <a:t>JAPAN PATTERN HAS STARTED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486400"/>
            <a:ext cx="10972800" cy="731520"/>
          </a:xfrm>
          <a:prstGeom prst="rect">
            <a:avLst/>
          </a:prstGeom>
          <a:noFill/>
          <a:ln w="1524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8680" y="5577840"/>
            <a:ext cx="1060704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8C6F33"/>
                </a:solidFill>
                <a:latin typeface="Calibri"/>
              </a:rPr>
              <a:t>FORWARD 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872717"/>
            <a:ext cx="106070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142E55"/>
                </a:solidFill>
                <a:latin typeface="Calibri"/>
              </a:rPr>
              <a:t>KAKENHI KIBAN C  (FY2026 autumn)   →   KAKENHI KIBAN B  (during HIRAKU)</a:t>
            </a:r>
          </a:p>
        </p:txBody>
      </p:sp>
    </p:spTree>
    <p:extLst>
      <p:ext uri="{BB962C8B-B14F-4D97-AF65-F5344CB8AC3E}">
        <p14:creationId xmlns:p14="http://schemas.microsoft.com/office/powerpoint/2010/main" val="3024631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33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09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PLAN  ·  FEASIBILITY &amp; INTERNATIONAL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Not from zero — pipeline running, partners ready, first grant won.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09/15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353312"/>
            <a:ext cx="3840480" cy="274320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60934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444752"/>
            <a:ext cx="4343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3 CITIES  ×  3 WIND REGIMES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1764792"/>
            <a:ext cx="3291840" cy="59436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1810512"/>
            <a:ext cx="2743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FFFFFF"/>
                </a:solidFill>
                <a:latin typeface="Calibri"/>
              </a:rPr>
              <a:t>SEA OF JAPAN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2359152"/>
            <a:ext cx="3291840" cy="914400"/>
          </a:xfrm>
          <a:prstGeom prst="rect">
            <a:avLst/>
          </a:prstGeom>
          <a:solidFill>
            <a:srgbClr val="F6F8FA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24048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8895A8"/>
                </a:solidFill>
                <a:latin typeface="Calibri"/>
              </a:rPr>
              <a:t>CHUGOKU REGION  ·  WESTERN HONSHU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3273552"/>
            <a:ext cx="3291840" cy="45720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1560" y="3346704"/>
            <a:ext cx="2743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FFFFFF"/>
                </a:solidFill>
                <a:latin typeface="Calibri"/>
              </a:rPr>
              <a:t>SETO INLAND SEA</a:t>
            </a:r>
          </a:p>
        </p:txBody>
      </p:sp>
      <p:sp>
        <p:nvSpPr>
          <p:cNvPr id="34" name="Oval 33"/>
          <p:cNvSpPr/>
          <p:nvPr/>
        </p:nvSpPr>
        <p:spPr>
          <a:xfrm>
            <a:off x="1170432" y="2615184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444752" y="2596896"/>
            <a:ext cx="146304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MATSUE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2761488"/>
            <a:ext cx="146304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LAKESIDE</a:t>
            </a:r>
          </a:p>
        </p:txBody>
      </p:sp>
      <p:sp>
        <p:nvSpPr>
          <p:cNvPr id="37" name="Oval 36"/>
          <p:cNvSpPr/>
          <p:nvPr/>
        </p:nvSpPr>
        <p:spPr>
          <a:xfrm>
            <a:off x="2359152" y="2798064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33472" y="2734687"/>
            <a:ext cx="146304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YAMAGUCHI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3472" y="2899279"/>
            <a:ext cx="146304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BASIN</a:t>
            </a:r>
          </a:p>
        </p:txBody>
      </p:sp>
      <p:sp>
        <p:nvSpPr>
          <p:cNvPr id="40" name="Oval 39"/>
          <p:cNvSpPr/>
          <p:nvPr/>
        </p:nvSpPr>
        <p:spPr>
          <a:xfrm>
            <a:off x="3182112" y="3026664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56432" y="2954187"/>
            <a:ext cx="146304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UBE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3118779"/>
            <a:ext cx="146304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4A5568"/>
                </a:solidFill>
                <a:latin typeface="Calibri"/>
              </a:rPr>
              <a:t>COASTAL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N</a:t>
            </a:r>
          </a:p>
        </p:txBody>
      </p:sp>
      <p:sp>
        <p:nvSpPr>
          <p:cNvPr id="44" name="Isosceles Triangle 43"/>
          <p:cNvSpPr/>
          <p:nvPr/>
        </p:nvSpPr>
        <p:spPr>
          <a:xfrm>
            <a:off x="4178808" y="1856232"/>
            <a:ext cx="146304" cy="274320"/>
          </a:xfrm>
          <a:prstGeom prst="triangl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754880" y="151790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3480" y="1353312"/>
            <a:ext cx="288036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METHOD CHAIN  ·  CITY → CORRIDOR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1719072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754880" y="1719072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754880" y="1928730"/>
            <a:ext cx="502920" cy="2664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960" y="1792224"/>
            <a:ext cx="23774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SATELLITE SCREENING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2066544"/>
            <a:ext cx="237744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Landsat-8/9 LST × Sentinel-2 LCZ</a:t>
            </a:r>
          </a:p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Years 1–2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0" y="2743200"/>
            <a:ext cx="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54880" y="2496312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54880" y="2496312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754880" y="2705970"/>
            <a:ext cx="502920" cy="2664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2569464"/>
            <a:ext cx="23774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BLOCK CFD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2843784"/>
            <a:ext cx="237744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OpenFOAM wind × morphology × GBI</a:t>
            </a:r>
          </a:p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Year 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0" y="3520440"/>
            <a:ext cx="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754880" y="3273552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754880" y="3273552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754880" y="3483210"/>
            <a:ext cx="502920" cy="2664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346704"/>
            <a:ext cx="23774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PEDESTRIAN VALIDATION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3621024"/>
            <a:ext cx="2377440" cy="370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WBGT field measurement</a:t>
            </a:r>
          </a:p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Year 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92440" y="151790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321040" y="1353312"/>
            <a:ext cx="34290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5-YEAR PLAN  ·  HIRAKU PERIOD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1719072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092440" y="1719072"/>
            <a:ext cx="740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3104" y="1719072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833104" y="1719072"/>
            <a:ext cx="740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8" y="1719072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573768" y="1719072"/>
            <a:ext cx="740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14432" y="1719072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314432" y="1719072"/>
            <a:ext cx="740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55096" y="1719072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1055096" y="1719072"/>
            <a:ext cx="740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9872" y="2221992"/>
            <a:ext cx="1426464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144199" y="22037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LST × LCZ diagnosis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60536" y="2450592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144199" y="24323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UCL stay (2 months)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01200" y="2679192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144199" y="26609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Block-scale CFD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01200" y="2907792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144199" y="28895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Zhejiang U. visit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41864" y="3136392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144199" y="31181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Pedestrian WBGT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41864" y="3364992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144199" y="33467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Int'l workshop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082527" y="3678440"/>
            <a:ext cx="740663" cy="1828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147304" y="2221992"/>
            <a:ext cx="1481328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LST × LCZ diagnosis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87968" y="2450592"/>
            <a:ext cx="7406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UCL stay (2 months)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28632" y="2679192"/>
            <a:ext cx="7406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Block-scale CFD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28632" y="2907792"/>
            <a:ext cx="7406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Zhejiang U. visit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46292" y="3136392"/>
            <a:ext cx="7406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Pedestrian WBGT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69296" y="3364992"/>
            <a:ext cx="7406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Int'l workshop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94982" y="3710722"/>
            <a:ext cx="730954" cy="999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FFFFFF"/>
                </a:solidFill>
                <a:latin typeface="Calibri"/>
              </a:rPr>
              <a:t>Synthesis + Kakenhi B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799" y="4526280"/>
            <a:ext cx="11155671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8680" y="4233672"/>
            <a:ext cx="106070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FEASIBILITY — ALREADY PROVEN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4690872"/>
            <a:ext cx="1060704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Satellite pipeline running  ·  CFD methodology established  ·  Partners aligned  ·  First Japanese grant won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85800" y="5285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914400" y="5120640"/>
            <a:ext cx="10744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BUDGET PLAN  ·  STARTUP FUND  ¥ 2 M  /  OVERSEAS DISPATCH  ¥ 2 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777240" y="5532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¥ 700K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7240" y="5742432"/>
            <a:ext cx="164592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</a:t>
            </a:r>
            <a:r>
              <a:rPr lang="zh-CN" altLang="en-US" sz="900" b="1" i="0">
                <a:solidFill>
                  <a:srgbClr val="FFFFFF"/>
                </a:solidFill>
                <a:latin typeface="Calibri"/>
              </a:rPr>
              <a:t>  </a:t>
            </a:r>
            <a:r>
              <a:rPr sz="900" b="1" i="0">
                <a:solidFill>
                  <a:srgbClr val="FFFFFF"/>
                </a:solidFill>
                <a:latin typeface="Calibri"/>
              </a:rPr>
              <a:t>equipment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7240" y="5914290"/>
            <a:ext cx="1645920" cy="172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WBGT · loggers ·</a:t>
            </a:r>
            <a:r>
              <a:rPr lang="zh-CN" altLang="en-US" sz="1000" b="1" i="1">
                <a:solidFill>
                  <a:srgbClr val="CBD5E0"/>
                </a:solidFill>
                <a:latin typeface="Calibri"/>
              </a:rPr>
              <a:t> </a:t>
            </a:r>
            <a:r>
              <a:rPr sz="1000" b="1" i="1">
                <a:solidFill>
                  <a:srgbClr val="CBD5E0"/>
                </a:solidFill>
                <a:latin typeface="Calibri"/>
              </a:rPr>
              <a:t>radiometers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56032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651760" y="5532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¥ 350K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51760" y="5742432"/>
            <a:ext cx="164592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Data &amp;</a:t>
            </a:r>
            <a:r>
              <a:rPr lang="zh-CN" altLang="en-US" sz="900" b="1" i="0">
                <a:solidFill>
                  <a:srgbClr val="FFFFFF"/>
                </a:solidFill>
                <a:latin typeface="Calibri"/>
              </a:rPr>
              <a:t>  </a:t>
            </a:r>
            <a:r>
              <a:rPr sz="900" b="1" i="0">
                <a:solidFill>
                  <a:srgbClr val="FFFFFF"/>
                </a:solidFill>
                <a:latin typeface="Calibri"/>
              </a:rPr>
              <a:t>workstation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51760" y="5914290"/>
            <a:ext cx="1645920" cy="172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GIS · CFD ·</a:t>
            </a:r>
            <a:r>
              <a:rPr lang="zh-CN" altLang="en-US" sz="1000" b="1" i="1">
                <a:solidFill>
                  <a:srgbClr val="CBD5E0"/>
                </a:solidFill>
                <a:latin typeface="Calibri"/>
              </a:rPr>
              <a:t> </a:t>
            </a:r>
            <a:r>
              <a:rPr sz="1000" b="1" i="1">
                <a:solidFill>
                  <a:srgbClr val="CBD5E0"/>
                </a:solidFill>
                <a:latin typeface="Calibri"/>
              </a:rPr>
              <a:t>storage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43484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526280" y="5532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26280" y="5742432"/>
            <a:ext cx="164592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Student</a:t>
            </a:r>
            <a:r>
              <a:rPr lang="zh-CN" altLang="en-US" sz="900" b="1" i="0">
                <a:solidFill>
                  <a:srgbClr val="FFFFFF"/>
                </a:solidFill>
                <a:latin typeface="Calibri"/>
              </a:rPr>
              <a:t>   </a:t>
            </a:r>
            <a:r>
              <a:rPr sz="900" b="1" i="0">
                <a:solidFill>
                  <a:srgbClr val="FFFFFF"/>
                </a:solidFill>
                <a:latin typeface="Calibri"/>
              </a:rPr>
              <a:t>RAs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5914290"/>
            <a:ext cx="1645920" cy="172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Master's students</a:t>
            </a:r>
            <a:r>
              <a:rPr lang="zh-CN" altLang="en-US" sz="1000" b="1" i="1">
                <a:solidFill>
                  <a:srgbClr val="CBD5E0"/>
                </a:solidFill>
                <a:latin typeface="Calibri"/>
              </a:rPr>
              <a:t>  </a:t>
            </a:r>
            <a:r>
              <a:rPr sz="1000" b="1" i="1">
                <a:solidFill>
                  <a:srgbClr val="CBD5E0"/>
                </a:solidFill>
                <a:latin typeface="Calibri"/>
              </a:rPr>
              <a:t>from Year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400800" y="5532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0" y="5742432"/>
            <a:ext cx="164592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Domestic</a:t>
            </a:r>
            <a:r>
              <a:rPr lang="zh-CN" altLang="en-US" sz="900" b="1" i="0">
                <a:solidFill>
                  <a:srgbClr val="FFFFFF"/>
                </a:solidFill>
                <a:latin typeface="Calibri"/>
              </a:rPr>
              <a:t>   </a:t>
            </a:r>
            <a:r>
              <a:rPr sz="900" b="1" i="0">
                <a:solidFill>
                  <a:srgbClr val="FFFFFF"/>
                </a:solidFill>
                <a:latin typeface="Calibri"/>
              </a:rPr>
              <a:t>fieldwork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799" y="5914290"/>
            <a:ext cx="1920231" cy="155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CBD5E0"/>
                </a:solidFill>
                <a:latin typeface="Calibri"/>
              </a:rPr>
              <a:t>Yamaguchi · Ube ·</a:t>
            </a:r>
            <a:r>
              <a:rPr lang="zh-CN" altLang="en-US" sz="900" b="1" i="1">
                <a:solidFill>
                  <a:srgbClr val="CBD5E0"/>
                </a:solidFill>
                <a:latin typeface="Calibri"/>
              </a:rPr>
              <a:t>  </a:t>
            </a:r>
            <a:r>
              <a:rPr sz="900" b="1" i="1">
                <a:solidFill>
                  <a:srgbClr val="CBD5E0"/>
                </a:solidFill>
                <a:latin typeface="Calibri"/>
              </a:rPr>
              <a:t>Matsue</a:t>
            </a:r>
            <a:r>
              <a:rPr lang="zh-CN" altLang="en-US" sz="900" b="1" i="1">
                <a:solidFill>
                  <a:srgbClr val="CBD5E0"/>
                </a:solidFill>
                <a:latin typeface="Calibri"/>
              </a:rPr>
              <a:t> </a:t>
            </a:r>
            <a:r>
              <a:rPr sz="900" b="1" i="1">
                <a:solidFill>
                  <a:srgbClr val="CBD5E0"/>
                </a:solidFill>
                <a:latin typeface="Calibri"/>
              </a:rPr>
              <a:t>surveys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18388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75320" y="5532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¥ 800K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75320" y="5742432"/>
            <a:ext cx="164592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UCL stay</a:t>
            </a:r>
            <a:r>
              <a:rPr lang="zh-CN" altLang="en-US" sz="900" b="1" i="0">
                <a:solidFill>
                  <a:srgbClr val="142E55"/>
                </a:solidFill>
                <a:latin typeface="Calibri"/>
              </a:rPr>
              <a:t>  </a:t>
            </a:r>
            <a:r>
              <a:rPr sz="900" b="1" i="0">
                <a:solidFill>
                  <a:srgbClr val="142E55"/>
                </a:solidFill>
                <a:latin typeface="Calibri"/>
              </a:rPr>
              <a:t>Year 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5319" y="5914290"/>
            <a:ext cx="1834347" cy="172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2 months  ·  joint</a:t>
            </a:r>
            <a:r>
              <a:rPr lang="zh-CN" altLang="en-US" sz="1000" b="1" i="1">
                <a:solidFill>
                  <a:srgbClr val="4A5568"/>
                </a:solidFill>
                <a:latin typeface="Calibri"/>
              </a:rPr>
              <a:t>  </a:t>
            </a:r>
            <a:r>
              <a:rPr sz="1000" b="1" i="1">
                <a:solidFill>
                  <a:srgbClr val="4A5568"/>
                </a:solidFill>
                <a:latin typeface="Calibri"/>
              </a:rPr>
              <a:t>method paper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05840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0149840" y="55321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¥ 400K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5742432"/>
            <a:ext cx="164592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Zhejiang U.</a:t>
            </a:r>
            <a:r>
              <a:rPr lang="zh-CN" altLang="en-US" sz="900" b="1" i="0">
                <a:solidFill>
                  <a:srgbClr val="142E55"/>
                </a:solidFill>
                <a:latin typeface="Calibri"/>
              </a:rPr>
              <a:t>  </a:t>
            </a:r>
            <a:r>
              <a:rPr sz="900" b="1" i="0">
                <a:solidFill>
                  <a:srgbClr val="142E55"/>
                </a:solidFill>
                <a:latin typeface="Calibri"/>
              </a:rPr>
              <a:t>Year 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49840" y="5914290"/>
            <a:ext cx="1645920" cy="172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Comparative</a:t>
            </a:r>
            <a:r>
              <a:rPr lang="zh-CN" altLang="en-US" sz="1000" b="1" i="1">
                <a:solidFill>
                  <a:srgbClr val="4A5568"/>
                </a:solidFill>
                <a:latin typeface="Calibri"/>
              </a:rPr>
              <a:t>  </a:t>
            </a:r>
            <a:r>
              <a:rPr sz="1000" b="1" i="1">
                <a:solidFill>
                  <a:srgbClr val="4A5568"/>
                </a:solidFill>
                <a:latin typeface="Calibri"/>
              </a:rPr>
              <a:t>framework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291072"/>
            <a:ext cx="109728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RISK MANAGED  ·  ANCHOR YAMAGUCHI FIRST · STEPWISE EXPANSION · ONLINE COLLAB FALLBACK · KUMAMOTO BASELINE AS REFERENCE</a:t>
            </a:r>
          </a:p>
        </p:txBody>
      </p:sp>
    </p:spTree>
    <p:extLst>
      <p:ext uri="{BB962C8B-B14F-4D97-AF65-F5344CB8AC3E}">
        <p14:creationId xmlns:p14="http://schemas.microsoft.com/office/powerpoint/2010/main" val="2781463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10  /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ASPIRATIONS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Year-by-year KPI · 3I framework × 5 years.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10/15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" y="1527047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1362455"/>
            <a:ext cx="10744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DURING HIRAKU-GLOBAL  ·  YEAR-BY-YEAR KPI MATRIX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1728215"/>
            <a:ext cx="1463040" cy="27432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1765412"/>
            <a:ext cx="1463040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3I  / 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1728215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148840" y="1765412"/>
            <a:ext cx="1874519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59" y="1728215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59" y="1765412"/>
            <a:ext cx="1874519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YEAR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78" y="1728215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97878" y="1765412"/>
            <a:ext cx="1874519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YEAR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397" y="1728215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397" y="1765412"/>
            <a:ext cx="1874519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YEAR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46916" y="1728215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46916" y="1765412"/>
            <a:ext cx="1874519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YEAR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002535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2205972"/>
            <a:ext cx="146304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INNOVATIVE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48840" y="200253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42" name="TextBox 41"/>
          <p:cNvSpPr txBox="1"/>
          <p:nvPr/>
        </p:nvSpPr>
        <p:spPr>
          <a:xfrm>
            <a:off x="2221992" y="210027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LCZ × LST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diagnosis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59" y="200253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44" name="TextBox 43"/>
          <p:cNvSpPr txBox="1"/>
          <p:nvPr/>
        </p:nvSpPr>
        <p:spPr>
          <a:xfrm>
            <a:off x="4096511" y="210027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UCL joint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method paper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78" y="200253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46" name="TextBox 45"/>
          <p:cNvSpPr txBox="1"/>
          <p:nvPr/>
        </p:nvSpPr>
        <p:spPr>
          <a:xfrm>
            <a:off x="5971030" y="210027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Mechanism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paper (1st)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397" y="200253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48" name="TextBox 47"/>
          <p:cNvSpPr txBox="1"/>
          <p:nvPr/>
        </p:nvSpPr>
        <p:spPr>
          <a:xfrm>
            <a:off x="7845549" y="210027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Comparative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paper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6" y="200253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50" name="TextBox 49"/>
          <p:cNvSpPr txBox="1"/>
          <p:nvPr/>
        </p:nvSpPr>
        <p:spPr>
          <a:xfrm>
            <a:off x="9720068" y="210027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Synthesis +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workflow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2642615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2846052"/>
            <a:ext cx="146304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INFLUENTIAL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48840" y="264261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54" name="TextBox 53"/>
          <p:cNvSpPr txBox="1"/>
          <p:nvPr/>
        </p:nvSpPr>
        <p:spPr>
          <a:xfrm>
            <a:off x="2221992" y="274035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Kakenhi C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59" y="264261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56" name="TextBox 55"/>
          <p:cNvSpPr txBox="1"/>
          <p:nvPr/>
        </p:nvSpPr>
        <p:spPr>
          <a:xfrm>
            <a:off x="4096511" y="274035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First UCL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co-author paper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97878" y="264261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58" name="TextBox 57"/>
          <p:cNvSpPr txBox="1"/>
          <p:nvPr/>
        </p:nvSpPr>
        <p:spPr>
          <a:xfrm>
            <a:off x="5971030" y="274035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Q1 mechanism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published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397" y="264261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60" name="TextBox 59"/>
          <p:cNvSpPr txBox="1"/>
          <p:nvPr/>
        </p:nvSpPr>
        <p:spPr>
          <a:xfrm>
            <a:off x="7845549" y="274035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Q1 + int'l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workshop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6" y="264261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62" name="TextBox 61"/>
          <p:cNvSpPr txBox="1"/>
          <p:nvPr/>
        </p:nvSpPr>
        <p:spPr>
          <a:xfrm>
            <a:off x="9720068" y="274035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Kakenhi B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3282695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85800" y="3486132"/>
            <a:ext cx="1463040" cy="2332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IMPACTFUL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48840" y="328269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66" name="TextBox 65"/>
          <p:cNvSpPr txBox="1"/>
          <p:nvPr/>
        </p:nvSpPr>
        <p:spPr>
          <a:xfrm>
            <a:off x="2221992" y="338043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Yamaguchi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baseline 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23359" y="328269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68" name="TextBox 67"/>
          <p:cNvSpPr txBox="1"/>
          <p:nvPr/>
        </p:nvSpPr>
        <p:spPr>
          <a:xfrm>
            <a:off x="4096511" y="338043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Ube · Matsue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case design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97878" y="328269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70" name="TextBox 69"/>
          <p:cNvSpPr txBox="1"/>
          <p:nvPr/>
        </p:nvSpPr>
        <p:spPr>
          <a:xfrm>
            <a:off x="5971030" y="338043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Heat-risk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maps (3 cities)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397" y="3282695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72" name="TextBox 71"/>
          <p:cNvSpPr txBox="1"/>
          <p:nvPr/>
        </p:nvSpPr>
        <p:spPr>
          <a:xfrm>
            <a:off x="7845549" y="338043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Intervention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maps delivered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46916" y="3282695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b="1"/>
          </a:p>
        </p:txBody>
      </p:sp>
      <p:sp>
        <p:nvSpPr>
          <p:cNvPr id="74" name="TextBox 73"/>
          <p:cNvSpPr txBox="1"/>
          <p:nvPr/>
        </p:nvSpPr>
        <p:spPr>
          <a:xfrm>
            <a:off x="9720068" y="3380431"/>
            <a:ext cx="1728215" cy="4446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Policy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guidelines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4320540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14400" y="4105623"/>
            <a:ext cx="10744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POST-TENURE  ·  LOCAL-TO-GLOBAL  ·  LONG-TERM ANCHOR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448556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5800" y="4448556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85800" y="4448556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720" y="4494276"/>
            <a:ext cx="1600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LAB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8720" y="4722876"/>
            <a:ext cx="160020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Stable group at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26080" y="4448556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2926080" y="4448556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926080" y="4448556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29000" y="4494276"/>
            <a:ext cx="1600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REGION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4722876"/>
            <a:ext cx="160020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Chugoku-Shikoku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heat toolkit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66360" y="4448556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166360" y="4448556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166360" y="4448556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0" y="4494276"/>
            <a:ext cx="1600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W. JAPAN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0" y="4722876"/>
            <a:ext cx="160020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Urban-thermal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research 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06640" y="4448556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406640" y="4448556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406640" y="4448556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09560" y="4494276"/>
            <a:ext cx="1600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ASIA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09560" y="4722876"/>
            <a:ext cx="160020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EU · CN · SE Asia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platform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46920" y="4448556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9646920" y="4448556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9646920" y="4448556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49840" y="4494276"/>
            <a:ext cx="1600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GLOBAL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49840" y="4722876"/>
            <a:ext cx="1600200" cy="383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Local-to-Global</a:t>
            </a:r>
          </a:p>
          <a:p>
            <a:pPr algn="l">
              <a:lnSpc>
                <a:spcPct val="130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model export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85800" y="5479526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914400" y="5314934"/>
            <a:ext cx="10744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C6F33"/>
                </a:solidFill>
                <a:latin typeface="Calibri"/>
              </a:rPr>
              <a:t>WHAT I GIVE BACK  ·  ACTIVE MEMBER, NOT ONLY RECIPIENT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85800" y="5634974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685800" y="5634974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50392" y="5698982"/>
            <a:ext cx="244144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INT'L WORKSHOP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" y="5961766"/>
            <a:ext cx="2441448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Year 4 at Yamaguchi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74720" y="5634974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3474720" y="5634974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3639312" y="5698982"/>
            <a:ext cx="244144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CHINA–JAPAN BRIDGE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39312" y="5961766"/>
            <a:ext cx="2441448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Annual seminar · translation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63640" y="5634974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263640" y="5634974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6428232" y="5698982"/>
            <a:ext cx="244144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TEACHING &amp; MENTORING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28232" y="5961766"/>
            <a:ext cx="244144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Mentored 3 PhDs</a:t>
            </a:r>
          </a:p>
          <a:p>
            <a:r>
              <a:rPr sz="700" b="0" i="1">
                <a:solidFill>
                  <a:srgbClr val="4A5568"/>
                </a:solidFill>
                <a:latin typeface="Calibri"/>
              </a:rPr>
              <a:t>Tsinghua D3 · Okayama D2 · U-Tokyo (admitted)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052560" y="5634974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9052560" y="5634974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9217152" y="5698982"/>
            <a:ext cx="2441448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E55"/>
                </a:solidFill>
                <a:latin typeface="Calibri"/>
              </a:rPr>
              <a:t>DEPT. &amp; REGION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217152" y="5961766"/>
            <a:ext cx="2441448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4A5568"/>
                </a:solidFill>
                <a:latin typeface="Calibri"/>
              </a:rPr>
              <a:t>Faculty collaboration · cities</a:t>
            </a:r>
          </a:p>
        </p:txBody>
      </p:sp>
    </p:spTree>
    <p:extLst>
      <p:ext uri="{BB962C8B-B14F-4D97-AF65-F5344CB8AC3E}">
        <p14:creationId xmlns:p14="http://schemas.microsoft.com/office/powerpoint/2010/main" val="33154740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1925"/>
          </a:xfrm>
          <a:prstGeom prst="rect">
            <a:avLst/>
          </a:prstGeom>
          <a:solidFill>
            <a:srgbClr val="10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00040" y="19050"/>
            <a:ext cx="4095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YAMAGUCHI UNIVERSITY · HIRAKU-GLOBAL · 7TH COHORT INTERVIEW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98123" y="19050"/>
            <a:ext cx="7935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0AD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SHEET 11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9070" y="381000"/>
            <a:ext cx="171446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28594" y="371475"/>
            <a:ext cx="0" cy="17145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19090" y="390525"/>
            <a:ext cx="15104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INTEGRATION BRIDGE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9565" y="733425"/>
            <a:ext cx="1014387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former appendix figures now serve as a bridge — not a detour.</a:t>
            </a:r>
            <a:endParaRPr lang="en-US" sz="2475" dirty="0"/>
          </a:p>
        </p:txBody>
      </p:sp>
      <p:sp>
        <p:nvSpPr>
          <p:cNvPr id="11" name="Shape 9"/>
          <p:cNvSpPr/>
          <p:nvPr/>
        </p:nvSpPr>
        <p:spPr>
          <a:xfrm>
            <a:off x="685783" y="1924050"/>
            <a:ext cx="2714557" cy="38100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85783" y="2209800"/>
            <a:ext cx="2304992" cy="2705100"/>
          </a:xfrm>
          <a:prstGeom prst="rect">
            <a:avLst/>
          </a:prstGeom>
          <a:solidFill>
            <a:srgbClr val="F5F7FA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695308" y="2219325"/>
            <a:ext cx="2285943" cy="428625"/>
          </a:xfrm>
          <a:prstGeom prst="rect">
            <a:avLst/>
          </a:prstGeom>
          <a:solidFill>
            <a:srgbClr val="15345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923902" y="2343150"/>
            <a:ext cx="1800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1304892" y="2343150"/>
            <a:ext cx="9768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TRAJECTORY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23902" y="2924175"/>
            <a:ext cx="180970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→ Person → City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923902" y="3535733"/>
            <a:ext cx="10056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3902" y="3724275"/>
            <a:ext cx="228594" cy="28575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23902" y="3895725"/>
            <a:ext cx="1752556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i="1" dirty="0">
                <a:solidFill>
                  <a:srgbClr val="2E3D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ten-year widening of research scale, from indoor thermal science to city-scale heat exposure.</a:t>
            </a:r>
            <a:endParaRPr lang="en-US" sz="1125" b="1" i="1" dirty="0"/>
          </a:p>
        </p:txBody>
      </p:sp>
      <p:sp>
        <p:nvSpPr>
          <p:cNvPr id="20" name="Text 18"/>
          <p:cNvSpPr/>
          <p:nvPr/>
        </p:nvSpPr>
        <p:spPr>
          <a:xfrm>
            <a:off x="3028874" y="3371850"/>
            <a:ext cx="28574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3295568" y="2209800"/>
            <a:ext cx="2304992" cy="2705100"/>
          </a:xfrm>
          <a:prstGeom prst="rect">
            <a:avLst/>
          </a:prstGeom>
          <a:solidFill>
            <a:srgbClr val="F5F7FA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3305092" y="2219325"/>
            <a:ext cx="2285943" cy="428625"/>
          </a:xfrm>
          <a:prstGeom prst="rect">
            <a:avLst/>
          </a:prstGeom>
          <a:solidFill>
            <a:srgbClr val="15345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3533687" y="2343150"/>
            <a:ext cx="1800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3914677" y="2343150"/>
            <a:ext cx="9774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FRAMEWORK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3533687" y="2924175"/>
            <a:ext cx="180970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Cross-scale diagnosis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3533687" y="3535733"/>
            <a:ext cx="1026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POINT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33687" y="3724275"/>
            <a:ext cx="228594" cy="28575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3533687" y="3895725"/>
            <a:ext cx="1752556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i="1" dirty="0">
                <a:solidFill>
                  <a:srgbClr val="2E3D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Satellite, CFD and field measurement are connected into one mechanism-building workflow.</a:t>
            </a:r>
            <a:endParaRPr lang="en-US" sz="1125" b="1" i="1" dirty="0"/>
          </a:p>
        </p:txBody>
      </p:sp>
      <p:sp>
        <p:nvSpPr>
          <p:cNvPr id="29" name="Text 27"/>
          <p:cNvSpPr/>
          <p:nvPr/>
        </p:nvSpPr>
        <p:spPr>
          <a:xfrm>
            <a:off x="5638659" y="3371850"/>
            <a:ext cx="28574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905352" y="2209800"/>
            <a:ext cx="2304992" cy="2705100"/>
          </a:xfrm>
          <a:prstGeom prst="rect">
            <a:avLst/>
          </a:prstGeom>
          <a:solidFill>
            <a:srgbClr val="F5F7FA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5914877" y="2219325"/>
            <a:ext cx="2285943" cy="428625"/>
          </a:xfrm>
          <a:prstGeom prst="rect">
            <a:avLst/>
          </a:prstGeom>
          <a:solidFill>
            <a:srgbClr val="15345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6143471" y="2343150"/>
            <a:ext cx="1800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6524462" y="2343150"/>
            <a:ext cx="7164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DELIVERY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6143471" y="2924175"/>
            <a:ext cx="180970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Case + network + plan</a:t>
            </a:r>
            <a:endParaRPr lang="en-US" sz="1875" dirty="0"/>
          </a:p>
        </p:txBody>
      </p:sp>
      <p:sp>
        <p:nvSpPr>
          <p:cNvPr id="35" name="Text 33"/>
          <p:cNvSpPr/>
          <p:nvPr/>
        </p:nvSpPr>
        <p:spPr>
          <a:xfrm>
            <a:off x="6143471" y="3535733"/>
            <a:ext cx="9672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NOW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143471" y="3724275"/>
            <a:ext cx="228594" cy="28575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143471" y="3895725"/>
            <a:ext cx="1752556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i="1" dirty="0">
                <a:solidFill>
                  <a:srgbClr val="2E3D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Kumamoto baseline, UCL/Zhejiang partners and first Japan grant make HIRAKU execution feasible.</a:t>
            </a:r>
            <a:endParaRPr lang="en-US" sz="1125" b="1" i="1" dirty="0"/>
          </a:p>
        </p:txBody>
      </p:sp>
      <p:sp>
        <p:nvSpPr>
          <p:cNvPr id="41" name="Shape 39"/>
          <p:cNvSpPr/>
          <p:nvPr/>
        </p:nvSpPr>
        <p:spPr>
          <a:xfrm>
            <a:off x="685783" y="5886450"/>
            <a:ext cx="10972526" cy="476250"/>
          </a:xfrm>
          <a:prstGeom prst="rect">
            <a:avLst/>
          </a:prstGeom>
          <a:solidFill>
            <a:srgbClr val="132B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409565" y="6572250"/>
            <a:ext cx="334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483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INTERVIEW PRESENTATION · URBAN THERMAL ENVIRONMENT RESEARCH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648484" y="6496050"/>
            <a:ext cx="3143171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8772306" y="6581775"/>
            <a:ext cx="2471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11/15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9743831" y="6581775"/>
            <a:ext cx="6278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LIU HAIQIANG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896328" y="6581775"/>
            <a:ext cx="3442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2026.06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2953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1925"/>
          </a:xfrm>
          <a:prstGeom prst="rect">
            <a:avLst/>
          </a:prstGeom>
          <a:solidFill>
            <a:srgbClr val="10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00040" y="19050"/>
            <a:ext cx="4095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YAMAGUCHI UNIVERSITY · HIRAKU-GLOBAL · 7TH COHORT INTERVIEW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98123" y="19050"/>
            <a:ext cx="7935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0AD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SHEET 12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9070" y="381000"/>
            <a:ext cx="171446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28594" y="371475"/>
            <a:ext cx="0" cy="17145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19090" y="390525"/>
            <a:ext cx="29470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 FRAMEWORK · WHAT MATTERS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9565" y="733425"/>
            <a:ext cx="106677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science is a cross-scale diagnosis of pedestrian heat exposure.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95308" y="1343025"/>
            <a:ext cx="95247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is: a method chain that links city-wide screening, block-scale wind mechanism, and human-scale validation.</a:t>
            </a:r>
            <a:endParaRPr lang="en-US" sz="1200" b="1" dirty="0"/>
          </a:p>
        </p:txBody>
      </p:sp>
      <p:sp>
        <p:nvSpPr>
          <p:cNvPr id="11" name="Shape 9"/>
          <p:cNvSpPr/>
          <p:nvPr/>
        </p:nvSpPr>
        <p:spPr>
          <a:xfrm>
            <a:off x="685783" y="1652587"/>
            <a:ext cx="2285943" cy="38100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85783" y="1995487"/>
            <a:ext cx="3530413" cy="1000125"/>
          </a:xfrm>
          <a:prstGeom prst="rect">
            <a:avLst/>
          </a:prstGeom>
          <a:solidFill>
            <a:srgbClr val="F5F7FA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857229" y="2138362"/>
            <a:ext cx="29675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rgbClr val="1D64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 · MULTI-SCALE REGULATION</a:t>
            </a:r>
          </a:p>
        </p:txBody>
      </p:sp>
      <p:sp>
        <p:nvSpPr>
          <p:cNvPr id="14" name="Text 12"/>
          <p:cNvSpPr/>
          <p:nvPr/>
        </p:nvSpPr>
        <p:spPr>
          <a:xfrm>
            <a:off x="857229" y="2405062"/>
            <a:ext cx="314317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E3D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do green-blue infrastructure and urban morphology jointly regulate heat at city, block, and street scales?</a:t>
            </a:r>
            <a:endParaRPr lang="en-US" sz="1200" b="1" i="1" dirty="0"/>
          </a:p>
        </p:txBody>
      </p:sp>
      <p:sp>
        <p:nvSpPr>
          <p:cNvPr id="15" name="Shape 13"/>
          <p:cNvSpPr/>
          <p:nvPr/>
        </p:nvSpPr>
        <p:spPr>
          <a:xfrm>
            <a:off x="4330493" y="1995487"/>
            <a:ext cx="3530561" cy="1000125"/>
          </a:xfrm>
          <a:prstGeom prst="rect">
            <a:avLst/>
          </a:prstGeom>
          <a:solidFill>
            <a:srgbClr val="F5F7FA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501937" y="2138362"/>
            <a:ext cx="2567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D64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Q2 · GI–WIND INTERACTION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01938" y="2405062"/>
            <a:ext cx="31431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E3D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does wind strengthen or weaken the cooling performance of trees, water, and open space?</a:t>
            </a:r>
            <a:endParaRPr lang="en-US" sz="1200" b="1" i="1" dirty="0"/>
          </a:p>
        </p:txBody>
      </p:sp>
      <p:sp>
        <p:nvSpPr>
          <p:cNvPr id="18" name="Shape 16"/>
          <p:cNvSpPr/>
          <p:nvPr/>
        </p:nvSpPr>
        <p:spPr>
          <a:xfrm>
            <a:off x="7975351" y="1995487"/>
            <a:ext cx="3530561" cy="1000125"/>
          </a:xfrm>
          <a:prstGeom prst="rect">
            <a:avLst/>
          </a:prstGeom>
          <a:solidFill>
            <a:srgbClr val="F5F7FA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8146796" y="2138362"/>
            <a:ext cx="25093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D64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Q3 · HUMAN TRANSLATION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46797" y="2405062"/>
            <a:ext cx="314317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E3D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do physical mechanisms translate into pedestrian exposure, comfort, and policy-relevant risk?</a:t>
            </a:r>
            <a:endParaRPr lang="en-US" sz="1200" b="1" i="1" dirty="0"/>
          </a:p>
        </p:txBody>
      </p:sp>
      <p:sp>
        <p:nvSpPr>
          <p:cNvPr id="21" name="Shape 19"/>
          <p:cNvSpPr/>
          <p:nvPr/>
        </p:nvSpPr>
        <p:spPr>
          <a:xfrm>
            <a:off x="685783" y="3309937"/>
            <a:ext cx="8191295" cy="1762125"/>
          </a:xfrm>
          <a:prstGeom prst="rect">
            <a:avLst/>
          </a:prstGeom>
          <a:solidFill>
            <a:srgbClr val="F7F9FB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66752" y="3481387"/>
            <a:ext cx="627681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TECHNICAL PATHWAY · CITY → BLOCK → PEDESTRIAN → POLICY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42951" y="3890962"/>
            <a:ext cx="1676358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15345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1085823" y="4024312"/>
            <a:ext cx="11905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Satellite 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85823" y="4310062"/>
            <a:ext cx="153348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LST, LCZ, land cover and hotspot screening.</a:t>
            </a:r>
            <a:endParaRPr lang="en-US" sz="1000" b="1" i="1" dirty="0"/>
          </a:p>
        </p:txBody>
      </p:sp>
      <p:sp>
        <p:nvSpPr>
          <p:cNvPr id="26" name="Text 24"/>
          <p:cNvSpPr/>
          <p:nvPr/>
        </p:nvSpPr>
        <p:spPr>
          <a:xfrm>
            <a:off x="2695508" y="4233862"/>
            <a:ext cx="2571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25" dirty="0"/>
          </a:p>
        </p:txBody>
      </p:sp>
      <p:sp>
        <p:nvSpPr>
          <p:cNvPr id="27" name="Shape 25"/>
          <p:cNvSpPr/>
          <p:nvPr/>
        </p:nvSpPr>
        <p:spPr>
          <a:xfrm>
            <a:off x="2962201" y="3890962"/>
            <a:ext cx="1676358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15345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3105072" y="4024312"/>
            <a:ext cx="10988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Block CFD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05072" y="4310062"/>
            <a:ext cx="153348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Wind × morphology × GI mechanism testing.</a:t>
            </a:r>
            <a:endParaRPr lang="en-US" sz="1000" b="1" i="1" dirty="0"/>
          </a:p>
        </p:txBody>
      </p:sp>
      <p:sp>
        <p:nvSpPr>
          <p:cNvPr id="30" name="Text 28"/>
          <p:cNvSpPr/>
          <p:nvPr/>
        </p:nvSpPr>
        <p:spPr>
          <a:xfrm>
            <a:off x="4714757" y="4233862"/>
            <a:ext cx="2571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25" dirty="0"/>
          </a:p>
        </p:txBody>
      </p:sp>
      <p:sp>
        <p:nvSpPr>
          <p:cNvPr id="31" name="Shape 29"/>
          <p:cNvSpPr/>
          <p:nvPr/>
        </p:nvSpPr>
        <p:spPr>
          <a:xfrm>
            <a:off x="4981450" y="3890962"/>
            <a:ext cx="1676358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15345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5124322" y="4024312"/>
            <a:ext cx="15116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Field exposure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24322" y="4310062"/>
            <a:ext cx="153348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WBGT / MRT validation in real walking spaces.</a:t>
            </a:r>
            <a:endParaRPr lang="en-US" sz="1000" b="1" i="1" dirty="0"/>
          </a:p>
        </p:txBody>
      </p:sp>
      <p:sp>
        <p:nvSpPr>
          <p:cNvPr id="34" name="Text 32"/>
          <p:cNvSpPr/>
          <p:nvPr/>
        </p:nvSpPr>
        <p:spPr>
          <a:xfrm>
            <a:off x="6734007" y="4233862"/>
            <a:ext cx="2571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25" dirty="0"/>
          </a:p>
        </p:txBody>
      </p:sp>
      <p:sp>
        <p:nvSpPr>
          <p:cNvPr id="35" name="Shape 33"/>
          <p:cNvSpPr/>
          <p:nvPr/>
        </p:nvSpPr>
        <p:spPr>
          <a:xfrm>
            <a:off x="7000700" y="3890962"/>
            <a:ext cx="1676358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15345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7143571" y="4024312"/>
            <a:ext cx="13269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Policy action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3570" y="4310062"/>
            <a:ext cx="1543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Priority corridors, scenarios and transferable indicators.</a:t>
            </a:r>
            <a:endParaRPr lang="en-US" sz="1000" b="1" i="1" dirty="0"/>
          </a:p>
        </p:txBody>
      </p:sp>
      <p:sp>
        <p:nvSpPr>
          <p:cNvPr id="38" name="Shape 36"/>
          <p:cNvSpPr/>
          <p:nvPr/>
        </p:nvSpPr>
        <p:spPr>
          <a:xfrm>
            <a:off x="8953277" y="3309937"/>
            <a:ext cx="2552636" cy="1762125"/>
          </a:xfrm>
          <a:prstGeom prst="rect">
            <a:avLst/>
          </a:prstGeom>
          <a:solidFill>
            <a:srgbClr val="15345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9143771" y="3412754"/>
            <a:ext cx="2362141" cy="259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POINT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143771" y="3767137"/>
            <a:ext cx="2362141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HIRAKU is not a new topic; it is the international validation layer for an already working method.</a:t>
            </a:r>
            <a:endParaRPr lang="en-US" sz="1200" b="1" i="1" dirty="0"/>
          </a:p>
        </p:txBody>
      </p:sp>
      <p:sp>
        <p:nvSpPr>
          <p:cNvPr id="42" name="Shape 40"/>
          <p:cNvSpPr/>
          <p:nvPr/>
        </p:nvSpPr>
        <p:spPr>
          <a:xfrm>
            <a:off x="685783" y="5467350"/>
            <a:ext cx="3581310" cy="72390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714357" y="5467350"/>
            <a:ext cx="0" cy="72390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895328" y="5581650"/>
            <a:ext cx="32193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95328" y="5809933"/>
            <a:ext cx="3219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Mechanism-based urban thermal model</a:t>
            </a:r>
            <a:endParaRPr lang="en-US" sz="1200" i="1" dirty="0"/>
          </a:p>
        </p:txBody>
      </p:sp>
      <p:sp>
        <p:nvSpPr>
          <p:cNvPr id="46" name="Shape 44"/>
          <p:cNvSpPr/>
          <p:nvPr/>
        </p:nvSpPr>
        <p:spPr>
          <a:xfrm>
            <a:off x="4381390" y="5467350"/>
            <a:ext cx="3581310" cy="72390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4409965" y="5467350"/>
            <a:ext cx="0" cy="72390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4590935" y="5581650"/>
            <a:ext cx="32193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METHOD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935" y="5809933"/>
            <a:ext cx="3219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RS + CFD + field evaluation workflow</a:t>
            </a:r>
            <a:endParaRPr lang="en-US" sz="1200" i="1" dirty="0"/>
          </a:p>
        </p:txBody>
      </p:sp>
      <p:sp>
        <p:nvSpPr>
          <p:cNvPr id="50" name="Shape 48"/>
          <p:cNvSpPr/>
          <p:nvPr/>
        </p:nvSpPr>
        <p:spPr>
          <a:xfrm>
            <a:off x="8076998" y="5467350"/>
            <a:ext cx="3581310" cy="72390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8105572" y="5467350"/>
            <a:ext cx="0" cy="72390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8286543" y="5581650"/>
            <a:ext cx="32193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APPLIED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286543" y="5809933"/>
            <a:ext cx="321937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EBPM-ready evidence for green-infrastructure planning</a:t>
            </a:r>
            <a:endParaRPr lang="en-US" sz="1200" i="1" dirty="0"/>
          </a:p>
        </p:txBody>
      </p:sp>
      <p:sp>
        <p:nvSpPr>
          <p:cNvPr id="54" name="Text 52"/>
          <p:cNvSpPr/>
          <p:nvPr/>
        </p:nvSpPr>
        <p:spPr>
          <a:xfrm>
            <a:off x="409565" y="6572250"/>
            <a:ext cx="334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483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INTERVIEW PRESENTATION · URBAN THERMAL ENVIRONMENT RESEARCH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648484" y="6496050"/>
            <a:ext cx="3143171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/>
          <p:nvPr/>
        </p:nvSpPr>
        <p:spPr>
          <a:xfrm>
            <a:off x="8772306" y="6581775"/>
            <a:ext cx="2471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12/15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9743831" y="6581775"/>
            <a:ext cx="6278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LIU HAIQIANG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896328" y="6581775"/>
            <a:ext cx="3442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2026.06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960538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1925"/>
          </a:xfrm>
          <a:prstGeom prst="rect">
            <a:avLst/>
          </a:prstGeom>
          <a:solidFill>
            <a:srgbClr val="10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00040" y="19050"/>
            <a:ext cx="4095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YAMAGUCHI UNIVERSITY · HIRAKU-GLOBAL · 7TH COHORT INTERVIEW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98123" y="19050"/>
            <a:ext cx="7935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0AD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SHEET 13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9070" y="381000"/>
            <a:ext cx="171446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28594" y="371475"/>
            <a:ext cx="0" cy="17145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19090" y="390525"/>
            <a:ext cx="25681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KUMAMOTO CITY CASE · HOW I DO IT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9565" y="733425"/>
            <a:ext cx="106677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Kumamoto turns the method into an evidence-to-policy case.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95308" y="1343025"/>
            <a:ext cx="9334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message: I can translate urban-thermal science into municipal green-infrastructure decisions.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783" y="1924050"/>
            <a:ext cx="2333567" cy="38100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85783" y="2152650"/>
            <a:ext cx="3333667" cy="3143250"/>
          </a:xfrm>
          <a:prstGeom prst="rect">
            <a:avLst/>
          </a:prstGeom>
          <a:solidFill>
            <a:srgbClr val="15345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895327" y="2343150"/>
            <a:ext cx="130094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THIS 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95328" y="2714625"/>
            <a:ext cx="315269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Kumamoto GI × heat study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95328" y="3400425"/>
            <a:ext cx="276218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5" i="1" dirty="0">
                <a:solidFill>
                  <a:srgbClr val="EFF4F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municipal case on how green infrastructure and wind corridors can reduce urban heat exposure.</a:t>
            </a:r>
            <a:endParaRPr lang="en-US" sz="1125" i="1" dirty="0"/>
          </a:p>
        </p:txBody>
      </p:sp>
      <p:sp>
        <p:nvSpPr>
          <p:cNvPr id="16" name="Text 14"/>
          <p:cNvSpPr/>
          <p:nvPr/>
        </p:nvSpPr>
        <p:spPr>
          <a:xfrm>
            <a:off x="895328" y="4171950"/>
            <a:ext cx="278123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8" i="1" dirty="0">
                <a:solidFill>
                  <a:srgbClr val="EFF4F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asks where cooling exists, where heat stagnates, and which spatial intervention should be prioritized.</a:t>
            </a:r>
            <a:endParaRPr lang="en-US" sz="1088" i="1" dirty="0"/>
          </a:p>
        </p:txBody>
      </p:sp>
      <p:sp>
        <p:nvSpPr>
          <p:cNvPr id="17" name="Text 15"/>
          <p:cNvSpPr/>
          <p:nvPr/>
        </p:nvSpPr>
        <p:spPr>
          <a:xfrm>
            <a:off x="895328" y="4819650"/>
            <a:ext cx="278123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CBD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Kumamoto City Policy Institute, “Study on heat-environment improvement effects of green infrastructure in Kumamoto City,” 2024.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43291" y="2152650"/>
            <a:ext cx="7162621" cy="85725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4371866" y="2152650"/>
            <a:ext cx="0" cy="857250"/>
          </a:xfrm>
          <a:prstGeom prst="line">
            <a:avLst/>
          </a:prstGeom>
          <a:solidFill>
            <a:srgbClr val="FFFFFF">
              <a:alpha val="0"/>
            </a:srgbClr>
          </a:solidFill>
          <a:ln w="57150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590935" y="2295525"/>
            <a:ext cx="347759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POINT FOR INTERVIEWERS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90935" y="2533650"/>
            <a:ext cx="66673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practical question is not only “does green cool?” but “where should GI be placed so wind can carry cooling to people?”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43291" y="3286125"/>
            <a:ext cx="171922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4352816" y="3295650"/>
            <a:ext cx="1700170" cy="40005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4416193" y="3352800"/>
            <a:ext cx="3113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810005" y="3419475"/>
            <a:ext cx="8900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SCREEN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371866" y="3886200"/>
            <a:ext cx="13069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IS HOT?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95688" y="4171950"/>
            <a:ext cx="140966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F40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Landsat-8 surface temperature, land cover and LCZ reveal city-scale hot spots.</a:t>
            </a:r>
            <a:endParaRPr lang="en-US" sz="1200" b="1" i="1" dirty="0"/>
          </a:p>
        </p:txBody>
      </p:sp>
      <p:sp>
        <p:nvSpPr>
          <p:cNvPr id="28" name="Shape 26"/>
          <p:cNvSpPr/>
          <p:nvPr/>
        </p:nvSpPr>
        <p:spPr>
          <a:xfrm>
            <a:off x="6157759" y="3286125"/>
            <a:ext cx="171922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6167283" y="3295650"/>
            <a:ext cx="1700170" cy="40005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230660" y="3352800"/>
            <a:ext cx="3113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24472" y="3419475"/>
            <a:ext cx="11358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86333" y="3886200"/>
            <a:ext cx="12793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IS IT HOT?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10155" y="4171950"/>
            <a:ext cx="140966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F40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CFD / ENVI-met tests how wind, buildings, trees and water shape heat retention.</a:t>
            </a:r>
            <a:endParaRPr lang="en-US" sz="1200" b="1" i="1" dirty="0"/>
          </a:p>
        </p:txBody>
      </p:sp>
      <p:sp>
        <p:nvSpPr>
          <p:cNvPr id="34" name="Shape 32"/>
          <p:cNvSpPr/>
          <p:nvPr/>
        </p:nvSpPr>
        <p:spPr>
          <a:xfrm>
            <a:off x="7972226" y="3286125"/>
            <a:ext cx="171922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7981750" y="3295650"/>
            <a:ext cx="1700170" cy="40005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8045127" y="3352800"/>
            <a:ext cx="3113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38939" y="3419475"/>
            <a:ext cx="10187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000799" y="3886200"/>
            <a:ext cx="2034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DO PEOPLE FEEL?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24622" y="4171949"/>
            <a:ext cx="1557298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F40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WBGT / MRT field checks connect simulations to pedestrian exposure and comfort.</a:t>
            </a:r>
            <a:endParaRPr lang="en-US" sz="1200" b="1" i="1" dirty="0"/>
          </a:p>
        </p:txBody>
      </p:sp>
      <p:sp>
        <p:nvSpPr>
          <p:cNvPr id="40" name="Shape 38"/>
          <p:cNvSpPr/>
          <p:nvPr/>
        </p:nvSpPr>
        <p:spPr>
          <a:xfrm>
            <a:off x="9786693" y="3286125"/>
            <a:ext cx="171922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9796218" y="3295650"/>
            <a:ext cx="1700170" cy="400050"/>
          </a:xfrm>
          <a:prstGeom prst="rect">
            <a:avLst/>
          </a:prstGeom>
          <a:solidFill>
            <a:srgbClr val="F5F7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9859594" y="3352800"/>
            <a:ext cx="3113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2AD4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253406" y="3419475"/>
            <a:ext cx="12554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TRANSLATE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815267" y="3886200"/>
            <a:ext cx="2046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SHOULD CITY DO?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939089" y="4171950"/>
            <a:ext cx="1566823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2F40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Priority corridors and GI scenarios become policy evidence and monitoring indicators.</a:t>
            </a:r>
            <a:endParaRPr lang="en-US" sz="1200" b="1" i="1" dirty="0"/>
          </a:p>
        </p:txBody>
      </p:sp>
      <p:sp>
        <p:nvSpPr>
          <p:cNvPr id="46" name="Shape 44"/>
          <p:cNvSpPr/>
          <p:nvPr/>
        </p:nvSpPr>
        <p:spPr>
          <a:xfrm>
            <a:off x="685783" y="5562600"/>
            <a:ext cx="10972526" cy="495300"/>
          </a:xfrm>
          <a:prstGeom prst="rect">
            <a:avLst/>
          </a:prstGeom>
          <a:solidFill>
            <a:srgbClr val="132B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409565" y="6572250"/>
            <a:ext cx="334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483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INTERVIEW PRESENTATION · URBAN THERMAL ENVIRONMENT RESEARCH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648484" y="6496050"/>
            <a:ext cx="3143171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/>
          <p:nvPr/>
        </p:nvSpPr>
        <p:spPr>
          <a:xfrm>
            <a:off x="8772306" y="6581775"/>
            <a:ext cx="2471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13/15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9743831" y="6581775"/>
            <a:ext cx="6278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LIU HAIQIANG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0896328" y="6581775"/>
            <a:ext cx="3442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2026.06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8819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1925"/>
          </a:xfrm>
          <a:prstGeom prst="rect">
            <a:avLst/>
          </a:prstGeom>
          <a:solidFill>
            <a:srgbClr val="10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00040" y="19050"/>
            <a:ext cx="4095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YAMAGUCHI UNIVERSITY · HIRAKU-GLOBAL · 7TH COHORT INTERVIEW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98123" y="19050"/>
            <a:ext cx="7935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0AD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SHEET 14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9070" y="381000"/>
            <a:ext cx="171446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28594" y="371475"/>
            <a:ext cx="0" cy="17145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19090" y="390525"/>
            <a:ext cx="40212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D7A2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COLLABORATION FRAMEWORK · FROM LOCAL TO GLOBAL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9565" y="733425"/>
            <a:ext cx="106677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Kumamoto becomes the anchor for an international validation network.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95308" y="1343025"/>
            <a:ext cx="94295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Japan remains the policy testbed; overseas nodes test transferability across morphology, climate, and planning systems.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783" y="1924050"/>
            <a:ext cx="2333567" cy="38100"/>
          </a:xfrm>
          <a:prstGeom prst="rect">
            <a:avLst/>
          </a:prstGeom>
          <a:solidFill>
            <a:srgbClr val="D2AD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85783" y="2152650"/>
            <a:ext cx="7543611" cy="3276600"/>
          </a:xfrm>
          <a:prstGeom prst="rect">
            <a:avLst/>
          </a:prstGeom>
          <a:solidFill>
            <a:srgbClr val="F7F9FB"/>
          </a:solidFill>
          <a:ln w="9525">
            <a:solidFill>
              <a:srgbClr val="AEB8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028674" y="2476500"/>
            <a:ext cx="2266893" cy="895350"/>
          </a:xfrm>
          <a:prstGeom prst="rect">
            <a:avLst/>
          </a:prstGeom>
          <a:solidFill>
            <a:srgbClr val="F4FBF1"/>
          </a:solidFill>
          <a:ln w="9525">
            <a:solidFill>
              <a:srgbClr val="78AA6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1200119" y="2609849"/>
            <a:ext cx="1247751" cy="2905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UCL node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0120" y="2838450"/>
            <a:ext cx="19240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High-resolution geospatial analysis; comparative framing; joint method paper.</a:t>
            </a:r>
            <a:endParaRPr lang="en-US" sz="900" b="1" i="1" dirty="0"/>
          </a:p>
        </p:txBody>
      </p:sp>
      <p:sp>
        <p:nvSpPr>
          <p:cNvPr id="16" name="Shape 14"/>
          <p:cNvSpPr/>
          <p:nvPr/>
        </p:nvSpPr>
        <p:spPr>
          <a:xfrm>
            <a:off x="1028674" y="4238625"/>
            <a:ext cx="2266893" cy="895350"/>
          </a:xfrm>
          <a:prstGeom prst="rect">
            <a:avLst/>
          </a:prstGeom>
          <a:solidFill>
            <a:srgbClr val="FFFAF0"/>
          </a:solidFill>
          <a:ln w="9525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1200120" y="4371974"/>
            <a:ext cx="1788176" cy="2905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Zhejiang node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0120" y="4600575"/>
            <a:ext cx="19240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High-density urban forms; GI–wind interaction; rapid urbanization comparison.</a:t>
            </a:r>
            <a:endParaRPr lang="en-US" sz="900" b="1" i="1" dirty="0"/>
          </a:p>
        </p:txBody>
      </p:sp>
      <p:sp>
        <p:nvSpPr>
          <p:cNvPr id="19" name="Shape 17"/>
          <p:cNvSpPr/>
          <p:nvPr/>
        </p:nvSpPr>
        <p:spPr>
          <a:xfrm>
            <a:off x="5848204" y="2476500"/>
            <a:ext cx="2266893" cy="895350"/>
          </a:xfrm>
          <a:prstGeom prst="rect">
            <a:avLst/>
          </a:prstGeom>
          <a:solidFill>
            <a:srgbClr val="FFF3F3"/>
          </a:solidFill>
          <a:ln w="9525">
            <a:solidFill>
              <a:srgbClr val="DF8C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019650" y="2609849"/>
            <a:ext cx="2217888" cy="2905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 node · reserve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19650" y="2838450"/>
            <a:ext cx="19240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Post-core output comparison; planning-policy perspective; future grant base.</a:t>
            </a:r>
            <a:endParaRPr lang="en-US" sz="900" b="1" i="1" dirty="0"/>
          </a:p>
        </p:txBody>
      </p:sp>
      <p:sp>
        <p:nvSpPr>
          <p:cNvPr id="22" name="Shape 20"/>
          <p:cNvSpPr/>
          <p:nvPr/>
        </p:nvSpPr>
        <p:spPr>
          <a:xfrm>
            <a:off x="5848204" y="4238625"/>
            <a:ext cx="2266893" cy="895350"/>
          </a:xfrm>
          <a:prstGeom prst="rect">
            <a:avLst/>
          </a:prstGeom>
          <a:solidFill>
            <a:srgbClr val="FAF4FF"/>
          </a:solidFill>
          <a:ln w="9525">
            <a:solidFill>
              <a:srgbClr val="B28BD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019650" y="4371974"/>
            <a:ext cx="2529208" cy="2905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Thai nodes · reserve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19650" y="4600575"/>
            <a:ext cx="192400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4D5B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Tropical / monsoon transferability; Y3–Y5 comparative evidence.</a:t>
            </a:r>
            <a:endParaRPr lang="en-US" sz="900" b="1" i="1" dirty="0"/>
          </a:p>
        </p:txBody>
      </p:sp>
      <p:sp>
        <p:nvSpPr>
          <p:cNvPr id="25" name="Shape 23"/>
          <p:cNvSpPr/>
          <p:nvPr/>
        </p:nvSpPr>
        <p:spPr>
          <a:xfrm>
            <a:off x="3295566" y="2900362"/>
            <a:ext cx="314319" cy="328613"/>
          </a:xfrm>
          <a:prstGeom prst="line">
            <a:avLst/>
          </a:prstGeom>
          <a:solidFill>
            <a:srgbClr val="FFFFFF">
              <a:alpha val="0"/>
            </a:srgbClr>
          </a:solidFill>
          <a:ln w="28575">
            <a:solidFill>
              <a:srgbClr val="78AA6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295565" y="4397395"/>
            <a:ext cx="323843" cy="393681"/>
          </a:xfrm>
          <a:prstGeom prst="lineInv">
            <a:avLst/>
          </a:prstGeom>
          <a:solidFill>
            <a:srgbClr val="FFFFFF">
              <a:alpha val="0"/>
            </a:srgbClr>
          </a:solidFill>
          <a:ln w="28575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533886" y="2943227"/>
            <a:ext cx="323844" cy="229924"/>
          </a:xfrm>
          <a:prstGeom prst="lineInv">
            <a:avLst/>
          </a:prstGeom>
          <a:solidFill>
            <a:srgbClr val="FFFFFF">
              <a:alpha val="0"/>
            </a:srgbClr>
          </a:solidFill>
          <a:ln w="28575">
            <a:solidFill>
              <a:srgbClr val="DF8C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5524361" y="4421205"/>
            <a:ext cx="323843" cy="393681"/>
          </a:xfrm>
          <a:prstGeom prst="line">
            <a:avLst/>
          </a:prstGeom>
          <a:solidFill>
            <a:srgbClr val="FFFFFF">
              <a:alpha val="0"/>
            </a:srgbClr>
          </a:solidFill>
          <a:ln w="28575">
            <a:solidFill>
              <a:srgbClr val="B28BD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524161" y="3123397"/>
            <a:ext cx="2095448" cy="1352550"/>
          </a:xfrm>
          <a:prstGeom prst="roundRect">
            <a:avLst/>
          </a:prstGeom>
          <a:solidFill>
            <a:srgbClr val="DCE9F8"/>
          </a:solidFill>
          <a:ln w="19050">
            <a:solidFill>
              <a:srgbClr val="688F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676558" y="3295650"/>
            <a:ext cx="1562061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Yamaguchi core project</a:t>
            </a:r>
            <a:endParaRPr lang="en-US" sz="1575" dirty="0"/>
          </a:p>
        </p:txBody>
      </p:sp>
      <p:sp>
        <p:nvSpPr>
          <p:cNvPr id="31" name="Text 29"/>
          <p:cNvSpPr/>
          <p:nvPr/>
        </p:nvSpPr>
        <p:spPr>
          <a:xfrm>
            <a:off x="3743231" y="3781425"/>
            <a:ext cx="1428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38" dirty="0">
                <a:solidFill>
                  <a:srgbClr val="3B4C6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Kumamoto baseline</a:t>
            </a:r>
            <a:endParaRPr lang="en-US" sz="938" dirty="0"/>
          </a:p>
          <a:p>
            <a:pPr marL="0" indent="0" algn="ctr">
              <a:buNone/>
            </a:pPr>
            <a:r>
              <a:rPr lang="en-US" sz="938" dirty="0">
                <a:solidFill>
                  <a:srgbClr val="3B4C6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HIRAKU 5-year validation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8553236" y="2152650"/>
            <a:ext cx="2952676" cy="3276600"/>
          </a:xfrm>
          <a:prstGeom prst="rect">
            <a:avLst/>
          </a:prstGeom>
          <a:solidFill>
            <a:srgbClr val="15345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8638363" y="2271712"/>
            <a:ext cx="234309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6B3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TO EMPHASIZE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53236" y="2595563"/>
            <a:ext cx="2952676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8743731" y="2705100"/>
            <a:ext cx="10003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· Anchor first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743731" y="2891949"/>
            <a:ext cx="247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D9E3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Japan case gives policy reality and data continuity.</a:t>
            </a:r>
            <a:endParaRPr lang="en-US" sz="1000" b="1" i="1" dirty="0"/>
          </a:p>
        </p:txBody>
      </p:sp>
      <p:sp>
        <p:nvSpPr>
          <p:cNvPr id="37" name="Shape 35"/>
          <p:cNvSpPr/>
          <p:nvPr/>
        </p:nvSpPr>
        <p:spPr>
          <a:xfrm>
            <a:off x="8553236" y="3233737"/>
            <a:ext cx="2952676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8743731" y="3343275"/>
            <a:ext cx="16858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· Partners add contrast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743731" y="3530124"/>
            <a:ext cx="247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D9E3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UCL and Zhejiang sharpen methods across different urban forms.</a:t>
            </a:r>
            <a:endParaRPr lang="en-US" sz="1000" b="1" i="1" dirty="0"/>
          </a:p>
        </p:txBody>
      </p:sp>
      <p:sp>
        <p:nvSpPr>
          <p:cNvPr id="40" name="Shape 38"/>
          <p:cNvSpPr/>
          <p:nvPr/>
        </p:nvSpPr>
        <p:spPr>
          <a:xfrm>
            <a:off x="8553236" y="3871913"/>
            <a:ext cx="2952676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8743731" y="3981450"/>
            <a:ext cx="21323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· Network grows cumulatively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743731" y="4168299"/>
            <a:ext cx="247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D9E3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Reserve nodes expand after outputs are stable.</a:t>
            </a:r>
            <a:endParaRPr lang="en-US" sz="1000" b="1" i="1" dirty="0"/>
          </a:p>
        </p:txBody>
      </p:sp>
      <p:sp>
        <p:nvSpPr>
          <p:cNvPr id="43" name="Shape 41"/>
          <p:cNvSpPr/>
          <p:nvPr/>
        </p:nvSpPr>
        <p:spPr>
          <a:xfrm>
            <a:off x="8553236" y="4510087"/>
            <a:ext cx="2952676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8743731" y="4619625"/>
            <a:ext cx="10556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· HIRAKU role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743731" y="4857750"/>
            <a:ext cx="247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D9E3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multiplies a working pipeline into an Asian/global platform.</a:t>
            </a:r>
            <a:endParaRPr lang="en-US" sz="1000" b="1" i="1" dirty="0"/>
          </a:p>
        </p:txBody>
      </p:sp>
      <p:sp>
        <p:nvSpPr>
          <p:cNvPr id="46" name="Shape 44"/>
          <p:cNvSpPr/>
          <p:nvPr/>
        </p:nvSpPr>
        <p:spPr>
          <a:xfrm>
            <a:off x="685783" y="5695950"/>
            <a:ext cx="10972526" cy="400050"/>
          </a:xfrm>
          <a:prstGeom prst="rect">
            <a:avLst/>
          </a:prstGeom>
          <a:solidFill>
            <a:srgbClr val="FFFDF7"/>
          </a:solidFill>
          <a:ln w="9525">
            <a:solidFill>
              <a:srgbClr val="D2AD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866753" y="5800725"/>
            <a:ext cx="77760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38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point: collaboration validates and exports the framework; it does not restart the research from zero.</a:t>
            </a:r>
            <a:endParaRPr lang="en-US" sz="1238" dirty="0"/>
          </a:p>
        </p:txBody>
      </p:sp>
      <p:sp>
        <p:nvSpPr>
          <p:cNvPr id="48" name="Text 46"/>
          <p:cNvSpPr/>
          <p:nvPr/>
        </p:nvSpPr>
        <p:spPr>
          <a:xfrm>
            <a:off x="409565" y="6572250"/>
            <a:ext cx="334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483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INTERVIEW PRESENTATION · URBAN THERMAL ENVIRONMENT RESEARCH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648484" y="6496050"/>
            <a:ext cx="3143171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8C1C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/>
          <p:nvPr/>
        </p:nvSpPr>
        <p:spPr>
          <a:xfrm>
            <a:off x="8772306" y="6581775"/>
            <a:ext cx="2471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32B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14/15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9743831" y="6581775"/>
            <a:ext cx="6278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LIU HAIQIANG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0896328" y="6581775"/>
            <a:ext cx="3442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7B87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2026.06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89880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CLOSING  ·  4 FOUNDATIONS  ·  4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82296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Four foundations — already in motion.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2039111"/>
            <a:ext cx="269748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68879"/>
            <a:ext cx="2697480" cy="537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 papers · 3 Q1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all 1st / responsible author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3502151"/>
            <a:ext cx="2697480" cy="183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Building &amp; Env.  ·  Env. Pollution  ·  Energies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008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93008" y="2039111"/>
            <a:ext cx="269748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BRIDGE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68879"/>
            <a:ext cx="2697480" cy="537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Sakura · Zhejiang Center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· 5-country forum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33088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93008" y="3502151"/>
            <a:ext cx="2697480" cy="183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UCL  ·  Zhejiang U.  ·  Asia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0216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0216" y="2039111"/>
            <a:ext cx="269748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FUNDING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468879"/>
            <a:ext cx="2697480" cy="257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≈ 100 M JPY · # 1 of 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0296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0216" y="3502151"/>
            <a:ext cx="2697480" cy="183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Kakenhi C →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07424" y="2039111"/>
            <a:ext cx="269748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IMPLEMENTATION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2468879"/>
            <a:ext cx="2697480" cy="537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Kumamoto green-infra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MLIT EBPM case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47504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07424" y="3502151"/>
            <a:ext cx="2697480" cy="183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1">
                <a:solidFill>
                  <a:srgbClr val="CBD5E0"/>
                </a:solidFill>
                <a:latin typeface="Calibri"/>
              </a:rPr>
              <a:t>→ Yamaguchi · Ube · Matsue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16052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FOUR COMMITMENTS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85800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68680" y="4572000"/>
            <a:ext cx="2423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RESEARCH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84632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Deliver papers,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workflow, and Kakenhi 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93008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493008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75888" y="4572000"/>
            <a:ext cx="2423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TEACHING &amp; MENTORING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84632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Supervise students;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teaching informed by research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300216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83096" y="4572000"/>
            <a:ext cx="2423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DEPARTMENT &amp; COLLABORATION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83096" y="484632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Active member of the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faculty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07424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9107424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290304" y="4572000"/>
            <a:ext cx="24231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REGION &amp; LONG-TERM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90304" y="484632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 long-term anchor at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Yamaguchi University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669280"/>
            <a:ext cx="10972800" cy="25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85800" y="5806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HIRAKU-Global is the multiplier — not the starter.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309360"/>
            <a:ext cx="1097280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1">
                <a:solidFill>
                  <a:srgbClr val="C9A961"/>
                </a:solidFill>
                <a:latin typeface="Calibri"/>
              </a:rPr>
              <a:t>Thank you very much.  I look forward to your questions.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9557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3EF26F3-9798-9D49-B5AE-9880972F78F6}">
  <we:reference id="wa200010215" version="2.0.0.0" store="zh-CN" storeType="OMEX"/>
  <we:alternateReferences>
    <we:reference id="WA200010215" version="2.0.0.0" store="WA20001021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3589</TotalTime>
  <Words>3560</Words>
  <Application>Microsoft Macintosh PowerPoint</Application>
  <PresentationFormat>宽屏</PresentationFormat>
  <Paragraphs>698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Arial</vt:lpstr>
      <vt:lpstr>Calibri</vt:lpstr>
      <vt:lpstr>Helvetica Neue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劉海強</cp:lastModifiedBy>
  <cp:revision>10</cp:revision>
  <dcterms:created xsi:type="dcterms:W3CDTF">2013-01-27T09:14:16Z</dcterms:created>
  <dcterms:modified xsi:type="dcterms:W3CDTF">2026-06-05T12:25:07Z</dcterms:modified>
  <cp:category/>
</cp:coreProperties>
</file>