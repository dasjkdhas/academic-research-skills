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TITLE — ~25 seconds]</a:t>
            </a:r>
          </a:p>
          <a:p/>
          <a:p>
            <a:r>
              <a:t>Good morning, and thank you for this opportunity.</a:t>
            </a:r>
          </a:p>
          <a:p/>
          <a:p>
            <a:r>
              <a:t>My name is Liu Haiqiang. I am a tenure-track Lecturer at the Graduate School of Sciences and Technology for Innovation at Yamaguchi University.</a:t>
            </a:r>
          </a:p>
          <a:p/>
          <a:p>
            <a:r>
              <a:t>The title of my talk today is "Bridging Cities, Climate, and People."</a:t>
            </a:r>
          </a:p>
          <a:p/>
          <a:p>
            <a:r>
              <a:t>In one sentence: I connect urban thermal environment research with international collaboration, regional policy, and social implementation.</a:t>
            </a:r>
          </a:p>
          <a:p/>
          <a:p>
            <a:r>
              <a:t>In the next ten minutes, I would like to share why my background fits HIRAKU-Global, and how HIRAKU-Global can help me grow into an international research leader anchored at Yamaguchi University.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PROFILE — ~50 seconds]</a:t>
            </a:r>
          </a:p>
          <a:p/>
          <a:p>
            <a:r>
              <a:t>Before I talk about research, let me briefly say who I am — because the bridge between Japan and China runs through my entire career.</a:t>
            </a:r>
          </a:p>
          <a:p/>
          <a:p>
            <a:r>
              <a:t>I was trained in Japan. I earned my master's degree and doctorate from Saga University, in Architectural Environmental Engineering, in 2011 and 2017.</a:t>
            </a:r>
          </a:p>
          <a:p/>
          <a:p>
            <a:r>
              <a:t>Then I moved to China. From 2018 to early 2023, I was an Associate Professor at Zhejiang Sci-Tech University, teaching and supervising students in building environment and urban design.</a:t>
            </a:r>
          </a:p>
          <a:p/>
          <a:p>
            <a:r>
              <a:t>After that, I returned to Japan. From 2023 to 2025, I was a researcher at the Institute of Policy Research, Kumamoto City — a municipal policy research institute. There I worked directly with city government on urban environment and heat policy.</a:t>
            </a:r>
          </a:p>
          <a:p/>
          <a:p>
            <a:r>
              <a:t>In January 2026, I joined Yamaguchi University as a tenure-track Lecturer. This is my current position.</a:t>
            </a:r>
          </a:p>
          <a:p/>
          <a:p>
            <a:r>
              <a:t>So across ten years, my research moved through three stages — building, person, and city. And throughout, I have been one of the few researchers who works natively in both Japanese regional cities and Chinese high-density urbanism. That bridge is at the center of everything I will show you today.</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WHY MY RESEARCH MATTERS — ~60 seconds]</a:t>
            </a:r>
          </a:p>
          <a:p/>
          <a:p>
            <a:r>
              <a:t>Cities are getting hotter every summer. That is not just weather — it is a regional public-health issue.</a:t>
            </a:r>
          </a:p>
          <a:p/>
          <a:p>
            <a:r>
              <a:t>In 2023 alone, Japan's Fire and Disaster Management Agency recorded more than 91,000 emergency heatstroke transports nationwide. In Yamaguchi Prefecture alone, more than 1,200 cases — and about 60 percent of those patients were aged 65 or older.</a:t>
            </a:r>
          </a:p>
          <a:p/>
          <a:p>
            <a:r>
              <a:t>But — and this is the key point — not every street is equally hot. As you can see in this section drawing on the left: in the built-up zone, an elderly resident walks through dense buildings under direct sun, where heat accumulates between facades. Just a few hundred meters away, in a zone with trees and wind, the same walk is much safer.</a:t>
            </a:r>
          </a:p>
          <a:p/>
          <a:p>
            <a:r>
              <a:t>What older residents actually face is a 500-to-1000 meter daily walking corridor through a built environment whose thermal behavior changes street by street.</a:t>
            </a:r>
          </a:p>
          <a:p/>
          <a:p>
            <a:r>
              <a:t>So my research asks three simple questions: Where is it hot? Why is it hot? And how can we cool the city while keeping it walkable and alive?</a:t>
            </a:r>
          </a:p>
          <a:p/>
          <a:p>
            <a:r>
              <a:t>These three questions sit at the intersection of three challenges that regional cities like Yamaguchi face together — climate warming, aging society, and the decline of city centers. My research is designed to address all three through one framework.</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RESEARCH TRAJECTORY — ~70 seconds]</a:t>
            </a:r>
          </a:p>
          <a:p/>
          <a:p>
            <a:r>
              <a:t>My research has not jumped between topics. It has moved deliberately through three stages: building, person, and city.</a:t>
            </a:r>
          </a:p>
          <a:p/>
          <a:p>
            <a:r>
              <a:t>In Stage 1 — Building — I asked how the form and envelope of buildings shape indoor thermal environment and energy use. I surveyed 183 households across three Chinese cities, optimized window-to-wall ratios, and analyzed wind environments in high-rise courtyards. This gave me physical control over the indoor environment — but it could not tell me whose body was at risk.</a:t>
            </a:r>
          </a:p>
          <a:p/>
          <a:p>
            <a:r>
              <a:t>That moved me to Stage 2 — Person. Here I asked how indoor conditions affect learning, health, and behavior — not in average users, but in specific people. This is where my two strongest Q1 papers come from: Building and Environment, on classroom thermal comfort and learning, in the top 5 of its field; and Environmental Pollution, on PM2.5 health risk. By the end of Stage 2 I understood the human side — but I was still indoors.</a:t>
            </a:r>
          </a:p>
          <a:p/>
          <a:p>
            <a:r>
              <a:t>So I moved to Stage 3 — City. I now ask how green-blue infrastructure, wind, and urban morphology together regulate pedestrian heat exposure at the scale where heatstroke actually happens. The Kumamoto work — including the chapter cited by MLIT as an EBPM case — comes from this stage.</a:t>
            </a:r>
          </a:p>
          <a:p/>
          <a:p>
            <a:r>
              <a:t>Each stage was pushed forward by a question the previous one could only partly answer. Stage 3 is exactly where HIRAKU-Global begins.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ORIGINALITY — ~75 seconds]</a:t>
            </a:r>
          </a:p>
          <a:p/>
          <a:p>
            <a:r>
              <a:t>This is the core of my originality.</a:t>
            </a:r>
          </a:p>
          <a:p/>
          <a:p>
            <a:r>
              <a:t>On the left, you see my cross-scale workflow. I work at three altitudes — satellite, block, and pedestrian — chained as one inference path, not three separate studies.</a:t>
            </a:r>
          </a:p>
          <a:p/>
          <a:p>
            <a:r>
              <a:t>At the top, satellite remote sensing: I use Landsat-8/9 thermal infrared and Sentinel-2 multispectral imagery to retrieve land surface temperature and local climate zone classification at 30-meter resolution. This tells me where heat accumulates across the whole city.</a:t>
            </a:r>
          </a:p>
          <a:p/>
          <a:p>
            <a:r>
              <a:t>In the middle, block-scale CFD: I use OpenFOAM to test how wind, building morphology, and green-blue infrastructure interact at the block level. This tells me why heat accumulates in specific places.</a:t>
            </a:r>
          </a:p>
          <a:p/>
          <a:p>
            <a:r>
              <a:t>At the bottom, pedestrian-scale validation: I measure WBGT along the actual 500-to-1000 meter walking corridors that elderly residents use. This tells me whether the predicted mechanisms appear at the human scale.</a:t>
            </a:r>
          </a:p>
          <a:p/>
          <a:p>
            <a:r>
              <a:t>Four things make this original. First, multi-source data integration. Second, cumulative heat exposure — beyond instantaneous temperature. Third, the workflow has already been applied to Kumamoto City's green-infrastructure policy, through Chapter 4 of the city's official policy volume. Fourth — and this is the strongest evidence — this work has been cited by Japan's Ministry of Land, Infrastructure, Transport and Tourism as an Evidence-Based Policy Making case.</a:t>
            </a:r>
          </a:p>
          <a:p/>
          <a:p>
            <a:r>
              <a:t>Few researchers can show all four — satellite, measurement, CFD, and national-level policy adoption — in one continuous workflow.</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RESEARCH OUTPUTS — ~55 seconds]</a:t>
            </a:r>
          </a:p>
          <a:p/>
          <a:p>
            <a:r>
              <a:t>Let me talk about quality, not just numbers.</a:t>
            </a:r>
          </a:p>
          <a:p/>
          <a:p>
            <a:r>
              <a:t>Fifteen peer-reviewed papers. Ten in English SCI or SCIE journals. Eight with impact factor. Three in Q1 journals — and this is what I most want you to remember: all three Q1 papers are first author, co-first author, or corresponding author. These are not background co-authorships. I led them.</a:t>
            </a:r>
          </a:p>
          <a:p/>
          <a:p>
            <a:r>
              <a:t>The three Q1 journals are: Building and Environment — in the top 5 of construction and building technology — where I am co-first author on a study of classroom thermal comfort and learning. Environmental Pollution, a top-tier environmental science journal, on PM2.5 health-effects assessment. And Energies, where I am first author on classroom comfort and learning efficiency.</a:t>
            </a:r>
          </a:p>
          <a:p/>
          <a:p>
            <a:r>
              <a:t>What matters even more than the journals is the line that connects them. Building energy, then indoor comfort and learning, then PM2.5 health, then urban heat and land use, then green-blue infrastructure, and finally policy. This is not a scattered publication record. It is one continuous research agenda — moving from buildings to people to cities, and from technical analysis to social application.</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INTERNATIONAL COLLABORATION — ~65 seconds]</a:t>
            </a:r>
          </a:p>
          <a:p/>
          <a:p>
            <a:r>
              <a:t>International collaboration, for me, is not about attending conferences. It is about organizing actual cooperation between institutions.</a:t>
            </a:r>
          </a:p>
          <a:p/>
          <a:p>
            <a:r>
              <a:t>Three concrete records.</a:t>
            </a:r>
          </a:p>
          <a:p/>
          <a:p>
            <a:r>
              <a:t>First, the Sakura Science Program. I organized exchanges between Zhejiang Sci-Tech University and Japanese universities over multiple years — bringing students and researchers across the bridge. The program was paused by COVID, but the partnership is intact.</a:t>
            </a:r>
          </a:p>
          <a:p/>
          <a:p>
            <a:r>
              <a:t>Second, during COVID, as a Zhejiang Sci-Tech University representative, I helped build the Zhejiang International Cooperation Center on Carbon Neutrality. Zhejiang Province established only four such centers — and ZSTU was the core unit of one of them. That gave me direct experience in setting up a provincial-level international research platform.</a:t>
            </a:r>
          </a:p>
          <a:p/>
          <a:p>
            <a:r>
              <a:t>Third, I organized an international online forum that brought together researchers from China, Japan, the UK — including UCL — Indonesia, and Bangladesh. Coordinating five countries during pandemic constraints is itself a track record.</a:t>
            </a:r>
          </a:p>
          <a:p/>
          <a:p>
            <a:r>
              <a:t>The future network shown below is not a wish list — it builds on these existing friendships. Yamaguchi University at the center, connecting UCL, Zhejiang University, and Asian nodes that I have already worked with.</a:t>
            </a:r>
          </a:p>
          <a:p/>
          <a:p>
            <a:r>
              <a:t>In all three cases, I was the organizer. Not just a participant.</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FUNDING &amp; PROJECT LEADERSHIP — ~65 seconds]</a:t>
            </a:r>
          </a:p>
          <a:p/>
          <a:p>
            <a:r>
              <a:t>Now, funding. I will give you the honest picture in three phases.</a:t>
            </a:r>
          </a:p>
          <a:p/>
          <a:p>
            <a:r>
              <a:t>China, 2018 to 2023: across 8 projects I have accumulated approximately 100 million yen equivalent in research funding, with 5 of those as Leading Researcher. I was also a collaborator on a National Social Science Fund of China General Project. The Chinese research environment is highly competitive, with many universities and many applicants — so this track record came from a competitive selection.</a:t>
            </a:r>
          </a:p>
          <a:p/>
          <a:p>
            <a:r>
              <a:t>Kumamoto, 2023 to 2025: my position there was at the Institute of Policy Research, a municipal post. The institutional rule was clear — external competitive grants such as JSPS Kakenhi were not permitted from that position. The absence of Japanese grants in that period reflects the role, not the ability. What I produced instead was policy-oriented output — including the MLIT EBPM case I mentioned earlier.</a:t>
            </a:r>
          </a:p>
          <a:p/>
          <a:p>
            <a:r>
              <a:t>Yamaguchi, from January 2026: the first time I have been eligible to apply in Japan. And within months of joining, I was ranked number one out of thirteen applicants in the Yamaguchi University regional research program — four were selected. The Japan pattern has started.</a:t>
            </a:r>
          </a:p>
          <a:p/>
          <a:p>
            <a:r>
              <a:t>The path forward: Kakenhi Kiban C this autumn, then Kiban B during the HIRAKU-Global period — using the Chugoku-Shikoku evidence base as pilot foundation.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RESEARCH PLAN — ~75 seconds]</a:t>
            </a:r>
          </a:p>
          <a:p/>
          <a:p>
            <a:r>
              <a:t>This is the project I will run during HIRAKU-Global.</a:t>
            </a:r>
          </a:p>
          <a:p/>
          <a:p>
            <a:r>
              <a:t>On the left, three cities — Yamaguchi, Ube, and Matsue — chosen because they span three contrasting wind regimes within one administrative region: inland basin, coastal sea-breeze, and Sea-of-Japan lakeside. That contrast is exactly what the science needs.</a:t>
            </a:r>
          </a:p>
          <a:p/>
          <a:p>
            <a:r>
              <a:t>In the middle, the method chain. Step 1, satellite screening — already running. Step 2, block-scale CFD — methodology already established in my earlier work. Step 3, pedestrian-scale WBGT validation — co-developed with Yamaguchi City's elderly-care offices.</a:t>
            </a:r>
          </a:p>
          <a:p/>
          <a:p>
            <a:r>
              <a:t>On the right, the five-year plan. Year 1: city-scale diagnosis. Year 2: two-month stay at UCL with Dr. Huanfa Chen. Year 3: block CFD plus a short Zhejiang visit. Year 4: pedestrian validation and an international workshop at Yamaguchi. Year 5: synthesis and the Kakenhi Kiban B application.</a:t>
            </a:r>
          </a:p>
          <a:p/>
          <a:p>
            <a:r>
              <a:t>This plan does not start from zero. The satellite pipeline is already running. The international partners are already in place. The first Japanese grant is already won.</a:t>
            </a:r>
          </a:p>
          <a:p/>
          <a:p>
            <a:r>
              <a:t>I have also thought about risk. The main risk is over-extension. My approach is to anchor Yamaguchi first, expand stepwise to Ube and Matsue, use online collaboration when travel is constrained, and keep the Kumamoto data as a pre-validated reference. I want to deliver, not over-promise.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ASPIRATIONS — ~70 seconds]</a:t>
            </a:r>
          </a:p>
          <a:p/>
          <a:p>
            <a:r>
              <a:t>During HIRAKU-Global, I will align every deliverable with the program's 3I framework — Innovative, Influential, Impactful.</a:t>
            </a:r>
          </a:p>
          <a:p/>
          <a:p>
            <a:r>
              <a:t>For Innovative — I will produce the cross-scale wind × GBI × pedestrian-heat mechanism paper, and the reproducible city-to-corridor diagnostic workflow.</a:t>
            </a:r>
          </a:p>
          <a:p/>
          <a:p>
            <a:r>
              <a:t>For Influential — continued Q1 publications, and the Kakenhi path: Kiban C in autumn 2026, building toward Kiban B during HIRAKU.</a:t>
            </a:r>
          </a:p>
          <a:p/>
          <a:p>
            <a:r>
              <a:t>For Impactful — deliverables to Yamaguchi, Ube, and Matsue municipalities, continuing the MLIT EBPM-aligned policy translation that I started in Kumamoto.</a:t>
            </a:r>
          </a:p>
          <a:p/>
          <a:p>
            <a:r>
              <a:t>After tenure — and this is important — I want to be a long-term anchor at Yamaguchi University, not a short-term visitor. The five concentric rings on the right show the path: from my lab, to the Chugoku-Shikoku region, to becoming Western Japan's urban thermal research hub, to an Asia-wide platform, to a Local-to-Global model that other aging climate cities can adopt.</a:t>
            </a:r>
          </a:p>
          <a:p/>
          <a:p>
            <a:r>
              <a:t>But I do not see myself only as a recipient. I want to give back. A Year-4 international workshop hosted at Yamaguchi. A standing China-Japan academic bridge for the HIRAKU community. Teaching, mentoring, and supervising graduate students — I have already developed one such student into a doctoral researcher at Tsinghua University. And active service to the department, the region, and the wider HIRAKU community.</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CLOSING — ~30 seconds]</a:t>
            </a:r>
          </a:p>
          <a:p/>
          <a:p>
            <a:r>
              <a:t>To close.</a:t>
            </a:r>
          </a:p>
          <a:p/>
          <a:p>
            <a:r>
              <a:t>Four foundations — all already in motion.</a:t>
            </a:r>
          </a:p>
          <a:p>
            <a:r>
              <a:t>Quality — fifteen papers, three Q1, all led by me. Bridge — Sakura, Zhejiang Carbon-Neutral Center, five-country forum. Funding — approximately one hundred million yen total, and ranked number one of thirteen at Yamaguchi. Implementation — Kumamoto green-infrastructure policy, cited by MLIT as an EBPM case.</a:t>
            </a:r>
          </a:p>
          <a:p/>
          <a:p>
            <a:r>
              <a:t>And four commitments — what I will do at Yamaguchi University.</a:t>
            </a:r>
          </a:p>
          <a:p>
            <a:r>
              <a:t>First, deliver the research: papers, the workflow, and the Kakenhi Kiban B. Second, teach and mentor students — including supervision through to publication. Third, contribute to the department and to faculty collaboration, not work alone. Fourth, commit long-term — I am here as an anchor, not a passenger.</a:t>
            </a:r>
          </a:p>
          <a:p/>
          <a:p>
            <a:r>
              <a:t>HIRAKU-Global is the multiplier — not the starter.</a:t>
            </a:r>
          </a:p>
          <a:p/>
          <a:p>
            <a:r>
              <a:t>Thank you very much. I look forward to your questions.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11480" y="6858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11480" y="13716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11480" y="20574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11480" y="27432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11480" y="34290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11480" y="41148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1480" y="48006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144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8288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7432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6576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720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4864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4008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152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2296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440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9728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0" y="0"/>
            <a:ext cx="2743200" cy="9144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74320"/>
            <a:ext cx="731520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YAMAGUCHI UNIVERSITY  ·  HIRAKU-GLOBAL  ·  7TH COHORT  ·  2026</a:t>
            </a:r>
          </a:p>
        </p:txBody>
      </p:sp>
      <p:sp>
        <p:nvSpPr>
          <p:cNvPr id="24" name="TextBox 23"/>
          <p:cNvSpPr txBox="1"/>
          <p:nvPr/>
        </p:nvSpPr>
        <p:spPr>
          <a:xfrm>
            <a:off x="685800" y="1417320"/>
            <a:ext cx="10789920" cy="1097280"/>
          </a:xfrm>
          <a:prstGeom prst="rect">
            <a:avLst/>
          </a:prstGeom>
          <a:noFill/>
        </p:spPr>
        <p:txBody>
          <a:bodyPr wrap="square" lIns="0" rIns="0" tIns="0" bIns="0" anchor="t">
            <a:spAutoFit/>
          </a:bodyPr>
          <a:lstStyle/>
          <a:p>
            <a:pPr algn="l">
              <a:lnSpc>
                <a:spcPct val="100000"/>
              </a:lnSpc>
            </a:pPr>
            <a:r>
              <a:rPr sz="4800" b="1" i="0">
                <a:solidFill>
                  <a:srgbClr val="FFFFFF"/>
                </a:solidFill>
                <a:latin typeface="Calibri"/>
              </a:rPr>
              <a:t>Bridging Cities, Climate, and People</a:t>
            </a:r>
          </a:p>
        </p:txBody>
      </p:sp>
      <p:sp>
        <p:nvSpPr>
          <p:cNvPr id="25" name="Rectangle 24"/>
          <p:cNvSpPr/>
          <p:nvPr/>
        </p:nvSpPr>
        <p:spPr>
          <a:xfrm>
            <a:off x="685800" y="2514600"/>
            <a:ext cx="27432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2697480"/>
            <a:ext cx="10972800" cy="640080"/>
          </a:xfrm>
          <a:prstGeom prst="rect">
            <a:avLst/>
          </a:prstGeom>
          <a:noFill/>
        </p:spPr>
        <p:txBody>
          <a:bodyPr wrap="square" lIns="0" rIns="0" tIns="0" bIns="0" anchor="t">
            <a:spAutoFit/>
          </a:bodyPr>
          <a:lstStyle/>
          <a:p>
            <a:pPr algn="l">
              <a:lnSpc>
                <a:spcPct val="115000"/>
              </a:lnSpc>
            </a:pPr>
            <a:r>
              <a:rPr sz="2200" b="0" i="0">
                <a:solidFill>
                  <a:srgbClr val="FFFFFF"/>
                </a:solidFill>
                <a:latin typeface="Calibri"/>
              </a:rPr>
              <a:t>Urban Thermal Environment Research</a:t>
            </a:r>
          </a:p>
        </p:txBody>
      </p:sp>
      <p:sp>
        <p:nvSpPr>
          <p:cNvPr id="27" name="TextBox 26"/>
          <p:cNvSpPr txBox="1"/>
          <p:nvPr/>
        </p:nvSpPr>
        <p:spPr>
          <a:xfrm>
            <a:off x="685800" y="3154680"/>
            <a:ext cx="10972800" cy="548640"/>
          </a:xfrm>
          <a:prstGeom prst="rect">
            <a:avLst/>
          </a:prstGeom>
          <a:noFill/>
        </p:spPr>
        <p:txBody>
          <a:bodyPr wrap="square" lIns="0" rIns="0" tIns="0" bIns="0" anchor="t">
            <a:spAutoFit/>
          </a:bodyPr>
          <a:lstStyle/>
          <a:p>
            <a:pPr algn="l">
              <a:lnSpc>
                <a:spcPct val="115000"/>
              </a:lnSpc>
            </a:pPr>
            <a:r>
              <a:rPr sz="1800" b="0" i="1">
                <a:solidFill>
                  <a:srgbClr val="B8C8DC"/>
                </a:solidFill>
                <a:latin typeface="Calibri"/>
              </a:rPr>
              <a:t>from Japanese Regional Cities to International Asia</a:t>
            </a:r>
          </a:p>
        </p:txBody>
      </p:sp>
      <p:sp>
        <p:nvSpPr>
          <p:cNvPr id="28" name="Rectangle 27"/>
          <p:cNvSpPr/>
          <p:nvPr/>
        </p:nvSpPr>
        <p:spPr>
          <a:xfrm>
            <a:off x="685800" y="4114800"/>
            <a:ext cx="54864" cy="128016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114800"/>
            <a:ext cx="10058400" cy="457200"/>
          </a:xfrm>
          <a:prstGeom prst="rect">
            <a:avLst/>
          </a:prstGeom>
          <a:noFill/>
        </p:spPr>
        <p:txBody>
          <a:bodyPr wrap="square" lIns="0" rIns="0" tIns="0" bIns="0" anchor="t">
            <a:spAutoFit/>
          </a:bodyPr>
          <a:lstStyle/>
          <a:p>
            <a:pPr algn="l">
              <a:lnSpc>
                <a:spcPct val="115000"/>
              </a:lnSpc>
            </a:pPr>
            <a:r>
              <a:rPr sz="2400" b="1" i="0">
                <a:solidFill>
                  <a:srgbClr val="FFFFFF"/>
                </a:solidFill>
                <a:latin typeface="Calibri"/>
              </a:rPr>
              <a:t>LIU  HAIQIANG, Ph.D.</a:t>
            </a:r>
          </a:p>
        </p:txBody>
      </p:sp>
      <p:sp>
        <p:nvSpPr>
          <p:cNvPr id="30" name="TextBox 29"/>
          <p:cNvSpPr txBox="1"/>
          <p:nvPr/>
        </p:nvSpPr>
        <p:spPr>
          <a:xfrm>
            <a:off x="914400" y="4572000"/>
            <a:ext cx="10058400" cy="365760"/>
          </a:xfrm>
          <a:prstGeom prst="rect">
            <a:avLst/>
          </a:prstGeom>
          <a:noFill/>
        </p:spPr>
        <p:txBody>
          <a:bodyPr wrap="square" lIns="0" rIns="0" tIns="0" bIns="0" anchor="t">
            <a:spAutoFit/>
          </a:bodyPr>
          <a:lstStyle/>
          <a:p>
            <a:pPr algn="l">
              <a:lnSpc>
                <a:spcPct val="115000"/>
              </a:lnSpc>
            </a:pPr>
            <a:r>
              <a:rPr sz="1400" b="0" i="0">
                <a:solidFill>
                  <a:srgbClr val="C9A961"/>
                </a:solidFill>
                <a:latin typeface="Calibri"/>
              </a:rPr>
              <a:t>Lecturer (Tenure-track)</a:t>
            </a:r>
          </a:p>
        </p:txBody>
      </p:sp>
      <p:sp>
        <p:nvSpPr>
          <p:cNvPr id="31" name="TextBox 30"/>
          <p:cNvSpPr txBox="1"/>
          <p:nvPr/>
        </p:nvSpPr>
        <p:spPr>
          <a:xfrm>
            <a:off x="914400" y="4873752"/>
            <a:ext cx="10058400" cy="365760"/>
          </a:xfrm>
          <a:prstGeom prst="rect">
            <a:avLst/>
          </a:prstGeom>
          <a:noFill/>
        </p:spPr>
        <p:txBody>
          <a:bodyPr wrap="square" lIns="0" rIns="0" tIns="0" bIns="0" anchor="t">
            <a:spAutoFit/>
          </a:bodyPr>
          <a:lstStyle/>
          <a:p>
            <a:pPr algn="l">
              <a:lnSpc>
                <a:spcPct val="115000"/>
              </a:lnSpc>
            </a:pPr>
            <a:r>
              <a:rPr sz="1200" b="0" i="0">
                <a:solidFill>
                  <a:srgbClr val="B8C8DC"/>
                </a:solidFill>
                <a:latin typeface="Calibri"/>
              </a:rPr>
              <a:t>Graduate School of Sciences and Technology for Innovation</a:t>
            </a:r>
          </a:p>
        </p:txBody>
      </p:sp>
      <p:sp>
        <p:nvSpPr>
          <p:cNvPr id="32" name="TextBox 31"/>
          <p:cNvSpPr txBox="1"/>
          <p:nvPr/>
        </p:nvSpPr>
        <p:spPr>
          <a:xfrm>
            <a:off x="914400" y="5120640"/>
            <a:ext cx="10058400" cy="365760"/>
          </a:xfrm>
          <a:prstGeom prst="rect">
            <a:avLst/>
          </a:prstGeom>
          <a:noFill/>
        </p:spPr>
        <p:txBody>
          <a:bodyPr wrap="square" lIns="0" rIns="0" tIns="0" bIns="0" anchor="t">
            <a:spAutoFit/>
          </a:bodyPr>
          <a:lstStyle/>
          <a:p>
            <a:pPr algn="l">
              <a:lnSpc>
                <a:spcPct val="115000"/>
              </a:lnSpc>
            </a:pPr>
            <a:r>
              <a:rPr sz="1200" b="0" i="0">
                <a:solidFill>
                  <a:srgbClr val="B8C8DC"/>
                </a:solidFill>
                <a:latin typeface="Calibri"/>
              </a:rPr>
              <a:t>Yamaguchi University</a:t>
            </a:r>
          </a:p>
        </p:txBody>
      </p:sp>
      <p:sp>
        <p:nvSpPr>
          <p:cNvPr id="33" name="Rectangle 32"/>
          <p:cNvSpPr/>
          <p:nvPr/>
        </p:nvSpPr>
        <p:spPr>
          <a:xfrm>
            <a:off x="685800" y="5989320"/>
            <a:ext cx="2697480" cy="365760"/>
          </a:xfrm>
          <a:prstGeom prst="rect">
            <a:avLst/>
          </a:prstGeom>
          <a:noFill/>
          <a:ln w="9525">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989320"/>
            <a:ext cx="2697480" cy="365760"/>
          </a:xfrm>
          <a:prstGeom prst="rect">
            <a:avLst/>
          </a:prstGeom>
          <a:noFill/>
        </p:spPr>
        <p:txBody>
          <a:bodyPr wrap="square" lIns="0" rIns="0" tIns="0" bIns="0" anchor="ctr">
            <a:spAutoFit/>
          </a:bodyPr>
          <a:lstStyle/>
          <a:p>
            <a:pPr algn="ctr">
              <a:lnSpc>
                <a:spcPct val="115000"/>
              </a:lnSpc>
            </a:pPr>
            <a:r>
              <a:rPr sz="900" b="1" i="0">
                <a:solidFill>
                  <a:srgbClr val="C9A961"/>
                </a:solidFill>
                <a:latin typeface="Calibri"/>
              </a:rPr>
              <a:t>URBAN THERMAL ENVIRONMENT</a:t>
            </a:r>
          </a:p>
        </p:txBody>
      </p:sp>
      <p:sp>
        <p:nvSpPr>
          <p:cNvPr id="35" name="Rectangle 34"/>
          <p:cNvSpPr/>
          <p:nvPr/>
        </p:nvSpPr>
        <p:spPr>
          <a:xfrm>
            <a:off x="3502152" y="5989320"/>
            <a:ext cx="2697480" cy="365760"/>
          </a:xfrm>
          <a:prstGeom prst="rect">
            <a:avLst/>
          </a:prstGeom>
          <a:noFill/>
          <a:ln w="9525">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02152" y="5989320"/>
            <a:ext cx="2697480" cy="365760"/>
          </a:xfrm>
          <a:prstGeom prst="rect">
            <a:avLst/>
          </a:prstGeom>
          <a:noFill/>
        </p:spPr>
        <p:txBody>
          <a:bodyPr wrap="square" lIns="0" rIns="0" tIns="0" bIns="0" anchor="ctr">
            <a:spAutoFit/>
          </a:bodyPr>
          <a:lstStyle/>
          <a:p>
            <a:pPr algn="ctr">
              <a:lnSpc>
                <a:spcPct val="115000"/>
              </a:lnSpc>
            </a:pPr>
            <a:r>
              <a:rPr sz="900" b="1" i="0">
                <a:solidFill>
                  <a:srgbClr val="C9A961"/>
                </a:solidFill>
                <a:latin typeface="Calibri"/>
              </a:rPr>
              <a:t>INTERNATIONAL COLLABORATION</a:t>
            </a:r>
          </a:p>
        </p:txBody>
      </p:sp>
      <p:sp>
        <p:nvSpPr>
          <p:cNvPr id="37" name="Rectangle 36"/>
          <p:cNvSpPr/>
          <p:nvPr/>
        </p:nvSpPr>
        <p:spPr>
          <a:xfrm>
            <a:off x="6318504" y="5989320"/>
            <a:ext cx="2697480" cy="365760"/>
          </a:xfrm>
          <a:prstGeom prst="rect">
            <a:avLst/>
          </a:prstGeom>
          <a:noFill/>
          <a:ln w="9525">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18504" y="5989320"/>
            <a:ext cx="2697480" cy="365760"/>
          </a:xfrm>
          <a:prstGeom prst="rect">
            <a:avLst/>
          </a:prstGeom>
          <a:noFill/>
        </p:spPr>
        <p:txBody>
          <a:bodyPr wrap="square" lIns="0" rIns="0" tIns="0" bIns="0" anchor="ctr">
            <a:spAutoFit/>
          </a:bodyPr>
          <a:lstStyle/>
          <a:p>
            <a:pPr algn="ctr">
              <a:lnSpc>
                <a:spcPct val="115000"/>
              </a:lnSpc>
            </a:pPr>
            <a:r>
              <a:rPr sz="900" b="1" i="0">
                <a:solidFill>
                  <a:srgbClr val="C9A961"/>
                </a:solidFill>
                <a:latin typeface="Calibri"/>
              </a:rPr>
              <a:t>REGIONAL POLICY</a:t>
            </a:r>
          </a:p>
        </p:txBody>
      </p:sp>
      <p:sp>
        <p:nvSpPr>
          <p:cNvPr id="39" name="Rectangle 38"/>
          <p:cNvSpPr/>
          <p:nvPr/>
        </p:nvSpPr>
        <p:spPr>
          <a:xfrm>
            <a:off x="9134856" y="5989320"/>
            <a:ext cx="2697480" cy="365760"/>
          </a:xfrm>
          <a:prstGeom prst="rect">
            <a:avLst/>
          </a:prstGeom>
          <a:noFill/>
          <a:ln w="9525">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856" y="5989320"/>
            <a:ext cx="2697480" cy="365760"/>
          </a:xfrm>
          <a:prstGeom prst="rect">
            <a:avLst/>
          </a:prstGeom>
          <a:noFill/>
        </p:spPr>
        <p:txBody>
          <a:bodyPr wrap="square" lIns="0" rIns="0" tIns="0" bIns="0" anchor="ctr">
            <a:spAutoFit/>
          </a:bodyPr>
          <a:lstStyle/>
          <a:p>
            <a:pPr algn="ctr">
              <a:lnSpc>
                <a:spcPct val="115000"/>
              </a:lnSpc>
            </a:pPr>
            <a:r>
              <a:rPr sz="900" b="1" i="0">
                <a:solidFill>
                  <a:srgbClr val="C9A961"/>
                </a:solidFill>
                <a:latin typeface="Calibri"/>
              </a:rPr>
              <a:t>SOCIAL IMPLEMENTATION</a:t>
            </a:r>
          </a:p>
        </p:txBody>
      </p:sp>
      <p:sp>
        <p:nvSpPr>
          <p:cNvPr id="41" name="Rectangle 40"/>
          <p:cNvSpPr/>
          <p:nvPr/>
        </p:nvSpPr>
        <p:spPr>
          <a:xfrm>
            <a:off x="8686800" y="6446520"/>
            <a:ext cx="3108960" cy="292608"/>
          </a:xfrm>
          <a:prstGeom prst="rect">
            <a:avLst/>
          </a:prstGeom>
          <a:noFill/>
          <a:ln w="762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9601200" y="6446520"/>
            <a:ext cx="0" cy="292608"/>
          </a:xfrm>
          <a:prstGeom prst="line">
            <a:avLst/>
          </a:prstGeom>
          <a:ln w="7620">
            <a:solidFill>
              <a:srgbClr val="C9A96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744200" y="6446520"/>
            <a:ext cx="0" cy="292608"/>
          </a:xfrm>
          <a:prstGeom prst="line">
            <a:avLst/>
          </a:prstGeom>
          <a:ln w="7620">
            <a:solidFill>
              <a:srgbClr val="C9A961"/>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686800" y="6446520"/>
            <a:ext cx="914400" cy="292608"/>
          </a:xfrm>
          <a:prstGeom prst="rect">
            <a:avLst/>
          </a:prstGeom>
          <a:noFill/>
        </p:spPr>
        <p:txBody>
          <a:bodyPr wrap="square" lIns="0" rIns="0" tIns="0" bIns="0" anchor="ctr">
            <a:spAutoFit/>
          </a:bodyPr>
          <a:lstStyle/>
          <a:p>
            <a:pPr algn="l">
              <a:lnSpc>
                <a:spcPct val="115000"/>
              </a:lnSpc>
            </a:pPr>
            <a:r>
              <a:rPr sz="800" b="0" i="0">
                <a:solidFill>
                  <a:srgbClr val="E4D29D"/>
                </a:solidFill>
                <a:latin typeface="Calibri"/>
              </a:rPr>
              <a:t>  01 / 11</a:t>
            </a:r>
          </a:p>
        </p:txBody>
      </p:sp>
      <p:sp>
        <p:nvSpPr>
          <p:cNvPr id="45" name="TextBox 44"/>
          <p:cNvSpPr txBox="1"/>
          <p:nvPr/>
        </p:nvSpPr>
        <p:spPr>
          <a:xfrm>
            <a:off x="9646920" y="6446520"/>
            <a:ext cx="1097280" cy="292608"/>
          </a:xfrm>
          <a:prstGeom prst="rect">
            <a:avLst/>
          </a:prstGeom>
          <a:noFill/>
        </p:spPr>
        <p:txBody>
          <a:bodyPr wrap="square" lIns="0" rIns="0" tIns="0" bIns="0" anchor="ctr">
            <a:spAutoFit/>
          </a:bodyPr>
          <a:lstStyle/>
          <a:p>
            <a:pPr algn="l">
              <a:lnSpc>
                <a:spcPct val="115000"/>
              </a:lnSpc>
            </a:pPr>
            <a:r>
              <a:rPr sz="800" b="0" i="0">
                <a:solidFill>
                  <a:srgbClr val="E4D29D"/>
                </a:solidFill>
                <a:latin typeface="Calibri"/>
              </a:rPr>
              <a:t>  TITLE</a:t>
            </a:r>
          </a:p>
        </p:txBody>
      </p:sp>
      <p:sp>
        <p:nvSpPr>
          <p:cNvPr id="46" name="TextBox 45"/>
          <p:cNvSpPr txBox="1"/>
          <p:nvPr/>
        </p:nvSpPr>
        <p:spPr>
          <a:xfrm>
            <a:off x="10789920" y="6446520"/>
            <a:ext cx="1005840" cy="292608"/>
          </a:xfrm>
          <a:prstGeom prst="rect">
            <a:avLst/>
          </a:prstGeom>
          <a:noFill/>
        </p:spPr>
        <p:txBody>
          <a:bodyPr wrap="square" lIns="0" rIns="0" tIns="0" bIns="0" anchor="ctr">
            <a:spAutoFit/>
          </a:bodyPr>
          <a:lstStyle/>
          <a:p>
            <a:pPr algn="l">
              <a:lnSpc>
                <a:spcPct val="115000"/>
              </a:lnSpc>
            </a:pPr>
            <a:r>
              <a:rPr sz="800" b="0" i="0">
                <a:solidFill>
                  <a:srgbClr val="E4D29D"/>
                </a:solidFill>
                <a:latin typeface="Calibri"/>
              </a:rPr>
              <a:t>  2026.06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02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PROFILE</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Who I am — a researcher trained between Japan and China.</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02/11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3703320" cy="128016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1691640"/>
            <a:ext cx="73152" cy="128016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1828800"/>
            <a:ext cx="54864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01</a:t>
            </a:r>
          </a:p>
        </p:txBody>
      </p:sp>
      <p:sp>
        <p:nvSpPr>
          <p:cNvPr id="28" name="TextBox 27"/>
          <p:cNvSpPr txBox="1"/>
          <p:nvPr/>
        </p:nvSpPr>
        <p:spPr>
          <a:xfrm>
            <a:off x="1554480" y="1810512"/>
            <a:ext cx="2743200" cy="320040"/>
          </a:xfrm>
          <a:prstGeom prst="rect">
            <a:avLst/>
          </a:prstGeom>
          <a:noFill/>
        </p:spPr>
        <p:txBody>
          <a:bodyPr wrap="square" lIns="0" rIns="0" tIns="0" bIns="0" anchor="t">
            <a:spAutoFit/>
          </a:bodyPr>
          <a:lstStyle/>
          <a:p>
            <a:pPr algn="l">
              <a:lnSpc>
                <a:spcPct val="115000"/>
              </a:lnSpc>
            </a:pPr>
            <a:r>
              <a:rPr sz="1400" b="1" i="0">
                <a:solidFill>
                  <a:srgbClr val="142E55"/>
                </a:solidFill>
                <a:latin typeface="Calibri"/>
              </a:rPr>
              <a:t>JAPAN-TRAINED</a:t>
            </a:r>
          </a:p>
        </p:txBody>
      </p:sp>
      <p:sp>
        <p:nvSpPr>
          <p:cNvPr id="29" name="TextBox 28"/>
          <p:cNvSpPr txBox="1"/>
          <p:nvPr/>
        </p:nvSpPr>
        <p:spPr>
          <a:xfrm>
            <a:off x="914400" y="2194560"/>
            <a:ext cx="3337560" cy="777240"/>
          </a:xfrm>
          <a:prstGeom prst="rect">
            <a:avLst/>
          </a:prstGeom>
          <a:noFill/>
        </p:spPr>
        <p:txBody>
          <a:bodyPr wrap="square" lIns="0" rIns="0" tIns="0" bIns="0" anchor="t">
            <a:spAutoFit/>
          </a:bodyPr>
          <a:lstStyle/>
          <a:p>
            <a:pPr algn="l">
              <a:lnSpc>
                <a:spcPct val="140000"/>
              </a:lnSpc>
            </a:pPr>
            <a:r>
              <a:rPr sz="1100" b="0" i="0">
                <a:solidFill>
                  <a:srgbClr val="4A5568"/>
                </a:solidFill>
                <a:latin typeface="Calibri"/>
              </a:rPr>
              <a:t>Ph.D. (Architectural Environmental Engineering)</a:t>
            </a:r>
          </a:p>
          <a:p>
            <a:pPr algn="l">
              <a:lnSpc>
                <a:spcPct val="140000"/>
              </a:lnSpc>
            </a:pPr>
            <a:r>
              <a:rPr sz="1100" b="0" i="0">
                <a:solidFill>
                  <a:srgbClr val="4A5568"/>
                </a:solidFill>
                <a:latin typeface="Calibri"/>
              </a:rPr>
              <a:t>Saga University, Japan  ·  2017</a:t>
            </a:r>
          </a:p>
        </p:txBody>
      </p:sp>
      <p:sp>
        <p:nvSpPr>
          <p:cNvPr id="30" name="Rectangle 29"/>
          <p:cNvSpPr/>
          <p:nvPr/>
        </p:nvSpPr>
        <p:spPr>
          <a:xfrm>
            <a:off x="4480560" y="1691640"/>
            <a:ext cx="3703320" cy="128016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480560" y="1691640"/>
            <a:ext cx="73152" cy="128016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9160" y="1828800"/>
            <a:ext cx="54864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02</a:t>
            </a:r>
          </a:p>
        </p:txBody>
      </p:sp>
      <p:sp>
        <p:nvSpPr>
          <p:cNvPr id="33" name="TextBox 32"/>
          <p:cNvSpPr txBox="1"/>
          <p:nvPr/>
        </p:nvSpPr>
        <p:spPr>
          <a:xfrm>
            <a:off x="5349240" y="1810512"/>
            <a:ext cx="2743200" cy="320040"/>
          </a:xfrm>
          <a:prstGeom prst="rect">
            <a:avLst/>
          </a:prstGeom>
          <a:noFill/>
        </p:spPr>
        <p:txBody>
          <a:bodyPr wrap="square" lIns="0" rIns="0" tIns="0" bIns="0" anchor="t">
            <a:spAutoFit/>
          </a:bodyPr>
          <a:lstStyle/>
          <a:p>
            <a:pPr algn="l">
              <a:lnSpc>
                <a:spcPct val="115000"/>
              </a:lnSpc>
            </a:pPr>
            <a:r>
              <a:rPr sz="1400" b="1" i="0">
                <a:solidFill>
                  <a:srgbClr val="142E55"/>
                </a:solidFill>
                <a:latin typeface="Calibri"/>
              </a:rPr>
              <a:t>CHINA-EXPERIENCED</a:t>
            </a:r>
          </a:p>
        </p:txBody>
      </p:sp>
      <p:sp>
        <p:nvSpPr>
          <p:cNvPr id="34" name="TextBox 33"/>
          <p:cNvSpPr txBox="1"/>
          <p:nvPr/>
        </p:nvSpPr>
        <p:spPr>
          <a:xfrm>
            <a:off x="4709160" y="2194560"/>
            <a:ext cx="3337560" cy="777240"/>
          </a:xfrm>
          <a:prstGeom prst="rect">
            <a:avLst/>
          </a:prstGeom>
          <a:noFill/>
        </p:spPr>
        <p:txBody>
          <a:bodyPr wrap="square" lIns="0" rIns="0" tIns="0" bIns="0" anchor="t">
            <a:spAutoFit/>
          </a:bodyPr>
          <a:lstStyle/>
          <a:p>
            <a:pPr algn="l">
              <a:lnSpc>
                <a:spcPct val="140000"/>
              </a:lnSpc>
            </a:pPr>
            <a:r>
              <a:rPr sz="1100" b="0" i="0">
                <a:solidFill>
                  <a:srgbClr val="4A5568"/>
                </a:solidFill>
                <a:latin typeface="Calibri"/>
              </a:rPr>
              <a:t>Associate Professor</a:t>
            </a:r>
          </a:p>
          <a:p>
            <a:pPr algn="l">
              <a:lnSpc>
                <a:spcPct val="140000"/>
              </a:lnSpc>
            </a:pPr>
            <a:r>
              <a:rPr sz="1100" b="0" i="0">
                <a:solidFill>
                  <a:srgbClr val="4A5568"/>
                </a:solidFill>
                <a:latin typeface="Calibri"/>
              </a:rPr>
              <a:t>Zhejiang Sci-Tech University  ·  2018–2023</a:t>
            </a:r>
          </a:p>
        </p:txBody>
      </p:sp>
      <p:sp>
        <p:nvSpPr>
          <p:cNvPr id="35" name="Rectangle 34"/>
          <p:cNvSpPr/>
          <p:nvPr/>
        </p:nvSpPr>
        <p:spPr>
          <a:xfrm>
            <a:off x="8275320" y="1691640"/>
            <a:ext cx="3703320" cy="128016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75320" y="1691640"/>
            <a:ext cx="73152" cy="128016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03920" y="1828800"/>
            <a:ext cx="54864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03</a:t>
            </a:r>
          </a:p>
        </p:txBody>
      </p:sp>
      <p:sp>
        <p:nvSpPr>
          <p:cNvPr id="38" name="TextBox 37"/>
          <p:cNvSpPr txBox="1"/>
          <p:nvPr/>
        </p:nvSpPr>
        <p:spPr>
          <a:xfrm>
            <a:off x="9144000" y="1810512"/>
            <a:ext cx="2743200" cy="320040"/>
          </a:xfrm>
          <a:prstGeom prst="rect">
            <a:avLst/>
          </a:prstGeom>
          <a:noFill/>
        </p:spPr>
        <p:txBody>
          <a:bodyPr wrap="square" lIns="0" rIns="0" tIns="0" bIns="0" anchor="t">
            <a:spAutoFit/>
          </a:bodyPr>
          <a:lstStyle/>
          <a:p>
            <a:pPr algn="l">
              <a:lnSpc>
                <a:spcPct val="115000"/>
              </a:lnSpc>
            </a:pPr>
            <a:r>
              <a:rPr sz="1400" b="1" i="0">
                <a:solidFill>
                  <a:srgbClr val="142E55"/>
                </a:solidFill>
                <a:latin typeface="Calibri"/>
              </a:rPr>
              <a:t>JAPAN-RETURNED</a:t>
            </a:r>
          </a:p>
        </p:txBody>
      </p:sp>
      <p:sp>
        <p:nvSpPr>
          <p:cNvPr id="39" name="TextBox 38"/>
          <p:cNvSpPr txBox="1"/>
          <p:nvPr/>
        </p:nvSpPr>
        <p:spPr>
          <a:xfrm>
            <a:off x="8503920" y="2194560"/>
            <a:ext cx="3337560" cy="777240"/>
          </a:xfrm>
          <a:prstGeom prst="rect">
            <a:avLst/>
          </a:prstGeom>
          <a:noFill/>
        </p:spPr>
        <p:txBody>
          <a:bodyPr wrap="square" lIns="0" rIns="0" tIns="0" bIns="0" anchor="t">
            <a:spAutoFit/>
          </a:bodyPr>
          <a:lstStyle/>
          <a:p>
            <a:pPr algn="l">
              <a:lnSpc>
                <a:spcPct val="140000"/>
              </a:lnSpc>
            </a:pPr>
            <a:r>
              <a:rPr sz="1100" b="0" i="0">
                <a:solidFill>
                  <a:srgbClr val="4A5568"/>
                </a:solidFill>
                <a:latin typeface="Calibri"/>
              </a:rPr>
              <a:t>Lecturer (Tenure-track)</a:t>
            </a:r>
          </a:p>
          <a:p>
            <a:pPr algn="l">
              <a:lnSpc>
                <a:spcPct val="140000"/>
              </a:lnSpc>
            </a:pPr>
            <a:r>
              <a:rPr sz="1100" b="0" i="0">
                <a:solidFill>
                  <a:srgbClr val="4A5568"/>
                </a:solidFill>
                <a:latin typeface="Calibri"/>
              </a:rPr>
              <a:t>Yamaguchi University  ·  since Jan 2026</a:t>
            </a:r>
          </a:p>
        </p:txBody>
      </p:sp>
      <p:cxnSp>
        <p:nvCxnSpPr>
          <p:cNvPr id="40" name="Connector 39"/>
          <p:cNvCxnSpPr/>
          <p:nvPr/>
        </p:nvCxnSpPr>
        <p:spPr>
          <a:xfrm>
            <a:off x="685800" y="336499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14400" y="3200400"/>
            <a:ext cx="70866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CAREER TIMELINE  ·  10 YEARS ACROSS BUILDING → PERSON → CITY</a:t>
            </a:r>
          </a:p>
        </p:txBody>
      </p:sp>
      <p:cxnSp>
        <p:nvCxnSpPr>
          <p:cNvPr id="42" name="Connector 41"/>
          <p:cNvCxnSpPr/>
          <p:nvPr/>
        </p:nvCxnSpPr>
        <p:spPr>
          <a:xfrm>
            <a:off x="685800" y="4434840"/>
            <a:ext cx="10817352" cy="0"/>
          </a:xfrm>
          <a:prstGeom prst="line">
            <a:avLst/>
          </a:prstGeom>
          <a:ln w="19050">
            <a:solidFill>
              <a:srgbClr val="142E55"/>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594360" y="4343400"/>
            <a:ext cx="182880" cy="182880"/>
          </a:xfrm>
          <a:prstGeom prst="ellipse">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 y="3931920"/>
            <a:ext cx="1280160" cy="274320"/>
          </a:xfrm>
          <a:prstGeom prst="rect">
            <a:avLst/>
          </a:prstGeom>
          <a:noFill/>
        </p:spPr>
        <p:txBody>
          <a:bodyPr wrap="square" lIns="0" rIns="0" tIns="0" bIns="0" anchor="t">
            <a:spAutoFit/>
          </a:bodyPr>
          <a:lstStyle/>
          <a:p>
            <a:pPr algn="ctr">
              <a:lnSpc>
                <a:spcPct val="115000"/>
              </a:lnSpc>
            </a:pPr>
            <a:r>
              <a:rPr sz="900" b="1" i="0">
                <a:solidFill>
                  <a:srgbClr val="142E55"/>
                </a:solidFill>
                <a:latin typeface="Calibri"/>
              </a:rPr>
              <a:t>2009–2011</a:t>
            </a:r>
          </a:p>
        </p:txBody>
      </p:sp>
      <p:sp>
        <p:nvSpPr>
          <p:cNvPr id="45" name="TextBox 44"/>
          <p:cNvSpPr txBox="1"/>
          <p:nvPr/>
        </p:nvSpPr>
        <p:spPr>
          <a:xfrm>
            <a:off x="-137160" y="4572000"/>
            <a:ext cx="1645920" cy="777240"/>
          </a:xfrm>
          <a:prstGeom prst="rect">
            <a:avLst/>
          </a:prstGeom>
          <a:noFill/>
        </p:spPr>
        <p:txBody>
          <a:bodyPr wrap="square" lIns="0" rIns="0" tIns="0" bIns="0" anchor="t">
            <a:spAutoFit/>
          </a:bodyPr>
          <a:lstStyle/>
          <a:p>
            <a:pPr algn="ctr">
              <a:lnSpc>
                <a:spcPct val="125000"/>
              </a:lnSpc>
            </a:pPr>
            <a:r>
              <a:rPr sz="950" b="0" i="0">
                <a:solidFill>
                  <a:srgbClr val="4A5568"/>
                </a:solidFill>
                <a:latin typeface="Calibri"/>
              </a:rPr>
              <a:t>Master's</a:t>
            </a:r>
          </a:p>
          <a:p>
            <a:pPr algn="ctr">
              <a:lnSpc>
                <a:spcPct val="125000"/>
              </a:lnSpc>
            </a:pPr>
            <a:r>
              <a:rPr sz="950" b="0" i="0">
                <a:solidFill>
                  <a:srgbClr val="4A5568"/>
                </a:solidFill>
                <a:latin typeface="Calibri"/>
              </a:rPr>
              <a:t>Saga U.</a:t>
            </a:r>
          </a:p>
        </p:txBody>
      </p:sp>
      <p:sp>
        <p:nvSpPr>
          <p:cNvPr id="46" name="Oval 45"/>
          <p:cNvSpPr/>
          <p:nvPr/>
        </p:nvSpPr>
        <p:spPr>
          <a:xfrm>
            <a:off x="2216962" y="4343400"/>
            <a:ext cx="182880" cy="182880"/>
          </a:xfrm>
          <a:prstGeom prst="ellipse">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668322" y="3931920"/>
            <a:ext cx="1280160" cy="274320"/>
          </a:xfrm>
          <a:prstGeom prst="rect">
            <a:avLst/>
          </a:prstGeom>
          <a:noFill/>
        </p:spPr>
        <p:txBody>
          <a:bodyPr wrap="square" lIns="0" rIns="0" tIns="0" bIns="0" anchor="t">
            <a:spAutoFit/>
          </a:bodyPr>
          <a:lstStyle/>
          <a:p>
            <a:pPr algn="ctr">
              <a:lnSpc>
                <a:spcPct val="115000"/>
              </a:lnSpc>
            </a:pPr>
            <a:r>
              <a:rPr sz="900" b="1" i="0">
                <a:solidFill>
                  <a:srgbClr val="142E55"/>
                </a:solidFill>
                <a:latin typeface="Calibri"/>
              </a:rPr>
              <a:t>2014–2017</a:t>
            </a:r>
          </a:p>
        </p:txBody>
      </p:sp>
      <p:sp>
        <p:nvSpPr>
          <p:cNvPr id="48" name="TextBox 47"/>
          <p:cNvSpPr txBox="1"/>
          <p:nvPr/>
        </p:nvSpPr>
        <p:spPr>
          <a:xfrm>
            <a:off x="1485442" y="4572000"/>
            <a:ext cx="1645920" cy="777240"/>
          </a:xfrm>
          <a:prstGeom prst="rect">
            <a:avLst/>
          </a:prstGeom>
          <a:noFill/>
        </p:spPr>
        <p:txBody>
          <a:bodyPr wrap="square" lIns="0" rIns="0" tIns="0" bIns="0" anchor="t">
            <a:spAutoFit/>
          </a:bodyPr>
          <a:lstStyle/>
          <a:p>
            <a:pPr algn="ctr">
              <a:lnSpc>
                <a:spcPct val="125000"/>
              </a:lnSpc>
            </a:pPr>
            <a:r>
              <a:rPr sz="950" b="0" i="0">
                <a:solidFill>
                  <a:srgbClr val="4A5568"/>
                </a:solidFill>
                <a:latin typeface="Calibri"/>
              </a:rPr>
              <a:t>Ph.D.</a:t>
            </a:r>
          </a:p>
          <a:p>
            <a:pPr algn="ctr">
              <a:lnSpc>
                <a:spcPct val="125000"/>
              </a:lnSpc>
            </a:pPr>
            <a:r>
              <a:rPr sz="950" b="0" i="0">
                <a:solidFill>
                  <a:srgbClr val="4A5568"/>
                </a:solidFill>
                <a:latin typeface="Calibri"/>
              </a:rPr>
              <a:t>Saga U.</a:t>
            </a:r>
          </a:p>
        </p:txBody>
      </p:sp>
      <p:sp>
        <p:nvSpPr>
          <p:cNvPr id="49" name="Oval 48"/>
          <p:cNvSpPr/>
          <p:nvPr/>
        </p:nvSpPr>
        <p:spPr>
          <a:xfrm>
            <a:off x="4055912" y="4343400"/>
            <a:ext cx="182880" cy="182880"/>
          </a:xfrm>
          <a:prstGeom prst="ellipse">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507272" y="3931920"/>
            <a:ext cx="1280160" cy="274320"/>
          </a:xfrm>
          <a:prstGeom prst="rect">
            <a:avLst/>
          </a:prstGeom>
          <a:noFill/>
        </p:spPr>
        <p:txBody>
          <a:bodyPr wrap="square" lIns="0" rIns="0" tIns="0" bIns="0" anchor="t">
            <a:spAutoFit/>
          </a:bodyPr>
          <a:lstStyle/>
          <a:p>
            <a:pPr algn="ctr">
              <a:lnSpc>
                <a:spcPct val="115000"/>
              </a:lnSpc>
            </a:pPr>
            <a:r>
              <a:rPr sz="900" b="1" i="0">
                <a:solidFill>
                  <a:srgbClr val="142E55"/>
                </a:solidFill>
                <a:latin typeface="Calibri"/>
              </a:rPr>
              <a:t>2017–2018</a:t>
            </a:r>
          </a:p>
        </p:txBody>
      </p:sp>
      <p:sp>
        <p:nvSpPr>
          <p:cNvPr id="51" name="TextBox 50"/>
          <p:cNvSpPr txBox="1"/>
          <p:nvPr/>
        </p:nvSpPr>
        <p:spPr>
          <a:xfrm>
            <a:off x="3324392" y="4572000"/>
            <a:ext cx="1645920" cy="777240"/>
          </a:xfrm>
          <a:prstGeom prst="rect">
            <a:avLst/>
          </a:prstGeom>
          <a:noFill/>
        </p:spPr>
        <p:txBody>
          <a:bodyPr wrap="square" lIns="0" rIns="0" tIns="0" bIns="0" anchor="t">
            <a:spAutoFit/>
          </a:bodyPr>
          <a:lstStyle/>
          <a:p>
            <a:pPr algn="ctr">
              <a:lnSpc>
                <a:spcPct val="125000"/>
              </a:lnSpc>
            </a:pPr>
            <a:r>
              <a:rPr sz="950" b="0" i="0">
                <a:solidFill>
                  <a:srgbClr val="4A5568"/>
                </a:solidFill>
                <a:latin typeface="Calibri"/>
              </a:rPr>
              <a:t>Researcher</a:t>
            </a:r>
          </a:p>
          <a:p>
            <a:pPr algn="ctr">
              <a:lnSpc>
                <a:spcPct val="125000"/>
              </a:lnSpc>
            </a:pPr>
            <a:r>
              <a:rPr sz="950" b="0" i="0">
                <a:solidFill>
                  <a:srgbClr val="4A5568"/>
                </a:solidFill>
                <a:latin typeface="Calibri"/>
              </a:rPr>
              <a:t>Saga U.</a:t>
            </a:r>
          </a:p>
        </p:txBody>
      </p:sp>
      <p:sp>
        <p:nvSpPr>
          <p:cNvPr id="52" name="Oval 51"/>
          <p:cNvSpPr/>
          <p:nvPr/>
        </p:nvSpPr>
        <p:spPr>
          <a:xfrm>
            <a:off x="5570341" y="4343400"/>
            <a:ext cx="182880" cy="182880"/>
          </a:xfrm>
          <a:prstGeom prst="ellipse">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21701" y="3931920"/>
            <a:ext cx="1280160" cy="274320"/>
          </a:xfrm>
          <a:prstGeom prst="rect">
            <a:avLst/>
          </a:prstGeom>
          <a:noFill/>
        </p:spPr>
        <p:txBody>
          <a:bodyPr wrap="square" lIns="0" rIns="0" tIns="0" bIns="0" anchor="t">
            <a:spAutoFit/>
          </a:bodyPr>
          <a:lstStyle/>
          <a:p>
            <a:pPr algn="ctr">
              <a:lnSpc>
                <a:spcPct val="115000"/>
              </a:lnSpc>
            </a:pPr>
            <a:r>
              <a:rPr sz="900" b="1" i="0">
                <a:solidFill>
                  <a:srgbClr val="142E55"/>
                </a:solidFill>
                <a:latin typeface="Calibri"/>
              </a:rPr>
              <a:t>2018–2023</a:t>
            </a:r>
          </a:p>
        </p:txBody>
      </p:sp>
      <p:sp>
        <p:nvSpPr>
          <p:cNvPr id="54" name="TextBox 53"/>
          <p:cNvSpPr txBox="1"/>
          <p:nvPr/>
        </p:nvSpPr>
        <p:spPr>
          <a:xfrm>
            <a:off x="4838821" y="4572000"/>
            <a:ext cx="1645920" cy="777240"/>
          </a:xfrm>
          <a:prstGeom prst="rect">
            <a:avLst/>
          </a:prstGeom>
          <a:noFill/>
        </p:spPr>
        <p:txBody>
          <a:bodyPr wrap="square" lIns="0" rIns="0" tIns="0" bIns="0" anchor="t">
            <a:spAutoFit/>
          </a:bodyPr>
          <a:lstStyle/>
          <a:p>
            <a:pPr algn="ctr">
              <a:lnSpc>
                <a:spcPct val="125000"/>
              </a:lnSpc>
            </a:pPr>
            <a:r>
              <a:rPr sz="950" b="0" i="0">
                <a:solidFill>
                  <a:srgbClr val="4A5568"/>
                </a:solidFill>
                <a:latin typeface="Calibri"/>
              </a:rPr>
              <a:t>Associate Prof.</a:t>
            </a:r>
          </a:p>
          <a:p>
            <a:pPr algn="ctr">
              <a:lnSpc>
                <a:spcPct val="125000"/>
              </a:lnSpc>
            </a:pPr>
            <a:r>
              <a:rPr sz="950" b="0" i="0">
                <a:solidFill>
                  <a:srgbClr val="4A5568"/>
                </a:solidFill>
                <a:latin typeface="Calibri"/>
              </a:rPr>
              <a:t>ZSTU</a:t>
            </a:r>
          </a:p>
        </p:txBody>
      </p:sp>
      <p:sp>
        <p:nvSpPr>
          <p:cNvPr id="55" name="Oval 54"/>
          <p:cNvSpPr/>
          <p:nvPr/>
        </p:nvSpPr>
        <p:spPr>
          <a:xfrm>
            <a:off x="7733812" y="4343400"/>
            <a:ext cx="182880" cy="18288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185172" y="3931920"/>
            <a:ext cx="1280160" cy="274320"/>
          </a:xfrm>
          <a:prstGeom prst="rect">
            <a:avLst/>
          </a:prstGeom>
          <a:noFill/>
        </p:spPr>
        <p:txBody>
          <a:bodyPr wrap="square" lIns="0" rIns="0" tIns="0" bIns="0" anchor="t">
            <a:spAutoFit/>
          </a:bodyPr>
          <a:lstStyle/>
          <a:p>
            <a:pPr algn="ctr">
              <a:lnSpc>
                <a:spcPct val="115000"/>
              </a:lnSpc>
            </a:pPr>
            <a:r>
              <a:rPr sz="900" b="1" i="0">
                <a:solidFill>
                  <a:srgbClr val="142E55"/>
                </a:solidFill>
                <a:latin typeface="Calibri"/>
              </a:rPr>
              <a:t>2023–2025</a:t>
            </a:r>
          </a:p>
        </p:txBody>
      </p:sp>
      <p:sp>
        <p:nvSpPr>
          <p:cNvPr id="57" name="TextBox 56"/>
          <p:cNvSpPr txBox="1"/>
          <p:nvPr/>
        </p:nvSpPr>
        <p:spPr>
          <a:xfrm>
            <a:off x="7002292" y="4572000"/>
            <a:ext cx="1645920" cy="777240"/>
          </a:xfrm>
          <a:prstGeom prst="rect">
            <a:avLst/>
          </a:prstGeom>
          <a:noFill/>
        </p:spPr>
        <p:txBody>
          <a:bodyPr wrap="square" lIns="0" rIns="0" tIns="0" bIns="0" anchor="t">
            <a:spAutoFit/>
          </a:bodyPr>
          <a:lstStyle/>
          <a:p>
            <a:pPr algn="ctr">
              <a:lnSpc>
                <a:spcPct val="125000"/>
              </a:lnSpc>
            </a:pPr>
            <a:r>
              <a:rPr sz="950" b="0" i="0">
                <a:solidFill>
                  <a:srgbClr val="4A5568"/>
                </a:solidFill>
                <a:latin typeface="Calibri"/>
              </a:rPr>
              <a:t>Researcher</a:t>
            </a:r>
          </a:p>
          <a:p>
            <a:pPr algn="ctr">
              <a:lnSpc>
                <a:spcPct val="125000"/>
              </a:lnSpc>
            </a:pPr>
            <a:r>
              <a:rPr sz="950" b="0" i="0">
                <a:solidFill>
                  <a:srgbClr val="4A5568"/>
                </a:solidFill>
                <a:latin typeface="Calibri"/>
              </a:rPr>
              <a:t>Kumamoto City</a:t>
            </a:r>
          </a:p>
          <a:p>
            <a:pPr algn="ctr">
              <a:lnSpc>
                <a:spcPct val="125000"/>
              </a:lnSpc>
            </a:pPr>
            <a:r>
              <a:rPr sz="950" b="0" i="0">
                <a:solidFill>
                  <a:srgbClr val="4A5568"/>
                </a:solidFill>
                <a:latin typeface="Calibri"/>
              </a:rPr>
              <a:t>Policy Institute</a:t>
            </a:r>
          </a:p>
        </p:txBody>
      </p:sp>
      <p:sp>
        <p:nvSpPr>
          <p:cNvPr id="58" name="Oval 57"/>
          <p:cNvSpPr/>
          <p:nvPr/>
        </p:nvSpPr>
        <p:spPr>
          <a:xfrm>
            <a:off x="9897282" y="4343400"/>
            <a:ext cx="182880" cy="18288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348642" y="3931920"/>
            <a:ext cx="1280160" cy="274320"/>
          </a:xfrm>
          <a:prstGeom prst="rect">
            <a:avLst/>
          </a:prstGeom>
          <a:noFill/>
        </p:spPr>
        <p:txBody>
          <a:bodyPr wrap="square" lIns="0" rIns="0" tIns="0" bIns="0" anchor="t">
            <a:spAutoFit/>
          </a:bodyPr>
          <a:lstStyle/>
          <a:p>
            <a:pPr algn="ctr">
              <a:lnSpc>
                <a:spcPct val="115000"/>
              </a:lnSpc>
            </a:pPr>
            <a:r>
              <a:rPr sz="900" b="1" i="0">
                <a:solidFill>
                  <a:srgbClr val="142E55"/>
                </a:solidFill>
                <a:latin typeface="Calibri"/>
              </a:rPr>
              <a:t>2026—</a:t>
            </a:r>
          </a:p>
        </p:txBody>
      </p:sp>
      <p:sp>
        <p:nvSpPr>
          <p:cNvPr id="60" name="TextBox 59"/>
          <p:cNvSpPr txBox="1"/>
          <p:nvPr/>
        </p:nvSpPr>
        <p:spPr>
          <a:xfrm>
            <a:off x="9165762" y="4572000"/>
            <a:ext cx="1645920" cy="777240"/>
          </a:xfrm>
          <a:prstGeom prst="rect">
            <a:avLst/>
          </a:prstGeom>
          <a:noFill/>
        </p:spPr>
        <p:txBody>
          <a:bodyPr wrap="square" lIns="0" rIns="0" tIns="0" bIns="0" anchor="t">
            <a:spAutoFit/>
          </a:bodyPr>
          <a:lstStyle/>
          <a:p>
            <a:pPr algn="ctr">
              <a:lnSpc>
                <a:spcPct val="125000"/>
              </a:lnSpc>
            </a:pPr>
            <a:r>
              <a:rPr sz="950" b="0" i="0">
                <a:solidFill>
                  <a:srgbClr val="4A5568"/>
                </a:solidFill>
                <a:latin typeface="Calibri"/>
              </a:rPr>
              <a:t>Lecturer</a:t>
            </a:r>
          </a:p>
          <a:p>
            <a:pPr algn="ctr">
              <a:lnSpc>
                <a:spcPct val="125000"/>
              </a:lnSpc>
            </a:pPr>
            <a:r>
              <a:rPr sz="950" b="0" i="0">
                <a:solidFill>
                  <a:srgbClr val="4A5568"/>
                </a:solidFill>
                <a:latin typeface="Calibri"/>
              </a:rPr>
              <a:t>Yamaguchi U.</a:t>
            </a:r>
          </a:p>
        </p:txBody>
      </p:sp>
      <p:sp>
        <p:nvSpPr>
          <p:cNvPr id="61" name="Oval 60"/>
          <p:cNvSpPr/>
          <p:nvPr/>
        </p:nvSpPr>
        <p:spPr>
          <a:xfrm>
            <a:off x="685800" y="5394960"/>
            <a:ext cx="164592" cy="164592"/>
          </a:xfrm>
          <a:prstGeom prst="ellipse">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14400" y="5349240"/>
            <a:ext cx="2743200" cy="274320"/>
          </a:xfrm>
          <a:prstGeom prst="rect">
            <a:avLst/>
          </a:prstGeom>
          <a:noFill/>
        </p:spPr>
        <p:txBody>
          <a:bodyPr wrap="square" lIns="0" rIns="0" tIns="0" bIns="0" anchor="ctr">
            <a:spAutoFit/>
          </a:bodyPr>
          <a:lstStyle/>
          <a:p>
            <a:pPr algn="l">
              <a:lnSpc>
                <a:spcPct val="115000"/>
              </a:lnSpc>
            </a:pPr>
            <a:r>
              <a:rPr sz="950" b="1" i="0">
                <a:solidFill>
                  <a:srgbClr val="4A5568"/>
                </a:solidFill>
                <a:latin typeface="Calibri"/>
              </a:rPr>
              <a:t>STAGE 1  ·  BUILDING</a:t>
            </a:r>
          </a:p>
        </p:txBody>
      </p:sp>
      <p:sp>
        <p:nvSpPr>
          <p:cNvPr id="63" name="Oval 62"/>
          <p:cNvSpPr/>
          <p:nvPr/>
        </p:nvSpPr>
        <p:spPr>
          <a:xfrm>
            <a:off x="3429000" y="5394960"/>
            <a:ext cx="164592" cy="164592"/>
          </a:xfrm>
          <a:prstGeom prst="ellipse">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657600" y="5349240"/>
            <a:ext cx="2743200" cy="274320"/>
          </a:xfrm>
          <a:prstGeom prst="rect">
            <a:avLst/>
          </a:prstGeom>
          <a:noFill/>
        </p:spPr>
        <p:txBody>
          <a:bodyPr wrap="square" lIns="0" rIns="0" tIns="0" bIns="0" anchor="ctr">
            <a:spAutoFit/>
          </a:bodyPr>
          <a:lstStyle/>
          <a:p>
            <a:pPr algn="l">
              <a:lnSpc>
                <a:spcPct val="115000"/>
              </a:lnSpc>
            </a:pPr>
            <a:r>
              <a:rPr sz="950" b="1" i="0">
                <a:solidFill>
                  <a:srgbClr val="4A5568"/>
                </a:solidFill>
                <a:latin typeface="Calibri"/>
              </a:rPr>
              <a:t>STAGE 2  ·  PERSON</a:t>
            </a:r>
          </a:p>
        </p:txBody>
      </p:sp>
      <p:sp>
        <p:nvSpPr>
          <p:cNvPr id="65" name="Oval 64"/>
          <p:cNvSpPr/>
          <p:nvPr/>
        </p:nvSpPr>
        <p:spPr>
          <a:xfrm>
            <a:off x="6172200" y="5394960"/>
            <a:ext cx="164592" cy="164592"/>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349240"/>
            <a:ext cx="2743200" cy="274320"/>
          </a:xfrm>
          <a:prstGeom prst="rect">
            <a:avLst/>
          </a:prstGeom>
          <a:noFill/>
        </p:spPr>
        <p:txBody>
          <a:bodyPr wrap="square" lIns="0" rIns="0" tIns="0" bIns="0" anchor="ctr">
            <a:spAutoFit/>
          </a:bodyPr>
          <a:lstStyle/>
          <a:p>
            <a:pPr algn="l">
              <a:lnSpc>
                <a:spcPct val="115000"/>
              </a:lnSpc>
            </a:pPr>
            <a:r>
              <a:rPr sz="950" b="1" i="0">
                <a:solidFill>
                  <a:srgbClr val="4A5568"/>
                </a:solidFill>
                <a:latin typeface="Calibri"/>
              </a:rPr>
              <a:t>STAGE 3  ·  CITY</a:t>
            </a:r>
          </a:p>
        </p:txBody>
      </p:sp>
      <p:sp>
        <p:nvSpPr>
          <p:cNvPr id="67" name="Rectangle 66"/>
          <p:cNvSpPr/>
          <p:nvPr/>
        </p:nvSpPr>
        <p:spPr>
          <a:xfrm>
            <a:off x="685800" y="5760720"/>
            <a:ext cx="10972800" cy="5943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8680" y="5879592"/>
            <a:ext cx="10607040" cy="36576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ONE OF THE FEW RESEARCHERS WHO WORKS NATIVELY ACROSS JAPANESE REGIONAL CITIES</a:t>
            </a:r>
          </a:p>
        </p:txBody>
      </p:sp>
      <p:sp>
        <p:nvSpPr>
          <p:cNvPr id="69" name="TextBox 68"/>
          <p:cNvSpPr txBox="1"/>
          <p:nvPr/>
        </p:nvSpPr>
        <p:spPr>
          <a:xfrm>
            <a:off x="868680" y="6080760"/>
            <a:ext cx="10607040" cy="274320"/>
          </a:xfrm>
          <a:prstGeom prst="rect">
            <a:avLst/>
          </a:prstGeom>
          <a:noFill/>
        </p:spPr>
        <p:txBody>
          <a:bodyPr wrap="square" lIns="0" rIns="0" tIns="0" bIns="0" anchor="t">
            <a:spAutoFit/>
          </a:bodyPr>
          <a:lstStyle/>
          <a:p>
            <a:pPr algn="l">
              <a:lnSpc>
                <a:spcPct val="115000"/>
              </a:lnSpc>
            </a:pPr>
            <a:r>
              <a:rPr sz="1200" b="0" i="1">
                <a:solidFill>
                  <a:srgbClr val="FFFFFF"/>
                </a:solidFill>
                <a:latin typeface="Calibri"/>
              </a:rPr>
              <a:t>and Chinese high-density urbanism — through one continuous research agenda on urban heat.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03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PROBLEM SETTING</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Climate change becomes a local problem — on every street.</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03/11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5852160" cy="3017520"/>
          </a:xfrm>
          <a:prstGeom prst="rect">
            <a:avLst/>
          </a:prstGeom>
          <a:solidFill>
            <a:srgbClr val="FAFBFC"/>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822960" y="194767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51560" y="1783080"/>
            <a:ext cx="43434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STREET SECTION  ·  WHAT AN ELDERLY RESIDENT FACES</a:t>
            </a:r>
          </a:p>
        </p:txBody>
      </p:sp>
      <p:sp>
        <p:nvSpPr>
          <p:cNvPr id="28" name="Oval 27"/>
          <p:cNvSpPr/>
          <p:nvPr/>
        </p:nvSpPr>
        <p:spPr>
          <a:xfrm>
            <a:off x="5417820" y="2400300"/>
            <a:ext cx="320040" cy="320040"/>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5785866.0" y="2560320.0"/>
            <a:ext cx="96012.0" cy="0.0"/>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24936.595263112" y="2707416.595263113"/>
            <a:ext cx="67890.73627528362" cy="67890.73627528269"/>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577840.0" y="2768346.0"/>
            <a:ext cx="0.0" cy="96012.0"/>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5362852.668461604" y="2707416.595263113"/>
            <a:ext cx="67890.73627528362" cy="67890.73627528269"/>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5273802.0" y="2560320.0"/>
            <a:ext cx="96012.0" cy="0.0"/>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5362852.668461604" y="2345332.6684616045"/>
            <a:ext cx="67890.73627528362" cy="67890.73627528269"/>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5577840.0" y="2256282.0"/>
            <a:ext cx="0.0" cy="96012.0"/>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724936.595263112" y="2345332.6684616045"/>
            <a:ext cx="67890.73627528362" cy="67890.73627528269"/>
          </a:xfrm>
          <a:prstGeom prst="line">
            <a:avLst/>
          </a:prstGeom>
          <a:ln w="19050">
            <a:solidFill>
              <a:srgbClr val="D9534F"/>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960120" y="4297680"/>
            <a:ext cx="5303520" cy="914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143000" y="3182112"/>
            <a:ext cx="822960" cy="658368"/>
          </a:xfrm>
          <a:prstGeom prst="rect">
            <a:avLst/>
          </a:prstGeom>
          <a:noFill/>
          <a:ln w="15240">
            <a:solidFill>
              <a:srgbClr val="2A4D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sosceles Triangle 38"/>
          <p:cNvSpPr/>
          <p:nvPr/>
        </p:nvSpPr>
        <p:spPr>
          <a:xfrm>
            <a:off x="1143000" y="3017520"/>
            <a:ext cx="822960" cy="205740"/>
          </a:xfrm>
          <a:prstGeom prst="triangle">
            <a:avLst/>
          </a:prstGeom>
          <a:noFill/>
          <a:ln w="15240">
            <a:solidFill>
              <a:srgbClr val="2A4D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241755" y="330555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447495" y="330555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653235" y="330555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241755" y="349483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447495" y="349483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653235" y="349483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057400" y="2816352"/>
            <a:ext cx="822960" cy="658368"/>
          </a:xfrm>
          <a:prstGeom prst="rect">
            <a:avLst/>
          </a:prstGeom>
          <a:noFill/>
          <a:ln w="15240">
            <a:solidFill>
              <a:srgbClr val="2A4D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Isosceles Triangle 46"/>
          <p:cNvSpPr/>
          <p:nvPr/>
        </p:nvSpPr>
        <p:spPr>
          <a:xfrm>
            <a:off x="2057400" y="2651760"/>
            <a:ext cx="822960" cy="205740"/>
          </a:xfrm>
          <a:prstGeom prst="triangle">
            <a:avLst/>
          </a:prstGeom>
          <a:noFill/>
          <a:ln w="15240">
            <a:solidFill>
              <a:srgbClr val="2A4D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156155" y="293979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361895" y="293979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567635" y="293979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156155" y="312907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2361895" y="312907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567635" y="3129076"/>
            <a:ext cx="148132" cy="12344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51560" y="4251960"/>
            <a:ext cx="2194560" cy="4572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7280" y="4462272"/>
            <a:ext cx="2286000" cy="274320"/>
          </a:xfrm>
          <a:prstGeom prst="rect">
            <a:avLst/>
          </a:prstGeom>
          <a:noFill/>
        </p:spPr>
        <p:txBody>
          <a:bodyPr wrap="square" lIns="0" rIns="0" tIns="0" bIns="0" anchor="t">
            <a:spAutoFit/>
          </a:bodyPr>
          <a:lstStyle/>
          <a:p>
            <a:pPr algn="l">
              <a:lnSpc>
                <a:spcPct val="115000"/>
              </a:lnSpc>
            </a:pPr>
            <a:r>
              <a:rPr sz="900" b="1" i="0">
                <a:solidFill>
                  <a:srgbClr val="D9534F"/>
                </a:solidFill>
                <a:latin typeface="Calibri"/>
              </a:rPr>
              <a:t>HOT  ·  built-up</a:t>
            </a:r>
          </a:p>
        </p:txBody>
      </p:sp>
      <p:sp>
        <p:nvSpPr>
          <p:cNvPr id="56" name="Oval 55"/>
          <p:cNvSpPr/>
          <p:nvPr/>
        </p:nvSpPr>
        <p:spPr>
          <a:xfrm>
            <a:off x="3472891" y="3520440"/>
            <a:ext cx="140817" cy="140817"/>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392424" y="3686403"/>
            <a:ext cx="301752" cy="2514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446739" y="3937863"/>
            <a:ext cx="60350" cy="9052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579510" y="3937863"/>
            <a:ext cx="60350" cy="9052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sosceles Triangle 59"/>
          <p:cNvSpPr/>
          <p:nvPr/>
        </p:nvSpPr>
        <p:spPr>
          <a:xfrm>
            <a:off x="4343400" y="3291840"/>
            <a:ext cx="731520" cy="512063"/>
          </a:xfrm>
          <a:prstGeom prst="triangle">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36008" y="3803904"/>
            <a:ext cx="146304" cy="219456"/>
          </a:xfrm>
          <a:prstGeom prst="rect">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sosceles Triangle 61"/>
          <p:cNvSpPr/>
          <p:nvPr/>
        </p:nvSpPr>
        <p:spPr>
          <a:xfrm>
            <a:off x="5212080" y="3429000"/>
            <a:ext cx="640080" cy="448056"/>
          </a:xfrm>
          <a:prstGeom prst="triangle">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468112" y="3877056"/>
            <a:ext cx="128016" cy="192024"/>
          </a:xfrm>
          <a:prstGeom prst="rect">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51960" y="4251960"/>
            <a:ext cx="1828800" cy="45720"/>
          </a:xfrm>
          <a:prstGeom prst="rect">
            <a:avLst/>
          </a:prstGeom>
          <a:solidFill>
            <a:srgbClr val="6F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297680" y="4462272"/>
            <a:ext cx="2286000" cy="274320"/>
          </a:xfrm>
          <a:prstGeom prst="rect">
            <a:avLst/>
          </a:prstGeom>
          <a:noFill/>
        </p:spPr>
        <p:txBody>
          <a:bodyPr wrap="square" lIns="0" rIns="0" tIns="0" bIns="0" anchor="t">
            <a:spAutoFit/>
          </a:bodyPr>
          <a:lstStyle/>
          <a:p>
            <a:pPr algn="l">
              <a:lnSpc>
                <a:spcPct val="115000"/>
              </a:lnSpc>
            </a:pPr>
            <a:r>
              <a:rPr sz="900" b="1" i="0">
                <a:solidFill>
                  <a:srgbClr val="6FA8C6"/>
                </a:solidFill>
                <a:latin typeface="Calibri"/>
              </a:rPr>
              <a:t>COOL  ·  green &amp; wind</a:t>
            </a:r>
          </a:p>
        </p:txBody>
      </p:sp>
      <p:cxnSp>
        <p:nvCxnSpPr>
          <p:cNvPr id="66" name="Connector 65"/>
          <p:cNvCxnSpPr/>
          <p:nvPr/>
        </p:nvCxnSpPr>
        <p:spPr>
          <a:xfrm>
            <a:off x="1051560" y="4663440"/>
            <a:ext cx="5029200" cy="0"/>
          </a:xfrm>
          <a:prstGeom prst="line">
            <a:avLst/>
          </a:prstGeom>
          <a:ln w="25400">
            <a:solidFill>
              <a:srgbClr val="C9A961"/>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1051560" y="4709160"/>
            <a:ext cx="5029200" cy="274320"/>
          </a:xfrm>
          <a:prstGeom prst="rect">
            <a:avLst/>
          </a:prstGeom>
          <a:noFill/>
        </p:spPr>
        <p:txBody>
          <a:bodyPr wrap="square" lIns="0" rIns="0" tIns="0" bIns="0" anchor="t">
            <a:spAutoFit/>
          </a:bodyPr>
          <a:lstStyle/>
          <a:p>
            <a:pPr algn="ctr">
              <a:lnSpc>
                <a:spcPct val="115000"/>
              </a:lnSpc>
            </a:pPr>
            <a:r>
              <a:rPr sz="900" b="1" i="1">
                <a:solidFill>
                  <a:srgbClr val="8C6F33"/>
                </a:solidFill>
                <a:latin typeface="Calibri"/>
              </a:rPr>
              <a:t>← 500–1000 m daily-activity corridor →</a:t>
            </a:r>
          </a:p>
        </p:txBody>
      </p:sp>
      <p:cxnSp>
        <p:nvCxnSpPr>
          <p:cNvPr id="68" name="Connector 67"/>
          <p:cNvCxnSpPr/>
          <p:nvPr/>
        </p:nvCxnSpPr>
        <p:spPr>
          <a:xfrm>
            <a:off x="6812280" y="18562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040880" y="1691640"/>
            <a:ext cx="48006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THE NUMBERS  ·  FDMA 2024</a:t>
            </a:r>
          </a:p>
        </p:txBody>
      </p:sp>
      <p:sp>
        <p:nvSpPr>
          <p:cNvPr id="70" name="TextBox 69"/>
          <p:cNvSpPr txBox="1"/>
          <p:nvPr/>
        </p:nvSpPr>
        <p:spPr>
          <a:xfrm>
            <a:off x="6812280" y="2103120"/>
            <a:ext cx="5120640" cy="914400"/>
          </a:xfrm>
          <a:prstGeom prst="rect">
            <a:avLst/>
          </a:prstGeom>
          <a:noFill/>
        </p:spPr>
        <p:txBody>
          <a:bodyPr wrap="square" lIns="0" rIns="0" tIns="0" bIns="0" anchor="t">
            <a:spAutoFit/>
          </a:bodyPr>
          <a:lstStyle/>
          <a:p>
            <a:pPr algn="l">
              <a:lnSpc>
                <a:spcPct val="100000"/>
              </a:lnSpc>
            </a:pPr>
            <a:r>
              <a:rPr sz="4600" b="1" i="0">
                <a:solidFill>
                  <a:srgbClr val="D9534F"/>
                </a:solidFill>
                <a:latin typeface="Calibri"/>
              </a:rPr>
              <a:t>91,000+</a:t>
            </a:r>
          </a:p>
        </p:txBody>
      </p:sp>
      <p:sp>
        <p:nvSpPr>
          <p:cNvPr id="71" name="TextBox 70"/>
          <p:cNvSpPr txBox="1"/>
          <p:nvPr/>
        </p:nvSpPr>
        <p:spPr>
          <a:xfrm>
            <a:off x="6812280" y="2971800"/>
            <a:ext cx="5120640" cy="320040"/>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heatstroke emergency transports — Japan, 2023</a:t>
            </a:r>
          </a:p>
        </p:txBody>
      </p:sp>
      <p:sp>
        <p:nvSpPr>
          <p:cNvPr id="72" name="TextBox 71"/>
          <p:cNvSpPr txBox="1"/>
          <p:nvPr/>
        </p:nvSpPr>
        <p:spPr>
          <a:xfrm>
            <a:off x="6812280" y="3383280"/>
            <a:ext cx="5120640" cy="502920"/>
          </a:xfrm>
          <a:prstGeom prst="rect">
            <a:avLst/>
          </a:prstGeom>
          <a:noFill/>
        </p:spPr>
        <p:txBody>
          <a:bodyPr wrap="square" lIns="0" rIns="0" tIns="0" bIns="0" anchor="t">
            <a:spAutoFit/>
          </a:bodyPr>
          <a:lstStyle/>
          <a:p>
            <a:pPr algn="l">
              <a:lnSpc>
                <a:spcPct val="115000"/>
              </a:lnSpc>
            </a:pPr>
            <a:r>
              <a:rPr sz="1800" b="1" i="0">
                <a:solidFill>
                  <a:srgbClr val="142E55"/>
                </a:solidFill>
                <a:latin typeface="Calibri"/>
              </a:rPr>
              <a:t>1,200+  in Yamaguchi  ·  60%  aged 65+</a:t>
            </a:r>
          </a:p>
        </p:txBody>
      </p:sp>
      <p:sp>
        <p:nvSpPr>
          <p:cNvPr id="73" name="TextBox 72"/>
          <p:cNvSpPr txBox="1"/>
          <p:nvPr/>
        </p:nvSpPr>
        <p:spPr>
          <a:xfrm>
            <a:off x="6812280" y="3886200"/>
            <a:ext cx="5120640" cy="365760"/>
          </a:xfrm>
          <a:prstGeom prst="rect">
            <a:avLst/>
          </a:prstGeom>
          <a:noFill/>
        </p:spPr>
        <p:txBody>
          <a:bodyPr wrap="square" lIns="0" rIns="0" tIns="0" bIns="0" anchor="t">
            <a:spAutoFit/>
          </a:bodyPr>
          <a:lstStyle/>
          <a:p>
            <a:pPr algn="l">
              <a:lnSpc>
                <a:spcPct val="115000"/>
              </a:lnSpc>
            </a:pPr>
            <a:r>
              <a:rPr sz="1100" b="0" i="1">
                <a:solidFill>
                  <a:srgbClr val="4A5568"/>
                </a:solidFill>
                <a:latin typeface="Calibri"/>
              </a:rPr>
              <a:t>Heat is no longer just weather — it is a regional public-health issue.</a:t>
            </a:r>
          </a:p>
        </p:txBody>
      </p:sp>
      <p:cxnSp>
        <p:nvCxnSpPr>
          <p:cNvPr id="74" name="Connector 73"/>
          <p:cNvCxnSpPr/>
          <p:nvPr/>
        </p:nvCxnSpPr>
        <p:spPr>
          <a:xfrm>
            <a:off x="6812280" y="45994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7040880" y="4434840"/>
            <a:ext cx="48006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MY THREE QUESTIONS</a:t>
            </a:r>
          </a:p>
        </p:txBody>
      </p:sp>
      <p:sp>
        <p:nvSpPr>
          <p:cNvPr id="76" name="Rectangle 75"/>
          <p:cNvSpPr/>
          <p:nvPr/>
        </p:nvSpPr>
        <p:spPr>
          <a:xfrm>
            <a:off x="6812280" y="4892040"/>
            <a:ext cx="54864" cy="27432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4846320"/>
            <a:ext cx="1280160" cy="365760"/>
          </a:xfrm>
          <a:prstGeom prst="rect">
            <a:avLst/>
          </a:prstGeom>
          <a:noFill/>
        </p:spPr>
        <p:txBody>
          <a:bodyPr wrap="square" lIns="0" rIns="0" tIns="0" bIns="0" anchor="t">
            <a:spAutoFit/>
          </a:bodyPr>
          <a:lstStyle/>
          <a:p>
            <a:pPr algn="l">
              <a:lnSpc>
                <a:spcPct val="115000"/>
              </a:lnSpc>
            </a:pPr>
            <a:r>
              <a:rPr sz="1500" b="1" i="0">
                <a:solidFill>
                  <a:srgbClr val="142E55"/>
                </a:solidFill>
                <a:latin typeface="Calibri"/>
              </a:rPr>
              <a:t>WHERE</a:t>
            </a:r>
          </a:p>
        </p:txBody>
      </p:sp>
      <p:sp>
        <p:nvSpPr>
          <p:cNvPr id="78" name="TextBox 77"/>
          <p:cNvSpPr txBox="1"/>
          <p:nvPr/>
        </p:nvSpPr>
        <p:spPr>
          <a:xfrm>
            <a:off x="8229600" y="4882896"/>
            <a:ext cx="3657600" cy="365760"/>
          </a:xfrm>
          <a:prstGeom prst="rect">
            <a:avLst/>
          </a:prstGeom>
          <a:noFill/>
        </p:spPr>
        <p:txBody>
          <a:bodyPr wrap="square" lIns="0" rIns="0" tIns="0" bIns="0" anchor="t">
            <a:spAutoFit/>
          </a:bodyPr>
          <a:lstStyle/>
          <a:p>
            <a:pPr algn="l">
              <a:lnSpc>
                <a:spcPct val="115000"/>
              </a:lnSpc>
            </a:pPr>
            <a:r>
              <a:rPr sz="1300" b="0" i="0">
                <a:solidFill>
                  <a:srgbClr val="4A5568"/>
                </a:solidFill>
                <a:latin typeface="Calibri"/>
              </a:rPr>
              <a:t>is it hot?</a:t>
            </a:r>
          </a:p>
        </p:txBody>
      </p:sp>
      <p:sp>
        <p:nvSpPr>
          <p:cNvPr id="79" name="Rectangle 78"/>
          <p:cNvSpPr/>
          <p:nvPr/>
        </p:nvSpPr>
        <p:spPr>
          <a:xfrm>
            <a:off x="6812280" y="5303520"/>
            <a:ext cx="54864" cy="27432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995160" y="5257800"/>
            <a:ext cx="1280160" cy="365760"/>
          </a:xfrm>
          <a:prstGeom prst="rect">
            <a:avLst/>
          </a:prstGeom>
          <a:noFill/>
        </p:spPr>
        <p:txBody>
          <a:bodyPr wrap="square" lIns="0" rIns="0" tIns="0" bIns="0" anchor="t">
            <a:spAutoFit/>
          </a:bodyPr>
          <a:lstStyle/>
          <a:p>
            <a:pPr algn="l">
              <a:lnSpc>
                <a:spcPct val="115000"/>
              </a:lnSpc>
            </a:pPr>
            <a:r>
              <a:rPr sz="1500" b="1" i="0">
                <a:solidFill>
                  <a:srgbClr val="142E55"/>
                </a:solidFill>
                <a:latin typeface="Calibri"/>
              </a:rPr>
              <a:t>WHY</a:t>
            </a:r>
          </a:p>
        </p:txBody>
      </p:sp>
      <p:sp>
        <p:nvSpPr>
          <p:cNvPr id="81" name="TextBox 80"/>
          <p:cNvSpPr txBox="1"/>
          <p:nvPr/>
        </p:nvSpPr>
        <p:spPr>
          <a:xfrm>
            <a:off x="8229600" y="5294376"/>
            <a:ext cx="3657600" cy="365760"/>
          </a:xfrm>
          <a:prstGeom prst="rect">
            <a:avLst/>
          </a:prstGeom>
          <a:noFill/>
        </p:spPr>
        <p:txBody>
          <a:bodyPr wrap="square" lIns="0" rIns="0" tIns="0" bIns="0" anchor="t">
            <a:spAutoFit/>
          </a:bodyPr>
          <a:lstStyle/>
          <a:p>
            <a:pPr algn="l">
              <a:lnSpc>
                <a:spcPct val="115000"/>
              </a:lnSpc>
            </a:pPr>
            <a:r>
              <a:rPr sz="1300" b="0" i="0">
                <a:solidFill>
                  <a:srgbClr val="4A5568"/>
                </a:solidFill>
                <a:latin typeface="Calibri"/>
              </a:rPr>
              <a:t>is it hot?</a:t>
            </a:r>
          </a:p>
        </p:txBody>
      </p:sp>
      <p:sp>
        <p:nvSpPr>
          <p:cNvPr id="82" name="Rectangle 81"/>
          <p:cNvSpPr/>
          <p:nvPr/>
        </p:nvSpPr>
        <p:spPr>
          <a:xfrm>
            <a:off x="6812280" y="5715000"/>
            <a:ext cx="54864" cy="27432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995160" y="5669280"/>
            <a:ext cx="1280160" cy="365760"/>
          </a:xfrm>
          <a:prstGeom prst="rect">
            <a:avLst/>
          </a:prstGeom>
          <a:noFill/>
        </p:spPr>
        <p:txBody>
          <a:bodyPr wrap="square" lIns="0" rIns="0" tIns="0" bIns="0" anchor="t">
            <a:spAutoFit/>
          </a:bodyPr>
          <a:lstStyle/>
          <a:p>
            <a:pPr algn="l">
              <a:lnSpc>
                <a:spcPct val="115000"/>
              </a:lnSpc>
            </a:pPr>
            <a:r>
              <a:rPr sz="1500" b="1" i="0">
                <a:solidFill>
                  <a:srgbClr val="142E55"/>
                </a:solidFill>
                <a:latin typeface="Calibri"/>
              </a:rPr>
              <a:t>HOW</a:t>
            </a:r>
          </a:p>
        </p:txBody>
      </p:sp>
      <p:sp>
        <p:nvSpPr>
          <p:cNvPr id="84" name="TextBox 83"/>
          <p:cNvSpPr txBox="1"/>
          <p:nvPr/>
        </p:nvSpPr>
        <p:spPr>
          <a:xfrm>
            <a:off x="8229600" y="5705856"/>
            <a:ext cx="3657600" cy="365760"/>
          </a:xfrm>
          <a:prstGeom prst="rect">
            <a:avLst/>
          </a:prstGeom>
          <a:noFill/>
        </p:spPr>
        <p:txBody>
          <a:bodyPr wrap="square" lIns="0" rIns="0" tIns="0" bIns="0" anchor="t">
            <a:spAutoFit/>
          </a:bodyPr>
          <a:lstStyle/>
          <a:p>
            <a:pPr algn="l">
              <a:lnSpc>
                <a:spcPct val="115000"/>
              </a:lnSpc>
            </a:pPr>
            <a:r>
              <a:rPr sz="1300" b="0" i="0">
                <a:solidFill>
                  <a:srgbClr val="4A5568"/>
                </a:solidFill>
                <a:latin typeface="Calibri"/>
              </a:rPr>
              <a:t>to cool &amp; re-vitalize the city?</a:t>
            </a:r>
          </a:p>
        </p:txBody>
      </p:sp>
      <p:sp>
        <p:nvSpPr>
          <p:cNvPr id="85" name="Rectangle 84"/>
          <p:cNvSpPr/>
          <p:nvPr/>
        </p:nvSpPr>
        <p:spPr>
          <a:xfrm>
            <a:off x="685800" y="6263640"/>
            <a:ext cx="10972800" cy="2743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68680" y="6263640"/>
            <a:ext cx="10607040" cy="274320"/>
          </a:xfrm>
          <a:prstGeom prst="rect">
            <a:avLst/>
          </a:prstGeom>
          <a:noFill/>
        </p:spPr>
        <p:txBody>
          <a:bodyPr wrap="square" lIns="0" rIns="0" tIns="0" bIns="0" anchor="ctr">
            <a:spAutoFit/>
          </a:bodyPr>
          <a:lstStyle/>
          <a:p>
            <a:pPr algn="l">
              <a:lnSpc>
                <a:spcPct val="115000"/>
              </a:lnSpc>
            </a:pPr>
            <a:r>
              <a:rPr sz="1100" b="1" i="0">
                <a:solidFill>
                  <a:srgbClr val="C9A961"/>
                </a:solidFill>
                <a:latin typeface="Calibri"/>
              </a:rPr>
              <a:t>REGIONAL CITIES FACE A TRIPLE CHALLENGE   ·   CLIMATE WARMING  +  AGING SOCIETY  +  CITY-CENTER DECLINE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04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RESEARCH TRAJECTORY</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10 years, three stages — Building → Person → City.</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04/11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3703320" cy="365760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1691640"/>
            <a:ext cx="3703320" cy="4114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1691640"/>
            <a:ext cx="1371600" cy="41148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STAGE 01</a:t>
            </a:r>
          </a:p>
        </p:txBody>
      </p:sp>
      <p:sp>
        <p:nvSpPr>
          <p:cNvPr id="28" name="TextBox 27"/>
          <p:cNvSpPr txBox="1"/>
          <p:nvPr/>
        </p:nvSpPr>
        <p:spPr>
          <a:xfrm>
            <a:off x="914400" y="2240280"/>
            <a:ext cx="1874520" cy="502920"/>
          </a:xfrm>
          <a:prstGeom prst="rect">
            <a:avLst/>
          </a:prstGeom>
          <a:noFill/>
        </p:spPr>
        <p:txBody>
          <a:bodyPr wrap="square" lIns="0" rIns="0" tIns="0" bIns="0" anchor="t">
            <a:spAutoFit/>
          </a:bodyPr>
          <a:lstStyle/>
          <a:p>
            <a:pPr algn="l">
              <a:lnSpc>
                <a:spcPct val="115000"/>
              </a:lnSpc>
            </a:pPr>
            <a:r>
              <a:rPr sz="2200" b="1" i="0">
                <a:solidFill>
                  <a:srgbClr val="142E55"/>
                </a:solidFill>
                <a:latin typeface="Calibri"/>
              </a:rPr>
              <a:t>BUILDING</a:t>
            </a:r>
          </a:p>
        </p:txBody>
      </p:sp>
      <p:sp>
        <p:nvSpPr>
          <p:cNvPr id="29" name="Rectangle 28"/>
          <p:cNvSpPr/>
          <p:nvPr/>
        </p:nvSpPr>
        <p:spPr>
          <a:xfrm>
            <a:off x="3200400" y="2377440"/>
            <a:ext cx="914400" cy="731520"/>
          </a:xfrm>
          <a:prstGeom prst="rect">
            <a:avLst/>
          </a:prstGeom>
          <a:noFill/>
          <a:ln w="1524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sosceles Triangle 29"/>
          <p:cNvSpPr/>
          <p:nvPr/>
        </p:nvSpPr>
        <p:spPr>
          <a:xfrm>
            <a:off x="3200400" y="2194560"/>
            <a:ext cx="914400" cy="228600"/>
          </a:xfrm>
          <a:prstGeom prst="triangle">
            <a:avLst/>
          </a:prstGeom>
          <a:noFill/>
          <a:ln w="1524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310128" y="2514600"/>
            <a:ext cx="164592" cy="1371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538728" y="2514600"/>
            <a:ext cx="164592" cy="1371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67328" y="2514600"/>
            <a:ext cx="164592" cy="1371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310128" y="2724912"/>
            <a:ext cx="164592" cy="1371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38728" y="2724912"/>
            <a:ext cx="164592" cy="1371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767328" y="2724912"/>
            <a:ext cx="164592" cy="1371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a:off x="914400" y="304495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143000" y="288036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QUESTION</a:t>
            </a:r>
          </a:p>
        </p:txBody>
      </p:sp>
      <p:sp>
        <p:nvSpPr>
          <p:cNvPr id="39" name="TextBox 38"/>
          <p:cNvSpPr txBox="1"/>
          <p:nvPr/>
        </p:nvSpPr>
        <p:spPr>
          <a:xfrm>
            <a:off x="914400" y="3108960"/>
            <a:ext cx="3337560" cy="731520"/>
          </a:xfrm>
          <a:prstGeom prst="rect">
            <a:avLst/>
          </a:prstGeom>
          <a:noFill/>
        </p:spPr>
        <p:txBody>
          <a:bodyPr wrap="square" lIns="0" rIns="0" tIns="0" bIns="0" anchor="t">
            <a:spAutoFit/>
          </a:bodyPr>
          <a:lstStyle/>
          <a:p>
            <a:pPr algn="l">
              <a:lnSpc>
                <a:spcPct val="135000"/>
              </a:lnSpc>
            </a:pPr>
            <a:r>
              <a:rPr sz="1150" b="0" i="1">
                <a:solidFill>
                  <a:srgbClr val="1A1A1A"/>
                </a:solidFill>
                <a:latin typeface="Calibri"/>
              </a:rPr>
              <a:t>How does building type &amp; form</a:t>
            </a:r>
          </a:p>
          <a:p>
            <a:pPr algn="l">
              <a:lnSpc>
                <a:spcPct val="135000"/>
              </a:lnSpc>
            </a:pPr>
            <a:r>
              <a:rPr sz="1150" b="0" i="1">
                <a:solidFill>
                  <a:srgbClr val="1A1A1A"/>
                </a:solidFill>
                <a:latin typeface="Calibri"/>
              </a:rPr>
              <a:t>shape indoor thermal &amp; energy?</a:t>
            </a:r>
          </a:p>
        </p:txBody>
      </p:sp>
      <p:cxnSp>
        <p:nvCxnSpPr>
          <p:cNvPr id="40" name="Connector 39"/>
          <p:cNvCxnSpPr/>
          <p:nvPr/>
        </p:nvCxnSpPr>
        <p:spPr>
          <a:xfrm>
            <a:off x="914400" y="400507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43000" y="384048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WORK</a:t>
            </a:r>
          </a:p>
        </p:txBody>
      </p:sp>
      <p:sp>
        <p:nvSpPr>
          <p:cNvPr id="42" name="TextBox 41"/>
          <p:cNvSpPr txBox="1"/>
          <p:nvPr/>
        </p:nvSpPr>
        <p:spPr>
          <a:xfrm>
            <a:off x="914400" y="4069080"/>
            <a:ext cx="3337560" cy="960120"/>
          </a:xfrm>
          <a:prstGeom prst="rect">
            <a:avLst/>
          </a:prstGeom>
          <a:noFill/>
        </p:spPr>
        <p:txBody>
          <a:bodyPr wrap="square" lIns="0" rIns="0" tIns="0" bIns="0" anchor="t">
            <a:spAutoFit/>
          </a:bodyPr>
          <a:lstStyle/>
          <a:p>
            <a:pPr algn="l">
              <a:lnSpc>
                <a:spcPct val="140000"/>
              </a:lnSpc>
            </a:pPr>
            <a:r>
              <a:rPr sz="1100" b="0" i="0">
                <a:solidFill>
                  <a:srgbClr val="4A5568"/>
                </a:solidFill>
                <a:latin typeface="Calibri"/>
              </a:rPr>
              <a:t>183 households across 3 cities</a:t>
            </a:r>
          </a:p>
          <a:p>
            <a:pPr algn="l">
              <a:lnSpc>
                <a:spcPct val="140000"/>
              </a:lnSpc>
            </a:pPr>
            <a:r>
              <a:rPr sz="1100" b="0" i="0">
                <a:solidFill>
                  <a:srgbClr val="4A5568"/>
                </a:solidFill>
                <a:latin typeface="Calibri"/>
              </a:rPr>
              <a:t>Window-to-wall ratio optimization</a:t>
            </a:r>
          </a:p>
          <a:p>
            <a:pPr algn="l">
              <a:lnSpc>
                <a:spcPct val="140000"/>
              </a:lnSpc>
            </a:pPr>
            <a:r>
              <a:rPr sz="1100" b="0" i="0">
                <a:solidFill>
                  <a:srgbClr val="4A5568"/>
                </a:solidFill>
                <a:latin typeface="Calibri"/>
              </a:rPr>
              <a:t>CFD wind environment</a:t>
            </a:r>
          </a:p>
        </p:txBody>
      </p:sp>
      <p:cxnSp>
        <p:nvCxnSpPr>
          <p:cNvPr id="43" name="Connector 42"/>
          <p:cNvCxnSpPr/>
          <p:nvPr/>
        </p:nvCxnSpPr>
        <p:spPr>
          <a:xfrm>
            <a:off x="914400" y="501091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143000" y="484632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OUTPUTS</a:t>
            </a:r>
          </a:p>
        </p:txBody>
      </p:sp>
      <p:sp>
        <p:nvSpPr>
          <p:cNvPr id="45" name="TextBox 44"/>
          <p:cNvSpPr txBox="1"/>
          <p:nvPr/>
        </p:nvSpPr>
        <p:spPr>
          <a:xfrm>
            <a:off x="914400" y="5029200"/>
            <a:ext cx="3337560" cy="320040"/>
          </a:xfrm>
          <a:prstGeom prst="rect">
            <a:avLst/>
          </a:prstGeom>
          <a:noFill/>
        </p:spPr>
        <p:txBody>
          <a:bodyPr wrap="square" lIns="0" rIns="0" tIns="0" bIns="0" anchor="t">
            <a:spAutoFit/>
          </a:bodyPr>
          <a:lstStyle/>
          <a:p>
            <a:pPr algn="l">
              <a:lnSpc>
                <a:spcPct val="115000"/>
              </a:lnSpc>
            </a:pPr>
            <a:r>
              <a:rPr sz="1050" b="1" i="0">
                <a:solidFill>
                  <a:srgbClr val="8C6F33"/>
                </a:solidFill>
                <a:latin typeface="Calibri"/>
              </a:rPr>
              <a:t>C-6, C-7, C-11, D-3</a:t>
            </a:r>
          </a:p>
        </p:txBody>
      </p:sp>
      <p:sp>
        <p:nvSpPr>
          <p:cNvPr id="46" name="Rectangle 45"/>
          <p:cNvSpPr/>
          <p:nvPr/>
        </p:nvSpPr>
        <p:spPr>
          <a:xfrm>
            <a:off x="4480560" y="1691640"/>
            <a:ext cx="3703320" cy="365760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480560" y="1691640"/>
            <a:ext cx="3703320" cy="4114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09160" y="1691640"/>
            <a:ext cx="1371600" cy="41148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STAGE 02</a:t>
            </a:r>
          </a:p>
        </p:txBody>
      </p:sp>
      <p:sp>
        <p:nvSpPr>
          <p:cNvPr id="49" name="TextBox 48"/>
          <p:cNvSpPr txBox="1"/>
          <p:nvPr/>
        </p:nvSpPr>
        <p:spPr>
          <a:xfrm>
            <a:off x="4709160" y="2240280"/>
            <a:ext cx="1874520" cy="502920"/>
          </a:xfrm>
          <a:prstGeom prst="rect">
            <a:avLst/>
          </a:prstGeom>
          <a:noFill/>
        </p:spPr>
        <p:txBody>
          <a:bodyPr wrap="square" lIns="0" rIns="0" tIns="0" bIns="0" anchor="t">
            <a:spAutoFit/>
          </a:bodyPr>
          <a:lstStyle/>
          <a:p>
            <a:pPr algn="l">
              <a:lnSpc>
                <a:spcPct val="115000"/>
              </a:lnSpc>
            </a:pPr>
            <a:r>
              <a:rPr sz="2200" b="1" i="0">
                <a:solidFill>
                  <a:srgbClr val="142E55"/>
                </a:solidFill>
                <a:latin typeface="Calibri"/>
              </a:rPr>
              <a:t>PERSON</a:t>
            </a:r>
          </a:p>
        </p:txBody>
      </p:sp>
      <p:sp>
        <p:nvSpPr>
          <p:cNvPr id="50" name="Oval 49"/>
          <p:cNvSpPr/>
          <p:nvPr/>
        </p:nvSpPr>
        <p:spPr>
          <a:xfrm>
            <a:off x="7324344" y="2194560"/>
            <a:ext cx="256032" cy="256032"/>
          </a:xfrm>
          <a:prstGeom prst="ellipse">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178040" y="2496312"/>
            <a:ext cx="548640" cy="4572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276795" y="2953512"/>
            <a:ext cx="109728" cy="164592"/>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518196" y="2953512"/>
            <a:ext cx="109728" cy="164592"/>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4709160" y="304495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4937760" y="288036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QUESTION</a:t>
            </a:r>
          </a:p>
        </p:txBody>
      </p:sp>
      <p:sp>
        <p:nvSpPr>
          <p:cNvPr id="56" name="TextBox 55"/>
          <p:cNvSpPr txBox="1"/>
          <p:nvPr/>
        </p:nvSpPr>
        <p:spPr>
          <a:xfrm>
            <a:off x="4709160" y="3108960"/>
            <a:ext cx="3337560" cy="731520"/>
          </a:xfrm>
          <a:prstGeom prst="rect">
            <a:avLst/>
          </a:prstGeom>
          <a:noFill/>
        </p:spPr>
        <p:txBody>
          <a:bodyPr wrap="square" lIns="0" rIns="0" tIns="0" bIns="0" anchor="t">
            <a:spAutoFit/>
          </a:bodyPr>
          <a:lstStyle/>
          <a:p>
            <a:pPr algn="l">
              <a:lnSpc>
                <a:spcPct val="135000"/>
              </a:lnSpc>
            </a:pPr>
            <a:r>
              <a:rPr sz="1150" b="0" i="1">
                <a:solidFill>
                  <a:srgbClr val="1A1A1A"/>
                </a:solidFill>
                <a:latin typeface="Calibri"/>
              </a:rPr>
              <a:t>How do indoor conditions</a:t>
            </a:r>
          </a:p>
          <a:p>
            <a:pPr algn="l">
              <a:lnSpc>
                <a:spcPct val="135000"/>
              </a:lnSpc>
            </a:pPr>
            <a:r>
              <a:rPr sz="1150" b="0" i="1">
                <a:solidFill>
                  <a:srgbClr val="1A1A1A"/>
                </a:solidFill>
                <a:latin typeface="Calibri"/>
              </a:rPr>
              <a:t>affect learning, health, behavior?</a:t>
            </a:r>
          </a:p>
        </p:txBody>
      </p:sp>
      <p:cxnSp>
        <p:nvCxnSpPr>
          <p:cNvPr id="57" name="Connector 56"/>
          <p:cNvCxnSpPr/>
          <p:nvPr/>
        </p:nvCxnSpPr>
        <p:spPr>
          <a:xfrm>
            <a:off x="4709160" y="400507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937760" y="384048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WORK</a:t>
            </a:r>
          </a:p>
        </p:txBody>
      </p:sp>
      <p:sp>
        <p:nvSpPr>
          <p:cNvPr id="59" name="TextBox 58"/>
          <p:cNvSpPr txBox="1"/>
          <p:nvPr/>
        </p:nvSpPr>
        <p:spPr>
          <a:xfrm>
            <a:off x="4709160" y="4069080"/>
            <a:ext cx="3337560" cy="960120"/>
          </a:xfrm>
          <a:prstGeom prst="rect">
            <a:avLst/>
          </a:prstGeom>
          <a:noFill/>
        </p:spPr>
        <p:txBody>
          <a:bodyPr wrap="square" lIns="0" rIns="0" tIns="0" bIns="0" anchor="t">
            <a:spAutoFit/>
          </a:bodyPr>
          <a:lstStyle/>
          <a:p>
            <a:pPr algn="l">
              <a:lnSpc>
                <a:spcPct val="140000"/>
              </a:lnSpc>
            </a:pPr>
            <a:r>
              <a:rPr sz="1100" b="0" i="0">
                <a:solidFill>
                  <a:srgbClr val="4A5568"/>
                </a:solidFill>
                <a:latin typeface="Calibri"/>
              </a:rPr>
              <a:t>Classroom thermal × learning</a:t>
            </a:r>
          </a:p>
          <a:p>
            <a:pPr algn="l">
              <a:lnSpc>
                <a:spcPct val="140000"/>
              </a:lnSpc>
            </a:pPr>
            <a:r>
              <a:rPr sz="1100" b="0" i="0">
                <a:solidFill>
                  <a:srgbClr val="4A5568"/>
                </a:solidFill>
                <a:latin typeface="Calibri"/>
              </a:rPr>
              <a:t>PM2.5 health risk</a:t>
            </a:r>
          </a:p>
          <a:p>
            <a:pPr algn="l">
              <a:lnSpc>
                <a:spcPct val="140000"/>
              </a:lnSpc>
            </a:pPr>
            <a:r>
              <a:rPr sz="1100" b="0" i="0">
                <a:solidFill>
                  <a:srgbClr val="4A5568"/>
                </a:solidFill>
                <a:latin typeface="Calibri"/>
              </a:rPr>
              <a:t>Elderly spatial needs</a:t>
            </a:r>
          </a:p>
        </p:txBody>
      </p:sp>
      <p:cxnSp>
        <p:nvCxnSpPr>
          <p:cNvPr id="60" name="Connector 59"/>
          <p:cNvCxnSpPr/>
          <p:nvPr/>
        </p:nvCxnSpPr>
        <p:spPr>
          <a:xfrm>
            <a:off x="4709160" y="501091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937760" y="484632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OUTPUTS</a:t>
            </a:r>
          </a:p>
        </p:txBody>
      </p:sp>
      <p:sp>
        <p:nvSpPr>
          <p:cNvPr id="62" name="TextBox 61"/>
          <p:cNvSpPr txBox="1"/>
          <p:nvPr/>
        </p:nvSpPr>
        <p:spPr>
          <a:xfrm>
            <a:off x="4709160" y="5029200"/>
            <a:ext cx="3337560" cy="320040"/>
          </a:xfrm>
          <a:prstGeom prst="rect">
            <a:avLst/>
          </a:prstGeom>
          <a:noFill/>
        </p:spPr>
        <p:txBody>
          <a:bodyPr wrap="square" lIns="0" rIns="0" tIns="0" bIns="0" anchor="t">
            <a:spAutoFit/>
          </a:bodyPr>
          <a:lstStyle/>
          <a:p>
            <a:pPr algn="l">
              <a:lnSpc>
                <a:spcPct val="115000"/>
              </a:lnSpc>
            </a:pPr>
            <a:r>
              <a:rPr sz="1050" b="1" i="0">
                <a:solidFill>
                  <a:srgbClr val="8C6F33"/>
                </a:solidFill>
                <a:latin typeface="Calibri"/>
              </a:rPr>
              <a:t>C-3 (Q1, Top 5), C-5 (Q1)</a:t>
            </a:r>
          </a:p>
        </p:txBody>
      </p:sp>
      <p:sp>
        <p:nvSpPr>
          <p:cNvPr id="63" name="Rectangle 62"/>
          <p:cNvSpPr/>
          <p:nvPr/>
        </p:nvSpPr>
        <p:spPr>
          <a:xfrm>
            <a:off x="8275320" y="1691640"/>
            <a:ext cx="3703320" cy="365760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275320" y="1691640"/>
            <a:ext cx="3703320" cy="4114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03920" y="1691640"/>
            <a:ext cx="1371600" cy="41148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STAGE 03</a:t>
            </a:r>
          </a:p>
        </p:txBody>
      </p:sp>
      <p:sp>
        <p:nvSpPr>
          <p:cNvPr id="66" name="TextBox 65"/>
          <p:cNvSpPr txBox="1"/>
          <p:nvPr/>
        </p:nvSpPr>
        <p:spPr>
          <a:xfrm>
            <a:off x="8503920" y="2240280"/>
            <a:ext cx="1874520" cy="502920"/>
          </a:xfrm>
          <a:prstGeom prst="rect">
            <a:avLst/>
          </a:prstGeom>
          <a:noFill/>
        </p:spPr>
        <p:txBody>
          <a:bodyPr wrap="square" lIns="0" rIns="0" tIns="0" bIns="0" anchor="t">
            <a:spAutoFit/>
          </a:bodyPr>
          <a:lstStyle/>
          <a:p>
            <a:pPr algn="l">
              <a:lnSpc>
                <a:spcPct val="115000"/>
              </a:lnSpc>
            </a:pPr>
            <a:r>
              <a:rPr sz="2200" b="1" i="0">
                <a:solidFill>
                  <a:srgbClr val="142E55"/>
                </a:solidFill>
                <a:latin typeface="Calibri"/>
              </a:rPr>
              <a:t>CITY</a:t>
            </a:r>
          </a:p>
        </p:txBody>
      </p:sp>
      <p:sp>
        <p:nvSpPr>
          <p:cNvPr id="67" name="Rectangle 66"/>
          <p:cNvSpPr/>
          <p:nvPr/>
        </p:nvSpPr>
        <p:spPr>
          <a:xfrm>
            <a:off x="10812780" y="2606040"/>
            <a:ext cx="105482"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936877" y="2331720"/>
            <a:ext cx="105482" cy="7772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11060974" y="2743200"/>
            <a:ext cx="105482" cy="3657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1185071" y="2468880"/>
            <a:ext cx="105482" cy="6400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1309168" y="2651760"/>
            <a:ext cx="105482" cy="4572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1433265" y="2240280"/>
            <a:ext cx="105482" cy="8686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1557362" y="2560320"/>
            <a:ext cx="105482" cy="5486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a:off x="8503920" y="304495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732520" y="288036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QUESTION</a:t>
            </a:r>
          </a:p>
        </p:txBody>
      </p:sp>
      <p:sp>
        <p:nvSpPr>
          <p:cNvPr id="76" name="TextBox 75"/>
          <p:cNvSpPr txBox="1"/>
          <p:nvPr/>
        </p:nvSpPr>
        <p:spPr>
          <a:xfrm>
            <a:off x="8503920" y="3108960"/>
            <a:ext cx="3337560" cy="731520"/>
          </a:xfrm>
          <a:prstGeom prst="rect">
            <a:avLst/>
          </a:prstGeom>
          <a:noFill/>
        </p:spPr>
        <p:txBody>
          <a:bodyPr wrap="square" lIns="0" rIns="0" tIns="0" bIns="0" anchor="t">
            <a:spAutoFit/>
          </a:bodyPr>
          <a:lstStyle/>
          <a:p>
            <a:pPr algn="l">
              <a:lnSpc>
                <a:spcPct val="135000"/>
              </a:lnSpc>
            </a:pPr>
            <a:r>
              <a:rPr sz="1150" b="0" i="1">
                <a:solidFill>
                  <a:srgbClr val="1A1A1A"/>
                </a:solidFill>
                <a:latin typeface="Calibri"/>
              </a:rPr>
              <a:t>How do GBI, wind &amp; morphology</a:t>
            </a:r>
          </a:p>
          <a:p>
            <a:pPr algn="l">
              <a:lnSpc>
                <a:spcPct val="135000"/>
              </a:lnSpc>
            </a:pPr>
            <a:r>
              <a:rPr sz="1150" b="0" i="1">
                <a:solidFill>
                  <a:srgbClr val="1A1A1A"/>
                </a:solidFill>
                <a:latin typeface="Calibri"/>
              </a:rPr>
              <a:t>regulate pedestrian heat exposure?</a:t>
            </a:r>
          </a:p>
        </p:txBody>
      </p:sp>
      <p:cxnSp>
        <p:nvCxnSpPr>
          <p:cNvPr id="77" name="Connector 76"/>
          <p:cNvCxnSpPr/>
          <p:nvPr/>
        </p:nvCxnSpPr>
        <p:spPr>
          <a:xfrm>
            <a:off x="8503920" y="400507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8732520" y="384048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WORK</a:t>
            </a:r>
          </a:p>
        </p:txBody>
      </p:sp>
      <p:sp>
        <p:nvSpPr>
          <p:cNvPr id="79" name="TextBox 78"/>
          <p:cNvSpPr txBox="1"/>
          <p:nvPr/>
        </p:nvSpPr>
        <p:spPr>
          <a:xfrm>
            <a:off x="8503920" y="4069080"/>
            <a:ext cx="3337560" cy="960120"/>
          </a:xfrm>
          <a:prstGeom prst="rect">
            <a:avLst/>
          </a:prstGeom>
          <a:noFill/>
        </p:spPr>
        <p:txBody>
          <a:bodyPr wrap="square" lIns="0" rIns="0" tIns="0" bIns="0" anchor="t">
            <a:spAutoFit/>
          </a:bodyPr>
          <a:lstStyle/>
          <a:p>
            <a:pPr algn="l">
              <a:lnSpc>
                <a:spcPct val="140000"/>
              </a:lnSpc>
            </a:pPr>
            <a:r>
              <a:rPr sz="1100" b="0" i="0">
                <a:solidFill>
                  <a:srgbClr val="4A5568"/>
                </a:solidFill>
                <a:latin typeface="Calibri"/>
              </a:rPr>
              <a:t>Satellite LST + Sentinel-2 LCZ</a:t>
            </a:r>
          </a:p>
          <a:p>
            <a:pPr algn="l">
              <a:lnSpc>
                <a:spcPct val="140000"/>
              </a:lnSpc>
            </a:pPr>
            <a:r>
              <a:rPr sz="1100" b="0" i="0">
                <a:solidFill>
                  <a:srgbClr val="4A5568"/>
                </a:solidFill>
                <a:latin typeface="Calibri"/>
              </a:rPr>
              <a:t>Kumamoto green-infra mapping</a:t>
            </a:r>
          </a:p>
          <a:p>
            <a:pPr algn="l">
              <a:lnSpc>
                <a:spcPct val="140000"/>
              </a:lnSpc>
            </a:pPr>
            <a:r>
              <a:rPr sz="1100" b="0" i="0">
                <a:solidFill>
                  <a:srgbClr val="4A5568"/>
                </a:solidFill>
                <a:latin typeface="Calibri"/>
              </a:rPr>
              <a:t>MLIT EBPM-cited</a:t>
            </a:r>
          </a:p>
        </p:txBody>
      </p:sp>
      <p:cxnSp>
        <p:nvCxnSpPr>
          <p:cNvPr id="80" name="Connector 79"/>
          <p:cNvCxnSpPr/>
          <p:nvPr/>
        </p:nvCxnSpPr>
        <p:spPr>
          <a:xfrm>
            <a:off x="8503920" y="501091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8732520" y="4846320"/>
            <a:ext cx="31089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OUTPUTS</a:t>
            </a:r>
          </a:p>
        </p:txBody>
      </p:sp>
      <p:sp>
        <p:nvSpPr>
          <p:cNvPr id="82" name="TextBox 81"/>
          <p:cNvSpPr txBox="1"/>
          <p:nvPr/>
        </p:nvSpPr>
        <p:spPr>
          <a:xfrm>
            <a:off x="8503920" y="5029200"/>
            <a:ext cx="3337560" cy="320040"/>
          </a:xfrm>
          <a:prstGeom prst="rect">
            <a:avLst/>
          </a:prstGeom>
          <a:noFill/>
        </p:spPr>
        <p:txBody>
          <a:bodyPr wrap="square" lIns="0" rIns="0" tIns="0" bIns="0" anchor="t">
            <a:spAutoFit/>
          </a:bodyPr>
          <a:lstStyle/>
          <a:p>
            <a:pPr algn="l">
              <a:lnSpc>
                <a:spcPct val="115000"/>
              </a:lnSpc>
            </a:pPr>
            <a:r>
              <a:rPr sz="1050" b="1" i="0">
                <a:solidFill>
                  <a:srgbClr val="8C6F33"/>
                </a:solidFill>
                <a:latin typeface="Calibri"/>
              </a:rPr>
              <a:t>C-1, C-14, C-15, A-1</a:t>
            </a:r>
          </a:p>
        </p:txBody>
      </p:sp>
      <p:cxnSp>
        <p:nvCxnSpPr>
          <p:cNvPr id="83" name="Connector 82"/>
          <p:cNvCxnSpPr/>
          <p:nvPr/>
        </p:nvCxnSpPr>
        <p:spPr>
          <a:xfrm>
            <a:off x="4389120" y="1892808"/>
            <a:ext cx="91440" cy="0"/>
          </a:xfrm>
          <a:prstGeom prst="line">
            <a:avLst/>
          </a:prstGeom>
          <a:ln w="31750">
            <a:solidFill>
              <a:srgbClr val="C9A96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183880" y="1892808"/>
            <a:ext cx="91440" cy="0"/>
          </a:xfrm>
          <a:prstGeom prst="line">
            <a:avLst/>
          </a:prstGeom>
          <a:ln w="31750">
            <a:solidFill>
              <a:srgbClr val="C9A961"/>
            </a:solidFill>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685800" y="5577840"/>
            <a:ext cx="10972800" cy="7772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68680" y="5687568"/>
            <a:ext cx="10607040" cy="32004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WHAT BINDS THE THREE STAGES</a:t>
            </a:r>
          </a:p>
        </p:txBody>
      </p:sp>
      <p:sp>
        <p:nvSpPr>
          <p:cNvPr id="87" name="TextBox 86"/>
          <p:cNvSpPr txBox="1"/>
          <p:nvPr/>
        </p:nvSpPr>
        <p:spPr>
          <a:xfrm>
            <a:off x="868680" y="5943600"/>
            <a:ext cx="10607040" cy="365760"/>
          </a:xfrm>
          <a:prstGeom prst="rect">
            <a:avLst/>
          </a:prstGeom>
          <a:noFill/>
        </p:spPr>
        <p:txBody>
          <a:bodyPr wrap="square" lIns="0" rIns="0" tIns="0" bIns="0" anchor="t">
            <a:spAutoFit/>
          </a:bodyPr>
          <a:lstStyle/>
          <a:p>
            <a:pPr algn="l">
              <a:lnSpc>
                <a:spcPct val="115000"/>
              </a:lnSpc>
            </a:pPr>
            <a:r>
              <a:rPr sz="1300" b="1" i="0">
                <a:solidFill>
                  <a:srgbClr val="FFFFFF"/>
                </a:solidFill>
                <a:latin typeface="Calibri"/>
              </a:rPr>
              <a:t>Each stage was pushed forward by a question the previous stage could only partly answer.  Stage 3 is where HIRAKU-Global begins.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05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ORIGINALITY  ·  CORE</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Satellite + measurement + CFD + national-level policy — in one workflow.</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05/11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5212080" cy="3931920"/>
          </a:xfrm>
          <a:prstGeom prst="rect">
            <a:avLst/>
          </a:prstGeom>
          <a:solidFill>
            <a:srgbClr val="FAFBFC"/>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868680" y="194767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97280" y="1783080"/>
            <a:ext cx="43434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CROSS-SCALE WORKFLOW  ·  SATELLITE → BLOCK → PEDESTRIAN</a:t>
            </a:r>
          </a:p>
        </p:txBody>
      </p:sp>
      <p:cxnSp>
        <p:nvCxnSpPr>
          <p:cNvPr id="28" name="Connector 27"/>
          <p:cNvCxnSpPr/>
          <p:nvPr/>
        </p:nvCxnSpPr>
        <p:spPr>
          <a:xfrm>
            <a:off x="1188720" y="2286000"/>
            <a:ext cx="0" cy="2926080"/>
          </a:xfrm>
          <a:prstGeom prst="line">
            <a:avLst/>
          </a:prstGeom>
          <a:ln w="19050">
            <a:solidFill>
              <a:srgbClr val="142E5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115568" y="2377440"/>
            <a:ext cx="146304" cy="0"/>
          </a:xfrm>
          <a:prstGeom prst="line">
            <a:avLst/>
          </a:prstGeom>
          <a:ln w="12700">
            <a:solidFill>
              <a:srgbClr val="142E5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115568" y="3520440"/>
            <a:ext cx="146304" cy="0"/>
          </a:xfrm>
          <a:prstGeom prst="line">
            <a:avLst/>
          </a:prstGeom>
          <a:ln w="12700">
            <a:solidFill>
              <a:srgbClr val="142E5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115568" y="4709160"/>
            <a:ext cx="146304" cy="0"/>
          </a:xfrm>
          <a:prstGeom prst="line">
            <a:avLst/>
          </a:prstGeom>
          <a:ln w="12700">
            <a:solidFill>
              <a:srgbClr val="142E5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115568" y="5120640"/>
            <a:ext cx="146304" cy="0"/>
          </a:xfrm>
          <a:prstGeom prst="line">
            <a:avLst/>
          </a:prstGeom>
          <a:ln w="12700">
            <a:solidFill>
              <a:srgbClr val="142E5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77240" y="2240280"/>
            <a:ext cx="365760" cy="274320"/>
          </a:xfrm>
          <a:prstGeom prst="rect">
            <a:avLst/>
          </a:prstGeom>
          <a:noFill/>
        </p:spPr>
        <p:txBody>
          <a:bodyPr wrap="square" lIns="0" rIns="0" tIns="0" bIns="0" anchor="t">
            <a:spAutoFit/>
          </a:bodyPr>
          <a:lstStyle/>
          <a:p>
            <a:pPr algn="r">
              <a:lnSpc>
                <a:spcPct val="115000"/>
              </a:lnSpc>
            </a:pPr>
            <a:r>
              <a:rPr sz="800" b="0" i="0">
                <a:solidFill>
                  <a:srgbClr val="8895A8"/>
                </a:solidFill>
                <a:latin typeface="Calibri"/>
              </a:rPr>
              <a:t>km</a:t>
            </a:r>
          </a:p>
        </p:txBody>
      </p:sp>
      <p:sp>
        <p:nvSpPr>
          <p:cNvPr id="34" name="TextBox 33"/>
          <p:cNvSpPr txBox="1"/>
          <p:nvPr/>
        </p:nvSpPr>
        <p:spPr>
          <a:xfrm>
            <a:off x="777240" y="5029200"/>
            <a:ext cx="365760" cy="274320"/>
          </a:xfrm>
          <a:prstGeom prst="rect">
            <a:avLst/>
          </a:prstGeom>
          <a:noFill/>
        </p:spPr>
        <p:txBody>
          <a:bodyPr wrap="square" lIns="0" rIns="0" tIns="0" bIns="0" anchor="t">
            <a:spAutoFit/>
          </a:bodyPr>
          <a:lstStyle/>
          <a:p>
            <a:pPr algn="r">
              <a:lnSpc>
                <a:spcPct val="115000"/>
              </a:lnSpc>
            </a:pPr>
            <a:r>
              <a:rPr sz="800" b="0" i="0">
                <a:solidFill>
                  <a:srgbClr val="8895A8"/>
                </a:solidFill>
                <a:latin typeface="Calibri"/>
              </a:rPr>
              <a:t>m</a:t>
            </a:r>
          </a:p>
        </p:txBody>
      </p:sp>
      <p:sp>
        <p:nvSpPr>
          <p:cNvPr id="35" name="Rectangle 34"/>
          <p:cNvSpPr/>
          <p:nvPr/>
        </p:nvSpPr>
        <p:spPr>
          <a:xfrm>
            <a:off x="1833372" y="2499741"/>
            <a:ext cx="310896" cy="349758"/>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600200" y="2558034"/>
            <a:ext cx="194310" cy="233172"/>
          </a:xfrm>
          <a:prstGeom prst="rect">
            <a:avLst/>
          </a:prstGeom>
          <a:noFill/>
          <a:ln w="1270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183130" y="2558034"/>
            <a:ext cx="194310" cy="233172"/>
          </a:xfrm>
          <a:prstGeom prst="rect">
            <a:avLst/>
          </a:prstGeom>
          <a:noFill/>
          <a:ln w="1270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flipV="1">
            <a:off x="1988820.0" y="2286000"/>
            <a:ext cx="0.0" cy="213741.0"/>
          </a:xfrm>
          <a:prstGeom prst="line">
            <a:avLst/>
          </a:prstGeom>
          <a:ln w="15240">
            <a:solidFill>
              <a:srgbClr val="142E5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1957730" y="2247138"/>
            <a:ext cx="62179" cy="62179"/>
          </a:xfrm>
          <a:prstGeom prst="ellipse">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60319" y="2377440"/>
            <a:ext cx="3200400" cy="274320"/>
          </a:xfrm>
          <a:prstGeom prst="rect">
            <a:avLst/>
          </a:prstGeom>
          <a:noFill/>
        </p:spPr>
        <p:txBody>
          <a:bodyPr wrap="square" lIns="0" rIns="0" tIns="0" bIns="0" anchor="t">
            <a:spAutoFit/>
          </a:bodyPr>
          <a:lstStyle/>
          <a:p>
            <a:pPr algn="l">
              <a:lnSpc>
                <a:spcPct val="115000"/>
              </a:lnSpc>
            </a:pPr>
            <a:r>
              <a:rPr sz="1000" b="1" i="0">
                <a:solidFill>
                  <a:srgbClr val="142E55"/>
                </a:solidFill>
                <a:latin typeface="Calibri"/>
              </a:rPr>
              <a:t>LANDSAT-8/9  +  SENTINEL-2</a:t>
            </a:r>
          </a:p>
        </p:txBody>
      </p:sp>
      <p:sp>
        <p:nvSpPr>
          <p:cNvPr id="41" name="TextBox 40"/>
          <p:cNvSpPr txBox="1"/>
          <p:nvPr/>
        </p:nvSpPr>
        <p:spPr>
          <a:xfrm>
            <a:off x="2560319" y="2651760"/>
            <a:ext cx="3200400" cy="274320"/>
          </a:xfrm>
          <a:prstGeom prst="rect">
            <a:avLst/>
          </a:prstGeom>
          <a:noFill/>
        </p:spPr>
        <p:txBody>
          <a:bodyPr wrap="square" lIns="0" rIns="0" tIns="0" bIns="0" anchor="t">
            <a:spAutoFit/>
          </a:bodyPr>
          <a:lstStyle/>
          <a:p>
            <a:pPr algn="l">
              <a:lnSpc>
                <a:spcPct val="115000"/>
              </a:lnSpc>
            </a:pPr>
            <a:r>
              <a:rPr sz="900" b="0" i="1">
                <a:solidFill>
                  <a:srgbClr val="4A5568"/>
                </a:solidFill>
                <a:latin typeface="Calibri"/>
              </a:rPr>
              <a:t>LST × LCZ — 30 m resolution screening</a:t>
            </a:r>
          </a:p>
        </p:txBody>
      </p:sp>
      <p:sp>
        <p:nvSpPr>
          <p:cNvPr id="42" name="Rectangle 41"/>
          <p:cNvSpPr/>
          <p:nvPr/>
        </p:nvSpPr>
        <p:spPr>
          <a:xfrm>
            <a:off x="1488186" y="3927348"/>
            <a:ext cx="116030" cy="553212"/>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624692" y="3625596"/>
            <a:ext cx="116030" cy="85496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61199" y="4078224"/>
            <a:ext cx="116030" cy="402336"/>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897706" y="3776472"/>
            <a:ext cx="116030" cy="704088"/>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034213" y="3977640"/>
            <a:ext cx="116030" cy="502920"/>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170720" y="3525012"/>
            <a:ext cx="116030" cy="955548"/>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307227" y="3877056"/>
            <a:ext cx="116030" cy="603504"/>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2560319" y="3154680"/>
            <a:ext cx="731521" cy="0"/>
          </a:xfrm>
          <a:prstGeom prst="line">
            <a:avLst/>
          </a:prstGeom>
          <a:ln w="19050">
            <a:solidFill>
              <a:srgbClr val="6FA8C6"/>
            </a:solidFill>
          </a:ln>
        </p:spPr>
        <p:style>
          <a:lnRef idx="2">
            <a:schemeClr val="accent1"/>
          </a:lnRef>
          <a:fillRef idx="0">
            <a:schemeClr val="accent1"/>
          </a:fillRef>
          <a:effectRef idx="1">
            <a:schemeClr val="accent1"/>
          </a:effectRef>
          <a:fontRef idx="minor">
            <a:schemeClr val="tx1"/>
          </a:fontRef>
        </p:style>
      </p:cxnSp>
      <p:sp>
        <p:nvSpPr>
          <p:cNvPr id="50" name="Isosceles Triangle 49"/>
          <p:cNvSpPr/>
          <p:nvPr/>
        </p:nvSpPr>
        <p:spPr>
          <a:xfrm>
            <a:off x="3246120" y="3118104"/>
            <a:ext cx="73152" cy="73152"/>
          </a:xfrm>
          <a:prstGeom prst="triangle">
            <a:avLst/>
          </a:prstGeom>
          <a:solidFill>
            <a:srgbClr val="6F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2560319" y="3429000"/>
            <a:ext cx="731521" cy="0"/>
          </a:xfrm>
          <a:prstGeom prst="line">
            <a:avLst/>
          </a:prstGeom>
          <a:ln w="19050">
            <a:solidFill>
              <a:srgbClr val="6FA8C6"/>
            </a:solidFill>
          </a:ln>
        </p:spPr>
        <p:style>
          <a:lnRef idx="2">
            <a:schemeClr val="accent1"/>
          </a:lnRef>
          <a:fillRef idx="0">
            <a:schemeClr val="accent1"/>
          </a:fillRef>
          <a:effectRef idx="1">
            <a:schemeClr val="accent1"/>
          </a:effectRef>
          <a:fontRef idx="minor">
            <a:schemeClr val="tx1"/>
          </a:fontRef>
        </p:style>
      </p:cxnSp>
      <p:sp>
        <p:nvSpPr>
          <p:cNvPr id="52" name="Isosceles Triangle 51"/>
          <p:cNvSpPr/>
          <p:nvPr/>
        </p:nvSpPr>
        <p:spPr>
          <a:xfrm>
            <a:off x="3246120" y="3392424"/>
            <a:ext cx="73152" cy="73152"/>
          </a:xfrm>
          <a:prstGeom prst="triangle">
            <a:avLst/>
          </a:prstGeom>
          <a:solidFill>
            <a:srgbClr val="6F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3280" y="3246120"/>
            <a:ext cx="2743200" cy="274320"/>
          </a:xfrm>
          <a:prstGeom prst="rect">
            <a:avLst/>
          </a:prstGeom>
          <a:noFill/>
        </p:spPr>
        <p:txBody>
          <a:bodyPr wrap="square" lIns="0" rIns="0" tIns="0" bIns="0" anchor="t">
            <a:spAutoFit/>
          </a:bodyPr>
          <a:lstStyle/>
          <a:p>
            <a:pPr algn="l">
              <a:lnSpc>
                <a:spcPct val="115000"/>
              </a:lnSpc>
            </a:pPr>
            <a:r>
              <a:rPr sz="1000" b="1" i="0">
                <a:solidFill>
                  <a:srgbClr val="142E55"/>
                </a:solidFill>
                <a:latin typeface="Calibri"/>
              </a:rPr>
              <a:t>BLOCK-SCALE CFD</a:t>
            </a:r>
          </a:p>
        </p:txBody>
      </p:sp>
      <p:sp>
        <p:nvSpPr>
          <p:cNvPr id="54" name="TextBox 53"/>
          <p:cNvSpPr txBox="1"/>
          <p:nvPr/>
        </p:nvSpPr>
        <p:spPr>
          <a:xfrm>
            <a:off x="3383280" y="3474720"/>
            <a:ext cx="2743200" cy="274320"/>
          </a:xfrm>
          <a:prstGeom prst="rect">
            <a:avLst/>
          </a:prstGeom>
          <a:noFill/>
        </p:spPr>
        <p:txBody>
          <a:bodyPr wrap="square" lIns="0" rIns="0" tIns="0" bIns="0" anchor="t">
            <a:spAutoFit/>
          </a:bodyPr>
          <a:lstStyle/>
          <a:p>
            <a:pPr algn="l">
              <a:lnSpc>
                <a:spcPct val="115000"/>
              </a:lnSpc>
            </a:pPr>
            <a:r>
              <a:rPr sz="900" b="0" i="1">
                <a:solidFill>
                  <a:srgbClr val="4A5568"/>
                </a:solidFill>
                <a:latin typeface="Calibri"/>
              </a:rPr>
              <a:t>OpenFOAM — wind × morphology × GBI</a:t>
            </a:r>
          </a:p>
        </p:txBody>
      </p:sp>
      <p:sp>
        <p:nvSpPr>
          <p:cNvPr id="55" name="Oval 54"/>
          <p:cNvSpPr/>
          <p:nvPr/>
        </p:nvSpPr>
        <p:spPr>
          <a:xfrm>
            <a:off x="1964131" y="4709160"/>
            <a:ext cx="140817" cy="140817"/>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883664" y="4875123"/>
            <a:ext cx="301752" cy="2514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937979" y="5126583"/>
            <a:ext cx="60350" cy="9052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70750" y="5126583"/>
            <a:ext cx="60350" cy="9052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1463040" y="5303520"/>
            <a:ext cx="3337560" cy="0"/>
          </a:xfrm>
          <a:prstGeom prst="line">
            <a:avLst/>
          </a:prstGeom>
          <a:ln w="25400">
            <a:solidFill>
              <a:srgbClr val="C9A96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a:off x="2788920" y="4892040"/>
            <a:ext cx="365760" cy="256031"/>
          </a:xfrm>
          <a:prstGeom prst="triangle">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935224" y="5148072"/>
            <a:ext cx="73152" cy="109728"/>
          </a:xfrm>
          <a:prstGeom prst="rect">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sosceles Triangle 61"/>
          <p:cNvSpPr/>
          <p:nvPr/>
        </p:nvSpPr>
        <p:spPr>
          <a:xfrm>
            <a:off x="3886200" y="4892040"/>
            <a:ext cx="365760" cy="256031"/>
          </a:xfrm>
          <a:prstGeom prst="triangle">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32504" y="5148072"/>
            <a:ext cx="73152" cy="109728"/>
          </a:xfrm>
          <a:prstGeom prst="rect">
            <a:avLst/>
          </a:prstGeom>
          <a:solidFill>
            <a:srgbClr val="6A8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560319" y="4617720"/>
            <a:ext cx="3200400" cy="274320"/>
          </a:xfrm>
          <a:prstGeom prst="rect">
            <a:avLst/>
          </a:prstGeom>
          <a:noFill/>
        </p:spPr>
        <p:txBody>
          <a:bodyPr wrap="square" lIns="0" rIns="0" tIns="0" bIns="0" anchor="t">
            <a:spAutoFit/>
          </a:bodyPr>
          <a:lstStyle/>
          <a:p>
            <a:pPr algn="l">
              <a:lnSpc>
                <a:spcPct val="115000"/>
              </a:lnSpc>
            </a:pPr>
            <a:r>
              <a:rPr sz="1000" b="1" i="0">
                <a:solidFill>
                  <a:srgbClr val="142E55"/>
                </a:solidFill>
                <a:latin typeface="Calibri"/>
              </a:rPr>
              <a:t>PEDESTRIAN  ·  WBGT FIELD</a:t>
            </a:r>
          </a:p>
        </p:txBody>
      </p:sp>
      <p:sp>
        <p:nvSpPr>
          <p:cNvPr id="65" name="TextBox 64"/>
          <p:cNvSpPr txBox="1"/>
          <p:nvPr/>
        </p:nvSpPr>
        <p:spPr>
          <a:xfrm>
            <a:off x="2560319" y="4846320"/>
            <a:ext cx="3200400" cy="274320"/>
          </a:xfrm>
          <a:prstGeom prst="rect">
            <a:avLst/>
          </a:prstGeom>
          <a:noFill/>
        </p:spPr>
        <p:txBody>
          <a:bodyPr wrap="square" lIns="0" rIns="0" tIns="0" bIns="0" anchor="t">
            <a:spAutoFit/>
          </a:bodyPr>
          <a:lstStyle/>
          <a:p>
            <a:pPr algn="l">
              <a:lnSpc>
                <a:spcPct val="115000"/>
              </a:lnSpc>
            </a:pPr>
            <a:r>
              <a:rPr sz="900" b="0" i="1">
                <a:solidFill>
                  <a:srgbClr val="4A5568"/>
                </a:solidFill>
                <a:latin typeface="Calibri"/>
              </a:rPr>
              <a:t>Elderly walking corridor, 500–1000 m</a:t>
            </a:r>
          </a:p>
        </p:txBody>
      </p:sp>
      <p:sp>
        <p:nvSpPr>
          <p:cNvPr id="66" name="Rectangle 65"/>
          <p:cNvSpPr/>
          <p:nvPr/>
        </p:nvSpPr>
        <p:spPr>
          <a:xfrm>
            <a:off x="6263640" y="1691640"/>
            <a:ext cx="2697480" cy="1874519"/>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63640" y="1691640"/>
            <a:ext cx="2697480" cy="3200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00800" y="1691640"/>
            <a:ext cx="45720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01</a:t>
            </a:r>
          </a:p>
        </p:txBody>
      </p:sp>
      <p:sp>
        <p:nvSpPr>
          <p:cNvPr id="69" name="TextBox 68"/>
          <p:cNvSpPr txBox="1"/>
          <p:nvPr/>
        </p:nvSpPr>
        <p:spPr>
          <a:xfrm>
            <a:off x="6903720" y="1691640"/>
            <a:ext cx="196596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MULTI-SOURCE</a:t>
            </a:r>
          </a:p>
        </p:txBody>
      </p:sp>
      <p:sp>
        <p:nvSpPr>
          <p:cNvPr id="70" name="TextBox 69"/>
          <p:cNvSpPr txBox="1"/>
          <p:nvPr/>
        </p:nvSpPr>
        <p:spPr>
          <a:xfrm>
            <a:off x="6400800" y="2148840"/>
            <a:ext cx="2423160" cy="1371600"/>
          </a:xfrm>
          <a:prstGeom prst="rect">
            <a:avLst/>
          </a:prstGeom>
          <a:noFill/>
        </p:spPr>
        <p:txBody>
          <a:bodyPr wrap="square" lIns="0" rIns="0" tIns="0" bIns="0" anchor="t">
            <a:spAutoFit/>
          </a:bodyPr>
          <a:lstStyle/>
          <a:p>
            <a:pPr algn="l">
              <a:lnSpc>
                <a:spcPct val="140000"/>
              </a:lnSpc>
            </a:pPr>
            <a:r>
              <a:rPr sz="1100" b="0" i="0">
                <a:solidFill>
                  <a:srgbClr val="1A1A1A"/>
                </a:solidFill>
                <a:latin typeface="Calibri"/>
              </a:rPr>
              <a:t>Satellite RS</a:t>
            </a:r>
          </a:p>
          <a:p>
            <a:pPr algn="l">
              <a:lnSpc>
                <a:spcPct val="140000"/>
              </a:lnSpc>
            </a:pPr>
            <a:r>
              <a:rPr sz="1100" b="0" i="0">
                <a:solidFill>
                  <a:srgbClr val="1A1A1A"/>
                </a:solidFill>
                <a:latin typeface="Calibri"/>
              </a:rPr>
              <a:t>+ on-site measurement</a:t>
            </a:r>
          </a:p>
          <a:p>
            <a:pPr algn="l">
              <a:lnSpc>
                <a:spcPct val="140000"/>
              </a:lnSpc>
            </a:pPr>
            <a:r>
              <a:rPr sz="1100" b="0" i="0">
                <a:solidFill>
                  <a:srgbClr val="1A1A1A"/>
                </a:solidFill>
                <a:latin typeface="Calibri"/>
              </a:rPr>
              <a:t>+ CFD</a:t>
            </a:r>
          </a:p>
        </p:txBody>
      </p:sp>
      <p:sp>
        <p:nvSpPr>
          <p:cNvPr id="71" name="Rectangle 70"/>
          <p:cNvSpPr/>
          <p:nvPr/>
        </p:nvSpPr>
        <p:spPr>
          <a:xfrm>
            <a:off x="9052560" y="1691640"/>
            <a:ext cx="2697480" cy="1874519"/>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052560" y="1691640"/>
            <a:ext cx="2697480" cy="3200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89720" y="1691640"/>
            <a:ext cx="45720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02</a:t>
            </a:r>
          </a:p>
        </p:txBody>
      </p:sp>
      <p:sp>
        <p:nvSpPr>
          <p:cNvPr id="74" name="TextBox 73"/>
          <p:cNvSpPr txBox="1"/>
          <p:nvPr/>
        </p:nvSpPr>
        <p:spPr>
          <a:xfrm>
            <a:off x="9692640" y="1691640"/>
            <a:ext cx="196596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CUMULATIVE</a:t>
            </a:r>
          </a:p>
        </p:txBody>
      </p:sp>
      <p:sp>
        <p:nvSpPr>
          <p:cNvPr id="75" name="TextBox 74"/>
          <p:cNvSpPr txBox="1"/>
          <p:nvPr/>
        </p:nvSpPr>
        <p:spPr>
          <a:xfrm>
            <a:off x="9189720" y="2148840"/>
            <a:ext cx="2423160" cy="1371600"/>
          </a:xfrm>
          <a:prstGeom prst="rect">
            <a:avLst/>
          </a:prstGeom>
          <a:noFill/>
        </p:spPr>
        <p:txBody>
          <a:bodyPr wrap="square" lIns="0" rIns="0" tIns="0" bIns="0" anchor="t">
            <a:spAutoFit/>
          </a:bodyPr>
          <a:lstStyle/>
          <a:p>
            <a:pPr algn="l">
              <a:lnSpc>
                <a:spcPct val="140000"/>
              </a:lnSpc>
            </a:pPr>
            <a:r>
              <a:rPr sz="1100" b="0" i="0">
                <a:solidFill>
                  <a:srgbClr val="1A1A1A"/>
                </a:solidFill>
                <a:latin typeface="Calibri"/>
              </a:rPr>
              <a:t>Pedestrian-scale</a:t>
            </a:r>
          </a:p>
          <a:p>
            <a:pPr algn="l">
              <a:lnSpc>
                <a:spcPct val="140000"/>
              </a:lnSpc>
            </a:pPr>
            <a:r>
              <a:rPr sz="1100" b="0" i="0">
                <a:solidFill>
                  <a:srgbClr val="1A1A1A"/>
                </a:solidFill>
                <a:latin typeface="Calibri"/>
              </a:rPr>
              <a:t>heat retention zones</a:t>
            </a:r>
          </a:p>
          <a:p>
            <a:pPr algn="l">
              <a:lnSpc>
                <a:spcPct val="140000"/>
              </a:lnSpc>
            </a:pPr>
            <a:r>
              <a:rPr sz="1100" b="0" i="0">
                <a:solidFill>
                  <a:srgbClr val="1A1A1A"/>
                </a:solidFill>
                <a:latin typeface="Calibri"/>
              </a:rPr>
              <a:t>(not instantaneous T)</a:t>
            </a:r>
          </a:p>
        </p:txBody>
      </p:sp>
      <p:sp>
        <p:nvSpPr>
          <p:cNvPr id="76" name="Rectangle 75"/>
          <p:cNvSpPr/>
          <p:nvPr/>
        </p:nvSpPr>
        <p:spPr>
          <a:xfrm>
            <a:off x="6263640" y="3657599"/>
            <a:ext cx="2697480" cy="1874519"/>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263640" y="3657599"/>
            <a:ext cx="2697480" cy="3200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400800" y="3657599"/>
            <a:ext cx="45720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03</a:t>
            </a:r>
          </a:p>
        </p:txBody>
      </p:sp>
      <p:sp>
        <p:nvSpPr>
          <p:cNvPr id="79" name="TextBox 78"/>
          <p:cNvSpPr txBox="1"/>
          <p:nvPr/>
        </p:nvSpPr>
        <p:spPr>
          <a:xfrm>
            <a:off x="6903720" y="3657599"/>
            <a:ext cx="196596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POLICY-APPLIED</a:t>
            </a:r>
          </a:p>
        </p:txBody>
      </p:sp>
      <p:sp>
        <p:nvSpPr>
          <p:cNvPr id="80" name="TextBox 79"/>
          <p:cNvSpPr txBox="1"/>
          <p:nvPr/>
        </p:nvSpPr>
        <p:spPr>
          <a:xfrm>
            <a:off x="6400800" y="4114799"/>
            <a:ext cx="2423160" cy="1371600"/>
          </a:xfrm>
          <a:prstGeom prst="rect">
            <a:avLst/>
          </a:prstGeom>
          <a:noFill/>
        </p:spPr>
        <p:txBody>
          <a:bodyPr wrap="square" lIns="0" rIns="0" tIns="0" bIns="0" anchor="t">
            <a:spAutoFit/>
          </a:bodyPr>
          <a:lstStyle/>
          <a:p>
            <a:pPr algn="l">
              <a:lnSpc>
                <a:spcPct val="140000"/>
              </a:lnSpc>
            </a:pPr>
            <a:r>
              <a:rPr sz="1100" b="0" i="0">
                <a:solidFill>
                  <a:srgbClr val="1A1A1A"/>
                </a:solidFill>
                <a:latin typeface="Calibri"/>
              </a:rPr>
              <a:t>Kumamoto City green-</a:t>
            </a:r>
          </a:p>
          <a:p>
            <a:pPr algn="l">
              <a:lnSpc>
                <a:spcPct val="140000"/>
              </a:lnSpc>
            </a:pPr>
            <a:r>
              <a:rPr sz="1100" b="0" i="0">
                <a:solidFill>
                  <a:srgbClr val="1A1A1A"/>
                </a:solidFill>
                <a:latin typeface="Calibri"/>
              </a:rPr>
              <a:t>infrastructure policy</a:t>
            </a:r>
          </a:p>
          <a:p>
            <a:pPr algn="l">
              <a:lnSpc>
                <a:spcPct val="140000"/>
              </a:lnSpc>
            </a:pPr>
            <a:r>
              <a:rPr sz="1100" b="0" i="0">
                <a:solidFill>
                  <a:srgbClr val="1A1A1A"/>
                </a:solidFill>
                <a:latin typeface="Calibri"/>
              </a:rPr>
              <a:t>(Book chapter A-1)</a:t>
            </a:r>
          </a:p>
        </p:txBody>
      </p:sp>
      <p:sp>
        <p:nvSpPr>
          <p:cNvPr id="81" name="Rectangle 80"/>
          <p:cNvSpPr/>
          <p:nvPr/>
        </p:nvSpPr>
        <p:spPr>
          <a:xfrm>
            <a:off x="9052560" y="3657599"/>
            <a:ext cx="2697480" cy="1874519"/>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9052560" y="3657599"/>
            <a:ext cx="2697480" cy="3200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189720" y="3657599"/>
            <a:ext cx="45720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04</a:t>
            </a:r>
          </a:p>
        </p:txBody>
      </p:sp>
      <p:sp>
        <p:nvSpPr>
          <p:cNvPr id="84" name="TextBox 83"/>
          <p:cNvSpPr txBox="1"/>
          <p:nvPr/>
        </p:nvSpPr>
        <p:spPr>
          <a:xfrm>
            <a:off x="9692640" y="3657599"/>
            <a:ext cx="1965960" cy="320040"/>
          </a:xfrm>
          <a:prstGeom prst="rect">
            <a:avLst/>
          </a:prstGeom>
          <a:noFill/>
        </p:spPr>
        <p:txBody>
          <a:bodyPr wrap="square" lIns="0" rIns="0" tIns="0" bIns="0" anchor="ctr">
            <a:spAutoFit/>
          </a:bodyPr>
          <a:lstStyle/>
          <a:p>
            <a:pPr algn="l">
              <a:lnSpc>
                <a:spcPct val="115000"/>
              </a:lnSpc>
            </a:pPr>
            <a:r>
              <a:rPr sz="1000" b="1" i="0">
                <a:solidFill>
                  <a:srgbClr val="C9A961"/>
                </a:solidFill>
                <a:latin typeface="Calibri"/>
              </a:rPr>
              <a:t>MLIT EBPM</a:t>
            </a:r>
          </a:p>
        </p:txBody>
      </p:sp>
      <p:sp>
        <p:nvSpPr>
          <p:cNvPr id="85" name="TextBox 84"/>
          <p:cNvSpPr txBox="1"/>
          <p:nvPr/>
        </p:nvSpPr>
        <p:spPr>
          <a:xfrm>
            <a:off x="9189720" y="4114799"/>
            <a:ext cx="2423160" cy="1371600"/>
          </a:xfrm>
          <a:prstGeom prst="rect">
            <a:avLst/>
          </a:prstGeom>
          <a:noFill/>
        </p:spPr>
        <p:txBody>
          <a:bodyPr wrap="square" lIns="0" rIns="0" tIns="0" bIns="0" anchor="t">
            <a:spAutoFit/>
          </a:bodyPr>
          <a:lstStyle/>
          <a:p>
            <a:pPr algn="l">
              <a:lnSpc>
                <a:spcPct val="140000"/>
              </a:lnSpc>
            </a:pPr>
            <a:r>
              <a:rPr sz="1100" b="0" i="0">
                <a:solidFill>
                  <a:srgbClr val="1A1A1A"/>
                </a:solidFill>
                <a:latin typeface="Calibri"/>
              </a:rPr>
              <a:t>Adopted by MLIT as</a:t>
            </a:r>
          </a:p>
          <a:p>
            <a:pPr algn="l">
              <a:lnSpc>
                <a:spcPct val="140000"/>
              </a:lnSpc>
            </a:pPr>
            <a:r>
              <a:rPr sz="1100" b="0" i="0">
                <a:solidFill>
                  <a:srgbClr val="1A1A1A"/>
                </a:solidFill>
                <a:latin typeface="Calibri"/>
              </a:rPr>
              <a:t>an Evidence-Based</a:t>
            </a:r>
          </a:p>
          <a:p>
            <a:pPr algn="l">
              <a:lnSpc>
                <a:spcPct val="140000"/>
              </a:lnSpc>
            </a:pPr>
            <a:r>
              <a:rPr sz="1100" b="0" i="0">
                <a:solidFill>
                  <a:srgbClr val="1A1A1A"/>
                </a:solidFill>
                <a:latin typeface="Calibri"/>
              </a:rPr>
              <a:t>Policy Making case</a:t>
            </a:r>
          </a:p>
        </p:txBody>
      </p:sp>
      <p:sp>
        <p:nvSpPr>
          <p:cNvPr id="86" name="Rectangle 85"/>
          <p:cNvSpPr/>
          <p:nvPr/>
        </p:nvSpPr>
        <p:spPr>
          <a:xfrm>
            <a:off x="9052560" y="3657599"/>
            <a:ext cx="2697480" cy="1874519"/>
          </a:xfrm>
          <a:prstGeom prst="rect">
            <a:avLst/>
          </a:prstGeom>
          <a:noFill/>
          <a:ln w="1905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85800" y="5715000"/>
            <a:ext cx="10972800" cy="6400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68680" y="5806440"/>
            <a:ext cx="1060704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RESEARCH  →  POLICY  →  NATIONAL RECOGNITION</a:t>
            </a:r>
          </a:p>
        </p:txBody>
      </p:sp>
      <p:sp>
        <p:nvSpPr>
          <p:cNvPr id="89" name="TextBox 88"/>
          <p:cNvSpPr txBox="1"/>
          <p:nvPr/>
        </p:nvSpPr>
        <p:spPr>
          <a:xfrm>
            <a:off x="868680" y="6035040"/>
            <a:ext cx="10607040" cy="320040"/>
          </a:xfrm>
          <a:prstGeom prst="rect">
            <a:avLst/>
          </a:prstGeom>
          <a:noFill/>
        </p:spPr>
        <p:txBody>
          <a:bodyPr wrap="square" lIns="0" rIns="0" tIns="0" bIns="0" anchor="t">
            <a:spAutoFit/>
          </a:bodyPr>
          <a:lstStyle/>
          <a:p>
            <a:pPr algn="l">
              <a:lnSpc>
                <a:spcPct val="115000"/>
              </a:lnSpc>
            </a:pPr>
            <a:r>
              <a:rPr sz="1200" b="1" i="0">
                <a:solidFill>
                  <a:srgbClr val="FFFFFF"/>
                </a:solidFill>
                <a:latin typeface="Calibri"/>
              </a:rPr>
              <a:t>Few researchers combine satellite, measurement, CFD, and national-level policy adoption in one continuous workflow.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06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RESEARCH OUTPUTS</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Quality first. Continuity second. All Q1 led by me.</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06/11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2761488" cy="192024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60120" y="3200400"/>
            <a:ext cx="365760" cy="381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1874520"/>
            <a:ext cx="2761488" cy="1188720"/>
          </a:xfrm>
          <a:prstGeom prst="rect">
            <a:avLst/>
          </a:prstGeom>
          <a:noFill/>
        </p:spPr>
        <p:txBody>
          <a:bodyPr wrap="square" lIns="0" rIns="0" tIns="0" bIns="0" anchor="t">
            <a:spAutoFit/>
          </a:bodyPr>
          <a:lstStyle/>
          <a:p>
            <a:pPr algn="ctr">
              <a:lnSpc>
                <a:spcPct val="100000"/>
              </a:lnSpc>
            </a:pPr>
            <a:r>
              <a:rPr sz="8000" b="1" i="0">
                <a:solidFill>
                  <a:srgbClr val="142E55"/>
                </a:solidFill>
                <a:latin typeface="Calibri"/>
              </a:rPr>
              <a:t>15</a:t>
            </a:r>
          </a:p>
        </p:txBody>
      </p:sp>
      <p:sp>
        <p:nvSpPr>
          <p:cNvPr id="28" name="TextBox 27"/>
          <p:cNvSpPr txBox="1"/>
          <p:nvPr/>
        </p:nvSpPr>
        <p:spPr>
          <a:xfrm>
            <a:off x="960120" y="3291840"/>
            <a:ext cx="2212848" cy="457200"/>
          </a:xfrm>
          <a:prstGeom prst="rect">
            <a:avLst/>
          </a:prstGeom>
          <a:noFill/>
        </p:spPr>
        <p:txBody>
          <a:bodyPr wrap="square" lIns="0" rIns="0" tIns="0" bIns="0" anchor="t">
            <a:spAutoFit/>
          </a:bodyPr>
          <a:lstStyle/>
          <a:p>
            <a:pPr algn="l">
              <a:lnSpc>
                <a:spcPct val="130000"/>
              </a:lnSpc>
            </a:pPr>
            <a:r>
              <a:rPr sz="1100" b="0" i="0">
                <a:solidFill>
                  <a:srgbClr val="4A5568"/>
                </a:solidFill>
                <a:latin typeface="Calibri"/>
              </a:rPr>
              <a:t>peer-reviewed</a:t>
            </a:r>
          </a:p>
          <a:p>
            <a:pPr algn="l">
              <a:lnSpc>
                <a:spcPct val="130000"/>
              </a:lnSpc>
            </a:pPr>
            <a:r>
              <a:rPr sz="1100" b="0" i="0">
                <a:solidFill>
                  <a:srgbClr val="4A5568"/>
                </a:solidFill>
                <a:latin typeface="Calibri"/>
              </a:rPr>
              <a:t>papers</a:t>
            </a:r>
          </a:p>
        </p:txBody>
      </p:sp>
      <p:sp>
        <p:nvSpPr>
          <p:cNvPr id="29" name="Rectangle 28"/>
          <p:cNvSpPr/>
          <p:nvPr/>
        </p:nvSpPr>
        <p:spPr>
          <a:xfrm>
            <a:off x="3538728" y="1691640"/>
            <a:ext cx="2761488" cy="192024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13048" y="3200400"/>
            <a:ext cx="365760" cy="381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1874520"/>
            <a:ext cx="2761488" cy="1188720"/>
          </a:xfrm>
          <a:prstGeom prst="rect">
            <a:avLst/>
          </a:prstGeom>
          <a:noFill/>
        </p:spPr>
        <p:txBody>
          <a:bodyPr wrap="square" lIns="0" rIns="0" tIns="0" bIns="0" anchor="t">
            <a:spAutoFit/>
          </a:bodyPr>
          <a:lstStyle/>
          <a:p>
            <a:pPr algn="ctr">
              <a:lnSpc>
                <a:spcPct val="100000"/>
              </a:lnSpc>
            </a:pPr>
            <a:r>
              <a:rPr sz="8000" b="1" i="0">
                <a:solidFill>
                  <a:srgbClr val="142E55"/>
                </a:solidFill>
                <a:latin typeface="Calibri"/>
              </a:rPr>
              <a:t>10</a:t>
            </a:r>
          </a:p>
        </p:txBody>
      </p:sp>
      <p:sp>
        <p:nvSpPr>
          <p:cNvPr id="32" name="TextBox 31"/>
          <p:cNvSpPr txBox="1"/>
          <p:nvPr/>
        </p:nvSpPr>
        <p:spPr>
          <a:xfrm>
            <a:off x="3813048" y="3291840"/>
            <a:ext cx="2212848" cy="457200"/>
          </a:xfrm>
          <a:prstGeom prst="rect">
            <a:avLst/>
          </a:prstGeom>
          <a:noFill/>
        </p:spPr>
        <p:txBody>
          <a:bodyPr wrap="square" lIns="0" rIns="0" tIns="0" bIns="0" anchor="t">
            <a:spAutoFit/>
          </a:bodyPr>
          <a:lstStyle/>
          <a:p>
            <a:pPr algn="l">
              <a:lnSpc>
                <a:spcPct val="130000"/>
              </a:lnSpc>
            </a:pPr>
            <a:r>
              <a:rPr sz="1100" b="0" i="0">
                <a:solidFill>
                  <a:srgbClr val="4A5568"/>
                </a:solidFill>
                <a:latin typeface="Calibri"/>
              </a:rPr>
              <a:t>English</a:t>
            </a:r>
          </a:p>
          <a:p>
            <a:pPr algn="l">
              <a:lnSpc>
                <a:spcPct val="130000"/>
              </a:lnSpc>
            </a:pPr>
            <a:r>
              <a:rPr sz="1100" b="0" i="0">
                <a:solidFill>
                  <a:srgbClr val="4A5568"/>
                </a:solidFill>
                <a:latin typeface="Calibri"/>
              </a:rPr>
              <a:t>SCI / SCIE</a:t>
            </a:r>
          </a:p>
        </p:txBody>
      </p:sp>
      <p:sp>
        <p:nvSpPr>
          <p:cNvPr id="33" name="Rectangle 32"/>
          <p:cNvSpPr/>
          <p:nvPr/>
        </p:nvSpPr>
        <p:spPr>
          <a:xfrm>
            <a:off x="6391656" y="1691640"/>
            <a:ext cx="2761488" cy="192024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65976" y="3200400"/>
            <a:ext cx="365760" cy="381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91656" y="1874520"/>
            <a:ext cx="2761488" cy="1188720"/>
          </a:xfrm>
          <a:prstGeom prst="rect">
            <a:avLst/>
          </a:prstGeom>
          <a:noFill/>
        </p:spPr>
        <p:txBody>
          <a:bodyPr wrap="square" lIns="0" rIns="0" tIns="0" bIns="0" anchor="t">
            <a:spAutoFit/>
          </a:bodyPr>
          <a:lstStyle/>
          <a:p>
            <a:pPr algn="ctr">
              <a:lnSpc>
                <a:spcPct val="100000"/>
              </a:lnSpc>
            </a:pPr>
            <a:r>
              <a:rPr sz="8000" b="1" i="0">
                <a:solidFill>
                  <a:srgbClr val="142E55"/>
                </a:solidFill>
                <a:latin typeface="Calibri"/>
              </a:rPr>
              <a:t>8</a:t>
            </a:r>
          </a:p>
        </p:txBody>
      </p:sp>
      <p:sp>
        <p:nvSpPr>
          <p:cNvPr id="36" name="TextBox 35"/>
          <p:cNvSpPr txBox="1"/>
          <p:nvPr/>
        </p:nvSpPr>
        <p:spPr>
          <a:xfrm>
            <a:off x="6665976" y="3291840"/>
            <a:ext cx="2212848" cy="457200"/>
          </a:xfrm>
          <a:prstGeom prst="rect">
            <a:avLst/>
          </a:prstGeom>
          <a:noFill/>
        </p:spPr>
        <p:txBody>
          <a:bodyPr wrap="square" lIns="0" rIns="0" tIns="0" bIns="0" anchor="t">
            <a:spAutoFit/>
          </a:bodyPr>
          <a:lstStyle/>
          <a:p>
            <a:pPr algn="l">
              <a:lnSpc>
                <a:spcPct val="130000"/>
              </a:lnSpc>
            </a:pPr>
            <a:r>
              <a:rPr sz="1100" b="0" i="0">
                <a:solidFill>
                  <a:srgbClr val="4A5568"/>
                </a:solidFill>
                <a:latin typeface="Calibri"/>
              </a:rPr>
              <a:t>with Impact</a:t>
            </a:r>
          </a:p>
          <a:p>
            <a:pPr algn="l">
              <a:lnSpc>
                <a:spcPct val="130000"/>
              </a:lnSpc>
            </a:pPr>
            <a:r>
              <a:rPr sz="1100" b="0" i="0">
                <a:solidFill>
                  <a:srgbClr val="4A5568"/>
                </a:solidFill>
                <a:latin typeface="Calibri"/>
              </a:rPr>
              <a:t>Factor</a:t>
            </a:r>
          </a:p>
        </p:txBody>
      </p:sp>
      <p:sp>
        <p:nvSpPr>
          <p:cNvPr id="37" name="Rectangle 36"/>
          <p:cNvSpPr/>
          <p:nvPr/>
        </p:nvSpPr>
        <p:spPr>
          <a:xfrm>
            <a:off x="9244584" y="1691640"/>
            <a:ext cx="2761488" cy="19202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18904" y="3200400"/>
            <a:ext cx="36576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44584" y="1874520"/>
            <a:ext cx="2761488" cy="1188720"/>
          </a:xfrm>
          <a:prstGeom prst="rect">
            <a:avLst/>
          </a:prstGeom>
          <a:noFill/>
        </p:spPr>
        <p:txBody>
          <a:bodyPr wrap="square" lIns="0" rIns="0" tIns="0" bIns="0" anchor="t">
            <a:spAutoFit/>
          </a:bodyPr>
          <a:lstStyle/>
          <a:p>
            <a:pPr algn="ctr">
              <a:lnSpc>
                <a:spcPct val="100000"/>
              </a:lnSpc>
            </a:pPr>
            <a:r>
              <a:rPr sz="8000" b="1" i="0">
                <a:solidFill>
                  <a:srgbClr val="FFFFFF"/>
                </a:solidFill>
                <a:latin typeface="Calibri"/>
              </a:rPr>
              <a:t>3</a:t>
            </a:r>
          </a:p>
        </p:txBody>
      </p:sp>
      <p:sp>
        <p:nvSpPr>
          <p:cNvPr id="40" name="TextBox 39"/>
          <p:cNvSpPr txBox="1"/>
          <p:nvPr/>
        </p:nvSpPr>
        <p:spPr>
          <a:xfrm>
            <a:off x="9518904" y="3291840"/>
            <a:ext cx="2212848" cy="457200"/>
          </a:xfrm>
          <a:prstGeom prst="rect">
            <a:avLst/>
          </a:prstGeom>
          <a:noFill/>
        </p:spPr>
        <p:txBody>
          <a:bodyPr wrap="square" lIns="0" rIns="0" tIns="0" bIns="0" anchor="t">
            <a:spAutoFit/>
          </a:bodyPr>
          <a:lstStyle/>
          <a:p>
            <a:pPr algn="l">
              <a:lnSpc>
                <a:spcPct val="130000"/>
              </a:lnSpc>
            </a:pPr>
            <a:r>
              <a:rPr sz="1100" b="1" i="0">
                <a:solidFill>
                  <a:srgbClr val="C9A961"/>
                </a:solidFill>
                <a:latin typeface="Calibri"/>
              </a:rPr>
              <a:t>Q1 papers — all</a:t>
            </a:r>
          </a:p>
          <a:p>
            <a:pPr algn="l">
              <a:lnSpc>
                <a:spcPct val="130000"/>
              </a:lnSpc>
            </a:pPr>
            <a:r>
              <a:rPr sz="1100" b="1" i="0">
                <a:solidFill>
                  <a:srgbClr val="C9A961"/>
                </a:solidFill>
                <a:latin typeface="Calibri"/>
              </a:rPr>
              <a:t>1st / co-1st / corresponding</a:t>
            </a:r>
          </a:p>
        </p:txBody>
      </p:sp>
      <p:cxnSp>
        <p:nvCxnSpPr>
          <p:cNvPr id="41" name="Connector 40"/>
          <p:cNvCxnSpPr/>
          <p:nvPr/>
        </p:nvCxnSpPr>
        <p:spPr>
          <a:xfrm>
            <a:off x="685800" y="400507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914400" y="3840480"/>
            <a:ext cx="107442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Q1 JOURNALS  ·  ALL FIRST / CO-FIRST / CORRESPONDING AUTHOR</a:t>
            </a:r>
          </a:p>
        </p:txBody>
      </p:sp>
      <p:sp>
        <p:nvSpPr>
          <p:cNvPr id="43" name="Rectangle 42"/>
          <p:cNvSpPr/>
          <p:nvPr/>
        </p:nvSpPr>
        <p:spPr>
          <a:xfrm>
            <a:off x="685800" y="4297680"/>
            <a:ext cx="3703320" cy="137160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85800" y="4297680"/>
            <a:ext cx="64008" cy="13716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4400" y="4434840"/>
            <a:ext cx="3337560" cy="365760"/>
          </a:xfrm>
          <a:prstGeom prst="rect">
            <a:avLst/>
          </a:prstGeom>
          <a:noFill/>
        </p:spPr>
        <p:txBody>
          <a:bodyPr wrap="square" lIns="0" rIns="0" tIns="0" bIns="0" anchor="t">
            <a:spAutoFit/>
          </a:bodyPr>
          <a:lstStyle/>
          <a:p>
            <a:pPr algn="l">
              <a:lnSpc>
                <a:spcPct val="115000"/>
              </a:lnSpc>
            </a:pPr>
            <a:r>
              <a:rPr sz="1300" b="1" i="0">
                <a:solidFill>
                  <a:srgbClr val="142E55"/>
                </a:solidFill>
                <a:latin typeface="Calibri"/>
              </a:rPr>
              <a:t>Building and Environment</a:t>
            </a:r>
          </a:p>
        </p:txBody>
      </p:sp>
      <p:sp>
        <p:nvSpPr>
          <p:cNvPr id="46" name="TextBox 45"/>
          <p:cNvSpPr txBox="1"/>
          <p:nvPr/>
        </p:nvSpPr>
        <p:spPr>
          <a:xfrm>
            <a:off x="914400" y="4800600"/>
            <a:ext cx="3337560" cy="274320"/>
          </a:xfrm>
          <a:prstGeom prst="rect">
            <a:avLst/>
          </a:prstGeom>
          <a:noFill/>
        </p:spPr>
        <p:txBody>
          <a:bodyPr wrap="square" lIns="0" rIns="0" tIns="0" bIns="0" anchor="t">
            <a:spAutoFit/>
          </a:bodyPr>
          <a:lstStyle/>
          <a:p>
            <a:pPr algn="l">
              <a:lnSpc>
                <a:spcPct val="115000"/>
              </a:lnSpc>
            </a:pPr>
            <a:r>
              <a:rPr sz="1050" b="1" i="0">
                <a:solidFill>
                  <a:srgbClr val="8C6F33"/>
                </a:solidFill>
                <a:latin typeface="Calibri"/>
              </a:rPr>
              <a:t>IF ≈ 7.1  ·  Q1</a:t>
            </a:r>
          </a:p>
        </p:txBody>
      </p:sp>
      <p:sp>
        <p:nvSpPr>
          <p:cNvPr id="47" name="TextBox 46"/>
          <p:cNvSpPr txBox="1"/>
          <p:nvPr/>
        </p:nvSpPr>
        <p:spPr>
          <a:xfrm>
            <a:off x="914400" y="5074920"/>
            <a:ext cx="3337560" cy="548640"/>
          </a:xfrm>
          <a:prstGeom prst="rect">
            <a:avLst/>
          </a:prstGeom>
          <a:noFill/>
        </p:spPr>
        <p:txBody>
          <a:bodyPr wrap="square" lIns="0" rIns="0" tIns="0" bIns="0" anchor="t">
            <a:spAutoFit/>
          </a:bodyPr>
          <a:lstStyle/>
          <a:p>
            <a:pPr algn="l">
              <a:lnSpc>
                <a:spcPct val="135000"/>
              </a:lnSpc>
            </a:pPr>
            <a:r>
              <a:rPr sz="1050" b="0" i="1">
                <a:solidFill>
                  <a:srgbClr val="4A5568"/>
                </a:solidFill>
                <a:latin typeface="Calibri"/>
              </a:rPr>
              <a:t>TOP 5 IN FIELD  ·  Co-first author</a:t>
            </a:r>
          </a:p>
          <a:p>
            <a:pPr algn="l">
              <a:lnSpc>
                <a:spcPct val="135000"/>
              </a:lnSpc>
            </a:pPr>
            <a:r>
              <a:rPr sz="1050" b="0" i="1">
                <a:solidFill>
                  <a:srgbClr val="4A5568"/>
                </a:solidFill>
                <a:latin typeface="Calibri"/>
              </a:rPr>
              <a:t>Classroom thermal × learning</a:t>
            </a:r>
          </a:p>
        </p:txBody>
      </p:sp>
      <p:sp>
        <p:nvSpPr>
          <p:cNvPr id="48" name="Rectangle 47"/>
          <p:cNvSpPr/>
          <p:nvPr/>
        </p:nvSpPr>
        <p:spPr>
          <a:xfrm>
            <a:off x="4480560" y="4297680"/>
            <a:ext cx="3703320" cy="137160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480560" y="4297680"/>
            <a:ext cx="64008" cy="13716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09160" y="4434840"/>
            <a:ext cx="3337560" cy="365760"/>
          </a:xfrm>
          <a:prstGeom prst="rect">
            <a:avLst/>
          </a:prstGeom>
          <a:noFill/>
        </p:spPr>
        <p:txBody>
          <a:bodyPr wrap="square" lIns="0" rIns="0" tIns="0" bIns="0" anchor="t">
            <a:spAutoFit/>
          </a:bodyPr>
          <a:lstStyle/>
          <a:p>
            <a:pPr algn="l">
              <a:lnSpc>
                <a:spcPct val="115000"/>
              </a:lnSpc>
            </a:pPr>
            <a:r>
              <a:rPr sz="1300" b="1" i="0">
                <a:solidFill>
                  <a:srgbClr val="142E55"/>
                </a:solidFill>
                <a:latin typeface="Calibri"/>
              </a:rPr>
              <a:t>Environmental Pollution</a:t>
            </a:r>
          </a:p>
        </p:txBody>
      </p:sp>
      <p:sp>
        <p:nvSpPr>
          <p:cNvPr id="51" name="TextBox 50"/>
          <p:cNvSpPr txBox="1"/>
          <p:nvPr/>
        </p:nvSpPr>
        <p:spPr>
          <a:xfrm>
            <a:off x="4709160" y="4800600"/>
            <a:ext cx="3337560" cy="274320"/>
          </a:xfrm>
          <a:prstGeom prst="rect">
            <a:avLst/>
          </a:prstGeom>
          <a:noFill/>
        </p:spPr>
        <p:txBody>
          <a:bodyPr wrap="square" lIns="0" rIns="0" tIns="0" bIns="0" anchor="t">
            <a:spAutoFit/>
          </a:bodyPr>
          <a:lstStyle/>
          <a:p>
            <a:pPr algn="l">
              <a:lnSpc>
                <a:spcPct val="115000"/>
              </a:lnSpc>
            </a:pPr>
            <a:r>
              <a:rPr sz="1050" b="1" i="0">
                <a:solidFill>
                  <a:srgbClr val="8C6F33"/>
                </a:solidFill>
                <a:latin typeface="Calibri"/>
              </a:rPr>
              <a:t>IF ≈ 7.3  ·  Q1</a:t>
            </a:r>
          </a:p>
        </p:txBody>
      </p:sp>
      <p:sp>
        <p:nvSpPr>
          <p:cNvPr id="52" name="TextBox 51"/>
          <p:cNvSpPr txBox="1"/>
          <p:nvPr/>
        </p:nvSpPr>
        <p:spPr>
          <a:xfrm>
            <a:off x="4709160" y="5074920"/>
            <a:ext cx="3337560" cy="548640"/>
          </a:xfrm>
          <a:prstGeom prst="rect">
            <a:avLst/>
          </a:prstGeom>
          <a:noFill/>
        </p:spPr>
        <p:txBody>
          <a:bodyPr wrap="square" lIns="0" rIns="0" tIns="0" bIns="0" anchor="t">
            <a:spAutoFit/>
          </a:bodyPr>
          <a:lstStyle/>
          <a:p>
            <a:pPr algn="l">
              <a:lnSpc>
                <a:spcPct val="135000"/>
              </a:lnSpc>
            </a:pPr>
            <a:r>
              <a:rPr sz="1050" b="0" i="1">
                <a:solidFill>
                  <a:srgbClr val="4A5568"/>
                </a:solidFill>
                <a:latin typeface="Calibri"/>
              </a:rPr>
              <a:t>Top-tier Environmental Science</a:t>
            </a:r>
          </a:p>
          <a:p>
            <a:pPr algn="l">
              <a:lnSpc>
                <a:spcPct val="135000"/>
              </a:lnSpc>
            </a:pPr>
            <a:r>
              <a:rPr sz="1050" b="0" i="1">
                <a:solidFill>
                  <a:srgbClr val="4A5568"/>
                </a:solidFill>
                <a:latin typeface="Calibri"/>
              </a:rPr>
              <a:t>PM2.5 health-effects assessment</a:t>
            </a:r>
          </a:p>
        </p:txBody>
      </p:sp>
      <p:sp>
        <p:nvSpPr>
          <p:cNvPr id="53" name="Rectangle 52"/>
          <p:cNvSpPr/>
          <p:nvPr/>
        </p:nvSpPr>
        <p:spPr>
          <a:xfrm>
            <a:off x="8275320" y="4297680"/>
            <a:ext cx="3703320" cy="137160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275320" y="4297680"/>
            <a:ext cx="64008" cy="13716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503920" y="4434840"/>
            <a:ext cx="3337560" cy="365760"/>
          </a:xfrm>
          <a:prstGeom prst="rect">
            <a:avLst/>
          </a:prstGeom>
          <a:noFill/>
        </p:spPr>
        <p:txBody>
          <a:bodyPr wrap="square" lIns="0" rIns="0" tIns="0" bIns="0" anchor="t">
            <a:spAutoFit/>
          </a:bodyPr>
          <a:lstStyle/>
          <a:p>
            <a:pPr algn="l">
              <a:lnSpc>
                <a:spcPct val="115000"/>
              </a:lnSpc>
            </a:pPr>
            <a:r>
              <a:rPr sz="1300" b="1" i="0">
                <a:solidFill>
                  <a:srgbClr val="142E55"/>
                </a:solidFill>
                <a:latin typeface="Calibri"/>
              </a:rPr>
              <a:t>Energies</a:t>
            </a:r>
          </a:p>
        </p:txBody>
      </p:sp>
      <p:sp>
        <p:nvSpPr>
          <p:cNvPr id="56" name="TextBox 55"/>
          <p:cNvSpPr txBox="1"/>
          <p:nvPr/>
        </p:nvSpPr>
        <p:spPr>
          <a:xfrm>
            <a:off x="8503920" y="4800600"/>
            <a:ext cx="3337560" cy="274320"/>
          </a:xfrm>
          <a:prstGeom prst="rect">
            <a:avLst/>
          </a:prstGeom>
          <a:noFill/>
        </p:spPr>
        <p:txBody>
          <a:bodyPr wrap="square" lIns="0" rIns="0" tIns="0" bIns="0" anchor="t">
            <a:spAutoFit/>
          </a:bodyPr>
          <a:lstStyle/>
          <a:p>
            <a:pPr algn="l">
              <a:lnSpc>
                <a:spcPct val="115000"/>
              </a:lnSpc>
            </a:pPr>
            <a:r>
              <a:rPr sz="1050" b="1" i="0">
                <a:solidFill>
                  <a:srgbClr val="8C6F33"/>
                </a:solidFill>
                <a:latin typeface="Calibri"/>
              </a:rPr>
              <a:t>IF ≈ 3.1  ·  Q1</a:t>
            </a:r>
          </a:p>
        </p:txBody>
      </p:sp>
      <p:sp>
        <p:nvSpPr>
          <p:cNvPr id="57" name="TextBox 56"/>
          <p:cNvSpPr txBox="1"/>
          <p:nvPr/>
        </p:nvSpPr>
        <p:spPr>
          <a:xfrm>
            <a:off x="8503920" y="5074920"/>
            <a:ext cx="3337560" cy="548640"/>
          </a:xfrm>
          <a:prstGeom prst="rect">
            <a:avLst/>
          </a:prstGeom>
          <a:noFill/>
        </p:spPr>
        <p:txBody>
          <a:bodyPr wrap="square" lIns="0" rIns="0" tIns="0" bIns="0" anchor="t">
            <a:spAutoFit/>
          </a:bodyPr>
          <a:lstStyle/>
          <a:p>
            <a:pPr algn="l">
              <a:lnSpc>
                <a:spcPct val="135000"/>
              </a:lnSpc>
            </a:pPr>
            <a:r>
              <a:rPr sz="1050" b="0" i="1">
                <a:solidFill>
                  <a:srgbClr val="4A5568"/>
                </a:solidFill>
                <a:latin typeface="Calibri"/>
              </a:rPr>
              <a:t>First author</a:t>
            </a:r>
          </a:p>
          <a:p>
            <a:pPr algn="l">
              <a:lnSpc>
                <a:spcPct val="135000"/>
              </a:lnSpc>
            </a:pPr>
            <a:r>
              <a:rPr sz="1050" b="0" i="1">
                <a:solidFill>
                  <a:srgbClr val="4A5568"/>
                </a:solidFill>
                <a:latin typeface="Calibri"/>
              </a:rPr>
              <a:t>Classroom comfort × learning efficiency</a:t>
            </a:r>
          </a:p>
        </p:txBody>
      </p:sp>
      <p:sp>
        <p:nvSpPr>
          <p:cNvPr id="58" name="Rectangle 57"/>
          <p:cNvSpPr/>
          <p:nvPr/>
        </p:nvSpPr>
        <p:spPr>
          <a:xfrm>
            <a:off x="685800" y="5806440"/>
            <a:ext cx="10972800" cy="5486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68680" y="5861304"/>
            <a:ext cx="10607040" cy="228600"/>
          </a:xfrm>
          <a:prstGeom prst="rect">
            <a:avLst/>
          </a:prstGeom>
          <a:noFill/>
        </p:spPr>
        <p:txBody>
          <a:bodyPr wrap="square" lIns="0" rIns="0" tIns="0" bIns="0" anchor="t">
            <a:spAutoFit/>
          </a:bodyPr>
          <a:lstStyle/>
          <a:p>
            <a:pPr algn="l">
              <a:lnSpc>
                <a:spcPct val="115000"/>
              </a:lnSpc>
            </a:pPr>
            <a:r>
              <a:rPr sz="900" b="1" i="0">
                <a:solidFill>
                  <a:srgbClr val="C9A961"/>
                </a:solidFill>
                <a:latin typeface="Calibri"/>
              </a:rPr>
              <a:t>RESEARCH LINE  ·  ONE CONTINUOUS AGENDA</a:t>
            </a:r>
          </a:p>
        </p:txBody>
      </p:sp>
      <p:sp>
        <p:nvSpPr>
          <p:cNvPr id="60" name="TextBox 59"/>
          <p:cNvSpPr txBox="1"/>
          <p:nvPr/>
        </p:nvSpPr>
        <p:spPr>
          <a:xfrm>
            <a:off x="868680" y="6080760"/>
            <a:ext cx="10607040" cy="274320"/>
          </a:xfrm>
          <a:prstGeom prst="rect">
            <a:avLst/>
          </a:prstGeom>
          <a:noFill/>
        </p:spPr>
        <p:txBody>
          <a:bodyPr wrap="square" lIns="0" rIns="0" tIns="0" bIns="0" anchor="t">
            <a:spAutoFit/>
          </a:bodyPr>
          <a:lstStyle/>
          <a:p>
            <a:pPr algn="l">
              <a:lnSpc>
                <a:spcPct val="115000"/>
              </a:lnSpc>
            </a:pPr>
            <a:r>
              <a:rPr sz="1150" b="1" i="0">
                <a:solidFill>
                  <a:srgbClr val="FFFFFF"/>
                </a:solidFill>
                <a:latin typeface="Calibri"/>
              </a:rPr>
              <a:t>Building energy  →  Indoor comfort &amp; learning  →  PM2.5 health  →  Urban heat &amp; LULC  →  Green-blue infrastructure  →  Policy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07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INTERNATIONAL COLLABORATION</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Organizer, not just participant — three concrete records.</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07/11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3703320" cy="292608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85800" y="1691640"/>
            <a:ext cx="370332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1691640"/>
            <a:ext cx="548640" cy="502920"/>
          </a:xfrm>
          <a:prstGeom prst="rect">
            <a:avLst/>
          </a:prstGeom>
          <a:noFill/>
        </p:spPr>
        <p:txBody>
          <a:bodyPr wrap="square" lIns="0" rIns="0" tIns="0" bIns="0" anchor="ctr">
            <a:spAutoFit/>
          </a:bodyPr>
          <a:lstStyle/>
          <a:p>
            <a:pPr algn="l">
              <a:lnSpc>
                <a:spcPct val="115000"/>
              </a:lnSpc>
            </a:pPr>
            <a:r>
              <a:rPr sz="1400" b="1" i="0">
                <a:solidFill>
                  <a:srgbClr val="C9A961"/>
                </a:solidFill>
                <a:latin typeface="Calibri"/>
              </a:rPr>
              <a:t>01</a:t>
            </a:r>
          </a:p>
        </p:txBody>
      </p:sp>
      <p:sp>
        <p:nvSpPr>
          <p:cNvPr id="28" name="TextBox 27"/>
          <p:cNvSpPr txBox="1"/>
          <p:nvPr/>
        </p:nvSpPr>
        <p:spPr>
          <a:xfrm>
            <a:off x="1554480" y="1691640"/>
            <a:ext cx="2788920" cy="502920"/>
          </a:xfrm>
          <a:prstGeom prst="rect">
            <a:avLst/>
          </a:prstGeom>
          <a:noFill/>
        </p:spPr>
        <p:txBody>
          <a:bodyPr wrap="square" lIns="0" rIns="0" tIns="0" bIns="0" anchor="ctr">
            <a:spAutoFit/>
          </a:bodyPr>
          <a:lstStyle/>
          <a:p>
            <a:pPr algn="l">
              <a:lnSpc>
                <a:spcPct val="115000"/>
              </a:lnSpc>
            </a:pPr>
            <a:r>
              <a:rPr sz="1150" b="1" i="0">
                <a:solidFill>
                  <a:srgbClr val="C9A961"/>
                </a:solidFill>
                <a:latin typeface="Calibri"/>
              </a:rPr>
              <a:t>SAKURA SCIENCE PROGRAM</a:t>
            </a:r>
          </a:p>
        </p:txBody>
      </p:sp>
      <p:sp>
        <p:nvSpPr>
          <p:cNvPr id="29" name="TextBox 28"/>
          <p:cNvSpPr txBox="1"/>
          <p:nvPr/>
        </p:nvSpPr>
        <p:spPr>
          <a:xfrm>
            <a:off x="914400" y="2468880"/>
            <a:ext cx="3337560" cy="1280160"/>
          </a:xfrm>
          <a:prstGeom prst="rect">
            <a:avLst/>
          </a:prstGeom>
          <a:noFill/>
        </p:spPr>
        <p:txBody>
          <a:bodyPr wrap="square" lIns="0" rIns="0" tIns="0" bIns="0" anchor="t">
            <a:spAutoFit/>
          </a:bodyPr>
          <a:lstStyle/>
          <a:p>
            <a:pPr algn="l">
              <a:lnSpc>
                <a:spcPct val="140000"/>
              </a:lnSpc>
            </a:pPr>
            <a:r>
              <a:rPr sz="1200" b="0" i="0">
                <a:solidFill>
                  <a:srgbClr val="1A1A1A"/>
                </a:solidFill>
                <a:latin typeface="Calibri"/>
              </a:rPr>
              <a:t>Organized ZSTU × Japanese</a:t>
            </a:r>
          </a:p>
          <a:p>
            <a:pPr algn="l">
              <a:lnSpc>
                <a:spcPct val="140000"/>
              </a:lnSpc>
            </a:pPr>
            <a:r>
              <a:rPr sz="1200" b="0" i="0">
                <a:solidFill>
                  <a:srgbClr val="1A1A1A"/>
                </a:solidFill>
                <a:latin typeface="Calibri"/>
              </a:rPr>
              <a:t>universities student-researcher</a:t>
            </a:r>
          </a:p>
          <a:p>
            <a:pPr algn="l">
              <a:lnSpc>
                <a:spcPct val="140000"/>
              </a:lnSpc>
            </a:pPr>
            <a:r>
              <a:rPr sz="1200" b="0" i="0">
                <a:solidFill>
                  <a:srgbClr val="1A1A1A"/>
                </a:solidFill>
                <a:latin typeface="Calibri"/>
              </a:rPr>
              <a:t>exchanges over multiple years</a:t>
            </a:r>
          </a:p>
        </p:txBody>
      </p:sp>
      <p:sp>
        <p:nvSpPr>
          <p:cNvPr id="30" name="Rectangle 29"/>
          <p:cNvSpPr/>
          <p:nvPr/>
        </p:nvSpPr>
        <p:spPr>
          <a:xfrm>
            <a:off x="914400" y="3840480"/>
            <a:ext cx="3246120" cy="635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3931920"/>
            <a:ext cx="3337560" cy="594360"/>
          </a:xfrm>
          <a:prstGeom prst="rect">
            <a:avLst/>
          </a:prstGeom>
          <a:noFill/>
        </p:spPr>
        <p:txBody>
          <a:bodyPr wrap="square" lIns="0" rIns="0" tIns="0" bIns="0" anchor="t">
            <a:spAutoFit/>
          </a:bodyPr>
          <a:lstStyle/>
          <a:p>
            <a:pPr algn="l">
              <a:lnSpc>
                <a:spcPct val="135000"/>
              </a:lnSpc>
            </a:pPr>
            <a:r>
              <a:rPr sz="1050" b="0" i="1">
                <a:solidFill>
                  <a:srgbClr val="8C6F33"/>
                </a:solidFill>
                <a:latin typeface="Calibri"/>
              </a:rPr>
              <a:t>Sustained partnership — paused</a:t>
            </a:r>
          </a:p>
          <a:p>
            <a:pPr algn="l">
              <a:lnSpc>
                <a:spcPct val="135000"/>
              </a:lnSpc>
            </a:pPr>
            <a:r>
              <a:rPr sz="1050" b="0" i="1">
                <a:solidFill>
                  <a:srgbClr val="8C6F33"/>
                </a:solidFill>
                <a:latin typeface="Calibri"/>
              </a:rPr>
              <a:t>by COVID, friendship intact</a:t>
            </a:r>
          </a:p>
        </p:txBody>
      </p:sp>
      <p:sp>
        <p:nvSpPr>
          <p:cNvPr id="32" name="Rectangle 31"/>
          <p:cNvSpPr/>
          <p:nvPr/>
        </p:nvSpPr>
        <p:spPr>
          <a:xfrm>
            <a:off x="4480560" y="1691640"/>
            <a:ext cx="3703320" cy="292608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80560" y="1691640"/>
            <a:ext cx="370332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09160" y="1691640"/>
            <a:ext cx="548640" cy="502920"/>
          </a:xfrm>
          <a:prstGeom prst="rect">
            <a:avLst/>
          </a:prstGeom>
          <a:noFill/>
        </p:spPr>
        <p:txBody>
          <a:bodyPr wrap="square" lIns="0" rIns="0" tIns="0" bIns="0" anchor="ctr">
            <a:spAutoFit/>
          </a:bodyPr>
          <a:lstStyle/>
          <a:p>
            <a:pPr algn="l">
              <a:lnSpc>
                <a:spcPct val="115000"/>
              </a:lnSpc>
            </a:pPr>
            <a:r>
              <a:rPr sz="1400" b="1" i="0">
                <a:solidFill>
                  <a:srgbClr val="C9A961"/>
                </a:solidFill>
                <a:latin typeface="Calibri"/>
              </a:rPr>
              <a:t>02</a:t>
            </a:r>
          </a:p>
        </p:txBody>
      </p:sp>
      <p:sp>
        <p:nvSpPr>
          <p:cNvPr id="35" name="TextBox 34"/>
          <p:cNvSpPr txBox="1"/>
          <p:nvPr/>
        </p:nvSpPr>
        <p:spPr>
          <a:xfrm>
            <a:off x="5349240" y="1691640"/>
            <a:ext cx="2788920" cy="502920"/>
          </a:xfrm>
          <a:prstGeom prst="rect">
            <a:avLst/>
          </a:prstGeom>
          <a:noFill/>
        </p:spPr>
        <p:txBody>
          <a:bodyPr wrap="square" lIns="0" rIns="0" tIns="0" bIns="0" anchor="ctr">
            <a:spAutoFit/>
          </a:bodyPr>
          <a:lstStyle/>
          <a:p>
            <a:pPr algn="l">
              <a:lnSpc>
                <a:spcPct val="115000"/>
              </a:lnSpc>
            </a:pPr>
            <a:r>
              <a:rPr sz="1150" b="1" i="0">
                <a:solidFill>
                  <a:srgbClr val="C9A961"/>
                </a:solidFill>
                <a:latin typeface="Calibri"/>
              </a:rPr>
              <a:t>ZHEJIANG CARBON-NEUTRAL CENTER</a:t>
            </a:r>
          </a:p>
        </p:txBody>
      </p:sp>
      <p:sp>
        <p:nvSpPr>
          <p:cNvPr id="36" name="TextBox 35"/>
          <p:cNvSpPr txBox="1"/>
          <p:nvPr/>
        </p:nvSpPr>
        <p:spPr>
          <a:xfrm>
            <a:off x="4709160" y="2468880"/>
            <a:ext cx="3337560" cy="1280160"/>
          </a:xfrm>
          <a:prstGeom prst="rect">
            <a:avLst/>
          </a:prstGeom>
          <a:noFill/>
        </p:spPr>
        <p:txBody>
          <a:bodyPr wrap="square" lIns="0" rIns="0" tIns="0" bIns="0" anchor="t">
            <a:spAutoFit/>
          </a:bodyPr>
          <a:lstStyle/>
          <a:p>
            <a:pPr algn="l">
              <a:lnSpc>
                <a:spcPct val="140000"/>
              </a:lnSpc>
            </a:pPr>
            <a:r>
              <a:rPr sz="1200" b="0" i="0">
                <a:solidFill>
                  <a:srgbClr val="1A1A1A"/>
                </a:solidFill>
                <a:latin typeface="Calibri"/>
              </a:rPr>
              <a:t>Built the Zhejiang International</a:t>
            </a:r>
          </a:p>
          <a:p>
            <a:pPr algn="l">
              <a:lnSpc>
                <a:spcPct val="140000"/>
              </a:lnSpc>
            </a:pPr>
            <a:r>
              <a:rPr sz="1200" b="0" i="0">
                <a:solidFill>
                  <a:srgbClr val="1A1A1A"/>
                </a:solidFill>
                <a:latin typeface="Calibri"/>
              </a:rPr>
              <a:t>Co-op Center on Carbon Neutrality,</a:t>
            </a:r>
          </a:p>
          <a:p>
            <a:pPr algn="l">
              <a:lnSpc>
                <a:spcPct val="140000"/>
              </a:lnSpc>
            </a:pPr>
            <a:r>
              <a:rPr sz="1200" b="0" i="0">
                <a:solidFill>
                  <a:srgbClr val="1A1A1A"/>
                </a:solidFill>
                <a:latin typeface="Calibri"/>
              </a:rPr>
              <a:t>as ZSTU representative</a:t>
            </a:r>
          </a:p>
        </p:txBody>
      </p:sp>
      <p:sp>
        <p:nvSpPr>
          <p:cNvPr id="37" name="Rectangle 36"/>
          <p:cNvSpPr/>
          <p:nvPr/>
        </p:nvSpPr>
        <p:spPr>
          <a:xfrm>
            <a:off x="4709160" y="3840480"/>
            <a:ext cx="3246120" cy="635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09160" y="3931920"/>
            <a:ext cx="3337560" cy="594360"/>
          </a:xfrm>
          <a:prstGeom prst="rect">
            <a:avLst/>
          </a:prstGeom>
          <a:noFill/>
        </p:spPr>
        <p:txBody>
          <a:bodyPr wrap="square" lIns="0" rIns="0" tIns="0" bIns="0" anchor="t">
            <a:spAutoFit/>
          </a:bodyPr>
          <a:lstStyle/>
          <a:p>
            <a:pPr algn="l">
              <a:lnSpc>
                <a:spcPct val="135000"/>
              </a:lnSpc>
            </a:pPr>
            <a:r>
              <a:rPr sz="1050" b="0" i="1">
                <a:solidFill>
                  <a:srgbClr val="8C6F33"/>
                </a:solidFill>
                <a:latin typeface="Calibri"/>
              </a:rPr>
              <a:t>1 of 4 provincial centers</a:t>
            </a:r>
          </a:p>
          <a:p>
            <a:pPr algn="l">
              <a:lnSpc>
                <a:spcPct val="135000"/>
              </a:lnSpc>
            </a:pPr>
            <a:r>
              <a:rPr sz="1050" b="0" i="1">
                <a:solidFill>
                  <a:srgbClr val="8C6F33"/>
                </a:solidFill>
                <a:latin typeface="Calibri"/>
              </a:rPr>
              <a:t>— ZSTU as core unit</a:t>
            </a:r>
          </a:p>
        </p:txBody>
      </p:sp>
      <p:sp>
        <p:nvSpPr>
          <p:cNvPr id="39" name="Rectangle 38"/>
          <p:cNvSpPr/>
          <p:nvPr/>
        </p:nvSpPr>
        <p:spPr>
          <a:xfrm>
            <a:off x="8275320" y="1691640"/>
            <a:ext cx="3703320" cy="2926080"/>
          </a:xfrm>
          <a:prstGeom prst="rect">
            <a:avLst/>
          </a:prstGeom>
          <a:solidFill>
            <a:srgbClr val="FFFFFF"/>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75320" y="1691640"/>
            <a:ext cx="370332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0" y="1691640"/>
            <a:ext cx="548640" cy="502920"/>
          </a:xfrm>
          <a:prstGeom prst="rect">
            <a:avLst/>
          </a:prstGeom>
          <a:noFill/>
        </p:spPr>
        <p:txBody>
          <a:bodyPr wrap="square" lIns="0" rIns="0" tIns="0" bIns="0" anchor="ctr">
            <a:spAutoFit/>
          </a:bodyPr>
          <a:lstStyle/>
          <a:p>
            <a:pPr algn="l">
              <a:lnSpc>
                <a:spcPct val="115000"/>
              </a:lnSpc>
            </a:pPr>
            <a:r>
              <a:rPr sz="1400" b="1" i="0">
                <a:solidFill>
                  <a:srgbClr val="C9A961"/>
                </a:solidFill>
                <a:latin typeface="Calibri"/>
              </a:rPr>
              <a:t>03</a:t>
            </a:r>
          </a:p>
        </p:txBody>
      </p:sp>
      <p:sp>
        <p:nvSpPr>
          <p:cNvPr id="42" name="TextBox 41"/>
          <p:cNvSpPr txBox="1"/>
          <p:nvPr/>
        </p:nvSpPr>
        <p:spPr>
          <a:xfrm>
            <a:off x="9144000" y="1691640"/>
            <a:ext cx="2788920" cy="502920"/>
          </a:xfrm>
          <a:prstGeom prst="rect">
            <a:avLst/>
          </a:prstGeom>
          <a:noFill/>
        </p:spPr>
        <p:txBody>
          <a:bodyPr wrap="square" lIns="0" rIns="0" tIns="0" bIns="0" anchor="ctr">
            <a:spAutoFit/>
          </a:bodyPr>
          <a:lstStyle/>
          <a:p>
            <a:pPr algn="l">
              <a:lnSpc>
                <a:spcPct val="115000"/>
              </a:lnSpc>
            </a:pPr>
            <a:r>
              <a:rPr sz="1150" b="1" i="0">
                <a:solidFill>
                  <a:srgbClr val="C9A961"/>
                </a:solidFill>
                <a:latin typeface="Calibri"/>
              </a:rPr>
              <a:t>5-COUNTRY ONLINE FORUM</a:t>
            </a:r>
          </a:p>
        </p:txBody>
      </p:sp>
      <p:sp>
        <p:nvSpPr>
          <p:cNvPr id="43" name="TextBox 42"/>
          <p:cNvSpPr txBox="1"/>
          <p:nvPr/>
        </p:nvSpPr>
        <p:spPr>
          <a:xfrm>
            <a:off x="8503920" y="2468880"/>
            <a:ext cx="3337560" cy="1280160"/>
          </a:xfrm>
          <a:prstGeom prst="rect">
            <a:avLst/>
          </a:prstGeom>
          <a:noFill/>
        </p:spPr>
        <p:txBody>
          <a:bodyPr wrap="square" lIns="0" rIns="0" tIns="0" bIns="0" anchor="t">
            <a:spAutoFit/>
          </a:bodyPr>
          <a:lstStyle/>
          <a:p>
            <a:pPr algn="l">
              <a:lnSpc>
                <a:spcPct val="140000"/>
              </a:lnSpc>
            </a:pPr>
            <a:r>
              <a:rPr sz="1200" b="0" i="0">
                <a:solidFill>
                  <a:srgbClr val="1A1A1A"/>
                </a:solidFill>
                <a:latin typeface="Calibri"/>
              </a:rPr>
              <a:t>Organized international forum:</a:t>
            </a:r>
          </a:p>
          <a:p>
            <a:pPr algn="l">
              <a:lnSpc>
                <a:spcPct val="140000"/>
              </a:lnSpc>
            </a:pPr>
            <a:r>
              <a:rPr sz="1200" b="0" i="0">
                <a:solidFill>
                  <a:srgbClr val="1A1A1A"/>
                </a:solidFill>
                <a:latin typeface="Calibri"/>
              </a:rPr>
              <a:t>China · Japan · UK (UCL) ·</a:t>
            </a:r>
          </a:p>
          <a:p>
            <a:pPr algn="l">
              <a:lnSpc>
                <a:spcPct val="140000"/>
              </a:lnSpc>
            </a:pPr>
            <a:r>
              <a:rPr sz="1200" b="0" i="0">
                <a:solidFill>
                  <a:srgbClr val="1A1A1A"/>
                </a:solidFill>
                <a:latin typeface="Calibri"/>
              </a:rPr>
              <a:t>Indonesia · Bangladesh</a:t>
            </a:r>
          </a:p>
        </p:txBody>
      </p:sp>
      <p:sp>
        <p:nvSpPr>
          <p:cNvPr id="44" name="Rectangle 43"/>
          <p:cNvSpPr/>
          <p:nvPr/>
        </p:nvSpPr>
        <p:spPr>
          <a:xfrm>
            <a:off x="8503920" y="3840480"/>
            <a:ext cx="3246120" cy="635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0" y="3931920"/>
            <a:ext cx="3337560" cy="594360"/>
          </a:xfrm>
          <a:prstGeom prst="rect">
            <a:avLst/>
          </a:prstGeom>
          <a:noFill/>
        </p:spPr>
        <p:txBody>
          <a:bodyPr wrap="square" lIns="0" rIns="0" tIns="0" bIns="0" anchor="t">
            <a:spAutoFit/>
          </a:bodyPr>
          <a:lstStyle/>
          <a:p>
            <a:pPr algn="l">
              <a:lnSpc>
                <a:spcPct val="135000"/>
              </a:lnSpc>
            </a:pPr>
            <a:r>
              <a:rPr sz="1050" b="0" i="1">
                <a:solidFill>
                  <a:srgbClr val="8C6F33"/>
                </a:solidFill>
                <a:latin typeface="Calibri"/>
              </a:rPr>
              <a:t>Multi-country coordination</a:t>
            </a:r>
          </a:p>
          <a:p>
            <a:pPr algn="l">
              <a:lnSpc>
                <a:spcPct val="135000"/>
              </a:lnSpc>
            </a:pPr>
            <a:r>
              <a:rPr sz="1050" b="0" i="1">
                <a:solidFill>
                  <a:srgbClr val="8C6F33"/>
                </a:solidFill>
                <a:latin typeface="Calibri"/>
              </a:rPr>
              <a:t>under COVID constraints</a:t>
            </a:r>
          </a:p>
        </p:txBody>
      </p:sp>
      <p:sp>
        <p:nvSpPr>
          <p:cNvPr id="46" name="Rectangle 45"/>
          <p:cNvSpPr/>
          <p:nvPr/>
        </p:nvSpPr>
        <p:spPr>
          <a:xfrm>
            <a:off x="685800" y="4800600"/>
            <a:ext cx="10972800" cy="1371600"/>
          </a:xfrm>
          <a:prstGeom prst="rect">
            <a:avLst/>
          </a:prstGeom>
          <a:solidFill>
            <a:srgbClr val="FAFBFC"/>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822960" y="50566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051560" y="4892040"/>
            <a:ext cx="70866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FUTURE NETWORK  ·  BUILDING ON EXISTING FRIENDSHIP</a:t>
            </a:r>
          </a:p>
        </p:txBody>
      </p:sp>
      <p:sp>
        <p:nvSpPr>
          <p:cNvPr id="49" name="Rectangle 48"/>
          <p:cNvSpPr/>
          <p:nvPr/>
        </p:nvSpPr>
        <p:spPr>
          <a:xfrm>
            <a:off x="5394960" y="5486400"/>
            <a:ext cx="1554480" cy="36576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394960" y="5486400"/>
            <a:ext cx="1554480" cy="365760"/>
          </a:xfrm>
          <a:prstGeom prst="rect">
            <a:avLst/>
          </a:prstGeom>
          <a:noFill/>
        </p:spPr>
        <p:txBody>
          <a:bodyPr wrap="square" lIns="0" rIns="0" tIns="0" bIns="0" anchor="ctr">
            <a:spAutoFit/>
          </a:bodyPr>
          <a:lstStyle/>
          <a:p>
            <a:pPr algn="ctr">
              <a:lnSpc>
                <a:spcPct val="115000"/>
              </a:lnSpc>
            </a:pPr>
            <a:r>
              <a:rPr sz="1100" b="1" i="0">
                <a:solidFill>
                  <a:srgbClr val="C9A961"/>
                </a:solidFill>
                <a:latin typeface="Calibri"/>
              </a:rPr>
              <a:t>YAMAGUCHI U.</a:t>
            </a:r>
          </a:p>
        </p:txBody>
      </p:sp>
      <p:cxnSp>
        <p:nvCxnSpPr>
          <p:cNvPr id="51" name="Connector 50"/>
          <p:cNvCxnSpPr/>
          <p:nvPr/>
        </p:nvCxnSpPr>
        <p:spPr>
          <a:xfrm flipH="1">
            <a:off x="2057400.0" y="5669280"/>
            <a:ext cx="4114800.0" cy="0"/>
          </a:xfrm>
          <a:prstGeom prst="line">
            <a:avLst/>
          </a:prstGeom>
          <a:ln w="12700">
            <a:solidFill>
              <a:srgbClr val="C9A961"/>
            </a:solidFill>
            <a:prstDash val="dash"/>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280160" y="5486400"/>
            <a:ext cx="1554480" cy="365760"/>
          </a:xfrm>
          <a:prstGeom prst="rect">
            <a:avLst/>
          </a:prstGeom>
          <a:solidFill>
            <a:srgbClr val="FFFFFF"/>
          </a:solidFill>
          <a:ln w="1270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80160" y="5486400"/>
            <a:ext cx="1554480"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UCL</a:t>
            </a:r>
          </a:p>
        </p:txBody>
      </p:sp>
      <p:sp>
        <p:nvSpPr>
          <p:cNvPr id="54" name="TextBox 53"/>
          <p:cNvSpPr txBox="1"/>
          <p:nvPr/>
        </p:nvSpPr>
        <p:spPr>
          <a:xfrm>
            <a:off x="1280160" y="5870448"/>
            <a:ext cx="1554480" cy="274320"/>
          </a:xfrm>
          <a:prstGeom prst="rect">
            <a:avLst/>
          </a:prstGeom>
          <a:noFill/>
        </p:spPr>
        <p:txBody>
          <a:bodyPr wrap="square" lIns="0" rIns="0" tIns="0" bIns="0" anchor="t">
            <a:spAutoFit/>
          </a:bodyPr>
          <a:lstStyle/>
          <a:p>
            <a:pPr algn="ctr">
              <a:lnSpc>
                <a:spcPct val="115000"/>
              </a:lnSpc>
            </a:pPr>
            <a:r>
              <a:rPr sz="800" b="0" i="1">
                <a:solidFill>
                  <a:srgbClr val="4A5568"/>
                </a:solidFill>
                <a:latin typeface="Calibri"/>
              </a:rPr>
              <a:t>Dr. Huanfa Chen</a:t>
            </a:r>
          </a:p>
        </p:txBody>
      </p:sp>
      <p:cxnSp>
        <p:nvCxnSpPr>
          <p:cNvPr id="55" name="Connector 54"/>
          <p:cNvCxnSpPr/>
          <p:nvPr/>
        </p:nvCxnSpPr>
        <p:spPr>
          <a:xfrm flipH="1">
            <a:off x="3977640.0" y="5669280"/>
            <a:ext cx="2194560.0" cy="0"/>
          </a:xfrm>
          <a:prstGeom prst="line">
            <a:avLst/>
          </a:prstGeom>
          <a:ln w="12700">
            <a:solidFill>
              <a:srgbClr val="C9A961"/>
            </a:solidFill>
            <a:prstDash val="dash"/>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200400" y="5486400"/>
            <a:ext cx="1554480" cy="365760"/>
          </a:xfrm>
          <a:prstGeom prst="rect">
            <a:avLst/>
          </a:prstGeom>
          <a:solidFill>
            <a:srgbClr val="FFFFFF"/>
          </a:solidFill>
          <a:ln w="1270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200400" y="5486400"/>
            <a:ext cx="1554480"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ZSTU</a:t>
            </a:r>
          </a:p>
        </p:txBody>
      </p:sp>
      <p:sp>
        <p:nvSpPr>
          <p:cNvPr id="58" name="TextBox 57"/>
          <p:cNvSpPr txBox="1"/>
          <p:nvPr/>
        </p:nvSpPr>
        <p:spPr>
          <a:xfrm>
            <a:off x="3200400" y="5870448"/>
            <a:ext cx="1554480" cy="274320"/>
          </a:xfrm>
          <a:prstGeom prst="rect">
            <a:avLst/>
          </a:prstGeom>
          <a:noFill/>
        </p:spPr>
        <p:txBody>
          <a:bodyPr wrap="square" lIns="0" rIns="0" tIns="0" bIns="0" anchor="t">
            <a:spAutoFit/>
          </a:bodyPr>
          <a:lstStyle/>
          <a:p>
            <a:pPr algn="ctr">
              <a:lnSpc>
                <a:spcPct val="115000"/>
              </a:lnSpc>
            </a:pPr>
            <a:r>
              <a:rPr sz="800" b="0" i="1">
                <a:solidFill>
                  <a:srgbClr val="4A5568"/>
                </a:solidFill>
                <a:latin typeface="Calibri"/>
              </a:rPr>
              <a:t>Sakura net</a:t>
            </a:r>
          </a:p>
        </p:txBody>
      </p:sp>
      <p:cxnSp>
        <p:nvCxnSpPr>
          <p:cNvPr id="59" name="Connector 58"/>
          <p:cNvCxnSpPr/>
          <p:nvPr/>
        </p:nvCxnSpPr>
        <p:spPr>
          <a:xfrm>
            <a:off x="6172200.0" y="5669280"/>
            <a:ext cx="2194560.0" cy="0"/>
          </a:xfrm>
          <a:prstGeom prst="line">
            <a:avLst/>
          </a:prstGeom>
          <a:ln w="12700">
            <a:solidFill>
              <a:srgbClr val="C9A961"/>
            </a:solidFill>
            <a:prstDash val="dash"/>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89520" y="5486400"/>
            <a:ext cx="1554480" cy="365760"/>
          </a:xfrm>
          <a:prstGeom prst="rect">
            <a:avLst/>
          </a:prstGeom>
          <a:solidFill>
            <a:srgbClr val="FFFFFF"/>
          </a:solidFill>
          <a:ln w="1270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589520" y="5486400"/>
            <a:ext cx="1554480"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ZHEJIANG U.</a:t>
            </a:r>
          </a:p>
        </p:txBody>
      </p:sp>
      <p:sp>
        <p:nvSpPr>
          <p:cNvPr id="62" name="TextBox 61"/>
          <p:cNvSpPr txBox="1"/>
          <p:nvPr/>
        </p:nvSpPr>
        <p:spPr>
          <a:xfrm>
            <a:off x="7589520" y="5870448"/>
            <a:ext cx="1554480" cy="274320"/>
          </a:xfrm>
          <a:prstGeom prst="rect">
            <a:avLst/>
          </a:prstGeom>
          <a:noFill/>
        </p:spPr>
        <p:txBody>
          <a:bodyPr wrap="square" lIns="0" rIns="0" tIns="0" bIns="0" anchor="t">
            <a:spAutoFit/>
          </a:bodyPr>
          <a:lstStyle/>
          <a:p>
            <a:pPr algn="ctr">
              <a:lnSpc>
                <a:spcPct val="115000"/>
              </a:lnSpc>
            </a:pPr>
            <a:r>
              <a:rPr sz="800" b="0" i="1">
                <a:solidFill>
                  <a:srgbClr val="4A5568"/>
                </a:solidFill>
                <a:latin typeface="Calibri"/>
              </a:rPr>
              <a:t>Prof. Jian Ge</a:t>
            </a:r>
          </a:p>
        </p:txBody>
      </p:sp>
      <p:cxnSp>
        <p:nvCxnSpPr>
          <p:cNvPr id="63" name="Connector 62"/>
          <p:cNvCxnSpPr/>
          <p:nvPr/>
        </p:nvCxnSpPr>
        <p:spPr>
          <a:xfrm>
            <a:off x="6172200.0" y="5669280"/>
            <a:ext cx="4114800.0" cy="0"/>
          </a:xfrm>
          <a:prstGeom prst="line">
            <a:avLst/>
          </a:prstGeom>
          <a:ln w="12700">
            <a:solidFill>
              <a:srgbClr val="C9A961"/>
            </a:solidFill>
            <a:prstDash val="dash"/>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9509760" y="5486400"/>
            <a:ext cx="1554480" cy="365760"/>
          </a:xfrm>
          <a:prstGeom prst="rect">
            <a:avLst/>
          </a:prstGeom>
          <a:solidFill>
            <a:srgbClr val="FFFFFF"/>
          </a:solidFill>
          <a:ln w="12700">
            <a:solidFill>
              <a:srgbClr val="142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509760" y="5486400"/>
            <a:ext cx="1554480"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ASIA NODES</a:t>
            </a:r>
          </a:p>
        </p:txBody>
      </p:sp>
      <p:sp>
        <p:nvSpPr>
          <p:cNvPr id="66" name="TextBox 65"/>
          <p:cNvSpPr txBox="1"/>
          <p:nvPr/>
        </p:nvSpPr>
        <p:spPr>
          <a:xfrm>
            <a:off x="9509760" y="5870448"/>
            <a:ext cx="1554480" cy="274320"/>
          </a:xfrm>
          <a:prstGeom prst="rect">
            <a:avLst/>
          </a:prstGeom>
          <a:noFill/>
        </p:spPr>
        <p:txBody>
          <a:bodyPr wrap="square" lIns="0" rIns="0" tIns="0" bIns="0" anchor="t">
            <a:spAutoFit/>
          </a:bodyPr>
          <a:lstStyle/>
          <a:p>
            <a:pPr algn="ctr">
              <a:lnSpc>
                <a:spcPct val="115000"/>
              </a:lnSpc>
            </a:pPr>
            <a:r>
              <a:rPr sz="800" b="0" i="1">
                <a:solidFill>
                  <a:srgbClr val="4A5568"/>
                </a:solidFill>
                <a:latin typeface="Calibri"/>
              </a:rPr>
              <a:t>Indonesia · Bangladesh</a:t>
            </a:r>
          </a:p>
        </p:txBody>
      </p:sp>
      <p:sp>
        <p:nvSpPr>
          <p:cNvPr id="67" name="TextBox 66"/>
          <p:cNvSpPr txBox="1"/>
          <p:nvPr/>
        </p:nvSpPr>
        <p:spPr>
          <a:xfrm>
            <a:off x="685800" y="6355080"/>
            <a:ext cx="10972800" cy="228600"/>
          </a:xfrm>
          <a:prstGeom prst="rect">
            <a:avLst/>
          </a:prstGeom>
          <a:noFill/>
        </p:spPr>
        <p:txBody>
          <a:bodyPr wrap="square" lIns="0" rIns="0" tIns="0" bIns="0" anchor="t">
            <a:spAutoFit/>
          </a:bodyPr>
          <a:lstStyle/>
          <a:p>
            <a:pPr algn="ctr">
              <a:lnSpc>
                <a:spcPct val="115000"/>
              </a:lnSpc>
            </a:pPr>
            <a:r>
              <a:rPr sz="1100" b="1" i="0">
                <a:solidFill>
                  <a:srgbClr val="142E55"/>
                </a:solidFill>
                <a:latin typeface="Calibri"/>
              </a:rPr>
              <a:t>IN ALL THREE CASES — I WAS THE ORGANIZER, NOT JUST A PARTICIPANT.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08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FUNDING &amp; PROJECT LEADERSHIP</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 100 million JPY total — and the Japan pattern has already started.</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08/11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3703320" cy="36576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1920240"/>
            <a:ext cx="3246120" cy="365760"/>
          </a:xfrm>
          <a:prstGeom prst="rect">
            <a:avLst/>
          </a:prstGeom>
          <a:noFill/>
        </p:spPr>
        <p:txBody>
          <a:bodyPr wrap="square" lIns="0" rIns="0" tIns="0" bIns="0" anchor="t">
            <a:spAutoFit/>
          </a:bodyPr>
          <a:lstStyle/>
          <a:p>
            <a:pPr algn="l">
              <a:lnSpc>
                <a:spcPct val="115000"/>
              </a:lnSpc>
            </a:pPr>
            <a:r>
              <a:rPr sz="1100" b="1" i="0">
                <a:solidFill>
                  <a:srgbClr val="C9A961"/>
                </a:solidFill>
                <a:latin typeface="Calibri"/>
              </a:rPr>
              <a:t>CHINA  ·  2018–2023</a:t>
            </a:r>
          </a:p>
        </p:txBody>
      </p:sp>
      <p:sp>
        <p:nvSpPr>
          <p:cNvPr id="27" name="TextBox 26"/>
          <p:cNvSpPr txBox="1"/>
          <p:nvPr/>
        </p:nvSpPr>
        <p:spPr>
          <a:xfrm>
            <a:off x="914400" y="2331720"/>
            <a:ext cx="3246120" cy="1508760"/>
          </a:xfrm>
          <a:prstGeom prst="rect">
            <a:avLst/>
          </a:prstGeom>
          <a:noFill/>
        </p:spPr>
        <p:txBody>
          <a:bodyPr wrap="square" lIns="0" rIns="0" tIns="0" bIns="0" anchor="t">
            <a:spAutoFit/>
          </a:bodyPr>
          <a:lstStyle/>
          <a:p>
            <a:pPr algn="l">
              <a:lnSpc>
                <a:spcPct val="95000"/>
              </a:lnSpc>
            </a:pPr>
            <a:r>
              <a:rPr sz="4600" b="1" i="0">
                <a:solidFill>
                  <a:srgbClr val="FFFFFF"/>
                </a:solidFill>
                <a:latin typeface="Calibri"/>
              </a:rPr>
              <a:t>≈ 100 M</a:t>
            </a:r>
          </a:p>
          <a:p>
            <a:pPr algn="l">
              <a:lnSpc>
                <a:spcPct val="95000"/>
              </a:lnSpc>
            </a:pPr>
            <a:r>
              <a:rPr sz="4600" b="1" i="0">
                <a:solidFill>
                  <a:srgbClr val="FFFFFF"/>
                </a:solidFill>
                <a:latin typeface="Calibri"/>
              </a:rPr>
              <a:t>JPY</a:t>
            </a:r>
          </a:p>
        </p:txBody>
      </p:sp>
      <p:sp>
        <p:nvSpPr>
          <p:cNvPr id="28" name="Rectangle 27"/>
          <p:cNvSpPr/>
          <p:nvPr/>
        </p:nvSpPr>
        <p:spPr>
          <a:xfrm>
            <a:off x="914400" y="3886200"/>
            <a:ext cx="731520" cy="127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069080"/>
            <a:ext cx="3246120" cy="914400"/>
          </a:xfrm>
          <a:prstGeom prst="rect">
            <a:avLst/>
          </a:prstGeom>
          <a:noFill/>
        </p:spPr>
        <p:txBody>
          <a:bodyPr wrap="square" lIns="0" rIns="0" tIns="0" bIns="0" anchor="t">
            <a:spAutoFit/>
          </a:bodyPr>
          <a:lstStyle/>
          <a:p>
            <a:pPr algn="l">
              <a:lnSpc>
                <a:spcPct val="140000"/>
              </a:lnSpc>
            </a:pPr>
            <a:r>
              <a:rPr sz="1200" b="0" i="0">
                <a:solidFill>
                  <a:srgbClr val="FFFFFF"/>
                </a:solidFill>
                <a:latin typeface="Calibri"/>
              </a:rPr>
              <a:t>8 projects  ·  5 as Leading Researcher</a:t>
            </a:r>
          </a:p>
          <a:p>
            <a:pPr algn="l">
              <a:lnSpc>
                <a:spcPct val="140000"/>
              </a:lnSpc>
            </a:pPr>
            <a:r>
              <a:rPr sz="1200" b="0" i="0">
                <a:solidFill>
                  <a:srgbClr val="FFFFFF"/>
                </a:solidFill>
                <a:latin typeface="Calibri"/>
              </a:rPr>
              <a:t>Including NSSFC General Project</a:t>
            </a:r>
          </a:p>
          <a:p>
            <a:pPr algn="l">
              <a:lnSpc>
                <a:spcPct val="140000"/>
              </a:lnSpc>
            </a:pPr>
            <a:r>
              <a:rPr sz="1200" b="0" i="0">
                <a:solidFill>
                  <a:srgbClr val="FFFFFF"/>
                </a:solidFill>
                <a:latin typeface="Calibri"/>
              </a:rPr>
              <a:t>(collaborator)</a:t>
            </a:r>
          </a:p>
        </p:txBody>
      </p:sp>
      <p:sp>
        <p:nvSpPr>
          <p:cNvPr id="30" name="TextBox 29"/>
          <p:cNvSpPr txBox="1"/>
          <p:nvPr/>
        </p:nvSpPr>
        <p:spPr>
          <a:xfrm>
            <a:off x="914400" y="4983480"/>
            <a:ext cx="3246120" cy="274320"/>
          </a:xfrm>
          <a:prstGeom prst="rect">
            <a:avLst/>
          </a:prstGeom>
          <a:noFill/>
        </p:spPr>
        <p:txBody>
          <a:bodyPr wrap="square" lIns="0" rIns="0" tIns="0" bIns="0" anchor="t">
            <a:spAutoFit/>
          </a:bodyPr>
          <a:lstStyle/>
          <a:p>
            <a:pPr algn="l">
              <a:lnSpc>
                <a:spcPct val="115000"/>
              </a:lnSpc>
            </a:pPr>
            <a:r>
              <a:rPr sz="900" b="1" i="1">
                <a:solidFill>
                  <a:srgbClr val="C9A961"/>
                </a:solidFill>
                <a:latin typeface="Calibri"/>
              </a:rPr>
              <a:t>HIGH-COMPETITION ENVIRONMENT</a:t>
            </a:r>
          </a:p>
        </p:txBody>
      </p:sp>
      <p:sp>
        <p:nvSpPr>
          <p:cNvPr id="31" name="Rectangle 30"/>
          <p:cNvSpPr/>
          <p:nvPr/>
        </p:nvSpPr>
        <p:spPr>
          <a:xfrm>
            <a:off x="4480560" y="1691640"/>
            <a:ext cx="3703320" cy="365760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9160" y="1920240"/>
            <a:ext cx="3246120" cy="365760"/>
          </a:xfrm>
          <a:prstGeom prst="rect">
            <a:avLst/>
          </a:prstGeom>
          <a:noFill/>
        </p:spPr>
        <p:txBody>
          <a:bodyPr wrap="square" lIns="0" rIns="0" tIns="0" bIns="0" anchor="t">
            <a:spAutoFit/>
          </a:bodyPr>
          <a:lstStyle/>
          <a:p>
            <a:pPr algn="l">
              <a:lnSpc>
                <a:spcPct val="115000"/>
              </a:lnSpc>
            </a:pPr>
            <a:r>
              <a:rPr sz="1100" b="1" i="0">
                <a:solidFill>
                  <a:srgbClr val="8C6F33"/>
                </a:solidFill>
                <a:latin typeface="Calibri"/>
              </a:rPr>
              <a:t>KUMAMOTO  ·  2023–2025</a:t>
            </a:r>
          </a:p>
        </p:txBody>
      </p:sp>
      <p:sp>
        <p:nvSpPr>
          <p:cNvPr id="33" name="TextBox 32"/>
          <p:cNvSpPr txBox="1"/>
          <p:nvPr/>
        </p:nvSpPr>
        <p:spPr>
          <a:xfrm>
            <a:off x="4709160" y="2331720"/>
            <a:ext cx="3246120" cy="1508760"/>
          </a:xfrm>
          <a:prstGeom prst="rect">
            <a:avLst/>
          </a:prstGeom>
          <a:noFill/>
        </p:spPr>
        <p:txBody>
          <a:bodyPr wrap="square" lIns="0" rIns="0" tIns="0" bIns="0" anchor="t">
            <a:spAutoFit/>
          </a:bodyPr>
          <a:lstStyle/>
          <a:p>
            <a:pPr algn="l">
              <a:lnSpc>
                <a:spcPct val="95000"/>
              </a:lnSpc>
            </a:pPr>
            <a:r>
              <a:rPr sz="4600" b="1" i="0">
                <a:solidFill>
                  <a:srgbClr val="142E55"/>
                </a:solidFill>
                <a:latin typeface="Calibri"/>
              </a:rPr>
              <a:t>Municipal</a:t>
            </a:r>
          </a:p>
          <a:p>
            <a:pPr algn="l">
              <a:lnSpc>
                <a:spcPct val="95000"/>
              </a:lnSpc>
            </a:pPr>
            <a:r>
              <a:rPr sz="4600" b="1" i="0">
                <a:solidFill>
                  <a:srgbClr val="142E55"/>
                </a:solidFill>
                <a:latin typeface="Calibri"/>
              </a:rPr>
              <a:t>post</a:t>
            </a:r>
          </a:p>
        </p:txBody>
      </p:sp>
      <p:sp>
        <p:nvSpPr>
          <p:cNvPr id="34" name="Rectangle 33"/>
          <p:cNvSpPr/>
          <p:nvPr/>
        </p:nvSpPr>
        <p:spPr>
          <a:xfrm>
            <a:off x="4709160" y="3886200"/>
            <a:ext cx="731520" cy="12700"/>
          </a:xfrm>
          <a:prstGeom prst="rect">
            <a:avLst/>
          </a:prstGeom>
          <a:solidFill>
            <a:srgbClr val="8C6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09160" y="4069080"/>
            <a:ext cx="3246120" cy="914400"/>
          </a:xfrm>
          <a:prstGeom prst="rect">
            <a:avLst/>
          </a:prstGeom>
          <a:noFill/>
        </p:spPr>
        <p:txBody>
          <a:bodyPr wrap="square" lIns="0" rIns="0" tIns="0" bIns="0" anchor="t">
            <a:spAutoFit/>
          </a:bodyPr>
          <a:lstStyle/>
          <a:p>
            <a:pPr algn="l">
              <a:lnSpc>
                <a:spcPct val="140000"/>
              </a:lnSpc>
            </a:pPr>
            <a:r>
              <a:rPr sz="1200" b="0" i="0">
                <a:solidFill>
                  <a:srgbClr val="142E55"/>
                </a:solidFill>
                <a:latin typeface="Calibri"/>
              </a:rPr>
              <a:t>Institutional rule:</a:t>
            </a:r>
          </a:p>
          <a:p>
            <a:pPr algn="l">
              <a:lnSpc>
                <a:spcPct val="140000"/>
              </a:lnSpc>
            </a:pPr>
            <a:r>
              <a:rPr sz="1200" b="0" i="0">
                <a:solidFill>
                  <a:srgbClr val="142E55"/>
                </a:solidFill>
                <a:latin typeface="Calibri"/>
              </a:rPr>
              <a:t>external competitive grants</a:t>
            </a:r>
          </a:p>
          <a:p>
            <a:pPr algn="l">
              <a:lnSpc>
                <a:spcPct val="140000"/>
              </a:lnSpc>
            </a:pPr>
            <a:r>
              <a:rPr sz="1200" b="0" i="0">
                <a:solidFill>
                  <a:srgbClr val="142E55"/>
                </a:solidFill>
                <a:latin typeface="Calibri"/>
              </a:rPr>
              <a:t>not permitted</a:t>
            </a:r>
          </a:p>
        </p:txBody>
      </p:sp>
      <p:sp>
        <p:nvSpPr>
          <p:cNvPr id="36" name="TextBox 35"/>
          <p:cNvSpPr txBox="1"/>
          <p:nvPr/>
        </p:nvSpPr>
        <p:spPr>
          <a:xfrm>
            <a:off x="4709160" y="4983480"/>
            <a:ext cx="3246120" cy="274320"/>
          </a:xfrm>
          <a:prstGeom prst="rect">
            <a:avLst/>
          </a:prstGeom>
          <a:noFill/>
        </p:spPr>
        <p:txBody>
          <a:bodyPr wrap="square" lIns="0" rIns="0" tIns="0" bIns="0" anchor="t">
            <a:spAutoFit/>
          </a:bodyPr>
          <a:lstStyle/>
          <a:p>
            <a:pPr algn="l">
              <a:lnSpc>
                <a:spcPct val="115000"/>
              </a:lnSpc>
            </a:pPr>
            <a:r>
              <a:rPr sz="900" b="1" i="1">
                <a:solidFill>
                  <a:srgbClr val="8C6F33"/>
                </a:solidFill>
                <a:latin typeface="Calibri"/>
              </a:rPr>
              <a:t>POLICY-OUTPUT  ·  MLIT EBPM-CITED</a:t>
            </a:r>
          </a:p>
        </p:txBody>
      </p:sp>
      <p:sp>
        <p:nvSpPr>
          <p:cNvPr id="37" name="Rectangle 36"/>
          <p:cNvSpPr/>
          <p:nvPr/>
        </p:nvSpPr>
        <p:spPr>
          <a:xfrm>
            <a:off x="8275320" y="1691640"/>
            <a:ext cx="3703320" cy="36576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3920" y="1920240"/>
            <a:ext cx="3246120" cy="365760"/>
          </a:xfrm>
          <a:prstGeom prst="rect">
            <a:avLst/>
          </a:prstGeom>
          <a:noFill/>
        </p:spPr>
        <p:txBody>
          <a:bodyPr wrap="square" lIns="0" rIns="0" tIns="0" bIns="0" anchor="t">
            <a:spAutoFit/>
          </a:bodyPr>
          <a:lstStyle/>
          <a:p>
            <a:pPr algn="l">
              <a:lnSpc>
                <a:spcPct val="115000"/>
              </a:lnSpc>
            </a:pPr>
            <a:r>
              <a:rPr sz="1100" b="1" i="0">
                <a:solidFill>
                  <a:srgbClr val="C9A961"/>
                </a:solidFill>
                <a:latin typeface="Calibri"/>
              </a:rPr>
              <a:t>YAMAGUCHI  ·  since Jan 2026</a:t>
            </a:r>
          </a:p>
        </p:txBody>
      </p:sp>
      <p:sp>
        <p:nvSpPr>
          <p:cNvPr id="39" name="TextBox 38"/>
          <p:cNvSpPr txBox="1"/>
          <p:nvPr/>
        </p:nvSpPr>
        <p:spPr>
          <a:xfrm>
            <a:off x="8503920" y="2331720"/>
            <a:ext cx="3246120" cy="1508760"/>
          </a:xfrm>
          <a:prstGeom prst="rect">
            <a:avLst/>
          </a:prstGeom>
          <a:noFill/>
        </p:spPr>
        <p:txBody>
          <a:bodyPr wrap="square" lIns="0" rIns="0" tIns="0" bIns="0" anchor="t">
            <a:spAutoFit/>
          </a:bodyPr>
          <a:lstStyle/>
          <a:p>
            <a:pPr algn="l">
              <a:lnSpc>
                <a:spcPct val="95000"/>
              </a:lnSpc>
            </a:pPr>
            <a:r>
              <a:rPr sz="4600" b="1" i="0">
                <a:solidFill>
                  <a:srgbClr val="FFFFFF"/>
                </a:solidFill>
                <a:latin typeface="Calibri"/>
              </a:rPr>
              <a:t># 1</a:t>
            </a:r>
          </a:p>
          <a:p>
            <a:pPr algn="l">
              <a:lnSpc>
                <a:spcPct val="95000"/>
              </a:lnSpc>
            </a:pPr>
            <a:r>
              <a:rPr sz="4600" b="1" i="0">
                <a:solidFill>
                  <a:srgbClr val="FFFFFF"/>
                </a:solidFill>
                <a:latin typeface="Calibri"/>
              </a:rPr>
              <a:t>/ 13</a:t>
            </a:r>
          </a:p>
        </p:txBody>
      </p:sp>
      <p:sp>
        <p:nvSpPr>
          <p:cNvPr id="40" name="Rectangle 39"/>
          <p:cNvSpPr/>
          <p:nvPr/>
        </p:nvSpPr>
        <p:spPr>
          <a:xfrm>
            <a:off x="8503920" y="3886200"/>
            <a:ext cx="731520" cy="127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0" y="4069080"/>
            <a:ext cx="3246120" cy="914400"/>
          </a:xfrm>
          <a:prstGeom prst="rect">
            <a:avLst/>
          </a:prstGeom>
          <a:noFill/>
        </p:spPr>
        <p:txBody>
          <a:bodyPr wrap="square" lIns="0" rIns="0" tIns="0" bIns="0" anchor="t">
            <a:spAutoFit/>
          </a:bodyPr>
          <a:lstStyle/>
          <a:p>
            <a:pPr algn="l">
              <a:lnSpc>
                <a:spcPct val="140000"/>
              </a:lnSpc>
            </a:pPr>
            <a:r>
              <a:rPr sz="1200" b="0" i="0">
                <a:solidFill>
                  <a:srgbClr val="FFFFFF"/>
                </a:solidFill>
                <a:latin typeface="Calibri"/>
              </a:rPr>
              <a:t>Top-ranked applicant</a:t>
            </a:r>
          </a:p>
          <a:p>
            <a:pPr algn="l">
              <a:lnSpc>
                <a:spcPct val="140000"/>
              </a:lnSpc>
            </a:pPr>
            <a:r>
              <a:rPr sz="1200" b="0" i="0">
                <a:solidFill>
                  <a:srgbClr val="FFFFFF"/>
                </a:solidFill>
                <a:latin typeface="Calibri"/>
              </a:rPr>
              <a:t>in Yamaguchi U. regional</a:t>
            </a:r>
          </a:p>
          <a:p>
            <a:pPr algn="l">
              <a:lnSpc>
                <a:spcPct val="140000"/>
              </a:lnSpc>
            </a:pPr>
            <a:r>
              <a:rPr sz="1200" b="0" i="0">
                <a:solidFill>
                  <a:srgbClr val="FFFFFF"/>
                </a:solidFill>
                <a:latin typeface="Calibri"/>
              </a:rPr>
              <a:t>research program (4 selected)</a:t>
            </a:r>
          </a:p>
        </p:txBody>
      </p:sp>
      <p:sp>
        <p:nvSpPr>
          <p:cNvPr id="42" name="TextBox 41"/>
          <p:cNvSpPr txBox="1"/>
          <p:nvPr/>
        </p:nvSpPr>
        <p:spPr>
          <a:xfrm>
            <a:off x="8503920" y="4983480"/>
            <a:ext cx="3246120" cy="274320"/>
          </a:xfrm>
          <a:prstGeom prst="rect">
            <a:avLst/>
          </a:prstGeom>
          <a:noFill/>
        </p:spPr>
        <p:txBody>
          <a:bodyPr wrap="square" lIns="0" rIns="0" tIns="0" bIns="0" anchor="t">
            <a:spAutoFit/>
          </a:bodyPr>
          <a:lstStyle/>
          <a:p>
            <a:pPr algn="l">
              <a:lnSpc>
                <a:spcPct val="115000"/>
              </a:lnSpc>
            </a:pPr>
            <a:r>
              <a:rPr sz="900" b="1" i="1">
                <a:solidFill>
                  <a:srgbClr val="C9A961"/>
                </a:solidFill>
                <a:latin typeface="Calibri"/>
              </a:rPr>
              <a:t>JAPAN PATTERN HAS STARTED</a:t>
            </a:r>
          </a:p>
        </p:txBody>
      </p:sp>
      <p:sp>
        <p:nvSpPr>
          <p:cNvPr id="43" name="Rectangle 42"/>
          <p:cNvSpPr/>
          <p:nvPr/>
        </p:nvSpPr>
        <p:spPr>
          <a:xfrm>
            <a:off x="685800" y="5577840"/>
            <a:ext cx="10972800" cy="731520"/>
          </a:xfrm>
          <a:prstGeom prst="rect">
            <a:avLst/>
          </a:prstGeom>
          <a:noFill/>
          <a:ln w="1524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669280"/>
            <a:ext cx="1060704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FORWARD PATH</a:t>
            </a:r>
          </a:p>
        </p:txBody>
      </p:sp>
      <p:sp>
        <p:nvSpPr>
          <p:cNvPr id="45" name="TextBox 44"/>
          <p:cNvSpPr txBox="1"/>
          <p:nvPr/>
        </p:nvSpPr>
        <p:spPr>
          <a:xfrm>
            <a:off x="868680" y="5907024"/>
            <a:ext cx="10607040" cy="365760"/>
          </a:xfrm>
          <a:prstGeom prst="rect">
            <a:avLst/>
          </a:prstGeom>
          <a:noFill/>
        </p:spPr>
        <p:txBody>
          <a:bodyPr wrap="square" lIns="0" rIns="0" tIns="0" bIns="0" anchor="t">
            <a:spAutoFit/>
          </a:bodyPr>
          <a:lstStyle/>
          <a:p>
            <a:pPr algn="l">
              <a:lnSpc>
                <a:spcPct val="115000"/>
              </a:lnSpc>
            </a:pPr>
            <a:r>
              <a:rPr sz="1500" b="1" i="0">
                <a:solidFill>
                  <a:srgbClr val="142E55"/>
                </a:solidFill>
                <a:latin typeface="Calibri"/>
              </a:rPr>
              <a:t>KAKENHI KIBAN C  (FY2026 autumn)   →   KAKENHI KIBAN B  (during HIRAKU)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09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RESEARCH PLAN  ·  FEASIBILITY &amp; INTERNATIONAL</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Not from zero — pipeline running, partners ready, first grant won.</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09/11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85800" y="1691640"/>
            <a:ext cx="3840480" cy="2743200"/>
          </a:xfrm>
          <a:prstGeom prst="rect">
            <a:avLst/>
          </a:prstGeom>
          <a:solidFill>
            <a:srgbClr val="FAFBFC"/>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822960" y="194767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051560" y="1783080"/>
            <a:ext cx="43434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3 CITIES  ×  3 WIND REGIMES</a:t>
            </a:r>
          </a:p>
        </p:txBody>
      </p:sp>
      <p:sp>
        <p:nvSpPr>
          <p:cNvPr id="28" name="Rectangle 27"/>
          <p:cNvSpPr/>
          <p:nvPr/>
        </p:nvSpPr>
        <p:spPr>
          <a:xfrm>
            <a:off x="960120" y="2103120"/>
            <a:ext cx="3291840" cy="594360"/>
          </a:xfrm>
          <a:prstGeom prst="rect">
            <a:avLst/>
          </a:prstGeom>
          <a:solidFill>
            <a:srgbClr val="6F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2148840"/>
            <a:ext cx="2743200" cy="274320"/>
          </a:xfrm>
          <a:prstGeom prst="rect">
            <a:avLst/>
          </a:prstGeom>
          <a:noFill/>
        </p:spPr>
        <p:txBody>
          <a:bodyPr wrap="square" lIns="0" rIns="0" tIns="0" bIns="0" anchor="t">
            <a:spAutoFit/>
          </a:bodyPr>
          <a:lstStyle/>
          <a:p>
            <a:pPr algn="l">
              <a:lnSpc>
                <a:spcPct val="115000"/>
              </a:lnSpc>
            </a:pPr>
            <a:r>
              <a:rPr sz="800" b="1" i="1">
                <a:solidFill>
                  <a:srgbClr val="FFFFFF"/>
                </a:solidFill>
                <a:latin typeface="Calibri"/>
              </a:rPr>
              <a:t>SEA OF JAPAN</a:t>
            </a:r>
          </a:p>
        </p:txBody>
      </p:sp>
      <p:sp>
        <p:nvSpPr>
          <p:cNvPr id="30" name="Rectangle 29"/>
          <p:cNvSpPr/>
          <p:nvPr/>
        </p:nvSpPr>
        <p:spPr>
          <a:xfrm>
            <a:off x="960120" y="2697480"/>
            <a:ext cx="3291840" cy="914400"/>
          </a:xfrm>
          <a:prstGeom prst="rect">
            <a:avLst/>
          </a:prstGeom>
          <a:solidFill>
            <a:srgbClr val="F6F8FA"/>
          </a:solid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 y="2743200"/>
            <a:ext cx="2743200" cy="274320"/>
          </a:xfrm>
          <a:prstGeom prst="rect">
            <a:avLst/>
          </a:prstGeom>
          <a:noFill/>
        </p:spPr>
        <p:txBody>
          <a:bodyPr wrap="square" lIns="0" rIns="0" tIns="0" bIns="0" anchor="t">
            <a:spAutoFit/>
          </a:bodyPr>
          <a:lstStyle/>
          <a:p>
            <a:pPr algn="l">
              <a:lnSpc>
                <a:spcPct val="115000"/>
              </a:lnSpc>
            </a:pPr>
            <a:r>
              <a:rPr sz="800" b="1" i="1">
                <a:solidFill>
                  <a:srgbClr val="8895A8"/>
                </a:solidFill>
                <a:latin typeface="Calibri"/>
              </a:rPr>
              <a:t>CHUGOKU REGION  ·  WESTERN HONSHU</a:t>
            </a:r>
          </a:p>
        </p:txBody>
      </p:sp>
      <p:sp>
        <p:nvSpPr>
          <p:cNvPr id="32" name="Rectangle 31"/>
          <p:cNvSpPr/>
          <p:nvPr/>
        </p:nvSpPr>
        <p:spPr>
          <a:xfrm>
            <a:off x="960120" y="3611880"/>
            <a:ext cx="3291840" cy="457200"/>
          </a:xfrm>
          <a:prstGeom prst="rect">
            <a:avLst/>
          </a:prstGeom>
          <a:solidFill>
            <a:srgbClr val="6F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3685032"/>
            <a:ext cx="2743200" cy="274320"/>
          </a:xfrm>
          <a:prstGeom prst="rect">
            <a:avLst/>
          </a:prstGeom>
          <a:noFill/>
        </p:spPr>
        <p:txBody>
          <a:bodyPr wrap="square" lIns="0" rIns="0" tIns="0" bIns="0" anchor="t">
            <a:spAutoFit/>
          </a:bodyPr>
          <a:lstStyle/>
          <a:p>
            <a:pPr algn="l">
              <a:lnSpc>
                <a:spcPct val="115000"/>
              </a:lnSpc>
            </a:pPr>
            <a:r>
              <a:rPr sz="800" b="1" i="1">
                <a:solidFill>
                  <a:srgbClr val="FFFFFF"/>
                </a:solidFill>
                <a:latin typeface="Calibri"/>
              </a:rPr>
              <a:t>SETO INLAND SEA</a:t>
            </a:r>
          </a:p>
        </p:txBody>
      </p:sp>
      <p:sp>
        <p:nvSpPr>
          <p:cNvPr id="34" name="Oval 33"/>
          <p:cNvSpPr/>
          <p:nvPr/>
        </p:nvSpPr>
        <p:spPr>
          <a:xfrm>
            <a:off x="1170432" y="2953512"/>
            <a:ext cx="219456" cy="219456"/>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444752" y="2935224"/>
            <a:ext cx="1463040" cy="201168"/>
          </a:xfrm>
          <a:prstGeom prst="rect">
            <a:avLst/>
          </a:prstGeom>
          <a:noFill/>
        </p:spPr>
        <p:txBody>
          <a:bodyPr wrap="square" lIns="0" rIns="0" tIns="0" bIns="0" anchor="t">
            <a:spAutoFit/>
          </a:bodyPr>
          <a:lstStyle/>
          <a:p>
            <a:pPr algn="l">
              <a:lnSpc>
                <a:spcPct val="115000"/>
              </a:lnSpc>
            </a:pPr>
            <a:r>
              <a:rPr sz="900" b="1" i="0">
                <a:solidFill>
                  <a:srgbClr val="142E55"/>
                </a:solidFill>
                <a:latin typeface="Calibri"/>
              </a:rPr>
              <a:t>MATSUE</a:t>
            </a:r>
          </a:p>
        </p:txBody>
      </p:sp>
      <p:sp>
        <p:nvSpPr>
          <p:cNvPr id="36" name="TextBox 35"/>
          <p:cNvSpPr txBox="1"/>
          <p:nvPr/>
        </p:nvSpPr>
        <p:spPr>
          <a:xfrm>
            <a:off x="1444752" y="3099816"/>
            <a:ext cx="1463040" cy="201168"/>
          </a:xfrm>
          <a:prstGeom prst="rect">
            <a:avLst/>
          </a:prstGeom>
          <a:noFill/>
        </p:spPr>
        <p:txBody>
          <a:bodyPr wrap="square" lIns="0" rIns="0" tIns="0" bIns="0" anchor="t">
            <a:spAutoFit/>
          </a:bodyPr>
          <a:lstStyle/>
          <a:p>
            <a:pPr algn="l">
              <a:lnSpc>
                <a:spcPct val="115000"/>
              </a:lnSpc>
            </a:pPr>
            <a:r>
              <a:rPr sz="700" b="0" i="1">
                <a:solidFill>
                  <a:srgbClr val="4A5568"/>
                </a:solidFill>
                <a:latin typeface="Calibri"/>
              </a:rPr>
              <a:t>LAKESIDE</a:t>
            </a:r>
          </a:p>
        </p:txBody>
      </p:sp>
      <p:sp>
        <p:nvSpPr>
          <p:cNvPr id="37" name="Oval 36"/>
          <p:cNvSpPr/>
          <p:nvPr/>
        </p:nvSpPr>
        <p:spPr>
          <a:xfrm>
            <a:off x="2359152" y="3136392"/>
            <a:ext cx="219456" cy="219456"/>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33472" y="3118104"/>
            <a:ext cx="1463040" cy="201168"/>
          </a:xfrm>
          <a:prstGeom prst="rect">
            <a:avLst/>
          </a:prstGeom>
          <a:noFill/>
        </p:spPr>
        <p:txBody>
          <a:bodyPr wrap="square" lIns="0" rIns="0" tIns="0" bIns="0" anchor="t">
            <a:spAutoFit/>
          </a:bodyPr>
          <a:lstStyle/>
          <a:p>
            <a:pPr algn="l">
              <a:lnSpc>
                <a:spcPct val="115000"/>
              </a:lnSpc>
            </a:pPr>
            <a:r>
              <a:rPr sz="900" b="1" i="0">
                <a:solidFill>
                  <a:srgbClr val="142E55"/>
                </a:solidFill>
                <a:latin typeface="Calibri"/>
              </a:rPr>
              <a:t>YAMAGUCHI</a:t>
            </a:r>
          </a:p>
        </p:txBody>
      </p:sp>
      <p:sp>
        <p:nvSpPr>
          <p:cNvPr id="39" name="TextBox 38"/>
          <p:cNvSpPr txBox="1"/>
          <p:nvPr/>
        </p:nvSpPr>
        <p:spPr>
          <a:xfrm>
            <a:off x="2633472" y="3282696"/>
            <a:ext cx="1463040" cy="201168"/>
          </a:xfrm>
          <a:prstGeom prst="rect">
            <a:avLst/>
          </a:prstGeom>
          <a:noFill/>
        </p:spPr>
        <p:txBody>
          <a:bodyPr wrap="square" lIns="0" rIns="0" tIns="0" bIns="0" anchor="t">
            <a:spAutoFit/>
          </a:bodyPr>
          <a:lstStyle/>
          <a:p>
            <a:pPr algn="l">
              <a:lnSpc>
                <a:spcPct val="115000"/>
              </a:lnSpc>
            </a:pPr>
            <a:r>
              <a:rPr sz="700" b="0" i="1">
                <a:solidFill>
                  <a:srgbClr val="4A5568"/>
                </a:solidFill>
                <a:latin typeface="Calibri"/>
              </a:rPr>
              <a:t>BASIN</a:t>
            </a:r>
          </a:p>
        </p:txBody>
      </p:sp>
      <p:sp>
        <p:nvSpPr>
          <p:cNvPr id="40" name="Oval 39"/>
          <p:cNvSpPr/>
          <p:nvPr/>
        </p:nvSpPr>
        <p:spPr>
          <a:xfrm>
            <a:off x="3182112" y="3364992"/>
            <a:ext cx="219456" cy="219456"/>
          </a:xfrm>
          <a:prstGeom prst="ellipse">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56432" y="3346704"/>
            <a:ext cx="1463040" cy="201168"/>
          </a:xfrm>
          <a:prstGeom prst="rect">
            <a:avLst/>
          </a:prstGeom>
          <a:noFill/>
        </p:spPr>
        <p:txBody>
          <a:bodyPr wrap="square" lIns="0" rIns="0" tIns="0" bIns="0" anchor="t">
            <a:spAutoFit/>
          </a:bodyPr>
          <a:lstStyle/>
          <a:p>
            <a:pPr algn="l">
              <a:lnSpc>
                <a:spcPct val="115000"/>
              </a:lnSpc>
            </a:pPr>
            <a:r>
              <a:rPr sz="900" b="1" i="0">
                <a:solidFill>
                  <a:srgbClr val="142E55"/>
                </a:solidFill>
                <a:latin typeface="Calibri"/>
              </a:rPr>
              <a:t>UBE</a:t>
            </a:r>
          </a:p>
        </p:txBody>
      </p:sp>
      <p:sp>
        <p:nvSpPr>
          <p:cNvPr id="42" name="TextBox 41"/>
          <p:cNvSpPr txBox="1"/>
          <p:nvPr/>
        </p:nvSpPr>
        <p:spPr>
          <a:xfrm>
            <a:off x="3456432" y="3511296"/>
            <a:ext cx="1463040" cy="201168"/>
          </a:xfrm>
          <a:prstGeom prst="rect">
            <a:avLst/>
          </a:prstGeom>
          <a:noFill/>
        </p:spPr>
        <p:txBody>
          <a:bodyPr wrap="square" lIns="0" rIns="0" tIns="0" bIns="0" anchor="t">
            <a:spAutoFit/>
          </a:bodyPr>
          <a:lstStyle/>
          <a:p>
            <a:pPr algn="l">
              <a:lnSpc>
                <a:spcPct val="115000"/>
              </a:lnSpc>
            </a:pPr>
            <a:r>
              <a:rPr sz="700" b="0" i="1">
                <a:solidFill>
                  <a:srgbClr val="4A5568"/>
                </a:solidFill>
                <a:latin typeface="Calibri"/>
              </a:rPr>
              <a:t>COASTAL</a:t>
            </a:r>
          </a:p>
        </p:txBody>
      </p:sp>
      <p:sp>
        <p:nvSpPr>
          <p:cNvPr id="43" name="TextBox 42"/>
          <p:cNvSpPr txBox="1"/>
          <p:nvPr/>
        </p:nvSpPr>
        <p:spPr>
          <a:xfrm>
            <a:off x="4114800" y="2468880"/>
            <a:ext cx="274320" cy="274320"/>
          </a:xfrm>
          <a:prstGeom prst="rect">
            <a:avLst/>
          </a:prstGeom>
          <a:noFill/>
        </p:spPr>
        <p:txBody>
          <a:bodyPr wrap="square" lIns="0" rIns="0" tIns="0" bIns="0" anchor="t">
            <a:spAutoFit/>
          </a:bodyPr>
          <a:lstStyle/>
          <a:p>
            <a:pPr algn="ctr">
              <a:lnSpc>
                <a:spcPct val="115000"/>
              </a:lnSpc>
            </a:pPr>
            <a:r>
              <a:rPr sz="1100" b="1" i="0">
                <a:solidFill>
                  <a:srgbClr val="142E55"/>
                </a:solidFill>
                <a:latin typeface="Calibri"/>
              </a:rPr>
              <a:t>N</a:t>
            </a:r>
          </a:p>
        </p:txBody>
      </p:sp>
      <p:sp>
        <p:nvSpPr>
          <p:cNvPr id="44" name="Isosceles Triangle 43"/>
          <p:cNvSpPr/>
          <p:nvPr/>
        </p:nvSpPr>
        <p:spPr>
          <a:xfrm>
            <a:off x="4178808" y="2194560"/>
            <a:ext cx="146304" cy="274320"/>
          </a:xfrm>
          <a:prstGeom prst="triangle">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4754880" y="18562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983480" y="1691640"/>
            <a:ext cx="288036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METHOD CHAIN  ·  CITY → CORRIDOR</a:t>
            </a:r>
          </a:p>
        </p:txBody>
      </p:sp>
      <p:sp>
        <p:nvSpPr>
          <p:cNvPr id="47" name="Rectangle 46"/>
          <p:cNvSpPr/>
          <p:nvPr/>
        </p:nvSpPr>
        <p:spPr>
          <a:xfrm>
            <a:off x="4754880" y="2057400"/>
            <a:ext cx="3108960" cy="68580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754880" y="2057400"/>
            <a:ext cx="502920" cy="6858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754880" y="2057400"/>
            <a:ext cx="502920" cy="68580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01</a:t>
            </a:r>
          </a:p>
        </p:txBody>
      </p:sp>
      <p:sp>
        <p:nvSpPr>
          <p:cNvPr id="50" name="TextBox 49"/>
          <p:cNvSpPr txBox="1"/>
          <p:nvPr/>
        </p:nvSpPr>
        <p:spPr>
          <a:xfrm>
            <a:off x="5394960" y="2130552"/>
            <a:ext cx="2377440" cy="274320"/>
          </a:xfrm>
          <a:prstGeom prst="rect">
            <a:avLst/>
          </a:prstGeom>
          <a:noFill/>
        </p:spPr>
        <p:txBody>
          <a:bodyPr wrap="square" lIns="0" rIns="0" tIns="0" bIns="0" anchor="t">
            <a:spAutoFit/>
          </a:bodyPr>
          <a:lstStyle/>
          <a:p>
            <a:pPr algn="l">
              <a:lnSpc>
                <a:spcPct val="115000"/>
              </a:lnSpc>
            </a:pPr>
            <a:r>
              <a:rPr sz="1100" b="1" i="0">
                <a:solidFill>
                  <a:srgbClr val="142E55"/>
                </a:solidFill>
                <a:latin typeface="Calibri"/>
              </a:rPr>
              <a:t>SATELLITE SCREENING</a:t>
            </a:r>
          </a:p>
        </p:txBody>
      </p:sp>
      <p:sp>
        <p:nvSpPr>
          <p:cNvPr id="51" name="TextBox 50"/>
          <p:cNvSpPr txBox="1"/>
          <p:nvPr/>
        </p:nvSpPr>
        <p:spPr>
          <a:xfrm>
            <a:off x="5394960" y="2404872"/>
            <a:ext cx="2377440" cy="320040"/>
          </a:xfrm>
          <a:prstGeom prst="rect">
            <a:avLst/>
          </a:prstGeom>
          <a:noFill/>
        </p:spPr>
        <p:txBody>
          <a:bodyPr wrap="square" lIns="0" rIns="0" tIns="0" bIns="0" anchor="t">
            <a:spAutoFit/>
          </a:bodyPr>
          <a:lstStyle/>
          <a:p>
            <a:pPr algn="l">
              <a:lnSpc>
                <a:spcPct val="125000"/>
              </a:lnSpc>
            </a:pPr>
            <a:r>
              <a:rPr sz="900" b="0" i="1">
                <a:solidFill>
                  <a:srgbClr val="4A5568"/>
                </a:solidFill>
                <a:latin typeface="Calibri"/>
              </a:rPr>
              <a:t>Landsat-8/9 LST × Sentinel-2 LCZ</a:t>
            </a:r>
          </a:p>
          <a:p>
            <a:pPr algn="l">
              <a:lnSpc>
                <a:spcPct val="125000"/>
              </a:lnSpc>
            </a:pPr>
            <a:r>
              <a:rPr sz="900" b="0" i="1">
                <a:solidFill>
                  <a:srgbClr val="4A5568"/>
                </a:solidFill>
                <a:latin typeface="Calibri"/>
              </a:rPr>
              <a:t>Years 1–2</a:t>
            </a:r>
          </a:p>
        </p:txBody>
      </p:sp>
      <p:cxnSp>
        <p:nvCxnSpPr>
          <p:cNvPr id="52" name="Connector 51"/>
          <p:cNvCxnSpPr/>
          <p:nvPr/>
        </p:nvCxnSpPr>
        <p:spPr>
          <a:xfrm>
            <a:off x="6309360.0" y="2743200"/>
            <a:ext cx="0.0" cy="91440"/>
          </a:xfrm>
          <a:prstGeom prst="line">
            <a:avLst/>
          </a:prstGeom>
          <a:ln w="25400">
            <a:solidFill>
              <a:srgbClr val="C9A961"/>
            </a:solidFill>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4754880" y="2834640"/>
            <a:ext cx="3108960" cy="68580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754880" y="2834640"/>
            <a:ext cx="502920" cy="6858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4880" y="2834640"/>
            <a:ext cx="502920" cy="68580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02</a:t>
            </a:r>
          </a:p>
        </p:txBody>
      </p:sp>
      <p:sp>
        <p:nvSpPr>
          <p:cNvPr id="56" name="TextBox 55"/>
          <p:cNvSpPr txBox="1"/>
          <p:nvPr/>
        </p:nvSpPr>
        <p:spPr>
          <a:xfrm>
            <a:off x="5394960" y="2907792"/>
            <a:ext cx="2377440" cy="274320"/>
          </a:xfrm>
          <a:prstGeom prst="rect">
            <a:avLst/>
          </a:prstGeom>
          <a:noFill/>
        </p:spPr>
        <p:txBody>
          <a:bodyPr wrap="square" lIns="0" rIns="0" tIns="0" bIns="0" anchor="t">
            <a:spAutoFit/>
          </a:bodyPr>
          <a:lstStyle/>
          <a:p>
            <a:pPr algn="l">
              <a:lnSpc>
                <a:spcPct val="115000"/>
              </a:lnSpc>
            </a:pPr>
            <a:r>
              <a:rPr sz="1100" b="1" i="0">
                <a:solidFill>
                  <a:srgbClr val="142E55"/>
                </a:solidFill>
                <a:latin typeface="Calibri"/>
              </a:rPr>
              <a:t>BLOCK CFD</a:t>
            </a:r>
          </a:p>
        </p:txBody>
      </p:sp>
      <p:sp>
        <p:nvSpPr>
          <p:cNvPr id="57" name="TextBox 56"/>
          <p:cNvSpPr txBox="1"/>
          <p:nvPr/>
        </p:nvSpPr>
        <p:spPr>
          <a:xfrm>
            <a:off x="5394960" y="3182112"/>
            <a:ext cx="2377440" cy="320040"/>
          </a:xfrm>
          <a:prstGeom prst="rect">
            <a:avLst/>
          </a:prstGeom>
          <a:noFill/>
        </p:spPr>
        <p:txBody>
          <a:bodyPr wrap="square" lIns="0" rIns="0" tIns="0" bIns="0" anchor="t">
            <a:spAutoFit/>
          </a:bodyPr>
          <a:lstStyle/>
          <a:p>
            <a:pPr algn="l">
              <a:lnSpc>
                <a:spcPct val="125000"/>
              </a:lnSpc>
            </a:pPr>
            <a:r>
              <a:rPr sz="900" b="0" i="1">
                <a:solidFill>
                  <a:srgbClr val="4A5568"/>
                </a:solidFill>
                <a:latin typeface="Calibri"/>
              </a:rPr>
              <a:t>OpenFOAM wind × morphology × GBI</a:t>
            </a:r>
          </a:p>
          <a:p>
            <a:pPr algn="l">
              <a:lnSpc>
                <a:spcPct val="125000"/>
              </a:lnSpc>
            </a:pPr>
            <a:r>
              <a:rPr sz="900" b="0" i="1">
                <a:solidFill>
                  <a:srgbClr val="4A5568"/>
                </a:solidFill>
                <a:latin typeface="Calibri"/>
              </a:rPr>
              <a:t>Year 3</a:t>
            </a:r>
          </a:p>
        </p:txBody>
      </p:sp>
      <p:cxnSp>
        <p:nvCxnSpPr>
          <p:cNvPr id="58" name="Connector 57"/>
          <p:cNvCxnSpPr/>
          <p:nvPr/>
        </p:nvCxnSpPr>
        <p:spPr>
          <a:xfrm>
            <a:off x="6309360.0" y="3520440"/>
            <a:ext cx="0.0" cy="91440"/>
          </a:xfrm>
          <a:prstGeom prst="line">
            <a:avLst/>
          </a:prstGeom>
          <a:ln w="25400">
            <a:solidFill>
              <a:srgbClr val="C9A961"/>
            </a:solidFill>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4754880" y="3611880"/>
            <a:ext cx="3108960" cy="68580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754880" y="3611880"/>
            <a:ext cx="502920" cy="68580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54880" y="3611880"/>
            <a:ext cx="502920" cy="68580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03</a:t>
            </a:r>
          </a:p>
        </p:txBody>
      </p:sp>
      <p:sp>
        <p:nvSpPr>
          <p:cNvPr id="62" name="TextBox 61"/>
          <p:cNvSpPr txBox="1"/>
          <p:nvPr/>
        </p:nvSpPr>
        <p:spPr>
          <a:xfrm>
            <a:off x="5394960" y="3685032"/>
            <a:ext cx="2377440" cy="274320"/>
          </a:xfrm>
          <a:prstGeom prst="rect">
            <a:avLst/>
          </a:prstGeom>
          <a:noFill/>
        </p:spPr>
        <p:txBody>
          <a:bodyPr wrap="square" lIns="0" rIns="0" tIns="0" bIns="0" anchor="t">
            <a:spAutoFit/>
          </a:bodyPr>
          <a:lstStyle/>
          <a:p>
            <a:pPr algn="l">
              <a:lnSpc>
                <a:spcPct val="115000"/>
              </a:lnSpc>
            </a:pPr>
            <a:r>
              <a:rPr sz="1100" b="1" i="0">
                <a:solidFill>
                  <a:srgbClr val="142E55"/>
                </a:solidFill>
                <a:latin typeface="Calibri"/>
              </a:rPr>
              <a:t>PEDESTRIAN VALIDATION</a:t>
            </a:r>
          </a:p>
        </p:txBody>
      </p:sp>
      <p:sp>
        <p:nvSpPr>
          <p:cNvPr id="63" name="TextBox 62"/>
          <p:cNvSpPr txBox="1"/>
          <p:nvPr/>
        </p:nvSpPr>
        <p:spPr>
          <a:xfrm>
            <a:off x="5394960" y="3959352"/>
            <a:ext cx="2377440" cy="320040"/>
          </a:xfrm>
          <a:prstGeom prst="rect">
            <a:avLst/>
          </a:prstGeom>
          <a:noFill/>
        </p:spPr>
        <p:txBody>
          <a:bodyPr wrap="square" lIns="0" rIns="0" tIns="0" bIns="0" anchor="t">
            <a:spAutoFit/>
          </a:bodyPr>
          <a:lstStyle/>
          <a:p>
            <a:pPr algn="l">
              <a:lnSpc>
                <a:spcPct val="125000"/>
              </a:lnSpc>
            </a:pPr>
            <a:r>
              <a:rPr sz="900" b="0" i="1">
                <a:solidFill>
                  <a:srgbClr val="4A5568"/>
                </a:solidFill>
                <a:latin typeface="Calibri"/>
              </a:rPr>
              <a:t>WBGT field measurement</a:t>
            </a:r>
          </a:p>
          <a:p>
            <a:pPr algn="l">
              <a:lnSpc>
                <a:spcPct val="125000"/>
              </a:lnSpc>
            </a:pPr>
            <a:r>
              <a:rPr sz="900" b="0" i="1">
                <a:solidFill>
                  <a:srgbClr val="4A5568"/>
                </a:solidFill>
                <a:latin typeface="Calibri"/>
              </a:rPr>
              <a:t>Year 4</a:t>
            </a:r>
          </a:p>
        </p:txBody>
      </p:sp>
      <p:cxnSp>
        <p:nvCxnSpPr>
          <p:cNvPr id="64" name="Connector 63"/>
          <p:cNvCxnSpPr/>
          <p:nvPr/>
        </p:nvCxnSpPr>
        <p:spPr>
          <a:xfrm>
            <a:off x="8092440" y="18562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8321040" y="1691640"/>
            <a:ext cx="34290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5-YEAR PLAN  ·  HIRAKU PERIOD</a:t>
            </a:r>
          </a:p>
        </p:txBody>
      </p:sp>
      <p:sp>
        <p:nvSpPr>
          <p:cNvPr id="66" name="Rectangle 65"/>
          <p:cNvSpPr/>
          <p:nvPr/>
        </p:nvSpPr>
        <p:spPr>
          <a:xfrm>
            <a:off x="8092440" y="2057400"/>
            <a:ext cx="740664" cy="365760"/>
          </a:xfrm>
          <a:prstGeom prst="rect">
            <a:avLst/>
          </a:prstGeom>
          <a:solidFill>
            <a:srgbClr val="F6F8FA"/>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92440" y="2057400"/>
            <a:ext cx="740664"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Y1</a:t>
            </a:r>
          </a:p>
        </p:txBody>
      </p:sp>
      <p:sp>
        <p:nvSpPr>
          <p:cNvPr id="68" name="Rectangle 67"/>
          <p:cNvSpPr/>
          <p:nvPr/>
        </p:nvSpPr>
        <p:spPr>
          <a:xfrm>
            <a:off x="8833104" y="2057400"/>
            <a:ext cx="740664" cy="365760"/>
          </a:xfrm>
          <a:prstGeom prst="rect">
            <a:avLst/>
          </a:prstGeom>
          <a:solidFill>
            <a:srgbClr val="F6F8FA"/>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33104" y="2057400"/>
            <a:ext cx="740664"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Y2</a:t>
            </a:r>
          </a:p>
        </p:txBody>
      </p:sp>
      <p:sp>
        <p:nvSpPr>
          <p:cNvPr id="70" name="Rectangle 69"/>
          <p:cNvSpPr/>
          <p:nvPr/>
        </p:nvSpPr>
        <p:spPr>
          <a:xfrm>
            <a:off x="9573768" y="2057400"/>
            <a:ext cx="740664" cy="365760"/>
          </a:xfrm>
          <a:prstGeom prst="rect">
            <a:avLst/>
          </a:prstGeom>
          <a:solidFill>
            <a:srgbClr val="F6F8FA"/>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573768" y="2057400"/>
            <a:ext cx="740664"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Y3</a:t>
            </a:r>
          </a:p>
        </p:txBody>
      </p:sp>
      <p:sp>
        <p:nvSpPr>
          <p:cNvPr id="72" name="Rectangle 71"/>
          <p:cNvSpPr/>
          <p:nvPr/>
        </p:nvSpPr>
        <p:spPr>
          <a:xfrm>
            <a:off x="10314432" y="2057400"/>
            <a:ext cx="740664" cy="365760"/>
          </a:xfrm>
          <a:prstGeom prst="rect">
            <a:avLst/>
          </a:prstGeom>
          <a:solidFill>
            <a:srgbClr val="F6F8FA"/>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314432" y="2057400"/>
            <a:ext cx="740664"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Y4</a:t>
            </a:r>
          </a:p>
        </p:txBody>
      </p:sp>
      <p:sp>
        <p:nvSpPr>
          <p:cNvPr id="74" name="Rectangle 73"/>
          <p:cNvSpPr/>
          <p:nvPr/>
        </p:nvSpPr>
        <p:spPr>
          <a:xfrm>
            <a:off x="11055096" y="2057400"/>
            <a:ext cx="740664" cy="365760"/>
          </a:xfrm>
          <a:prstGeom prst="rect">
            <a:avLst/>
          </a:prstGeom>
          <a:solidFill>
            <a:srgbClr val="F6F8FA"/>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055096" y="2057400"/>
            <a:ext cx="740664" cy="365760"/>
          </a:xfrm>
          <a:prstGeom prst="rect">
            <a:avLst/>
          </a:prstGeom>
          <a:noFill/>
        </p:spPr>
        <p:txBody>
          <a:bodyPr wrap="square" lIns="0" rIns="0" tIns="0" bIns="0" anchor="ctr">
            <a:spAutoFit/>
          </a:bodyPr>
          <a:lstStyle/>
          <a:p>
            <a:pPr algn="ctr">
              <a:lnSpc>
                <a:spcPct val="115000"/>
              </a:lnSpc>
            </a:pPr>
            <a:r>
              <a:rPr sz="1000" b="1" i="0">
                <a:solidFill>
                  <a:srgbClr val="142E55"/>
                </a:solidFill>
                <a:latin typeface="Calibri"/>
              </a:rPr>
              <a:t>Y5</a:t>
            </a:r>
          </a:p>
        </p:txBody>
      </p:sp>
      <p:sp>
        <p:nvSpPr>
          <p:cNvPr id="76" name="Rectangle 75"/>
          <p:cNvSpPr/>
          <p:nvPr/>
        </p:nvSpPr>
        <p:spPr>
          <a:xfrm>
            <a:off x="8119872" y="2560320"/>
            <a:ext cx="1426464" cy="182880"/>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092440" y="2542032"/>
            <a:ext cx="3657600" cy="228600"/>
          </a:xfrm>
          <a:prstGeom prst="rect">
            <a:avLst/>
          </a:prstGeom>
          <a:noFill/>
        </p:spPr>
        <p:txBody>
          <a:bodyPr wrap="square" lIns="0" rIns="0" tIns="0" bIns="0" anchor="ctr">
            <a:spAutoFit/>
          </a:bodyPr>
          <a:lstStyle/>
          <a:p>
            <a:pPr algn="r">
              <a:lnSpc>
                <a:spcPct val="115000"/>
              </a:lnSpc>
            </a:pPr>
            <a:r>
              <a:rPr sz="800" b="0" i="0">
                <a:solidFill>
                  <a:srgbClr val="1A1A1A"/>
                </a:solidFill>
                <a:latin typeface="Calibri"/>
              </a:rPr>
              <a:t>LST × LCZ diagnosis</a:t>
            </a:r>
          </a:p>
        </p:txBody>
      </p:sp>
      <p:sp>
        <p:nvSpPr>
          <p:cNvPr id="78" name="Rectangle 77"/>
          <p:cNvSpPr/>
          <p:nvPr/>
        </p:nvSpPr>
        <p:spPr>
          <a:xfrm>
            <a:off x="8860536" y="2788920"/>
            <a:ext cx="685800" cy="18288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092440" y="2770632"/>
            <a:ext cx="3657600" cy="228600"/>
          </a:xfrm>
          <a:prstGeom prst="rect">
            <a:avLst/>
          </a:prstGeom>
          <a:noFill/>
        </p:spPr>
        <p:txBody>
          <a:bodyPr wrap="square" lIns="0" rIns="0" tIns="0" bIns="0" anchor="ctr">
            <a:spAutoFit/>
          </a:bodyPr>
          <a:lstStyle/>
          <a:p>
            <a:pPr algn="r">
              <a:lnSpc>
                <a:spcPct val="115000"/>
              </a:lnSpc>
            </a:pPr>
            <a:r>
              <a:rPr sz="800" b="0" i="0">
                <a:solidFill>
                  <a:srgbClr val="1A1A1A"/>
                </a:solidFill>
                <a:latin typeface="Calibri"/>
              </a:rPr>
              <a:t>UCL stay (2 months)</a:t>
            </a:r>
          </a:p>
        </p:txBody>
      </p:sp>
      <p:sp>
        <p:nvSpPr>
          <p:cNvPr id="80" name="Rectangle 79"/>
          <p:cNvSpPr/>
          <p:nvPr/>
        </p:nvSpPr>
        <p:spPr>
          <a:xfrm>
            <a:off x="9601200" y="3017520"/>
            <a:ext cx="685800" cy="182880"/>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092440" y="2999232"/>
            <a:ext cx="3657600" cy="228600"/>
          </a:xfrm>
          <a:prstGeom prst="rect">
            <a:avLst/>
          </a:prstGeom>
          <a:noFill/>
        </p:spPr>
        <p:txBody>
          <a:bodyPr wrap="square" lIns="0" rIns="0" tIns="0" bIns="0" anchor="ctr">
            <a:spAutoFit/>
          </a:bodyPr>
          <a:lstStyle/>
          <a:p>
            <a:pPr algn="r">
              <a:lnSpc>
                <a:spcPct val="115000"/>
              </a:lnSpc>
            </a:pPr>
            <a:r>
              <a:rPr sz="800" b="0" i="0">
                <a:solidFill>
                  <a:srgbClr val="1A1A1A"/>
                </a:solidFill>
                <a:latin typeface="Calibri"/>
              </a:rPr>
              <a:t>Block-scale CFD</a:t>
            </a:r>
          </a:p>
        </p:txBody>
      </p:sp>
      <p:sp>
        <p:nvSpPr>
          <p:cNvPr id="82" name="Rectangle 81"/>
          <p:cNvSpPr/>
          <p:nvPr/>
        </p:nvSpPr>
        <p:spPr>
          <a:xfrm>
            <a:off x="9601200" y="3246120"/>
            <a:ext cx="685800" cy="18288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092440" y="3227832"/>
            <a:ext cx="3657600" cy="228600"/>
          </a:xfrm>
          <a:prstGeom prst="rect">
            <a:avLst/>
          </a:prstGeom>
          <a:noFill/>
        </p:spPr>
        <p:txBody>
          <a:bodyPr wrap="square" lIns="0" rIns="0" tIns="0" bIns="0" anchor="ctr">
            <a:spAutoFit/>
          </a:bodyPr>
          <a:lstStyle/>
          <a:p>
            <a:pPr algn="r">
              <a:lnSpc>
                <a:spcPct val="115000"/>
              </a:lnSpc>
            </a:pPr>
            <a:r>
              <a:rPr sz="800" b="0" i="0">
                <a:solidFill>
                  <a:srgbClr val="1A1A1A"/>
                </a:solidFill>
                <a:latin typeface="Calibri"/>
              </a:rPr>
              <a:t>Zhejiang U. visit</a:t>
            </a:r>
          </a:p>
        </p:txBody>
      </p:sp>
      <p:sp>
        <p:nvSpPr>
          <p:cNvPr id="84" name="Rectangle 83"/>
          <p:cNvSpPr/>
          <p:nvPr/>
        </p:nvSpPr>
        <p:spPr>
          <a:xfrm>
            <a:off x="10341864" y="3474720"/>
            <a:ext cx="685800" cy="182880"/>
          </a:xfrm>
          <a:prstGeom prst="rect">
            <a:avLst/>
          </a:prstGeom>
          <a:solidFill>
            <a:srgbClr val="2A4D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092440" y="3456432"/>
            <a:ext cx="3657600" cy="228600"/>
          </a:xfrm>
          <a:prstGeom prst="rect">
            <a:avLst/>
          </a:prstGeom>
          <a:noFill/>
        </p:spPr>
        <p:txBody>
          <a:bodyPr wrap="square" lIns="0" rIns="0" tIns="0" bIns="0" anchor="ctr">
            <a:spAutoFit/>
          </a:bodyPr>
          <a:lstStyle/>
          <a:p>
            <a:pPr algn="r">
              <a:lnSpc>
                <a:spcPct val="115000"/>
              </a:lnSpc>
            </a:pPr>
            <a:r>
              <a:rPr sz="800" b="0" i="0">
                <a:solidFill>
                  <a:srgbClr val="1A1A1A"/>
                </a:solidFill>
                <a:latin typeface="Calibri"/>
              </a:rPr>
              <a:t>Pedestrian WBGT</a:t>
            </a:r>
          </a:p>
        </p:txBody>
      </p:sp>
      <p:sp>
        <p:nvSpPr>
          <p:cNvPr id="86" name="Rectangle 85"/>
          <p:cNvSpPr/>
          <p:nvPr/>
        </p:nvSpPr>
        <p:spPr>
          <a:xfrm>
            <a:off x="10341864" y="3703320"/>
            <a:ext cx="685800" cy="18288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092440" y="3685032"/>
            <a:ext cx="3657600" cy="228600"/>
          </a:xfrm>
          <a:prstGeom prst="rect">
            <a:avLst/>
          </a:prstGeom>
          <a:noFill/>
        </p:spPr>
        <p:txBody>
          <a:bodyPr wrap="square" lIns="0" rIns="0" tIns="0" bIns="0" anchor="ctr">
            <a:spAutoFit/>
          </a:bodyPr>
          <a:lstStyle/>
          <a:p>
            <a:pPr algn="r">
              <a:lnSpc>
                <a:spcPct val="115000"/>
              </a:lnSpc>
            </a:pPr>
            <a:r>
              <a:rPr sz="800" b="0" i="0">
                <a:solidFill>
                  <a:srgbClr val="1A1A1A"/>
                </a:solidFill>
                <a:latin typeface="Calibri"/>
              </a:rPr>
              <a:t>Int'l workshop</a:t>
            </a:r>
          </a:p>
        </p:txBody>
      </p:sp>
      <p:sp>
        <p:nvSpPr>
          <p:cNvPr id="88" name="Rectangle 87"/>
          <p:cNvSpPr/>
          <p:nvPr/>
        </p:nvSpPr>
        <p:spPr>
          <a:xfrm>
            <a:off x="11082528" y="3931920"/>
            <a:ext cx="685800" cy="182880"/>
          </a:xfrm>
          <a:prstGeom prst="rect">
            <a:avLst/>
          </a:prstGeom>
          <a:solidFill>
            <a:srgbClr val="D953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092440" y="3913632"/>
            <a:ext cx="3657600" cy="228600"/>
          </a:xfrm>
          <a:prstGeom prst="rect">
            <a:avLst/>
          </a:prstGeom>
          <a:noFill/>
        </p:spPr>
        <p:txBody>
          <a:bodyPr wrap="square" lIns="0" rIns="0" tIns="0" bIns="0" anchor="ctr">
            <a:spAutoFit/>
          </a:bodyPr>
          <a:lstStyle/>
          <a:p>
            <a:pPr algn="r">
              <a:lnSpc>
                <a:spcPct val="115000"/>
              </a:lnSpc>
            </a:pPr>
            <a:r>
              <a:rPr sz="800" b="0" i="0">
                <a:solidFill>
                  <a:srgbClr val="1A1A1A"/>
                </a:solidFill>
                <a:latin typeface="Calibri"/>
              </a:rPr>
              <a:t>Synthesis + Kakenhi B</a:t>
            </a:r>
          </a:p>
        </p:txBody>
      </p:sp>
      <p:sp>
        <p:nvSpPr>
          <p:cNvPr id="90" name="TextBox 89"/>
          <p:cNvSpPr txBox="1"/>
          <p:nvPr/>
        </p:nvSpPr>
        <p:spPr>
          <a:xfrm>
            <a:off x="8147304" y="2560320"/>
            <a:ext cx="1481328" cy="182880"/>
          </a:xfrm>
          <a:prstGeom prst="rect">
            <a:avLst/>
          </a:prstGeom>
          <a:noFill/>
        </p:spPr>
        <p:txBody>
          <a:bodyPr wrap="square" lIns="0" rIns="0" tIns="0" bIns="0" anchor="ctr">
            <a:spAutoFit/>
          </a:bodyPr>
          <a:lstStyle/>
          <a:p>
            <a:pPr algn="l">
              <a:lnSpc>
                <a:spcPct val="115000"/>
              </a:lnSpc>
            </a:pPr>
            <a:r>
              <a:rPr sz="700" b="1" i="0">
                <a:solidFill>
                  <a:srgbClr val="FFFFFF"/>
                </a:solidFill>
                <a:latin typeface="Calibri"/>
              </a:rPr>
              <a:t>LST × LCZ diagnosis</a:t>
            </a:r>
          </a:p>
        </p:txBody>
      </p:sp>
      <p:sp>
        <p:nvSpPr>
          <p:cNvPr id="91" name="TextBox 90"/>
          <p:cNvSpPr txBox="1"/>
          <p:nvPr/>
        </p:nvSpPr>
        <p:spPr>
          <a:xfrm>
            <a:off x="8887968" y="2788920"/>
            <a:ext cx="740664" cy="182880"/>
          </a:xfrm>
          <a:prstGeom prst="rect">
            <a:avLst/>
          </a:prstGeom>
          <a:noFill/>
        </p:spPr>
        <p:txBody>
          <a:bodyPr wrap="square" lIns="0" rIns="0" tIns="0" bIns="0" anchor="ctr">
            <a:spAutoFit/>
          </a:bodyPr>
          <a:lstStyle/>
          <a:p>
            <a:pPr algn="l">
              <a:lnSpc>
                <a:spcPct val="115000"/>
              </a:lnSpc>
            </a:pPr>
            <a:r>
              <a:rPr sz="700" b="1" i="0">
                <a:solidFill>
                  <a:srgbClr val="FFFFFF"/>
                </a:solidFill>
                <a:latin typeface="Calibri"/>
              </a:rPr>
              <a:t>UCL stay (2 months)</a:t>
            </a:r>
          </a:p>
        </p:txBody>
      </p:sp>
      <p:sp>
        <p:nvSpPr>
          <p:cNvPr id="92" name="TextBox 91"/>
          <p:cNvSpPr txBox="1"/>
          <p:nvPr/>
        </p:nvSpPr>
        <p:spPr>
          <a:xfrm>
            <a:off x="9628632" y="3017520"/>
            <a:ext cx="740664" cy="182880"/>
          </a:xfrm>
          <a:prstGeom prst="rect">
            <a:avLst/>
          </a:prstGeom>
          <a:noFill/>
        </p:spPr>
        <p:txBody>
          <a:bodyPr wrap="square" lIns="0" rIns="0" tIns="0" bIns="0" anchor="ctr">
            <a:spAutoFit/>
          </a:bodyPr>
          <a:lstStyle/>
          <a:p>
            <a:pPr algn="l">
              <a:lnSpc>
                <a:spcPct val="115000"/>
              </a:lnSpc>
            </a:pPr>
            <a:r>
              <a:rPr sz="700" b="1" i="0">
                <a:solidFill>
                  <a:srgbClr val="FFFFFF"/>
                </a:solidFill>
                <a:latin typeface="Calibri"/>
              </a:rPr>
              <a:t>Block-scale CFD</a:t>
            </a:r>
          </a:p>
        </p:txBody>
      </p:sp>
      <p:sp>
        <p:nvSpPr>
          <p:cNvPr id="93" name="TextBox 92"/>
          <p:cNvSpPr txBox="1"/>
          <p:nvPr/>
        </p:nvSpPr>
        <p:spPr>
          <a:xfrm>
            <a:off x="9628632" y="3246120"/>
            <a:ext cx="740664" cy="182880"/>
          </a:xfrm>
          <a:prstGeom prst="rect">
            <a:avLst/>
          </a:prstGeom>
          <a:noFill/>
        </p:spPr>
        <p:txBody>
          <a:bodyPr wrap="square" lIns="0" rIns="0" tIns="0" bIns="0" anchor="ctr">
            <a:spAutoFit/>
          </a:bodyPr>
          <a:lstStyle/>
          <a:p>
            <a:pPr algn="l">
              <a:lnSpc>
                <a:spcPct val="115000"/>
              </a:lnSpc>
            </a:pPr>
            <a:r>
              <a:rPr sz="700" b="1" i="0">
                <a:solidFill>
                  <a:srgbClr val="FFFFFF"/>
                </a:solidFill>
                <a:latin typeface="Calibri"/>
              </a:rPr>
              <a:t>Zhejiang U. visit</a:t>
            </a:r>
          </a:p>
        </p:txBody>
      </p:sp>
      <p:sp>
        <p:nvSpPr>
          <p:cNvPr id="94" name="TextBox 93"/>
          <p:cNvSpPr txBox="1"/>
          <p:nvPr/>
        </p:nvSpPr>
        <p:spPr>
          <a:xfrm>
            <a:off x="10369296" y="3474720"/>
            <a:ext cx="740664" cy="182880"/>
          </a:xfrm>
          <a:prstGeom prst="rect">
            <a:avLst/>
          </a:prstGeom>
          <a:noFill/>
        </p:spPr>
        <p:txBody>
          <a:bodyPr wrap="square" lIns="0" rIns="0" tIns="0" bIns="0" anchor="ctr">
            <a:spAutoFit/>
          </a:bodyPr>
          <a:lstStyle/>
          <a:p>
            <a:pPr algn="l">
              <a:lnSpc>
                <a:spcPct val="115000"/>
              </a:lnSpc>
            </a:pPr>
            <a:r>
              <a:rPr sz="700" b="1" i="0">
                <a:solidFill>
                  <a:srgbClr val="FFFFFF"/>
                </a:solidFill>
                <a:latin typeface="Calibri"/>
              </a:rPr>
              <a:t>Pedestrian WBGT</a:t>
            </a:r>
          </a:p>
        </p:txBody>
      </p:sp>
      <p:sp>
        <p:nvSpPr>
          <p:cNvPr id="95" name="TextBox 94"/>
          <p:cNvSpPr txBox="1"/>
          <p:nvPr/>
        </p:nvSpPr>
        <p:spPr>
          <a:xfrm>
            <a:off x="10369296" y="3703320"/>
            <a:ext cx="740664" cy="182880"/>
          </a:xfrm>
          <a:prstGeom prst="rect">
            <a:avLst/>
          </a:prstGeom>
          <a:noFill/>
        </p:spPr>
        <p:txBody>
          <a:bodyPr wrap="square" lIns="0" rIns="0" tIns="0" bIns="0" anchor="ctr">
            <a:spAutoFit/>
          </a:bodyPr>
          <a:lstStyle/>
          <a:p>
            <a:pPr algn="l">
              <a:lnSpc>
                <a:spcPct val="115000"/>
              </a:lnSpc>
            </a:pPr>
            <a:r>
              <a:rPr sz="700" b="1" i="0">
                <a:solidFill>
                  <a:srgbClr val="FFFFFF"/>
                </a:solidFill>
                <a:latin typeface="Calibri"/>
              </a:rPr>
              <a:t>Int'l workshop</a:t>
            </a:r>
          </a:p>
        </p:txBody>
      </p:sp>
      <p:sp>
        <p:nvSpPr>
          <p:cNvPr id="96" name="TextBox 95"/>
          <p:cNvSpPr txBox="1"/>
          <p:nvPr/>
        </p:nvSpPr>
        <p:spPr>
          <a:xfrm>
            <a:off x="11109960" y="3931920"/>
            <a:ext cx="740664" cy="182880"/>
          </a:xfrm>
          <a:prstGeom prst="rect">
            <a:avLst/>
          </a:prstGeom>
          <a:noFill/>
        </p:spPr>
        <p:txBody>
          <a:bodyPr wrap="square" lIns="0" rIns="0" tIns="0" bIns="0" anchor="ctr">
            <a:spAutoFit/>
          </a:bodyPr>
          <a:lstStyle/>
          <a:p>
            <a:pPr algn="l">
              <a:lnSpc>
                <a:spcPct val="115000"/>
              </a:lnSpc>
            </a:pPr>
            <a:r>
              <a:rPr sz="700" b="1" i="0">
                <a:solidFill>
                  <a:srgbClr val="FFFFFF"/>
                </a:solidFill>
                <a:latin typeface="Calibri"/>
              </a:rPr>
              <a:t>Synthesis + Kakenhi B</a:t>
            </a:r>
          </a:p>
        </p:txBody>
      </p:sp>
      <p:sp>
        <p:nvSpPr>
          <p:cNvPr id="97" name="Rectangle 96"/>
          <p:cNvSpPr/>
          <p:nvPr/>
        </p:nvSpPr>
        <p:spPr>
          <a:xfrm>
            <a:off x="685800" y="4617720"/>
            <a:ext cx="10972800" cy="77724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868680" y="4736592"/>
            <a:ext cx="1060704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FEASIBILITY — ALREADY PROVEN</a:t>
            </a:r>
          </a:p>
        </p:txBody>
      </p:sp>
      <p:sp>
        <p:nvSpPr>
          <p:cNvPr id="99" name="TextBox 98"/>
          <p:cNvSpPr txBox="1"/>
          <p:nvPr/>
        </p:nvSpPr>
        <p:spPr>
          <a:xfrm>
            <a:off x="868680" y="4983480"/>
            <a:ext cx="10607040" cy="365760"/>
          </a:xfrm>
          <a:prstGeom prst="rect">
            <a:avLst/>
          </a:prstGeom>
          <a:noFill/>
        </p:spPr>
        <p:txBody>
          <a:bodyPr wrap="square" lIns="0" rIns="0" tIns="0" bIns="0" anchor="t">
            <a:spAutoFit/>
          </a:bodyPr>
          <a:lstStyle/>
          <a:p>
            <a:pPr algn="l">
              <a:lnSpc>
                <a:spcPct val="115000"/>
              </a:lnSpc>
            </a:pPr>
            <a:r>
              <a:rPr sz="1200" b="1" i="0">
                <a:solidFill>
                  <a:srgbClr val="FFFFFF"/>
                </a:solidFill>
                <a:latin typeface="Calibri"/>
              </a:rPr>
              <a:t>Satellite pipeline running (C-1, 2024)  ·  CFD methodology established (C-2, D-3)  ·  Partners aligned  ·  First Japanese grant won</a:t>
            </a:r>
          </a:p>
        </p:txBody>
      </p:sp>
      <p:cxnSp>
        <p:nvCxnSpPr>
          <p:cNvPr id="100" name="Connector 99"/>
          <p:cNvCxnSpPr/>
          <p:nvPr/>
        </p:nvCxnSpPr>
        <p:spPr>
          <a:xfrm>
            <a:off x="685800" y="57424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914400" y="5577840"/>
            <a:ext cx="70866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RISK MANAGEMENT  ·  WHAT COULD GO WRONG, AND HOW I HANDLE IT</a:t>
            </a:r>
          </a:p>
        </p:txBody>
      </p:sp>
      <p:sp>
        <p:nvSpPr>
          <p:cNvPr id="102" name="TextBox 101"/>
          <p:cNvSpPr txBox="1"/>
          <p:nvPr/>
        </p:nvSpPr>
        <p:spPr>
          <a:xfrm>
            <a:off x="685800" y="5897880"/>
            <a:ext cx="10972800" cy="548640"/>
          </a:xfrm>
          <a:prstGeom prst="rect">
            <a:avLst/>
          </a:prstGeom>
          <a:noFill/>
        </p:spPr>
        <p:txBody>
          <a:bodyPr wrap="square" lIns="0" rIns="0" tIns="0" bIns="0" anchor="t">
            <a:spAutoFit/>
          </a:bodyPr>
          <a:lstStyle/>
          <a:p>
            <a:pPr algn="l">
              <a:lnSpc>
                <a:spcPct val="140000"/>
              </a:lnSpc>
            </a:pPr>
            <a:r>
              <a:rPr sz="1100" b="0" i="1">
                <a:solidFill>
                  <a:srgbClr val="4A5568"/>
                </a:solidFill>
                <a:latin typeface="Calibri"/>
              </a:rPr>
              <a:t>Anchor Yamaguchi as the primary case  ·  expand stepwise to Ube and Matsue  ·  online collaboration if travel is constrained  ·  Kumamoto baseline retained as pre-validated reference.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828800" cy="381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8288"/>
            <a:ext cx="7315200" cy="146304"/>
          </a:xfrm>
          <a:prstGeom prst="rect">
            <a:avLst/>
          </a:prstGeom>
          <a:noFill/>
        </p:spPr>
        <p:txBody>
          <a:bodyPr wrap="square" lIns="0" rIns="0" tIns="0" bIns="0" anchor="ctr">
            <a:spAutoFit/>
          </a:bodyPr>
          <a:lstStyle/>
          <a:p>
            <a:pPr algn="l">
              <a:lnSpc>
                <a:spcPct val="115000"/>
              </a:lnSpc>
            </a:pPr>
            <a:r>
              <a:rPr sz="800" b="1" i="0">
                <a:solidFill>
                  <a:srgbClr val="FFFFFF"/>
                </a:solidFill>
                <a:latin typeface="Calibri"/>
              </a:rPr>
              <a:t>YAMAGUCHI UNIVERSITY  ·  HIRAKU-GLOBAL  ·  7TH COHORT INTERVIEW</a:t>
            </a:r>
          </a:p>
        </p:txBody>
      </p:sp>
      <p:sp>
        <p:nvSpPr>
          <p:cNvPr id="6" name="TextBox 5"/>
          <p:cNvSpPr txBox="1"/>
          <p:nvPr/>
        </p:nvSpPr>
        <p:spPr>
          <a:xfrm>
            <a:off x="9601200" y="18288"/>
            <a:ext cx="2468880" cy="146304"/>
          </a:xfrm>
          <a:prstGeom prst="rect">
            <a:avLst/>
          </a:prstGeom>
          <a:noFill/>
        </p:spPr>
        <p:txBody>
          <a:bodyPr wrap="square" lIns="0" rIns="0" tIns="0" bIns="0" anchor="ctr">
            <a:spAutoFit/>
          </a:bodyPr>
          <a:lstStyle/>
          <a:p>
            <a:pPr algn="r">
              <a:lnSpc>
                <a:spcPct val="115000"/>
              </a:lnSpc>
            </a:pPr>
            <a:r>
              <a:rPr sz="800" b="1" i="0">
                <a:solidFill>
                  <a:srgbClr val="C9A961"/>
                </a:solidFill>
                <a:latin typeface="Calibri"/>
              </a:rPr>
              <a:t>SHEET  10  /  11</a:t>
            </a:r>
          </a:p>
        </p:txBody>
      </p:sp>
      <p:sp>
        <p:nvSpPr>
          <p:cNvPr id="7" name="TextBox 6"/>
          <p:cNvSpPr txBox="1"/>
          <p:nvPr/>
        </p:nvSpPr>
        <p:spPr>
          <a:xfrm>
            <a:off x="411480" y="365760"/>
            <a:ext cx="7315200" cy="27432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ASPIRATIONS</a:t>
            </a:r>
          </a:p>
        </p:txBody>
      </p:sp>
      <p:sp>
        <p:nvSpPr>
          <p:cNvPr id="8" name="TextBox 7"/>
          <p:cNvSpPr txBox="1"/>
          <p:nvPr/>
        </p:nvSpPr>
        <p:spPr>
          <a:xfrm>
            <a:off x="411480" y="640080"/>
            <a:ext cx="11430000" cy="868680"/>
          </a:xfrm>
          <a:prstGeom prst="rect">
            <a:avLst/>
          </a:prstGeom>
          <a:noFill/>
        </p:spPr>
        <p:txBody>
          <a:bodyPr wrap="square" lIns="0" rIns="0" tIns="0" bIns="0" anchor="t">
            <a:spAutoFit/>
          </a:bodyPr>
          <a:lstStyle/>
          <a:p>
            <a:pPr algn="l">
              <a:lnSpc>
                <a:spcPct val="105000"/>
              </a:lnSpc>
            </a:pPr>
            <a:r>
              <a:rPr sz="2800" b="1" i="0">
                <a:solidFill>
                  <a:srgbClr val="142E55"/>
                </a:solidFill>
                <a:latin typeface="Calibri"/>
              </a:rPr>
              <a:t>During HIRAKU-Global, and after tenure — a long-term anchor.</a:t>
            </a:r>
          </a:p>
        </p:txBody>
      </p:sp>
      <p:sp>
        <p:nvSpPr>
          <p:cNvPr id="9" name="Rectangle 8"/>
          <p:cNvSpPr/>
          <p:nvPr/>
        </p:nvSpPr>
        <p:spPr>
          <a:xfrm>
            <a:off x="8641080" y="6492240"/>
            <a:ext cx="3154680" cy="274320"/>
          </a:xfrm>
          <a:prstGeom prst="rect">
            <a:avLst/>
          </a:prstGeom>
          <a:noFill/>
          <a:ln w="762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9555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698480" y="6492240"/>
            <a:ext cx="0" cy="274320"/>
          </a:xfrm>
          <a:prstGeom prst="line">
            <a:avLst/>
          </a:prstGeom>
          <a:ln w="7620">
            <a:solidFill>
              <a:srgbClr val="B8C2C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641080" y="6492240"/>
            <a:ext cx="91440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10/11</a:t>
            </a:r>
          </a:p>
        </p:txBody>
      </p:sp>
      <p:sp>
        <p:nvSpPr>
          <p:cNvPr id="13" name="TextBox 12"/>
          <p:cNvSpPr txBox="1"/>
          <p:nvPr/>
        </p:nvSpPr>
        <p:spPr>
          <a:xfrm>
            <a:off x="9601200" y="6492240"/>
            <a:ext cx="109728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LIU HAIQIANG</a:t>
            </a:r>
          </a:p>
        </p:txBody>
      </p:sp>
      <p:sp>
        <p:nvSpPr>
          <p:cNvPr id="14" name="TextBox 13"/>
          <p:cNvSpPr txBox="1"/>
          <p:nvPr/>
        </p:nvSpPr>
        <p:spPr>
          <a:xfrm>
            <a:off x="10744200" y="6492240"/>
            <a:ext cx="1005840" cy="274320"/>
          </a:xfrm>
          <a:prstGeom prst="rect">
            <a:avLst/>
          </a:prstGeom>
          <a:noFill/>
        </p:spPr>
        <p:txBody>
          <a:bodyPr wrap="square" lIns="0" rIns="0" tIns="0" bIns="0" anchor="ctr">
            <a:spAutoFit/>
          </a:bodyPr>
          <a:lstStyle/>
          <a:p>
            <a:pPr algn="l">
              <a:lnSpc>
                <a:spcPct val="115000"/>
              </a:lnSpc>
            </a:pPr>
            <a:r>
              <a:rPr sz="800" b="0" i="0">
                <a:solidFill>
                  <a:srgbClr val="8895A8"/>
                </a:solidFill>
                <a:latin typeface="Calibri"/>
              </a:rPr>
              <a:t>  2026.06</a:t>
            </a:r>
          </a:p>
        </p:txBody>
      </p:sp>
      <p:sp>
        <p:nvSpPr>
          <p:cNvPr id="15" name="TextBox 14"/>
          <p:cNvSpPr txBox="1"/>
          <p:nvPr/>
        </p:nvSpPr>
        <p:spPr>
          <a:xfrm>
            <a:off x="411480" y="6565392"/>
            <a:ext cx="7315200" cy="182880"/>
          </a:xfrm>
          <a:prstGeom prst="rect">
            <a:avLst/>
          </a:prstGeom>
          <a:noFill/>
        </p:spPr>
        <p:txBody>
          <a:bodyPr wrap="square" lIns="0" rIns="0" tIns="0" bIns="0" anchor="t">
            <a:spAutoFit/>
          </a:bodyPr>
          <a:lstStyle/>
          <a:p>
            <a:pPr algn="l">
              <a:lnSpc>
                <a:spcPct val="115000"/>
              </a:lnSpc>
            </a:pPr>
            <a:r>
              <a:rPr sz="800" b="0" i="0">
                <a:solidFill>
                  <a:srgbClr val="8895A8"/>
                </a:solidFill>
                <a:latin typeface="Calibri"/>
              </a:rPr>
              <a:t>INTERVIEW PRESENTATION  ·  URBAN THERMAL ENVIRONMENT RESEARCH</a:t>
            </a:r>
          </a:p>
        </p:txBody>
      </p:sp>
      <p:cxnSp>
        <p:nvCxnSpPr>
          <p:cNvPr id="16" name="Connector 15"/>
          <p:cNvCxnSpPr/>
          <p:nvPr/>
        </p:nvCxnSpPr>
        <p:spPr>
          <a:xfrm>
            <a:off x="411480" y="777240"/>
            <a:ext cx="0" cy="562356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85800" y="18562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400" y="1691640"/>
            <a:ext cx="52578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DURING HIRAKU-GLOBAL  ·  ALIGNED WITH THE 3I FRAMEWORK</a:t>
            </a:r>
          </a:p>
        </p:txBody>
      </p:sp>
      <p:sp>
        <p:nvSpPr>
          <p:cNvPr id="27" name="Rectangle 26"/>
          <p:cNvSpPr/>
          <p:nvPr/>
        </p:nvSpPr>
        <p:spPr>
          <a:xfrm>
            <a:off x="685800" y="2075688"/>
            <a:ext cx="1371600" cy="8686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2075688"/>
            <a:ext cx="1371600" cy="868680"/>
          </a:xfrm>
          <a:prstGeom prst="rect">
            <a:avLst/>
          </a:prstGeom>
          <a:noFill/>
        </p:spPr>
        <p:txBody>
          <a:bodyPr wrap="square" lIns="0" rIns="0" tIns="0" bIns="0" anchor="ctr">
            <a:spAutoFit/>
          </a:bodyPr>
          <a:lstStyle/>
          <a:p>
            <a:pPr algn="ctr">
              <a:lnSpc>
                <a:spcPct val="115000"/>
              </a:lnSpc>
            </a:pPr>
            <a:r>
              <a:rPr sz="1100" b="1" i="0">
                <a:solidFill>
                  <a:srgbClr val="C9A961"/>
                </a:solidFill>
                <a:latin typeface="Calibri"/>
              </a:rPr>
              <a:t>INNOVATIVE</a:t>
            </a:r>
          </a:p>
        </p:txBody>
      </p:sp>
      <p:sp>
        <p:nvSpPr>
          <p:cNvPr id="29" name="Rectangle 28"/>
          <p:cNvSpPr/>
          <p:nvPr/>
        </p:nvSpPr>
        <p:spPr>
          <a:xfrm>
            <a:off x="2103120" y="2075688"/>
            <a:ext cx="2011680" cy="86868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40280" y="2075688"/>
            <a:ext cx="1874519" cy="868680"/>
          </a:xfrm>
          <a:prstGeom prst="rect">
            <a:avLst/>
          </a:prstGeom>
          <a:noFill/>
        </p:spPr>
        <p:txBody>
          <a:bodyPr wrap="square" lIns="0" rIns="0" tIns="0" bIns="0" anchor="ctr">
            <a:spAutoFit/>
          </a:bodyPr>
          <a:lstStyle/>
          <a:p>
            <a:pPr algn="l">
              <a:lnSpc>
                <a:spcPct val="130000"/>
              </a:lnSpc>
            </a:pPr>
            <a:r>
              <a:rPr sz="1000" b="0" i="0">
                <a:solidFill>
                  <a:srgbClr val="1A1A1A"/>
                </a:solidFill>
                <a:latin typeface="Calibri"/>
              </a:rPr>
              <a:t>Cross-scale wind × GBI ×</a:t>
            </a:r>
          </a:p>
          <a:p>
            <a:pPr algn="l">
              <a:lnSpc>
                <a:spcPct val="130000"/>
              </a:lnSpc>
            </a:pPr>
            <a:r>
              <a:rPr sz="1000" b="0" i="0">
                <a:solidFill>
                  <a:srgbClr val="1A1A1A"/>
                </a:solidFill>
                <a:latin typeface="Calibri"/>
              </a:rPr>
              <a:t>pedestrian-heat mechanism paper</a:t>
            </a:r>
          </a:p>
        </p:txBody>
      </p:sp>
      <p:sp>
        <p:nvSpPr>
          <p:cNvPr id="31" name="Rectangle 30"/>
          <p:cNvSpPr/>
          <p:nvPr/>
        </p:nvSpPr>
        <p:spPr>
          <a:xfrm>
            <a:off x="4160520" y="2075688"/>
            <a:ext cx="2011680" cy="86868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97680" y="2075688"/>
            <a:ext cx="1874519" cy="868680"/>
          </a:xfrm>
          <a:prstGeom prst="rect">
            <a:avLst/>
          </a:prstGeom>
          <a:noFill/>
        </p:spPr>
        <p:txBody>
          <a:bodyPr wrap="square" lIns="0" rIns="0" tIns="0" bIns="0" anchor="ctr">
            <a:spAutoFit/>
          </a:bodyPr>
          <a:lstStyle/>
          <a:p>
            <a:pPr algn="l">
              <a:lnSpc>
                <a:spcPct val="130000"/>
              </a:lnSpc>
            </a:pPr>
            <a:r>
              <a:rPr sz="1000" b="0" i="0">
                <a:solidFill>
                  <a:srgbClr val="1A1A1A"/>
                </a:solidFill>
                <a:latin typeface="Calibri"/>
              </a:rPr>
              <a:t>Reproducible city-to-corridor</a:t>
            </a:r>
          </a:p>
          <a:p>
            <a:pPr algn="l">
              <a:lnSpc>
                <a:spcPct val="130000"/>
              </a:lnSpc>
            </a:pPr>
            <a:r>
              <a:rPr sz="1000" b="0" i="0">
                <a:solidFill>
                  <a:srgbClr val="1A1A1A"/>
                </a:solidFill>
                <a:latin typeface="Calibri"/>
              </a:rPr>
              <a:t>diagnostic workflow</a:t>
            </a:r>
          </a:p>
        </p:txBody>
      </p:sp>
      <p:sp>
        <p:nvSpPr>
          <p:cNvPr id="33" name="Rectangle 32"/>
          <p:cNvSpPr/>
          <p:nvPr/>
        </p:nvSpPr>
        <p:spPr>
          <a:xfrm>
            <a:off x="685800" y="3017520"/>
            <a:ext cx="1371600" cy="8686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3017520"/>
            <a:ext cx="1371600" cy="868680"/>
          </a:xfrm>
          <a:prstGeom prst="rect">
            <a:avLst/>
          </a:prstGeom>
          <a:noFill/>
        </p:spPr>
        <p:txBody>
          <a:bodyPr wrap="square" lIns="0" rIns="0" tIns="0" bIns="0" anchor="ctr">
            <a:spAutoFit/>
          </a:bodyPr>
          <a:lstStyle/>
          <a:p>
            <a:pPr algn="ctr">
              <a:lnSpc>
                <a:spcPct val="115000"/>
              </a:lnSpc>
            </a:pPr>
            <a:r>
              <a:rPr sz="1100" b="1" i="0">
                <a:solidFill>
                  <a:srgbClr val="C9A961"/>
                </a:solidFill>
                <a:latin typeface="Calibri"/>
              </a:rPr>
              <a:t>INFLUENTIAL</a:t>
            </a:r>
          </a:p>
        </p:txBody>
      </p:sp>
      <p:sp>
        <p:nvSpPr>
          <p:cNvPr id="35" name="Rectangle 34"/>
          <p:cNvSpPr/>
          <p:nvPr/>
        </p:nvSpPr>
        <p:spPr>
          <a:xfrm>
            <a:off x="2103120" y="3017520"/>
            <a:ext cx="2011680" cy="86868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240280" y="3017520"/>
            <a:ext cx="1874519" cy="868680"/>
          </a:xfrm>
          <a:prstGeom prst="rect">
            <a:avLst/>
          </a:prstGeom>
          <a:noFill/>
        </p:spPr>
        <p:txBody>
          <a:bodyPr wrap="square" lIns="0" rIns="0" tIns="0" bIns="0" anchor="ctr">
            <a:spAutoFit/>
          </a:bodyPr>
          <a:lstStyle/>
          <a:p>
            <a:pPr algn="l">
              <a:lnSpc>
                <a:spcPct val="130000"/>
              </a:lnSpc>
            </a:pPr>
            <a:r>
              <a:rPr sz="1000" b="0" i="0">
                <a:solidFill>
                  <a:srgbClr val="1A1A1A"/>
                </a:solidFill>
                <a:latin typeface="Calibri"/>
              </a:rPr>
              <a:t>Continued Q1 publications</a:t>
            </a:r>
          </a:p>
          <a:p>
            <a:pPr algn="l">
              <a:lnSpc>
                <a:spcPct val="130000"/>
              </a:lnSpc>
            </a:pPr>
            <a:r>
              <a:rPr sz="1000" b="0" i="0">
                <a:solidFill>
                  <a:srgbClr val="1A1A1A"/>
                </a:solidFill>
                <a:latin typeface="Calibri"/>
              </a:rPr>
              <a:t>through the HIRAKU period</a:t>
            </a:r>
          </a:p>
        </p:txBody>
      </p:sp>
      <p:sp>
        <p:nvSpPr>
          <p:cNvPr id="37" name="Rectangle 36"/>
          <p:cNvSpPr/>
          <p:nvPr/>
        </p:nvSpPr>
        <p:spPr>
          <a:xfrm>
            <a:off x="4160520" y="3017520"/>
            <a:ext cx="2011680" cy="86868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97680" y="3017520"/>
            <a:ext cx="1874519" cy="868680"/>
          </a:xfrm>
          <a:prstGeom prst="rect">
            <a:avLst/>
          </a:prstGeom>
          <a:noFill/>
        </p:spPr>
        <p:txBody>
          <a:bodyPr wrap="square" lIns="0" rIns="0" tIns="0" bIns="0" anchor="ctr">
            <a:spAutoFit/>
          </a:bodyPr>
          <a:lstStyle/>
          <a:p>
            <a:pPr algn="l">
              <a:lnSpc>
                <a:spcPct val="130000"/>
              </a:lnSpc>
            </a:pPr>
            <a:r>
              <a:rPr sz="1000" b="0" i="0">
                <a:solidFill>
                  <a:srgbClr val="1A1A1A"/>
                </a:solidFill>
                <a:latin typeface="Calibri"/>
              </a:rPr>
              <a:t>Kakenhi Kiban C (FY2026)</a:t>
            </a:r>
          </a:p>
          <a:p>
            <a:pPr algn="l">
              <a:lnSpc>
                <a:spcPct val="130000"/>
              </a:lnSpc>
            </a:pPr>
            <a:r>
              <a:rPr sz="1000" b="0" i="0">
                <a:solidFill>
                  <a:srgbClr val="1A1A1A"/>
                </a:solidFill>
                <a:latin typeface="Calibri"/>
              </a:rPr>
              <a:t>→ Kiban B target</a:t>
            </a:r>
          </a:p>
        </p:txBody>
      </p:sp>
      <p:sp>
        <p:nvSpPr>
          <p:cNvPr id="39" name="Rectangle 38"/>
          <p:cNvSpPr/>
          <p:nvPr/>
        </p:nvSpPr>
        <p:spPr>
          <a:xfrm>
            <a:off x="685800" y="3959352"/>
            <a:ext cx="1371600" cy="86868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3959352"/>
            <a:ext cx="1371600" cy="868680"/>
          </a:xfrm>
          <a:prstGeom prst="rect">
            <a:avLst/>
          </a:prstGeom>
          <a:noFill/>
        </p:spPr>
        <p:txBody>
          <a:bodyPr wrap="square" lIns="0" rIns="0" tIns="0" bIns="0" anchor="ctr">
            <a:spAutoFit/>
          </a:bodyPr>
          <a:lstStyle/>
          <a:p>
            <a:pPr algn="ctr">
              <a:lnSpc>
                <a:spcPct val="115000"/>
              </a:lnSpc>
            </a:pPr>
            <a:r>
              <a:rPr sz="1100" b="1" i="0">
                <a:solidFill>
                  <a:srgbClr val="C9A961"/>
                </a:solidFill>
                <a:latin typeface="Calibri"/>
              </a:rPr>
              <a:t>IMPACTFUL</a:t>
            </a:r>
          </a:p>
        </p:txBody>
      </p:sp>
      <p:sp>
        <p:nvSpPr>
          <p:cNvPr id="41" name="Rectangle 40"/>
          <p:cNvSpPr/>
          <p:nvPr/>
        </p:nvSpPr>
        <p:spPr>
          <a:xfrm>
            <a:off x="2103120" y="3959352"/>
            <a:ext cx="2011680" cy="86868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40280" y="3959352"/>
            <a:ext cx="1874519" cy="868680"/>
          </a:xfrm>
          <a:prstGeom prst="rect">
            <a:avLst/>
          </a:prstGeom>
          <a:noFill/>
        </p:spPr>
        <p:txBody>
          <a:bodyPr wrap="square" lIns="0" rIns="0" tIns="0" bIns="0" anchor="ctr">
            <a:spAutoFit/>
          </a:bodyPr>
          <a:lstStyle/>
          <a:p>
            <a:pPr algn="l">
              <a:lnSpc>
                <a:spcPct val="130000"/>
              </a:lnSpc>
            </a:pPr>
            <a:r>
              <a:rPr sz="1000" b="0" i="0">
                <a:solidFill>
                  <a:srgbClr val="1A1A1A"/>
                </a:solidFill>
                <a:latin typeface="Calibri"/>
              </a:rPr>
              <a:t>Deliver outputs to Yamaguchi,</a:t>
            </a:r>
          </a:p>
          <a:p>
            <a:pPr algn="l">
              <a:lnSpc>
                <a:spcPct val="130000"/>
              </a:lnSpc>
            </a:pPr>
            <a:r>
              <a:rPr sz="1000" b="0" i="0">
                <a:solidFill>
                  <a:srgbClr val="1A1A1A"/>
                </a:solidFill>
                <a:latin typeface="Calibri"/>
              </a:rPr>
              <a:t>Ube, Matsue municipalities</a:t>
            </a:r>
          </a:p>
        </p:txBody>
      </p:sp>
      <p:sp>
        <p:nvSpPr>
          <p:cNvPr id="43" name="Rectangle 42"/>
          <p:cNvSpPr/>
          <p:nvPr/>
        </p:nvSpPr>
        <p:spPr>
          <a:xfrm>
            <a:off x="4160520" y="3959352"/>
            <a:ext cx="2011680" cy="868680"/>
          </a:xfrm>
          <a:prstGeom prst="rect">
            <a:avLst/>
          </a:prstGeom>
          <a:solidFill>
            <a:srgbClr val="FFFFFF"/>
          </a:solidFill>
          <a:ln w="6350">
            <a:solidFill>
              <a:srgbClr val="B8C2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297680" y="3959352"/>
            <a:ext cx="1874519" cy="868680"/>
          </a:xfrm>
          <a:prstGeom prst="rect">
            <a:avLst/>
          </a:prstGeom>
          <a:noFill/>
        </p:spPr>
        <p:txBody>
          <a:bodyPr wrap="square" lIns="0" rIns="0" tIns="0" bIns="0" anchor="ctr">
            <a:spAutoFit/>
          </a:bodyPr>
          <a:lstStyle/>
          <a:p>
            <a:pPr algn="l">
              <a:lnSpc>
                <a:spcPct val="130000"/>
              </a:lnSpc>
            </a:pPr>
            <a:r>
              <a:rPr sz="1000" b="0" i="0">
                <a:solidFill>
                  <a:srgbClr val="1A1A1A"/>
                </a:solidFill>
                <a:latin typeface="Calibri"/>
              </a:rPr>
              <a:t>Continue MLIT EBPM-aligned</a:t>
            </a:r>
          </a:p>
          <a:p>
            <a:pPr algn="l">
              <a:lnSpc>
                <a:spcPct val="130000"/>
              </a:lnSpc>
            </a:pPr>
            <a:r>
              <a:rPr sz="1000" b="0" i="0">
                <a:solidFill>
                  <a:srgbClr val="1A1A1A"/>
                </a:solidFill>
                <a:latin typeface="Calibri"/>
              </a:rPr>
              <a:t>policy translation</a:t>
            </a:r>
          </a:p>
        </p:txBody>
      </p:sp>
      <p:cxnSp>
        <p:nvCxnSpPr>
          <p:cNvPr id="45" name="Connector 44"/>
          <p:cNvCxnSpPr/>
          <p:nvPr/>
        </p:nvCxnSpPr>
        <p:spPr>
          <a:xfrm>
            <a:off x="6583680" y="185623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12280" y="1691640"/>
            <a:ext cx="498348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POST-TENURE  ·  LONG-TERM ANCHOR  ·  LOCAL-TO-GLOBAL</a:t>
            </a:r>
          </a:p>
        </p:txBody>
      </p:sp>
      <p:sp>
        <p:nvSpPr>
          <p:cNvPr id="47" name="Rectangle 46"/>
          <p:cNvSpPr/>
          <p:nvPr/>
        </p:nvSpPr>
        <p:spPr>
          <a:xfrm>
            <a:off x="6583680" y="2075688"/>
            <a:ext cx="41148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0" y="2075688"/>
            <a:ext cx="411480" cy="50292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1</a:t>
            </a:r>
          </a:p>
        </p:txBody>
      </p:sp>
      <p:sp>
        <p:nvSpPr>
          <p:cNvPr id="49" name="Rectangle 48"/>
          <p:cNvSpPr/>
          <p:nvPr/>
        </p:nvSpPr>
        <p:spPr>
          <a:xfrm>
            <a:off x="7040880" y="2075688"/>
            <a:ext cx="1371600" cy="50292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132320" y="2075688"/>
            <a:ext cx="1280160" cy="502920"/>
          </a:xfrm>
          <a:prstGeom prst="rect">
            <a:avLst/>
          </a:prstGeom>
          <a:noFill/>
        </p:spPr>
        <p:txBody>
          <a:bodyPr wrap="square" lIns="0" rIns="0" tIns="0" bIns="0" anchor="ctr">
            <a:spAutoFit/>
          </a:bodyPr>
          <a:lstStyle/>
          <a:p>
            <a:pPr algn="l">
              <a:lnSpc>
                <a:spcPct val="115000"/>
              </a:lnSpc>
            </a:pPr>
            <a:r>
              <a:rPr sz="1100" b="1" i="0">
                <a:solidFill>
                  <a:srgbClr val="142E55"/>
                </a:solidFill>
                <a:latin typeface="Calibri"/>
              </a:rPr>
              <a:t>LAB</a:t>
            </a:r>
          </a:p>
        </p:txBody>
      </p:sp>
      <p:sp>
        <p:nvSpPr>
          <p:cNvPr id="51" name="TextBox 50"/>
          <p:cNvSpPr txBox="1"/>
          <p:nvPr/>
        </p:nvSpPr>
        <p:spPr>
          <a:xfrm>
            <a:off x="8458199" y="2075688"/>
            <a:ext cx="3291840" cy="502920"/>
          </a:xfrm>
          <a:prstGeom prst="rect">
            <a:avLst/>
          </a:prstGeom>
          <a:noFill/>
        </p:spPr>
        <p:txBody>
          <a:bodyPr wrap="square" lIns="0" rIns="0" tIns="0" bIns="0" anchor="ctr">
            <a:spAutoFit/>
          </a:bodyPr>
          <a:lstStyle/>
          <a:p>
            <a:pPr algn="l">
              <a:lnSpc>
                <a:spcPct val="115000"/>
              </a:lnSpc>
            </a:pPr>
            <a:r>
              <a:rPr sz="1000" b="0" i="1">
                <a:solidFill>
                  <a:srgbClr val="4A5568"/>
                </a:solidFill>
                <a:latin typeface="Calibri"/>
              </a:rPr>
              <a:t>Stable group at Yamaguchi U.</a:t>
            </a:r>
          </a:p>
        </p:txBody>
      </p:sp>
      <p:sp>
        <p:nvSpPr>
          <p:cNvPr id="52" name="Rectangle 51"/>
          <p:cNvSpPr/>
          <p:nvPr/>
        </p:nvSpPr>
        <p:spPr>
          <a:xfrm>
            <a:off x="6693408" y="2596896"/>
            <a:ext cx="41148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93408" y="2596896"/>
            <a:ext cx="411480" cy="50292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2</a:t>
            </a:r>
          </a:p>
        </p:txBody>
      </p:sp>
      <p:sp>
        <p:nvSpPr>
          <p:cNvPr id="54" name="Rectangle 53"/>
          <p:cNvSpPr/>
          <p:nvPr/>
        </p:nvSpPr>
        <p:spPr>
          <a:xfrm>
            <a:off x="7150608" y="2596896"/>
            <a:ext cx="1371600" cy="50292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42048" y="2596896"/>
            <a:ext cx="1280160" cy="502920"/>
          </a:xfrm>
          <a:prstGeom prst="rect">
            <a:avLst/>
          </a:prstGeom>
          <a:noFill/>
        </p:spPr>
        <p:txBody>
          <a:bodyPr wrap="square" lIns="0" rIns="0" tIns="0" bIns="0" anchor="ctr">
            <a:spAutoFit/>
          </a:bodyPr>
          <a:lstStyle/>
          <a:p>
            <a:pPr algn="l">
              <a:lnSpc>
                <a:spcPct val="115000"/>
              </a:lnSpc>
            </a:pPr>
            <a:r>
              <a:rPr sz="1100" b="1" i="0">
                <a:solidFill>
                  <a:srgbClr val="142E55"/>
                </a:solidFill>
                <a:latin typeface="Calibri"/>
              </a:rPr>
              <a:t>REGION</a:t>
            </a:r>
          </a:p>
        </p:txBody>
      </p:sp>
      <p:sp>
        <p:nvSpPr>
          <p:cNvPr id="56" name="TextBox 55"/>
          <p:cNvSpPr txBox="1"/>
          <p:nvPr/>
        </p:nvSpPr>
        <p:spPr>
          <a:xfrm>
            <a:off x="8567927" y="2596896"/>
            <a:ext cx="3291840" cy="502920"/>
          </a:xfrm>
          <a:prstGeom prst="rect">
            <a:avLst/>
          </a:prstGeom>
          <a:noFill/>
        </p:spPr>
        <p:txBody>
          <a:bodyPr wrap="square" lIns="0" rIns="0" tIns="0" bIns="0" anchor="ctr">
            <a:spAutoFit/>
          </a:bodyPr>
          <a:lstStyle/>
          <a:p>
            <a:pPr algn="l">
              <a:lnSpc>
                <a:spcPct val="115000"/>
              </a:lnSpc>
            </a:pPr>
            <a:r>
              <a:rPr sz="1000" b="0" i="1">
                <a:solidFill>
                  <a:srgbClr val="4A5568"/>
                </a:solidFill>
                <a:latin typeface="Calibri"/>
              </a:rPr>
              <a:t>Chugoku-Shikoku heat toolkit</a:t>
            </a:r>
          </a:p>
        </p:txBody>
      </p:sp>
      <p:sp>
        <p:nvSpPr>
          <p:cNvPr id="57" name="Rectangle 56"/>
          <p:cNvSpPr/>
          <p:nvPr/>
        </p:nvSpPr>
        <p:spPr>
          <a:xfrm>
            <a:off x="6803136" y="3118104"/>
            <a:ext cx="41148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03136" y="3118104"/>
            <a:ext cx="411480" cy="50292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3</a:t>
            </a:r>
          </a:p>
        </p:txBody>
      </p:sp>
      <p:sp>
        <p:nvSpPr>
          <p:cNvPr id="59" name="Rectangle 58"/>
          <p:cNvSpPr/>
          <p:nvPr/>
        </p:nvSpPr>
        <p:spPr>
          <a:xfrm>
            <a:off x="7260336" y="3118104"/>
            <a:ext cx="1371600" cy="50292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51776" y="3118104"/>
            <a:ext cx="1280160" cy="502920"/>
          </a:xfrm>
          <a:prstGeom prst="rect">
            <a:avLst/>
          </a:prstGeom>
          <a:noFill/>
        </p:spPr>
        <p:txBody>
          <a:bodyPr wrap="square" lIns="0" rIns="0" tIns="0" bIns="0" anchor="ctr">
            <a:spAutoFit/>
          </a:bodyPr>
          <a:lstStyle/>
          <a:p>
            <a:pPr algn="l">
              <a:lnSpc>
                <a:spcPct val="115000"/>
              </a:lnSpc>
            </a:pPr>
            <a:r>
              <a:rPr sz="1100" b="1" i="0">
                <a:solidFill>
                  <a:srgbClr val="142E55"/>
                </a:solidFill>
                <a:latin typeface="Calibri"/>
              </a:rPr>
              <a:t>W. JAPAN</a:t>
            </a:r>
          </a:p>
        </p:txBody>
      </p:sp>
      <p:sp>
        <p:nvSpPr>
          <p:cNvPr id="61" name="TextBox 60"/>
          <p:cNvSpPr txBox="1"/>
          <p:nvPr/>
        </p:nvSpPr>
        <p:spPr>
          <a:xfrm>
            <a:off x="8677655" y="3118104"/>
            <a:ext cx="3291840" cy="502920"/>
          </a:xfrm>
          <a:prstGeom prst="rect">
            <a:avLst/>
          </a:prstGeom>
          <a:noFill/>
        </p:spPr>
        <p:txBody>
          <a:bodyPr wrap="square" lIns="0" rIns="0" tIns="0" bIns="0" anchor="ctr">
            <a:spAutoFit/>
          </a:bodyPr>
          <a:lstStyle/>
          <a:p>
            <a:pPr algn="l">
              <a:lnSpc>
                <a:spcPct val="115000"/>
              </a:lnSpc>
            </a:pPr>
            <a:r>
              <a:rPr sz="1000" b="0" i="1">
                <a:solidFill>
                  <a:srgbClr val="4A5568"/>
                </a:solidFill>
                <a:latin typeface="Calibri"/>
              </a:rPr>
              <a:t>Urban-thermal research hub</a:t>
            </a:r>
          </a:p>
        </p:txBody>
      </p:sp>
      <p:sp>
        <p:nvSpPr>
          <p:cNvPr id="62" name="Rectangle 61"/>
          <p:cNvSpPr/>
          <p:nvPr/>
        </p:nvSpPr>
        <p:spPr>
          <a:xfrm>
            <a:off x="6912864" y="3639312"/>
            <a:ext cx="41148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912864" y="3639312"/>
            <a:ext cx="411480" cy="50292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4</a:t>
            </a:r>
          </a:p>
        </p:txBody>
      </p:sp>
      <p:sp>
        <p:nvSpPr>
          <p:cNvPr id="64" name="Rectangle 63"/>
          <p:cNvSpPr/>
          <p:nvPr/>
        </p:nvSpPr>
        <p:spPr>
          <a:xfrm>
            <a:off x="7370064" y="3639312"/>
            <a:ext cx="1371600" cy="50292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3639312"/>
            <a:ext cx="1280160" cy="502920"/>
          </a:xfrm>
          <a:prstGeom prst="rect">
            <a:avLst/>
          </a:prstGeom>
          <a:noFill/>
        </p:spPr>
        <p:txBody>
          <a:bodyPr wrap="square" lIns="0" rIns="0" tIns="0" bIns="0" anchor="ctr">
            <a:spAutoFit/>
          </a:bodyPr>
          <a:lstStyle/>
          <a:p>
            <a:pPr algn="l">
              <a:lnSpc>
                <a:spcPct val="115000"/>
              </a:lnSpc>
            </a:pPr>
            <a:r>
              <a:rPr sz="1100" b="1" i="0">
                <a:solidFill>
                  <a:srgbClr val="142E55"/>
                </a:solidFill>
                <a:latin typeface="Calibri"/>
              </a:rPr>
              <a:t>ASIA</a:t>
            </a:r>
          </a:p>
        </p:txBody>
      </p:sp>
      <p:sp>
        <p:nvSpPr>
          <p:cNvPr id="66" name="TextBox 65"/>
          <p:cNvSpPr txBox="1"/>
          <p:nvPr/>
        </p:nvSpPr>
        <p:spPr>
          <a:xfrm>
            <a:off x="8787383" y="3639312"/>
            <a:ext cx="3291840" cy="502920"/>
          </a:xfrm>
          <a:prstGeom prst="rect">
            <a:avLst/>
          </a:prstGeom>
          <a:noFill/>
        </p:spPr>
        <p:txBody>
          <a:bodyPr wrap="square" lIns="0" rIns="0" tIns="0" bIns="0" anchor="ctr">
            <a:spAutoFit/>
          </a:bodyPr>
          <a:lstStyle/>
          <a:p>
            <a:pPr algn="l">
              <a:lnSpc>
                <a:spcPct val="115000"/>
              </a:lnSpc>
            </a:pPr>
            <a:r>
              <a:rPr sz="1000" b="0" i="1">
                <a:solidFill>
                  <a:srgbClr val="4A5568"/>
                </a:solidFill>
                <a:latin typeface="Calibri"/>
              </a:rPr>
              <a:t>EU · China · SE Asia platform</a:t>
            </a:r>
          </a:p>
        </p:txBody>
      </p:sp>
      <p:sp>
        <p:nvSpPr>
          <p:cNvPr id="67" name="Rectangle 66"/>
          <p:cNvSpPr/>
          <p:nvPr/>
        </p:nvSpPr>
        <p:spPr>
          <a:xfrm>
            <a:off x="7022592" y="4160520"/>
            <a:ext cx="411480" cy="502920"/>
          </a:xfrm>
          <a:prstGeom prst="rect">
            <a:avLst/>
          </a:prstGeom>
          <a:solidFill>
            <a:srgbClr val="142E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22592" y="4160520"/>
            <a:ext cx="411480" cy="502920"/>
          </a:xfrm>
          <a:prstGeom prst="rect">
            <a:avLst/>
          </a:prstGeom>
          <a:noFill/>
        </p:spPr>
        <p:txBody>
          <a:bodyPr wrap="square" lIns="0" rIns="0" tIns="0" bIns="0" anchor="ctr">
            <a:spAutoFit/>
          </a:bodyPr>
          <a:lstStyle/>
          <a:p>
            <a:pPr algn="ctr">
              <a:lnSpc>
                <a:spcPct val="115000"/>
              </a:lnSpc>
            </a:pPr>
            <a:r>
              <a:rPr sz="1400" b="1" i="0">
                <a:solidFill>
                  <a:srgbClr val="C9A961"/>
                </a:solidFill>
                <a:latin typeface="Calibri"/>
              </a:rPr>
              <a:t>5</a:t>
            </a:r>
          </a:p>
        </p:txBody>
      </p:sp>
      <p:sp>
        <p:nvSpPr>
          <p:cNvPr id="69" name="Rectangle 68"/>
          <p:cNvSpPr/>
          <p:nvPr/>
        </p:nvSpPr>
        <p:spPr>
          <a:xfrm>
            <a:off x="7479792" y="4160520"/>
            <a:ext cx="1371600" cy="502920"/>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71232" y="4160520"/>
            <a:ext cx="1280160" cy="502920"/>
          </a:xfrm>
          <a:prstGeom prst="rect">
            <a:avLst/>
          </a:prstGeom>
          <a:noFill/>
        </p:spPr>
        <p:txBody>
          <a:bodyPr wrap="square" lIns="0" rIns="0" tIns="0" bIns="0" anchor="ctr">
            <a:spAutoFit/>
          </a:bodyPr>
          <a:lstStyle/>
          <a:p>
            <a:pPr algn="l">
              <a:lnSpc>
                <a:spcPct val="115000"/>
              </a:lnSpc>
            </a:pPr>
            <a:r>
              <a:rPr sz="1100" b="1" i="0">
                <a:solidFill>
                  <a:srgbClr val="142E55"/>
                </a:solidFill>
                <a:latin typeface="Calibri"/>
              </a:rPr>
              <a:t>GLOBAL</a:t>
            </a:r>
          </a:p>
        </p:txBody>
      </p:sp>
      <p:sp>
        <p:nvSpPr>
          <p:cNvPr id="71" name="TextBox 70"/>
          <p:cNvSpPr txBox="1"/>
          <p:nvPr/>
        </p:nvSpPr>
        <p:spPr>
          <a:xfrm>
            <a:off x="8897111" y="4160520"/>
            <a:ext cx="3291840" cy="502920"/>
          </a:xfrm>
          <a:prstGeom prst="rect">
            <a:avLst/>
          </a:prstGeom>
          <a:noFill/>
        </p:spPr>
        <p:txBody>
          <a:bodyPr wrap="square" lIns="0" rIns="0" tIns="0" bIns="0" anchor="ctr">
            <a:spAutoFit/>
          </a:bodyPr>
          <a:lstStyle/>
          <a:p>
            <a:pPr algn="l">
              <a:lnSpc>
                <a:spcPct val="115000"/>
              </a:lnSpc>
            </a:pPr>
            <a:r>
              <a:rPr sz="1000" b="0" i="1">
                <a:solidFill>
                  <a:srgbClr val="4A5568"/>
                </a:solidFill>
                <a:latin typeface="Calibri"/>
              </a:rPr>
              <a:t>Local-to-Global model export</a:t>
            </a:r>
          </a:p>
        </p:txBody>
      </p:sp>
      <p:cxnSp>
        <p:nvCxnSpPr>
          <p:cNvPr id="72" name="Connector 71"/>
          <p:cNvCxnSpPr/>
          <p:nvPr/>
        </p:nvCxnSpPr>
        <p:spPr>
          <a:xfrm>
            <a:off x="685800" y="5010912"/>
            <a:ext cx="182880" cy="0"/>
          </a:xfrm>
          <a:prstGeom prst="line">
            <a:avLst/>
          </a:prstGeom>
          <a:ln w="19050">
            <a:solidFill>
              <a:srgbClr val="C9A961"/>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914400" y="4846320"/>
            <a:ext cx="10744200" cy="320040"/>
          </a:xfrm>
          <a:prstGeom prst="rect">
            <a:avLst/>
          </a:prstGeom>
          <a:noFill/>
        </p:spPr>
        <p:txBody>
          <a:bodyPr wrap="square" lIns="0" rIns="0" tIns="0" bIns="0" anchor="t">
            <a:spAutoFit/>
          </a:bodyPr>
          <a:lstStyle/>
          <a:p>
            <a:pPr algn="l">
              <a:lnSpc>
                <a:spcPct val="115000"/>
              </a:lnSpc>
            </a:pPr>
            <a:r>
              <a:rPr sz="1000" b="1" i="0">
                <a:solidFill>
                  <a:srgbClr val="8C6F33"/>
                </a:solidFill>
                <a:latin typeface="Calibri"/>
              </a:rPr>
              <a:t>WHAT I GIVE BACK  ·  ACTIVE MEMBER, NOT ONLY RECIPIENT</a:t>
            </a:r>
          </a:p>
        </p:txBody>
      </p:sp>
      <p:sp>
        <p:nvSpPr>
          <p:cNvPr id="74" name="Rectangle 73"/>
          <p:cNvSpPr/>
          <p:nvPr/>
        </p:nvSpPr>
        <p:spPr>
          <a:xfrm>
            <a:off x="685800" y="5257800"/>
            <a:ext cx="2715768" cy="960120"/>
          </a:xfrm>
          <a:prstGeom prst="rect">
            <a:avLst/>
          </a:prstGeom>
          <a:solidFill>
            <a:srgbClr val="FFFFFF"/>
          </a:solid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85800" y="5257800"/>
            <a:ext cx="54864" cy="96012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68680" y="5349240"/>
            <a:ext cx="2441448" cy="274320"/>
          </a:xfrm>
          <a:prstGeom prst="rect">
            <a:avLst/>
          </a:prstGeom>
          <a:noFill/>
        </p:spPr>
        <p:txBody>
          <a:bodyPr wrap="square" lIns="0" rIns="0" tIns="0" bIns="0" anchor="t">
            <a:spAutoFit/>
          </a:bodyPr>
          <a:lstStyle/>
          <a:p>
            <a:pPr algn="l">
              <a:lnSpc>
                <a:spcPct val="115000"/>
              </a:lnSpc>
            </a:pPr>
            <a:r>
              <a:rPr sz="1050" b="1" i="0">
                <a:solidFill>
                  <a:srgbClr val="142E55"/>
                </a:solidFill>
                <a:latin typeface="Calibri"/>
              </a:rPr>
              <a:t>INTERNATIONAL WORKSHOP</a:t>
            </a:r>
          </a:p>
        </p:txBody>
      </p:sp>
      <p:sp>
        <p:nvSpPr>
          <p:cNvPr id="77" name="TextBox 76"/>
          <p:cNvSpPr txBox="1"/>
          <p:nvPr/>
        </p:nvSpPr>
        <p:spPr>
          <a:xfrm>
            <a:off x="868680" y="5641848"/>
            <a:ext cx="2441448" cy="548640"/>
          </a:xfrm>
          <a:prstGeom prst="rect">
            <a:avLst/>
          </a:prstGeom>
          <a:noFill/>
        </p:spPr>
        <p:txBody>
          <a:bodyPr wrap="square" lIns="0" rIns="0" tIns="0" bIns="0" anchor="t">
            <a:spAutoFit/>
          </a:bodyPr>
          <a:lstStyle/>
          <a:p>
            <a:pPr algn="l">
              <a:lnSpc>
                <a:spcPct val="135000"/>
              </a:lnSpc>
            </a:pPr>
            <a:r>
              <a:rPr sz="950" b="0" i="1">
                <a:solidFill>
                  <a:srgbClr val="4A5568"/>
                </a:solidFill>
                <a:latin typeface="Calibri"/>
              </a:rPr>
              <a:t>Year 4 at Yamaguchi University</a:t>
            </a:r>
          </a:p>
          <a:p>
            <a:pPr algn="l">
              <a:lnSpc>
                <a:spcPct val="135000"/>
              </a:lnSpc>
            </a:pPr>
            <a:r>
              <a:rPr sz="950" b="0" i="1">
                <a:solidFill>
                  <a:srgbClr val="4A5568"/>
                </a:solidFill>
                <a:latin typeface="Calibri"/>
              </a:rPr>
              <a:t>Urban thermal × GBI × climate adaptation</a:t>
            </a:r>
          </a:p>
        </p:txBody>
      </p:sp>
      <p:sp>
        <p:nvSpPr>
          <p:cNvPr id="78" name="Rectangle 77"/>
          <p:cNvSpPr/>
          <p:nvPr/>
        </p:nvSpPr>
        <p:spPr>
          <a:xfrm>
            <a:off x="3474720" y="5257800"/>
            <a:ext cx="2715768" cy="960120"/>
          </a:xfrm>
          <a:prstGeom prst="rect">
            <a:avLst/>
          </a:prstGeom>
          <a:solidFill>
            <a:srgbClr val="FFFFFF"/>
          </a:solid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3474720" y="5257800"/>
            <a:ext cx="54864" cy="96012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657600" y="5349240"/>
            <a:ext cx="2441448" cy="274320"/>
          </a:xfrm>
          <a:prstGeom prst="rect">
            <a:avLst/>
          </a:prstGeom>
          <a:noFill/>
        </p:spPr>
        <p:txBody>
          <a:bodyPr wrap="square" lIns="0" rIns="0" tIns="0" bIns="0" anchor="t">
            <a:spAutoFit/>
          </a:bodyPr>
          <a:lstStyle/>
          <a:p>
            <a:pPr algn="l">
              <a:lnSpc>
                <a:spcPct val="115000"/>
              </a:lnSpc>
            </a:pPr>
            <a:r>
              <a:rPr sz="1050" b="1" i="0">
                <a:solidFill>
                  <a:srgbClr val="142E55"/>
                </a:solidFill>
                <a:latin typeface="Calibri"/>
              </a:rPr>
              <a:t>CHINA-JAPAN BRIDGE</a:t>
            </a:r>
          </a:p>
        </p:txBody>
      </p:sp>
      <p:sp>
        <p:nvSpPr>
          <p:cNvPr id="81" name="TextBox 80"/>
          <p:cNvSpPr txBox="1"/>
          <p:nvPr/>
        </p:nvSpPr>
        <p:spPr>
          <a:xfrm>
            <a:off x="3657600" y="5641848"/>
            <a:ext cx="2441448" cy="548640"/>
          </a:xfrm>
          <a:prstGeom prst="rect">
            <a:avLst/>
          </a:prstGeom>
          <a:noFill/>
        </p:spPr>
        <p:txBody>
          <a:bodyPr wrap="square" lIns="0" rIns="0" tIns="0" bIns="0" anchor="t">
            <a:spAutoFit/>
          </a:bodyPr>
          <a:lstStyle/>
          <a:p>
            <a:pPr algn="l">
              <a:lnSpc>
                <a:spcPct val="135000"/>
              </a:lnSpc>
            </a:pPr>
            <a:r>
              <a:rPr sz="950" b="0" i="1">
                <a:solidFill>
                  <a:srgbClr val="4A5568"/>
                </a:solidFill>
                <a:latin typeface="Calibri"/>
              </a:rPr>
              <a:t>Annual seminar · academic translation</a:t>
            </a:r>
          </a:p>
          <a:p>
            <a:pPr algn="l">
              <a:lnSpc>
                <a:spcPct val="135000"/>
              </a:lnSpc>
            </a:pPr>
            <a:r>
              <a:rPr sz="950" b="0" i="1">
                <a:solidFill>
                  <a:srgbClr val="4A5568"/>
                </a:solidFill>
                <a:latin typeface="Calibri"/>
              </a:rPr>
              <a:t>Fieldwork &amp; collaboration support</a:t>
            </a:r>
          </a:p>
        </p:txBody>
      </p:sp>
      <p:sp>
        <p:nvSpPr>
          <p:cNvPr id="82" name="Rectangle 81"/>
          <p:cNvSpPr/>
          <p:nvPr/>
        </p:nvSpPr>
        <p:spPr>
          <a:xfrm>
            <a:off x="6263640" y="5257800"/>
            <a:ext cx="2715768" cy="960120"/>
          </a:xfrm>
          <a:prstGeom prst="rect">
            <a:avLst/>
          </a:prstGeom>
          <a:solidFill>
            <a:srgbClr val="FFFFFF"/>
          </a:solid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63640" y="5257800"/>
            <a:ext cx="54864" cy="96012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446520" y="5349240"/>
            <a:ext cx="2441448" cy="274320"/>
          </a:xfrm>
          <a:prstGeom prst="rect">
            <a:avLst/>
          </a:prstGeom>
          <a:noFill/>
        </p:spPr>
        <p:txBody>
          <a:bodyPr wrap="square" lIns="0" rIns="0" tIns="0" bIns="0" anchor="t">
            <a:spAutoFit/>
          </a:bodyPr>
          <a:lstStyle/>
          <a:p>
            <a:pPr algn="l">
              <a:lnSpc>
                <a:spcPct val="115000"/>
              </a:lnSpc>
            </a:pPr>
            <a:r>
              <a:rPr sz="1050" b="1" i="0">
                <a:solidFill>
                  <a:srgbClr val="142E55"/>
                </a:solidFill>
                <a:latin typeface="Calibri"/>
              </a:rPr>
              <a:t>TEACHING &amp; MENTORING</a:t>
            </a:r>
          </a:p>
        </p:txBody>
      </p:sp>
      <p:sp>
        <p:nvSpPr>
          <p:cNvPr id="85" name="TextBox 84"/>
          <p:cNvSpPr txBox="1"/>
          <p:nvPr/>
        </p:nvSpPr>
        <p:spPr>
          <a:xfrm>
            <a:off x="6446520" y="5641848"/>
            <a:ext cx="2441448" cy="548640"/>
          </a:xfrm>
          <a:prstGeom prst="rect">
            <a:avLst/>
          </a:prstGeom>
          <a:noFill/>
        </p:spPr>
        <p:txBody>
          <a:bodyPr wrap="square" lIns="0" rIns="0" tIns="0" bIns="0" anchor="t">
            <a:spAutoFit/>
          </a:bodyPr>
          <a:lstStyle/>
          <a:p>
            <a:pPr algn="l">
              <a:lnSpc>
                <a:spcPct val="135000"/>
              </a:lnSpc>
            </a:pPr>
            <a:r>
              <a:rPr sz="950" b="0" i="1">
                <a:solidFill>
                  <a:srgbClr val="4A5568"/>
                </a:solidFill>
                <a:latin typeface="Calibri"/>
              </a:rPr>
              <a:t>Graduate supervision</a:t>
            </a:r>
          </a:p>
          <a:p>
            <a:pPr algn="l">
              <a:lnSpc>
                <a:spcPct val="135000"/>
              </a:lnSpc>
            </a:pPr>
            <a:r>
              <a:rPr sz="950" b="0" i="1">
                <a:solidFill>
                  <a:srgbClr val="4A5568"/>
                </a:solidFill>
                <a:latin typeface="Calibri"/>
              </a:rPr>
              <a:t>Cross-discipline seminars</a:t>
            </a:r>
          </a:p>
        </p:txBody>
      </p:sp>
      <p:sp>
        <p:nvSpPr>
          <p:cNvPr id="86" name="Rectangle 85"/>
          <p:cNvSpPr/>
          <p:nvPr/>
        </p:nvSpPr>
        <p:spPr>
          <a:xfrm>
            <a:off x="9052560" y="5257800"/>
            <a:ext cx="2715768" cy="960120"/>
          </a:xfrm>
          <a:prstGeom prst="rect">
            <a:avLst/>
          </a:prstGeom>
          <a:solidFill>
            <a:srgbClr val="FFFFFF"/>
          </a:solid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052560" y="5257800"/>
            <a:ext cx="54864" cy="96012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235440" y="5349240"/>
            <a:ext cx="2441448" cy="274320"/>
          </a:xfrm>
          <a:prstGeom prst="rect">
            <a:avLst/>
          </a:prstGeom>
          <a:noFill/>
        </p:spPr>
        <p:txBody>
          <a:bodyPr wrap="square" lIns="0" rIns="0" tIns="0" bIns="0" anchor="t">
            <a:spAutoFit/>
          </a:bodyPr>
          <a:lstStyle/>
          <a:p>
            <a:pPr algn="l">
              <a:lnSpc>
                <a:spcPct val="115000"/>
              </a:lnSpc>
            </a:pPr>
            <a:r>
              <a:rPr sz="1050" b="1" i="0">
                <a:solidFill>
                  <a:srgbClr val="142E55"/>
                </a:solidFill>
                <a:latin typeface="Calibri"/>
              </a:rPr>
              <a:t>DEPT. &amp; REGION SERVICE</a:t>
            </a:r>
          </a:p>
        </p:txBody>
      </p:sp>
      <p:sp>
        <p:nvSpPr>
          <p:cNvPr id="89" name="TextBox 88"/>
          <p:cNvSpPr txBox="1"/>
          <p:nvPr/>
        </p:nvSpPr>
        <p:spPr>
          <a:xfrm>
            <a:off x="9235440" y="5641848"/>
            <a:ext cx="2441448" cy="548640"/>
          </a:xfrm>
          <a:prstGeom prst="rect">
            <a:avLst/>
          </a:prstGeom>
          <a:noFill/>
        </p:spPr>
        <p:txBody>
          <a:bodyPr wrap="square" lIns="0" rIns="0" tIns="0" bIns="0" anchor="t">
            <a:spAutoFit/>
          </a:bodyPr>
          <a:lstStyle/>
          <a:p>
            <a:pPr algn="l">
              <a:lnSpc>
                <a:spcPct val="135000"/>
              </a:lnSpc>
            </a:pPr>
            <a:r>
              <a:rPr sz="950" b="0" i="1">
                <a:solidFill>
                  <a:srgbClr val="4A5568"/>
                </a:solidFill>
                <a:latin typeface="Calibri"/>
              </a:rPr>
              <a:t>Active in faculty collaboration</a:t>
            </a:r>
          </a:p>
          <a:p>
            <a:pPr algn="l">
              <a:lnSpc>
                <a:spcPct val="135000"/>
              </a:lnSpc>
            </a:pPr>
            <a:r>
              <a:rPr sz="950" b="0" i="1">
                <a:solidFill>
                  <a:srgbClr val="4A5568"/>
                </a:solidFill>
                <a:latin typeface="Calibri"/>
              </a:rPr>
              <a:t>Support to Chugoku-Shikoku cities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E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11480" y="6858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11480" y="13716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11480" y="20574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11480" y="27432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11480" y="34290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11480" y="41148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1480" y="4800600"/>
            <a:ext cx="11368735" cy="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144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8288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7432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6576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720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4864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4008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152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2296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440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0584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972800" y="411480"/>
            <a:ext cx="0" cy="6035040"/>
          </a:xfrm>
          <a:prstGeom prst="line">
            <a:avLst/>
          </a:prstGeom>
          <a:ln w="5080">
            <a:solidFill>
              <a:srgbClr val="1C3560"/>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0" y="0"/>
            <a:ext cx="2743200" cy="9144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74320"/>
            <a:ext cx="731520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CLOSING  ·  4 FOUNDATIONS  ·  4 COMMITMENTS</a:t>
            </a:r>
          </a:p>
        </p:txBody>
      </p:sp>
      <p:sp>
        <p:nvSpPr>
          <p:cNvPr id="24" name="TextBox 23"/>
          <p:cNvSpPr txBox="1"/>
          <p:nvPr/>
        </p:nvSpPr>
        <p:spPr>
          <a:xfrm>
            <a:off x="685800" y="822960"/>
            <a:ext cx="10972800" cy="822960"/>
          </a:xfrm>
          <a:prstGeom prst="rect">
            <a:avLst/>
          </a:prstGeom>
          <a:noFill/>
        </p:spPr>
        <p:txBody>
          <a:bodyPr wrap="square" lIns="0" rIns="0" tIns="0" bIns="0" anchor="t">
            <a:spAutoFit/>
          </a:bodyPr>
          <a:lstStyle/>
          <a:p>
            <a:pPr algn="l">
              <a:lnSpc>
                <a:spcPct val="100000"/>
              </a:lnSpc>
            </a:pPr>
            <a:r>
              <a:rPr sz="3200" b="1" i="0">
                <a:solidFill>
                  <a:srgbClr val="FFFFFF"/>
                </a:solidFill>
                <a:latin typeface="Calibri"/>
              </a:rPr>
              <a:t>Four foundations — already in motion.</a:t>
            </a:r>
          </a:p>
        </p:txBody>
      </p:sp>
      <p:sp>
        <p:nvSpPr>
          <p:cNvPr id="25" name="Rectangle 24"/>
          <p:cNvSpPr/>
          <p:nvPr/>
        </p:nvSpPr>
        <p:spPr>
          <a:xfrm>
            <a:off x="685800" y="1874519"/>
            <a:ext cx="2697480" cy="54864"/>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2039111"/>
            <a:ext cx="2697480" cy="320040"/>
          </a:xfrm>
          <a:prstGeom prst="rect">
            <a:avLst/>
          </a:prstGeom>
          <a:noFill/>
        </p:spPr>
        <p:txBody>
          <a:bodyPr wrap="square" lIns="0" rIns="0" tIns="0" bIns="0" anchor="t">
            <a:spAutoFit/>
          </a:bodyPr>
          <a:lstStyle/>
          <a:p>
            <a:pPr algn="ctr">
              <a:lnSpc>
                <a:spcPct val="115000"/>
              </a:lnSpc>
            </a:pPr>
            <a:r>
              <a:rPr sz="1100" b="1" i="0">
                <a:solidFill>
                  <a:srgbClr val="C9A961"/>
                </a:solidFill>
                <a:latin typeface="Calibri"/>
              </a:rPr>
              <a:t>QUALITY</a:t>
            </a:r>
          </a:p>
        </p:txBody>
      </p:sp>
      <p:sp>
        <p:nvSpPr>
          <p:cNvPr id="27" name="TextBox 26"/>
          <p:cNvSpPr txBox="1"/>
          <p:nvPr/>
        </p:nvSpPr>
        <p:spPr>
          <a:xfrm>
            <a:off x="685800" y="2468879"/>
            <a:ext cx="2697480" cy="1005840"/>
          </a:xfrm>
          <a:prstGeom prst="rect">
            <a:avLst/>
          </a:prstGeom>
          <a:noFill/>
        </p:spPr>
        <p:txBody>
          <a:bodyPr wrap="square" lIns="0" rIns="0" tIns="0" bIns="0" anchor="t">
            <a:spAutoFit/>
          </a:bodyPr>
          <a:lstStyle/>
          <a:p>
            <a:pPr algn="ctr">
              <a:lnSpc>
                <a:spcPct val="130000"/>
              </a:lnSpc>
            </a:pPr>
            <a:r>
              <a:rPr sz="1400" b="1" i="0">
                <a:solidFill>
                  <a:srgbClr val="FFFFFF"/>
                </a:solidFill>
                <a:latin typeface="Calibri"/>
              </a:rPr>
              <a:t>15 papers · 3 Q1</a:t>
            </a:r>
          </a:p>
          <a:p>
            <a:pPr algn="ctr">
              <a:lnSpc>
                <a:spcPct val="130000"/>
              </a:lnSpc>
            </a:pPr>
            <a:r>
              <a:rPr sz="1400" b="1" i="0">
                <a:solidFill>
                  <a:srgbClr val="FFFFFF"/>
                </a:solidFill>
                <a:latin typeface="Calibri"/>
              </a:rPr>
              <a:t>all 1st / responsible author</a:t>
            </a:r>
          </a:p>
        </p:txBody>
      </p:sp>
      <p:sp>
        <p:nvSpPr>
          <p:cNvPr id="28" name="Rectangle 27"/>
          <p:cNvSpPr/>
          <p:nvPr/>
        </p:nvSpPr>
        <p:spPr>
          <a:xfrm>
            <a:off x="1325880" y="3383279"/>
            <a:ext cx="1417320" cy="635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3502151"/>
            <a:ext cx="2697480" cy="365760"/>
          </a:xfrm>
          <a:prstGeom prst="rect">
            <a:avLst/>
          </a:prstGeom>
          <a:noFill/>
        </p:spPr>
        <p:txBody>
          <a:bodyPr wrap="square" lIns="0" rIns="0" tIns="0" bIns="0" anchor="t">
            <a:spAutoFit/>
          </a:bodyPr>
          <a:lstStyle/>
          <a:p>
            <a:pPr algn="ctr">
              <a:lnSpc>
                <a:spcPct val="130000"/>
              </a:lnSpc>
            </a:pPr>
            <a:r>
              <a:rPr sz="900" b="0" i="1">
                <a:solidFill>
                  <a:srgbClr val="CBD5E0"/>
                </a:solidFill>
                <a:latin typeface="Calibri"/>
              </a:rPr>
              <a:t>Building &amp; Env.  ·  Env. Pollution  ·  Energies</a:t>
            </a:r>
          </a:p>
        </p:txBody>
      </p:sp>
      <p:sp>
        <p:nvSpPr>
          <p:cNvPr id="30" name="Rectangle 29"/>
          <p:cNvSpPr/>
          <p:nvPr/>
        </p:nvSpPr>
        <p:spPr>
          <a:xfrm>
            <a:off x="3493008" y="1874519"/>
            <a:ext cx="2697480" cy="54864"/>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93008" y="2039111"/>
            <a:ext cx="2697480" cy="320040"/>
          </a:xfrm>
          <a:prstGeom prst="rect">
            <a:avLst/>
          </a:prstGeom>
          <a:noFill/>
        </p:spPr>
        <p:txBody>
          <a:bodyPr wrap="square" lIns="0" rIns="0" tIns="0" bIns="0" anchor="t">
            <a:spAutoFit/>
          </a:bodyPr>
          <a:lstStyle/>
          <a:p>
            <a:pPr algn="ctr">
              <a:lnSpc>
                <a:spcPct val="115000"/>
              </a:lnSpc>
            </a:pPr>
            <a:r>
              <a:rPr sz="1100" b="1" i="0">
                <a:solidFill>
                  <a:srgbClr val="C9A961"/>
                </a:solidFill>
                <a:latin typeface="Calibri"/>
              </a:rPr>
              <a:t>BRIDGE</a:t>
            </a:r>
          </a:p>
        </p:txBody>
      </p:sp>
      <p:sp>
        <p:nvSpPr>
          <p:cNvPr id="32" name="TextBox 31"/>
          <p:cNvSpPr txBox="1"/>
          <p:nvPr/>
        </p:nvSpPr>
        <p:spPr>
          <a:xfrm>
            <a:off x="3493008" y="2468879"/>
            <a:ext cx="2697480" cy="1005840"/>
          </a:xfrm>
          <a:prstGeom prst="rect">
            <a:avLst/>
          </a:prstGeom>
          <a:noFill/>
        </p:spPr>
        <p:txBody>
          <a:bodyPr wrap="square" lIns="0" rIns="0" tIns="0" bIns="0" anchor="t">
            <a:spAutoFit/>
          </a:bodyPr>
          <a:lstStyle/>
          <a:p>
            <a:pPr algn="ctr">
              <a:lnSpc>
                <a:spcPct val="130000"/>
              </a:lnSpc>
            </a:pPr>
            <a:r>
              <a:rPr sz="1400" b="1" i="0">
                <a:solidFill>
                  <a:srgbClr val="FFFFFF"/>
                </a:solidFill>
                <a:latin typeface="Calibri"/>
              </a:rPr>
              <a:t>Sakura · Zhejiang Center</a:t>
            </a:r>
          </a:p>
          <a:p>
            <a:pPr algn="ctr">
              <a:lnSpc>
                <a:spcPct val="130000"/>
              </a:lnSpc>
            </a:pPr>
            <a:r>
              <a:rPr sz="1400" b="1" i="0">
                <a:solidFill>
                  <a:srgbClr val="FFFFFF"/>
                </a:solidFill>
                <a:latin typeface="Calibri"/>
              </a:rPr>
              <a:t>· 5-country forum</a:t>
            </a:r>
          </a:p>
        </p:txBody>
      </p:sp>
      <p:sp>
        <p:nvSpPr>
          <p:cNvPr id="33" name="Rectangle 32"/>
          <p:cNvSpPr/>
          <p:nvPr/>
        </p:nvSpPr>
        <p:spPr>
          <a:xfrm>
            <a:off x="4133088" y="3383279"/>
            <a:ext cx="1417320" cy="635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93008" y="3502151"/>
            <a:ext cx="2697480" cy="365760"/>
          </a:xfrm>
          <a:prstGeom prst="rect">
            <a:avLst/>
          </a:prstGeom>
          <a:noFill/>
        </p:spPr>
        <p:txBody>
          <a:bodyPr wrap="square" lIns="0" rIns="0" tIns="0" bIns="0" anchor="t">
            <a:spAutoFit/>
          </a:bodyPr>
          <a:lstStyle/>
          <a:p>
            <a:pPr algn="ctr">
              <a:lnSpc>
                <a:spcPct val="130000"/>
              </a:lnSpc>
            </a:pPr>
            <a:r>
              <a:rPr sz="900" b="0" i="1">
                <a:solidFill>
                  <a:srgbClr val="CBD5E0"/>
                </a:solidFill>
                <a:latin typeface="Calibri"/>
              </a:rPr>
              <a:t>UCL  ·  Zhejiang U.  ·  Asia</a:t>
            </a:r>
          </a:p>
        </p:txBody>
      </p:sp>
      <p:sp>
        <p:nvSpPr>
          <p:cNvPr id="35" name="Rectangle 34"/>
          <p:cNvSpPr/>
          <p:nvPr/>
        </p:nvSpPr>
        <p:spPr>
          <a:xfrm>
            <a:off x="6300216" y="1874519"/>
            <a:ext cx="2697480" cy="54864"/>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0216" y="2039111"/>
            <a:ext cx="2697480" cy="320040"/>
          </a:xfrm>
          <a:prstGeom prst="rect">
            <a:avLst/>
          </a:prstGeom>
          <a:noFill/>
        </p:spPr>
        <p:txBody>
          <a:bodyPr wrap="square" lIns="0" rIns="0" tIns="0" bIns="0" anchor="t">
            <a:spAutoFit/>
          </a:bodyPr>
          <a:lstStyle/>
          <a:p>
            <a:pPr algn="ctr">
              <a:lnSpc>
                <a:spcPct val="115000"/>
              </a:lnSpc>
            </a:pPr>
            <a:r>
              <a:rPr sz="1100" b="1" i="0">
                <a:solidFill>
                  <a:srgbClr val="C9A961"/>
                </a:solidFill>
                <a:latin typeface="Calibri"/>
              </a:rPr>
              <a:t>FUNDING</a:t>
            </a:r>
          </a:p>
        </p:txBody>
      </p:sp>
      <p:sp>
        <p:nvSpPr>
          <p:cNvPr id="37" name="TextBox 36"/>
          <p:cNvSpPr txBox="1"/>
          <p:nvPr/>
        </p:nvSpPr>
        <p:spPr>
          <a:xfrm>
            <a:off x="6300216" y="2468879"/>
            <a:ext cx="2697480" cy="1005840"/>
          </a:xfrm>
          <a:prstGeom prst="rect">
            <a:avLst/>
          </a:prstGeom>
          <a:noFill/>
        </p:spPr>
        <p:txBody>
          <a:bodyPr wrap="square" lIns="0" rIns="0" tIns="0" bIns="0" anchor="t">
            <a:spAutoFit/>
          </a:bodyPr>
          <a:lstStyle/>
          <a:p>
            <a:pPr algn="ctr">
              <a:lnSpc>
                <a:spcPct val="130000"/>
              </a:lnSpc>
            </a:pPr>
            <a:r>
              <a:rPr sz="1400" b="1" i="0">
                <a:solidFill>
                  <a:srgbClr val="FFFFFF"/>
                </a:solidFill>
                <a:latin typeface="Calibri"/>
              </a:rPr>
              <a:t>≈ 100 M JPY · # 1 of 13</a:t>
            </a:r>
          </a:p>
        </p:txBody>
      </p:sp>
      <p:sp>
        <p:nvSpPr>
          <p:cNvPr id="38" name="Rectangle 37"/>
          <p:cNvSpPr/>
          <p:nvPr/>
        </p:nvSpPr>
        <p:spPr>
          <a:xfrm>
            <a:off x="6940296" y="3383279"/>
            <a:ext cx="1417320" cy="635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0216" y="3502151"/>
            <a:ext cx="2697480" cy="365760"/>
          </a:xfrm>
          <a:prstGeom prst="rect">
            <a:avLst/>
          </a:prstGeom>
          <a:noFill/>
        </p:spPr>
        <p:txBody>
          <a:bodyPr wrap="square" lIns="0" rIns="0" tIns="0" bIns="0" anchor="t">
            <a:spAutoFit/>
          </a:bodyPr>
          <a:lstStyle/>
          <a:p>
            <a:pPr algn="ctr">
              <a:lnSpc>
                <a:spcPct val="130000"/>
              </a:lnSpc>
            </a:pPr>
            <a:r>
              <a:rPr sz="900" b="0" i="1">
                <a:solidFill>
                  <a:srgbClr val="CBD5E0"/>
                </a:solidFill>
                <a:latin typeface="Calibri"/>
              </a:rPr>
              <a:t>Kakenhi C → B</a:t>
            </a:r>
          </a:p>
        </p:txBody>
      </p:sp>
      <p:sp>
        <p:nvSpPr>
          <p:cNvPr id="40" name="Rectangle 39"/>
          <p:cNvSpPr/>
          <p:nvPr/>
        </p:nvSpPr>
        <p:spPr>
          <a:xfrm>
            <a:off x="9107424" y="1874519"/>
            <a:ext cx="2697480" cy="54864"/>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7424" y="2039111"/>
            <a:ext cx="2697480" cy="320040"/>
          </a:xfrm>
          <a:prstGeom prst="rect">
            <a:avLst/>
          </a:prstGeom>
          <a:noFill/>
        </p:spPr>
        <p:txBody>
          <a:bodyPr wrap="square" lIns="0" rIns="0" tIns="0" bIns="0" anchor="t">
            <a:spAutoFit/>
          </a:bodyPr>
          <a:lstStyle/>
          <a:p>
            <a:pPr algn="ctr">
              <a:lnSpc>
                <a:spcPct val="115000"/>
              </a:lnSpc>
            </a:pPr>
            <a:r>
              <a:rPr sz="1100" b="1" i="0">
                <a:solidFill>
                  <a:srgbClr val="C9A961"/>
                </a:solidFill>
                <a:latin typeface="Calibri"/>
              </a:rPr>
              <a:t>IMPLEMENTATION</a:t>
            </a:r>
          </a:p>
        </p:txBody>
      </p:sp>
      <p:sp>
        <p:nvSpPr>
          <p:cNvPr id="42" name="TextBox 41"/>
          <p:cNvSpPr txBox="1"/>
          <p:nvPr/>
        </p:nvSpPr>
        <p:spPr>
          <a:xfrm>
            <a:off x="9107424" y="2468879"/>
            <a:ext cx="2697480" cy="1005840"/>
          </a:xfrm>
          <a:prstGeom prst="rect">
            <a:avLst/>
          </a:prstGeom>
          <a:noFill/>
        </p:spPr>
        <p:txBody>
          <a:bodyPr wrap="square" lIns="0" rIns="0" tIns="0" bIns="0" anchor="t">
            <a:spAutoFit/>
          </a:bodyPr>
          <a:lstStyle/>
          <a:p>
            <a:pPr algn="ctr">
              <a:lnSpc>
                <a:spcPct val="130000"/>
              </a:lnSpc>
            </a:pPr>
            <a:r>
              <a:rPr sz="1400" b="1" i="0">
                <a:solidFill>
                  <a:srgbClr val="FFFFFF"/>
                </a:solidFill>
                <a:latin typeface="Calibri"/>
              </a:rPr>
              <a:t>Kumamoto green-infra</a:t>
            </a:r>
          </a:p>
          <a:p>
            <a:pPr algn="ctr">
              <a:lnSpc>
                <a:spcPct val="130000"/>
              </a:lnSpc>
            </a:pPr>
            <a:r>
              <a:rPr sz="1400" b="1" i="0">
                <a:solidFill>
                  <a:srgbClr val="FFFFFF"/>
                </a:solidFill>
                <a:latin typeface="Calibri"/>
              </a:rPr>
              <a:t>+ MLIT EBPM case</a:t>
            </a:r>
          </a:p>
        </p:txBody>
      </p:sp>
      <p:sp>
        <p:nvSpPr>
          <p:cNvPr id="43" name="Rectangle 42"/>
          <p:cNvSpPr/>
          <p:nvPr/>
        </p:nvSpPr>
        <p:spPr>
          <a:xfrm>
            <a:off x="9747504" y="3383279"/>
            <a:ext cx="1417320" cy="635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07424" y="3502151"/>
            <a:ext cx="2697480" cy="365760"/>
          </a:xfrm>
          <a:prstGeom prst="rect">
            <a:avLst/>
          </a:prstGeom>
          <a:noFill/>
        </p:spPr>
        <p:txBody>
          <a:bodyPr wrap="square" lIns="0" rIns="0" tIns="0" bIns="0" anchor="t">
            <a:spAutoFit/>
          </a:bodyPr>
          <a:lstStyle/>
          <a:p>
            <a:pPr algn="ctr">
              <a:lnSpc>
                <a:spcPct val="130000"/>
              </a:lnSpc>
            </a:pPr>
            <a:r>
              <a:rPr sz="900" b="0" i="1">
                <a:solidFill>
                  <a:srgbClr val="CBD5E0"/>
                </a:solidFill>
                <a:latin typeface="Calibri"/>
              </a:rPr>
              <a:t>→ Yamaguchi · Ube · Matsue</a:t>
            </a:r>
          </a:p>
        </p:txBody>
      </p:sp>
      <p:sp>
        <p:nvSpPr>
          <p:cNvPr id="45" name="TextBox 44"/>
          <p:cNvSpPr txBox="1"/>
          <p:nvPr/>
        </p:nvSpPr>
        <p:spPr>
          <a:xfrm>
            <a:off x="685800" y="4160520"/>
            <a:ext cx="1097280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FOUR COMMITMENTS</a:t>
            </a:r>
          </a:p>
        </p:txBody>
      </p:sp>
      <p:sp>
        <p:nvSpPr>
          <p:cNvPr id="46" name="Rectangle 45"/>
          <p:cNvSpPr/>
          <p:nvPr/>
        </p:nvSpPr>
        <p:spPr>
          <a:xfrm>
            <a:off x="685800" y="4480560"/>
            <a:ext cx="2697480" cy="914400"/>
          </a:xfrm>
          <a:prstGeom prst="rect">
            <a:avLst/>
          </a:prstGeom>
          <a:no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85800" y="4480560"/>
            <a:ext cx="54864" cy="9144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 y="4572000"/>
            <a:ext cx="242316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RESEARCH</a:t>
            </a:r>
          </a:p>
        </p:txBody>
      </p:sp>
      <p:sp>
        <p:nvSpPr>
          <p:cNvPr id="49" name="TextBox 48"/>
          <p:cNvSpPr txBox="1"/>
          <p:nvPr/>
        </p:nvSpPr>
        <p:spPr>
          <a:xfrm>
            <a:off x="868680" y="4846320"/>
            <a:ext cx="2423160" cy="502920"/>
          </a:xfrm>
          <a:prstGeom prst="rect">
            <a:avLst/>
          </a:prstGeom>
          <a:noFill/>
        </p:spPr>
        <p:txBody>
          <a:bodyPr wrap="square" lIns="0" rIns="0" tIns="0" bIns="0" anchor="t">
            <a:spAutoFit/>
          </a:bodyPr>
          <a:lstStyle/>
          <a:p>
            <a:pPr algn="l">
              <a:lnSpc>
                <a:spcPct val="135000"/>
              </a:lnSpc>
            </a:pPr>
            <a:r>
              <a:rPr sz="1000" b="0" i="1">
                <a:solidFill>
                  <a:srgbClr val="FFFFFF"/>
                </a:solidFill>
                <a:latin typeface="Calibri"/>
              </a:rPr>
              <a:t>Deliver papers,</a:t>
            </a:r>
          </a:p>
          <a:p>
            <a:pPr algn="l">
              <a:lnSpc>
                <a:spcPct val="135000"/>
              </a:lnSpc>
            </a:pPr>
            <a:r>
              <a:rPr sz="1000" b="0" i="1">
                <a:solidFill>
                  <a:srgbClr val="FFFFFF"/>
                </a:solidFill>
                <a:latin typeface="Calibri"/>
              </a:rPr>
              <a:t>workflow, and Kakenhi B</a:t>
            </a:r>
          </a:p>
        </p:txBody>
      </p:sp>
      <p:sp>
        <p:nvSpPr>
          <p:cNvPr id="50" name="Rectangle 49"/>
          <p:cNvSpPr/>
          <p:nvPr/>
        </p:nvSpPr>
        <p:spPr>
          <a:xfrm>
            <a:off x="3493008" y="4480560"/>
            <a:ext cx="2697480" cy="914400"/>
          </a:xfrm>
          <a:prstGeom prst="rect">
            <a:avLst/>
          </a:prstGeom>
          <a:no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493008" y="4480560"/>
            <a:ext cx="54864" cy="9144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5888" y="4572000"/>
            <a:ext cx="242316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TEACHING &amp; MENTORING</a:t>
            </a:r>
          </a:p>
        </p:txBody>
      </p:sp>
      <p:sp>
        <p:nvSpPr>
          <p:cNvPr id="53" name="TextBox 52"/>
          <p:cNvSpPr txBox="1"/>
          <p:nvPr/>
        </p:nvSpPr>
        <p:spPr>
          <a:xfrm>
            <a:off x="3675888" y="4846320"/>
            <a:ext cx="2423160" cy="502920"/>
          </a:xfrm>
          <a:prstGeom prst="rect">
            <a:avLst/>
          </a:prstGeom>
          <a:noFill/>
        </p:spPr>
        <p:txBody>
          <a:bodyPr wrap="square" lIns="0" rIns="0" tIns="0" bIns="0" anchor="t">
            <a:spAutoFit/>
          </a:bodyPr>
          <a:lstStyle/>
          <a:p>
            <a:pPr algn="l">
              <a:lnSpc>
                <a:spcPct val="135000"/>
              </a:lnSpc>
            </a:pPr>
            <a:r>
              <a:rPr sz="1000" b="0" i="1">
                <a:solidFill>
                  <a:srgbClr val="FFFFFF"/>
                </a:solidFill>
                <a:latin typeface="Calibri"/>
              </a:rPr>
              <a:t>Supervise students;</a:t>
            </a:r>
          </a:p>
          <a:p>
            <a:pPr algn="l">
              <a:lnSpc>
                <a:spcPct val="135000"/>
              </a:lnSpc>
            </a:pPr>
            <a:r>
              <a:rPr sz="1000" b="0" i="1">
                <a:solidFill>
                  <a:srgbClr val="FFFFFF"/>
                </a:solidFill>
                <a:latin typeface="Calibri"/>
              </a:rPr>
              <a:t>teaching informed by research</a:t>
            </a:r>
          </a:p>
        </p:txBody>
      </p:sp>
      <p:sp>
        <p:nvSpPr>
          <p:cNvPr id="54" name="Rectangle 53"/>
          <p:cNvSpPr/>
          <p:nvPr/>
        </p:nvSpPr>
        <p:spPr>
          <a:xfrm>
            <a:off x="6300216" y="4480560"/>
            <a:ext cx="2697480" cy="914400"/>
          </a:xfrm>
          <a:prstGeom prst="rect">
            <a:avLst/>
          </a:prstGeom>
          <a:no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300216" y="4480560"/>
            <a:ext cx="54864" cy="9144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83096" y="4572000"/>
            <a:ext cx="242316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DEPARTMENT &amp; COLLABORATION</a:t>
            </a:r>
          </a:p>
        </p:txBody>
      </p:sp>
      <p:sp>
        <p:nvSpPr>
          <p:cNvPr id="57" name="TextBox 56"/>
          <p:cNvSpPr txBox="1"/>
          <p:nvPr/>
        </p:nvSpPr>
        <p:spPr>
          <a:xfrm>
            <a:off x="6483096" y="4846320"/>
            <a:ext cx="2423160" cy="502920"/>
          </a:xfrm>
          <a:prstGeom prst="rect">
            <a:avLst/>
          </a:prstGeom>
          <a:noFill/>
        </p:spPr>
        <p:txBody>
          <a:bodyPr wrap="square" lIns="0" rIns="0" tIns="0" bIns="0" anchor="t">
            <a:spAutoFit/>
          </a:bodyPr>
          <a:lstStyle/>
          <a:p>
            <a:pPr algn="l">
              <a:lnSpc>
                <a:spcPct val="135000"/>
              </a:lnSpc>
            </a:pPr>
            <a:r>
              <a:rPr sz="1000" b="0" i="1">
                <a:solidFill>
                  <a:srgbClr val="FFFFFF"/>
                </a:solidFill>
                <a:latin typeface="Calibri"/>
              </a:rPr>
              <a:t>Active member of the</a:t>
            </a:r>
          </a:p>
          <a:p>
            <a:pPr algn="l">
              <a:lnSpc>
                <a:spcPct val="135000"/>
              </a:lnSpc>
            </a:pPr>
            <a:r>
              <a:rPr sz="1000" b="0" i="1">
                <a:solidFill>
                  <a:srgbClr val="FFFFFF"/>
                </a:solidFill>
                <a:latin typeface="Calibri"/>
              </a:rPr>
              <a:t>faculty community</a:t>
            </a:r>
          </a:p>
        </p:txBody>
      </p:sp>
      <p:sp>
        <p:nvSpPr>
          <p:cNvPr id="58" name="Rectangle 57"/>
          <p:cNvSpPr/>
          <p:nvPr/>
        </p:nvSpPr>
        <p:spPr>
          <a:xfrm>
            <a:off x="9107424" y="4480560"/>
            <a:ext cx="2697480" cy="914400"/>
          </a:xfrm>
          <a:prstGeom prst="rect">
            <a:avLst/>
          </a:prstGeom>
          <a:noFill/>
          <a:ln w="10160">
            <a:solidFill>
              <a:srgbClr val="C9A9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107424" y="4480560"/>
            <a:ext cx="54864" cy="9144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90304" y="4572000"/>
            <a:ext cx="2423160" cy="274320"/>
          </a:xfrm>
          <a:prstGeom prst="rect">
            <a:avLst/>
          </a:prstGeom>
          <a:noFill/>
        </p:spPr>
        <p:txBody>
          <a:bodyPr wrap="square" lIns="0" rIns="0" tIns="0" bIns="0" anchor="t">
            <a:spAutoFit/>
          </a:bodyPr>
          <a:lstStyle/>
          <a:p>
            <a:pPr algn="l">
              <a:lnSpc>
                <a:spcPct val="115000"/>
              </a:lnSpc>
            </a:pPr>
            <a:r>
              <a:rPr sz="1000" b="1" i="0">
                <a:solidFill>
                  <a:srgbClr val="C9A961"/>
                </a:solidFill>
                <a:latin typeface="Calibri"/>
              </a:rPr>
              <a:t>REGION &amp; LONG-TERM</a:t>
            </a:r>
          </a:p>
        </p:txBody>
      </p:sp>
      <p:sp>
        <p:nvSpPr>
          <p:cNvPr id="61" name="TextBox 60"/>
          <p:cNvSpPr txBox="1"/>
          <p:nvPr/>
        </p:nvSpPr>
        <p:spPr>
          <a:xfrm>
            <a:off x="9290304" y="4846320"/>
            <a:ext cx="2423160" cy="502920"/>
          </a:xfrm>
          <a:prstGeom prst="rect">
            <a:avLst/>
          </a:prstGeom>
          <a:noFill/>
        </p:spPr>
        <p:txBody>
          <a:bodyPr wrap="square" lIns="0" rIns="0" tIns="0" bIns="0" anchor="t">
            <a:spAutoFit/>
          </a:bodyPr>
          <a:lstStyle/>
          <a:p>
            <a:pPr algn="l">
              <a:lnSpc>
                <a:spcPct val="135000"/>
              </a:lnSpc>
            </a:pPr>
            <a:r>
              <a:rPr sz="1000" b="0" i="1">
                <a:solidFill>
                  <a:srgbClr val="FFFFFF"/>
                </a:solidFill>
                <a:latin typeface="Calibri"/>
              </a:rPr>
              <a:t>A long-term anchor at</a:t>
            </a:r>
          </a:p>
          <a:p>
            <a:pPr algn="l">
              <a:lnSpc>
                <a:spcPct val="135000"/>
              </a:lnSpc>
            </a:pPr>
            <a:r>
              <a:rPr sz="1000" b="0" i="1">
                <a:solidFill>
                  <a:srgbClr val="FFFFFF"/>
                </a:solidFill>
                <a:latin typeface="Calibri"/>
              </a:rPr>
              <a:t>Yamaguchi University</a:t>
            </a:r>
          </a:p>
        </p:txBody>
      </p:sp>
      <p:sp>
        <p:nvSpPr>
          <p:cNvPr id="62" name="Rectangle 61"/>
          <p:cNvSpPr/>
          <p:nvPr/>
        </p:nvSpPr>
        <p:spPr>
          <a:xfrm>
            <a:off x="685800" y="5669280"/>
            <a:ext cx="10972800" cy="25400"/>
          </a:xfrm>
          <a:prstGeom prst="rect">
            <a:avLst/>
          </a:prstGeom>
          <a:solidFill>
            <a:srgbClr val="C9A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5800" y="5806440"/>
            <a:ext cx="10972800" cy="502920"/>
          </a:xfrm>
          <a:prstGeom prst="rect">
            <a:avLst/>
          </a:prstGeom>
          <a:noFill/>
        </p:spPr>
        <p:txBody>
          <a:bodyPr wrap="square" lIns="0" rIns="0" tIns="0" bIns="0" anchor="t">
            <a:spAutoFit/>
          </a:bodyPr>
          <a:lstStyle/>
          <a:p>
            <a:pPr algn="l">
              <a:lnSpc>
                <a:spcPct val="115000"/>
              </a:lnSpc>
            </a:pPr>
            <a:r>
              <a:rPr sz="2200" b="1" i="0">
                <a:solidFill>
                  <a:srgbClr val="FFFFFF"/>
                </a:solidFill>
                <a:latin typeface="Calibri"/>
              </a:rPr>
              <a:t>HIRAKU-Global is the multiplier — not the starter.</a:t>
            </a:r>
          </a:p>
        </p:txBody>
      </p:sp>
      <p:sp>
        <p:nvSpPr>
          <p:cNvPr id="64" name="TextBox 63"/>
          <p:cNvSpPr txBox="1"/>
          <p:nvPr/>
        </p:nvSpPr>
        <p:spPr>
          <a:xfrm>
            <a:off x="685800" y="6309360"/>
            <a:ext cx="10972800" cy="320040"/>
          </a:xfrm>
          <a:prstGeom prst="rect">
            <a:avLst/>
          </a:prstGeom>
          <a:noFill/>
        </p:spPr>
        <p:txBody>
          <a:bodyPr wrap="square" lIns="0" rIns="0" tIns="0" bIns="0" anchor="t">
            <a:spAutoFit/>
          </a:bodyPr>
          <a:lstStyle/>
          <a:p>
            <a:pPr algn="l">
              <a:lnSpc>
                <a:spcPct val="115000"/>
              </a:lnSpc>
            </a:pPr>
            <a:r>
              <a:rPr sz="1100" b="1" i="0">
                <a:solidFill>
                  <a:srgbClr val="C9A961"/>
                </a:solidFill>
                <a:latin typeface="Calibri"/>
              </a:rPr>
              <a:t>Thank you very much.  I look forward to your questions.</a:t>
            </a:r>
          </a:p>
        </p:txBody>
      </p:sp>
      <p:cxnSp>
        <p:nvCxnSpPr>
          <p:cNvPr id="65" name="Connector 64"/>
          <p:cNvCxnSpPr/>
          <p:nvPr/>
        </p:nvCxnSpPr>
        <p:spPr>
          <a:xfrm>
            <a:off x="182880"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74320"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1825935" y="4114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1917375" y="3200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82880"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274320"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1825935" y="6583680"/>
            <a:ext cx="182880" cy="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1917375" y="6492240"/>
            <a:ext cx="0" cy="182880"/>
          </a:xfrm>
          <a:prstGeom prst="line">
            <a:avLst/>
          </a:prstGeom>
          <a:ln w="6350">
            <a:solidFill>
              <a:srgbClr val="B8C2CC"/>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