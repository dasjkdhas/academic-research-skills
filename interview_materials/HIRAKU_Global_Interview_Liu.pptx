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— TITLE — ~25s]</a:t>
            </a:r>
          </a:p>
          <a:p/>
          <a:p>
            <a:r>
              <a:t>Good morning. My name is Liu Haiqiang. I am a tenure-track Lecturer at Yamaguchi University, working on urban thermal environment.</a:t>
            </a:r>
          </a:p>
          <a:p/>
          <a:p>
            <a:r>
              <a:t>In one sentence — I bridge urban thermal research with international collaboration, regional policy, and social implementation.</a:t>
            </a:r>
          </a:p>
          <a:p/>
          <a:p>
            <a:r>
              <a:t>In ten minutes, I will show you why my background fits HIRAKU-Global.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— PROFILE — ~45s]</a:t>
            </a:r>
          </a:p>
          <a:p/>
          <a:p>
            <a:r>
              <a:t>Briefly — who I am.</a:t>
            </a:r>
          </a:p>
          <a:p/>
          <a:p>
            <a:r>
              <a:t>Three pillars. Japan-trained: Ph.D. from Saga University in 2017. China-experienced: Associate Professor at Zhejiang Sci-Tech University, 2018 to 2023. Japan-returned: Yamaguchi University since January 2026.</a:t>
            </a:r>
          </a:p>
          <a:p/>
          <a:p>
            <a:r>
              <a:t>The timeline below shows ten years of continuity, moving from building, to person, to city.</a:t>
            </a:r>
          </a:p>
          <a:p/>
          <a:p>
            <a:r>
              <a:t>What this gives me is rare — I work natively in both Japanese regional cities and Chinese high-density urbanism, through one continuous research agenda on urban heat.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— WHY MY RESEARCH MATTERS — ~50s]</a:t>
            </a:r>
          </a:p>
          <a:p/>
          <a:p>
            <a:r>
              <a:t>Why does this research matter?</a:t>
            </a:r>
          </a:p>
          <a:p/>
          <a:p>
            <a:r>
              <a:t>In 2023, Japan recorded over 91,000 emergency heatstroke transports. In Yamaguchi alone, 1,200 cases — and 60 percent were aged 65 or older.</a:t>
            </a:r>
          </a:p>
          <a:p/>
          <a:p>
            <a:r>
              <a:t>But not every street is equally hot. As the section drawing shows: built-up zones trap heat; green-and-wind zones stay cool. Elderly residents walk through this contrast every day, over 500 to 1,000 meters.</a:t>
            </a:r>
          </a:p>
          <a:p/>
          <a:p>
            <a:r>
              <a:t>So my research asks three simple questions — Where is it hot? Why is it hot? How can we cool the city while keeping it walkable?</a:t>
            </a:r>
          </a:p>
          <a:p/>
          <a:p>
            <a:r>
              <a:t>This sits at the intersection of climate warming, aging society, and city-center decline — the triple challenge of regional cities.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 — RESEARCH TRAJECTORY — ~60s]</a:t>
            </a:r>
          </a:p>
          <a:p/>
          <a:p>
            <a:r>
              <a:t>My research has moved through three stages — not jumped between topics.</a:t>
            </a:r>
          </a:p>
          <a:p/>
          <a:p>
            <a:r>
              <a:t>Stage 1 — Building. How does form shape indoor thermal and energy performance? This gave me the physical side, but not the human side.</a:t>
            </a:r>
          </a:p>
          <a:p/>
          <a:p>
            <a:r>
              <a:t>Stage 2 — Person. How do indoor conditions affect learning, health, behavior? This is where my two Q1 papers come from — Building and Environment, top 5 in its field, and Environmental Pollution. But I was still indoors.</a:t>
            </a:r>
          </a:p>
          <a:p/>
          <a:p>
            <a:r>
              <a:t>Stage 3 — City. How do green-blue infrastructure, wind, and morphology together regulate pedestrian heat exposure? This is where the Kumamoto work — and the MLIT-cited case — comes from.</a:t>
            </a:r>
          </a:p>
          <a:p/>
          <a:p>
            <a:r>
              <a:t>Each stage was pushed forward by a question the previous one could only partly answer. Stage 3 is where HIRAKU-Global begins.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— ORIGINALITY (CORE) — ~70s]</a:t>
            </a:r>
          </a:p>
          <a:p/>
          <a:p>
            <a:r>
              <a:t>This is the core of my originality.</a:t>
            </a:r>
          </a:p>
          <a:p/>
          <a:p>
            <a:r>
              <a:t>I work at three scales — chained as one workflow, not three separate studies.</a:t>
            </a:r>
          </a:p>
          <a:p/>
          <a:p>
            <a:r>
              <a:t>Top — satellite. Landsat-8/9 and Sentinel-2 tell me where heat accumulates.</a:t>
            </a:r>
          </a:p>
          <a:p/>
          <a:p>
            <a:r>
              <a:t>Middle — block-scale CFD. OpenFOAM tells me why, given wind and building form.</a:t>
            </a:r>
          </a:p>
          <a:p/>
          <a:p>
            <a:r>
              <a:t>Bottom — pedestrian validation. WBGT along the actual 500-to-1,000-meter walking corridors of elderly residents.</a:t>
            </a:r>
          </a:p>
          <a:p/>
          <a:p>
            <a:r>
              <a:t>Four things make this original. First, multi-source data fusion. Second, cumulative heat exposure — not instantaneous temperature. Third, already applied to Kumamoto's green-infrastructure policy.</a:t>
            </a:r>
          </a:p>
          <a:p/>
          <a:p>
            <a:r>
              <a:t>And fourth — most importantly — cited by Japan's MLIT as an Evidence-Based Policy Making case.</a:t>
            </a:r>
          </a:p>
          <a:p/>
          <a:p>
            <a:r>
              <a:t>Few researchers can show all four — satellite, measurement, CFD, and national policy adoption — in one workflow.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— RESEARCH OUTPUTS — ~50s]</a:t>
            </a:r>
          </a:p>
          <a:p/>
          <a:p>
            <a:r>
              <a:t>Now my publications — quality first, and honest positioning.</a:t>
            </a:r>
          </a:p>
          <a:p/>
          <a:p>
            <a:r>
              <a:t>Fifteen peer-reviewed papers. Ten English SCI or SCIE. Eight with impact factor. Three in Q1.</a:t>
            </a:r>
          </a:p>
          <a:p/>
          <a:p>
            <a:r>
              <a:t>I want to be precise about authorship — I led two of the three Q1 papers, and contributed to one. As first or co-first author: Building and Environment, top 5 in its field; and Energies. As co-author: Environmental Pollution, where I joined a research-team study on PM2.5 health.</a:t>
            </a:r>
          </a:p>
          <a:p/>
          <a:p>
            <a:r>
              <a:t>The timeline below shows my first or co-first authored papers by year — including two Kumamoto Urban Policy articles in 2024.</a:t>
            </a:r>
          </a:p>
          <a:p/>
          <a:p>
            <a:r>
              <a:t>What matters more than journal count is the line that connects them — building energy, indoor comfort, PM2.5 health, urban heat, green infrastructure, policy. One continuous research agenda.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— INTERNATIONAL COLLABORATION — ~55s]</a:t>
            </a:r>
          </a:p>
          <a:p/>
          <a:p>
            <a:r>
              <a:t>International collaboration, for me, means organizing — not just attending.</a:t>
            </a:r>
          </a:p>
          <a:p/>
          <a:p>
            <a:r>
              <a:t>Three concrete records.</a:t>
            </a:r>
          </a:p>
          <a:p/>
          <a:p>
            <a:r>
              <a:t>One — the Sakura Science Program. I organized exchanges between Zhejiang Sci-Tech University and Japanese universities over multiple years. Paused by COVID; friendship intact.</a:t>
            </a:r>
          </a:p>
          <a:p/>
          <a:p>
            <a:r>
              <a:t>Two — during COVID, I helped build the Zhejiang International Cooperation Center on Carbon Neutrality. Only four such centers province-wide; ZSTU was the core unit of one.</a:t>
            </a:r>
          </a:p>
          <a:p/>
          <a:p>
            <a:r>
              <a:t>Three — I organized a five-country online forum: China, Japan, UK at UCL, Indonesia, and Bangladesh.</a:t>
            </a:r>
          </a:p>
          <a:p/>
          <a:p>
            <a:r>
              <a:t>The future network below builds on these existing friendships, with Yamaguchi University at the center.</a:t>
            </a:r>
          </a:p>
          <a:p/>
          <a:p>
            <a:r>
              <a:t>In all three cases — I was the organizer.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 — FUNDING &amp; LEADERSHIP — ~60s]</a:t>
            </a:r>
          </a:p>
          <a:p/>
          <a:p>
            <a:r>
              <a:t>Funding — the honest picture in three phases.</a:t>
            </a:r>
          </a:p>
          <a:p/>
          <a:p>
            <a:r>
              <a:t>China, 2018 to 2023. Across eight projects, approximately 100 million yen total. Five as Leading Researcher, in a highly competitive environment.</a:t>
            </a:r>
          </a:p>
          <a:p/>
          <a:p>
            <a:r>
              <a:t>Kumamoto, 2023 to 2025. Municipal post — institutional rule did not permit external grants such as Kakenhi. What I produced instead was the MLIT EBPM-cited policy work.</a:t>
            </a:r>
          </a:p>
          <a:p/>
          <a:p>
            <a:r>
              <a:t>Yamaguchi, since January 2026 — the first time I could apply in Japan. Within months, I was ranked number one out of thirteen applicants in the Yamaguchi regional research program. Four were selected.</a:t>
            </a:r>
          </a:p>
          <a:p/>
          <a:p>
            <a:r>
              <a:t>Forward path — Kakenhi Kiban C this autumn, building toward Kiban B during HIRAKU. The Japan pattern has started.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 — RESEARCH PLAN (CORE) — ~70s]</a:t>
            </a:r>
          </a:p>
          <a:p/>
          <a:p>
            <a:r>
              <a:t>This is the project I will run during HIRAKU-Global.</a:t>
            </a:r>
          </a:p>
          <a:p/>
          <a:p>
            <a:r>
              <a:t>Left — three cities, three wind regimes within one region: Matsue lakeside, Yamaguchi basin, Ube coastal. The contrast is exactly what the science needs.</a:t>
            </a:r>
          </a:p>
          <a:p/>
          <a:p>
            <a:r>
              <a:t>Middle — the method chain. Step 1 satellite screening — already running. Step 2 block CFD — methodology already established. Step 3 pedestrian WBGT — co-designed with Yamaguchi City's elderly-care offices.</a:t>
            </a:r>
          </a:p>
          <a:p/>
          <a:p>
            <a:r>
              <a:t>Right — the five-year plan. Year 1 diagnosis. Year 2 UCL stay with Dr. Huanfa Chen. Year 3 CFD plus Zhejiang visit. Year 4 pedestrian field plus international workshop at Yamaguchi. Year 5 synthesis and Kakenhi B.</a:t>
            </a:r>
          </a:p>
          <a:p/>
          <a:p>
            <a:r>
              <a:t>This plan does not start from zero. Pipeline running. Partners ready. First grant won.</a:t>
            </a:r>
          </a:p>
          <a:p/>
          <a:p>
            <a:r>
              <a:t>I also manage risk — anchor Yamaguchi first, expand stepwise, use online collaboration when needed. Deliver, not over-promise.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 — ASPIRATIONS — ~60s]</a:t>
            </a:r>
          </a:p>
          <a:p/>
          <a:p>
            <a:r>
              <a:t>What will I do during and after HIRAKU-Global?</a:t>
            </a:r>
          </a:p>
          <a:p/>
          <a:p>
            <a:r>
              <a:t>Aligned with the 3I framework. Innovative — the cross-scale mechanism paper and a reusable diagnostic workflow. Influential — continued Q1 publications and the Kakenhi path. Impactful — deliverables to Yamaguchi, Ube, and Matsue.</a:t>
            </a:r>
          </a:p>
          <a:p/>
          <a:p>
            <a:r>
              <a:t>After tenure — and this is critical — I will be a long-term anchor at Yamaguchi University. The rings on the right show the path: from my lab, to the region, to Western Japan as an urban thermal hub, to an Asia platform, to a Local-to-Global model.</a:t>
            </a:r>
          </a:p>
          <a:p/>
          <a:p>
            <a:r>
              <a:t>I am not only a recipient. I will give back — an international workshop at Yamaguchi, a China–Japan academic bridge, teaching and mentoring graduate students, and active service to the department and the region.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 — CLOSING — ~25s]</a:t>
            </a:r>
          </a:p>
          <a:p/>
          <a:p>
            <a:r>
              <a:t>To close.</a:t>
            </a:r>
          </a:p>
          <a:p/>
          <a:p>
            <a:r>
              <a:t>Four foundations — already in motion. Quality. Bridge. Funding. Implementation.</a:t>
            </a:r>
          </a:p>
          <a:p/>
          <a:p>
            <a:r>
              <a:t>And four commitments — research, teaching, collaboration, long-term anchor.</a:t>
            </a:r>
          </a:p>
          <a:p/>
          <a:p>
            <a:r>
              <a:t>HIRAKU-Global is the multiplier — not the starter.</a:t>
            </a:r>
          </a:p>
          <a:p/>
          <a:p>
            <a:r>
              <a:t>Thank you very much. I look forward to your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YAMAGUCHI UNIVERSITY  ·  HIRAKU-GLOBAL  ·  7TH COHORT  · 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41732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Bridging Cities, Climate,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514600"/>
            <a:ext cx="27432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697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Calibri"/>
              </a:rPr>
              <a:t>Urban Thermal Environment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1546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B8C8DC"/>
                </a:solidFill>
                <a:latin typeface="Calibri"/>
              </a:rPr>
              <a:t>from Japanese Regional Cities to International Asia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49039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749039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HEAT-ADAPTIVE WALKABLE CITIES  ·  CROSS-SCALE ANALYTICAL FRAMEWORK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519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LIU  HAIQIANG, Ph.D.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9A961"/>
                </a:solidFill>
                <a:latin typeface="Calibri"/>
              </a:rPr>
              <a:t>Lecturer (Tenure-track)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0109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Graduate School of Sciences and Technology for Innovation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Yamaguchi University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URBAN THERMAL ENVIRONMENT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REGIONAL POLICY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SOCIAL IMPLEMENTATION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6446520"/>
            <a:ext cx="3108960" cy="292608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601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44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686800" y="644652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01 /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644652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446520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02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Who I am — a researcher trained between Japan and China.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02/11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JAPAN-TRAINED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Ph.D. (Architectural Environmental Engineering)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Saga University, Japan  ·  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CHINA-EXPERIENCED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Associate Professor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Zhejiang Sci-Tech University  ·  2018–2023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JAPAN-RETURNED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Lecturer (Tenure-track)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Yamaguchi University  ·  since Jan 2026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364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3200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CAREER TIMELINE  ·  10 YEARS ACROSS BUILDING → PERSON → CITY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434840"/>
            <a:ext cx="10817352" cy="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4360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2009–2011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-137160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Master's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6" name="Oval 45"/>
          <p:cNvSpPr/>
          <p:nvPr/>
        </p:nvSpPr>
        <p:spPr>
          <a:xfrm>
            <a:off x="221696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6832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2014–2017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544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Ph.D.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9" name="Oval 48"/>
          <p:cNvSpPr/>
          <p:nvPr/>
        </p:nvSpPr>
        <p:spPr>
          <a:xfrm>
            <a:off x="405591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072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2017–2018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43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52" name="Oval 51"/>
          <p:cNvSpPr/>
          <p:nvPr/>
        </p:nvSpPr>
        <p:spPr>
          <a:xfrm>
            <a:off x="5570341" y="4343400"/>
            <a:ext cx="182880" cy="18288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701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2018–2023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38821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Associate Prof.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ZSTU</a:t>
            </a:r>
          </a:p>
        </p:txBody>
      </p:sp>
      <p:sp>
        <p:nvSpPr>
          <p:cNvPr id="55" name="Oval 54"/>
          <p:cNvSpPr/>
          <p:nvPr/>
        </p:nvSpPr>
        <p:spPr>
          <a:xfrm>
            <a:off x="773381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851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2023–2025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022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Kumamoto City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Policy Institute</a:t>
            </a:r>
          </a:p>
        </p:txBody>
      </p:sp>
      <p:sp>
        <p:nvSpPr>
          <p:cNvPr id="58" name="Oval 57"/>
          <p:cNvSpPr/>
          <p:nvPr/>
        </p:nvSpPr>
        <p:spPr>
          <a:xfrm>
            <a:off x="989728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4864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2026—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576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Lecturer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61" name="Oval 60"/>
          <p:cNvSpPr/>
          <p:nvPr/>
        </p:nvSpPr>
        <p:spPr>
          <a:xfrm>
            <a:off x="685800" y="5212080"/>
            <a:ext cx="146304" cy="146304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696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1  ·  BUILDING</a:t>
            </a:r>
          </a:p>
        </p:txBody>
      </p:sp>
      <p:sp>
        <p:nvSpPr>
          <p:cNvPr id="63" name="Oval 62"/>
          <p:cNvSpPr/>
          <p:nvPr/>
        </p:nvSpPr>
        <p:spPr>
          <a:xfrm>
            <a:off x="3154680" y="5212080"/>
            <a:ext cx="146304" cy="146304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2  ·  PERSON</a:t>
            </a:r>
          </a:p>
        </p:txBody>
      </p:sp>
      <p:sp>
        <p:nvSpPr>
          <p:cNvPr id="65" name="Oval 64"/>
          <p:cNvSpPr/>
          <p:nvPr/>
        </p:nvSpPr>
        <p:spPr>
          <a:xfrm>
            <a:off x="5623560" y="5212080"/>
            <a:ext cx="146304" cy="146304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2472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3  ·  CITY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650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4400" y="5486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SELECTED DISTINCTIONS  ·  RECOGNITION &amp; SERVICE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5806440"/>
            <a:ext cx="3703320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8580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0392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2012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99032" y="58338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CCTV-featured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2" y="6062472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Eco-City Design 1st Prize on China Central TV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80560" y="5806440"/>
            <a:ext cx="3703320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056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45152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2011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93792" y="58338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Croucher Institute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45152" y="6062472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Adv. Study Institute (Hong Kong) — early international training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806440"/>
            <a:ext cx="3703320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7532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39912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2020–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58338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3 Advisory Roles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39912" y="6062472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Urban Regen. · Changzhou Sci-Tech Expert · Saga Alumni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03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PROBLEM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Climate change becomes a local problem — on every street.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03/11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852160" cy="30175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STREET SECTION  ·  WHAT AN ELDERLY RESIDENT FACES</a:t>
            </a:r>
          </a:p>
        </p:txBody>
      </p:sp>
      <p:sp>
        <p:nvSpPr>
          <p:cNvPr id="28" name="Oval 27"/>
          <p:cNvSpPr/>
          <p:nvPr/>
        </p:nvSpPr>
        <p:spPr>
          <a:xfrm>
            <a:off x="5417820" y="2400300"/>
            <a:ext cx="320040" cy="32004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785866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724936.595263112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7840.0" y="2768346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362852.668461604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5273802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5362852.668461604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577840.0" y="2256282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24936.595263112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60120" y="4297680"/>
            <a:ext cx="5303520" cy="914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318211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>
            <a:off x="1143000" y="301752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4175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4749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5323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4175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749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5323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57400" y="281635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>
            <a:off x="2057400" y="265176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5615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6189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763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615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6189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6763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" y="4251960"/>
            <a:ext cx="2194560" cy="457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534F"/>
                </a:solidFill>
                <a:latin typeface="Calibri"/>
              </a:rPr>
              <a:t>HOT  ·  built-up</a:t>
            </a:r>
          </a:p>
        </p:txBody>
      </p:sp>
      <p:sp>
        <p:nvSpPr>
          <p:cNvPr id="56" name="Oval 55"/>
          <p:cNvSpPr/>
          <p:nvPr/>
        </p:nvSpPr>
        <p:spPr>
          <a:xfrm>
            <a:off x="3472891" y="352044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92424" y="368640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46739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9510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4343400" y="3291840"/>
            <a:ext cx="731520" cy="512063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36008" y="3803904"/>
            <a:ext cx="146304" cy="219456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5212080" y="3429000"/>
            <a:ext cx="640080" cy="448056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68112" y="3877056"/>
            <a:ext cx="128016" cy="192024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51960" y="4251960"/>
            <a:ext cx="1828800" cy="4572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976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FA8C6"/>
                </a:solidFill>
                <a:latin typeface="Calibri"/>
              </a:rPr>
              <a:t>COOL  ·  green &amp; wind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51560" y="4663440"/>
            <a:ext cx="502920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5156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← 500–1000 m daily-activity corridor 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122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40880" y="16916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THE NUMBERS  ·  FDMA 2024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2103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D9534F"/>
                </a:solidFill>
                <a:latin typeface="Calibri"/>
              </a:rPr>
              <a:t>91,000+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2971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heatstroke emergency transports — Japan, 2023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12280" y="338328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2E55"/>
                </a:solidFill>
                <a:latin typeface="Calibri"/>
              </a:rPr>
              <a:t>1,200+  in Yamaguchi  ·  60%  aged 65+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886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Heat is no longer just weather — it is a regional public-health issue.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12280" y="45994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040880" y="44348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MY THREE QUESTIONS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89204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9516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WHERE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12280" y="530352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95160" y="5257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294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12280" y="571500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5669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HOW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5705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to cool &amp; re-vitalize the city?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5800" y="6263640"/>
            <a:ext cx="10972800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REGIONAL CITIES FACE A TRIPLE CHALLENGE   ·   CLIMATE WARMING  +  AGING SOCIETY  +  CITY-CENTER DECLINE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04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10 years, three stages — Building → Person → 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04/11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377440"/>
            <a:ext cx="914400" cy="731520"/>
          </a:xfrm>
          <a:prstGeom prst="rect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200400" y="2194560"/>
            <a:ext cx="914400" cy="228600"/>
          </a:xfrm>
          <a:prstGeom prst="triangle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101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387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673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101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387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1440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300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does building type &amp; form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shape indoor thermal &amp; energy?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183 households across 3 cities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Window-to-wall ratio optimization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Residential building types comparison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4300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 ·  JCEA  ·  Procedia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6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PERSON</a:t>
            </a:r>
          </a:p>
        </p:txBody>
      </p:sp>
      <p:sp>
        <p:nvSpPr>
          <p:cNvPr id="50" name="Oval 49"/>
          <p:cNvSpPr/>
          <p:nvPr/>
        </p:nvSpPr>
        <p:spPr>
          <a:xfrm>
            <a:off x="7324344" y="2194560"/>
            <a:ext cx="256032" cy="256032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78040" y="2496312"/>
            <a:ext cx="54864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795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18196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70916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3776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indoor conditions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affect learning, health, behavior?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70916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93776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Classroom thermal × learning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PM2.5 health-effect assessment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Elderly spatial needs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70916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93776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Building &amp; Env. Q1 (Top 5)  ·  Env. Pollution Q1  ·  Energies Q1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7532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12780" y="2606040"/>
            <a:ext cx="105482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936877" y="2331720"/>
            <a:ext cx="105482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60974" y="2743200"/>
            <a:ext cx="105482" cy="3657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185071" y="2468880"/>
            <a:ext cx="105482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309168" y="2651760"/>
            <a:ext cx="105482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433265" y="2240280"/>
            <a:ext cx="105482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557362" y="2560320"/>
            <a:ext cx="105482" cy="5486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850392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73252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0392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GBI, wind &amp; morphology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regulate pedestrian heat exposure?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50392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2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92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Satellite LST + Sentinel-2 LCZ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Courtyard CFD wind analysis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Kumamoto green-infra mapping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50392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73252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0392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Q2  ·  Book Chapter  ·  MLIT EBPM-cited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38912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18388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685800" y="5577840"/>
            <a:ext cx="10972800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56875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WHAT BINDS THE THREE STAGES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" y="59436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Each stage was pushed forward by a question the previous stage could only partly answer.  Stage 3 is where HIRAKU-Global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05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ORIGINALITY  · 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Satellite + measurement + CFD + national-level policy — in one workflow.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05/11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212080" cy="39319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6868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728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CROSS-SCALE WORKFLOW  ·  SATELLITE → BLOCK → PEDESTRIAN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286000"/>
            <a:ext cx="0" cy="292608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15568" y="2377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15568" y="3520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15568" y="470916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" y="51206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2240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km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0292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3372" y="2499741"/>
            <a:ext cx="310896" cy="349758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8313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1988820.0" y="2286000"/>
            <a:ext cx="0.0" cy="213741.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957730" y="2247138"/>
            <a:ext cx="62179" cy="62179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19" y="2377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LANDSAT-8/9  +  SENTINEL-2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19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LST × LCZ — 30 m resolution screening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88186" y="3927348"/>
            <a:ext cx="116030" cy="55321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24692" y="3625596"/>
            <a:ext cx="116030" cy="85496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61199" y="4078224"/>
            <a:ext cx="116030" cy="402336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97706" y="3776472"/>
            <a:ext cx="116030" cy="70408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34213" y="3977640"/>
            <a:ext cx="116030" cy="50292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70720" y="3525012"/>
            <a:ext cx="116030" cy="95554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07227" y="3877056"/>
            <a:ext cx="116030" cy="60350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60319" y="315468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3246120" y="311810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560319" y="342900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>
            <a:off x="3246120" y="339242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83280" y="3246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BLOCK-SCALE CFD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3474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— wind × morphology × GBI</a:t>
            </a:r>
          </a:p>
        </p:txBody>
      </p:sp>
      <p:sp>
        <p:nvSpPr>
          <p:cNvPr id="55" name="Oval 54"/>
          <p:cNvSpPr/>
          <p:nvPr/>
        </p:nvSpPr>
        <p:spPr>
          <a:xfrm>
            <a:off x="1964131" y="470916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83664" y="487512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37979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70750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463040" y="5303520"/>
            <a:ext cx="333756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>
            <a:off x="278892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3522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388620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3250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0319" y="4617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PEDESTRIAN  ·  WBGT FIELD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19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Elderly walking corridor, 500–1000 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6364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MULTI-SOURCE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Satellite RS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on-site measurement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CFD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5256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5256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8972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CUMULATIVE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Pedestrian-scale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heat retention zones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(not instantaneous 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6364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0372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POLICY-APPLIED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Kumamoto City green-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infrastructure policy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(Book chapter A-1)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5256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972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MLIT EBPM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8972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Adopted by MLIT as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an Evidence-Based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Policy Making case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noFill/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8680" y="564184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895A8"/>
                </a:solidFill>
                <a:latin typeface="Calibri"/>
              </a:rPr>
              <a:t>Methods validated in C-1 (Sustainability 2024) &amp; A-1 book chapter  ·  + Utility Model Patent CN 210135674 U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" y="5897880"/>
            <a:ext cx="1097280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8680" y="594360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  →  POLICY  →  NATIONAL RECOGNITION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8680" y="612648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Few researchers combine satellite, measurement, CFD, and national-level policy adoption in one continuous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06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15 peer-reviewed papers · 3 Q1 · 2 led, 1 contributed.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06/11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peer-reviewed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papers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8728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13048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8728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English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SCI / SCIE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65976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5976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with Impact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Factor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584" y="1691640"/>
            <a:ext cx="2761488" cy="1554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18904" y="2880360"/>
            <a:ext cx="36576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904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Q1 papers</a:t>
            </a:r>
          </a:p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(2 led + 1 contributed)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5478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3832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Q1 JOURNALS  ·  HONEST AUTHOR POSITIONING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3794760"/>
            <a:ext cx="64008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Building and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IF ≈ 7.1  ·  Q1  ·  Top 5 in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Co-first author  ·  led design &amp; supervision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Classroom thermal ×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80560" y="3794760"/>
            <a:ext cx="64008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0916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Energies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IF ≈ 3.1  ·  Q1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6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First author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Classroom comfort × learning efficiency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2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75320" y="3794760"/>
            <a:ext cx="64008" cy="1188720"/>
          </a:xfrm>
          <a:prstGeom prst="rect">
            <a:avLst/>
          </a:prstGeom>
          <a:solidFill>
            <a:srgbClr val="889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Environmental Pollution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895A8"/>
                </a:solidFill>
                <a:latin typeface="Calibri"/>
              </a:rPr>
              <a:t>IF ≈ 7.3  · 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Co-author  ·  research-team member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PM2.5 health-effects assessment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85800" y="52395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14400" y="507492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FIRST / CO-FIRST AUTHOR PAPERS  ·  PEER-REVIEWED ENGLISH BY YEAR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6217920"/>
            <a:ext cx="10972800" cy="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171907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5779008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JCEA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2017</a:t>
            </a:r>
          </a:p>
        </p:txBody>
      </p:sp>
      <p:sp>
        <p:nvSpPr>
          <p:cNvPr id="66" name="Oval 65"/>
          <p:cNvSpPr/>
          <p:nvPr/>
        </p:nvSpPr>
        <p:spPr>
          <a:xfrm>
            <a:off x="395935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17520" y="5779008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6324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Lowland Tech.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6324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2020</a:t>
            </a:r>
          </a:p>
        </p:txBody>
      </p:sp>
      <p:sp>
        <p:nvSpPr>
          <p:cNvPr id="71" name="Oval 70"/>
          <p:cNvSpPr/>
          <p:nvPr/>
        </p:nvSpPr>
        <p:spPr>
          <a:xfrm>
            <a:off x="619963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57800" y="5779008"/>
            <a:ext cx="2011680" cy="25603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0352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Energies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 ·  first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800" y="5486400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4955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14416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36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2021</a:t>
            </a:r>
          </a:p>
        </p:txBody>
      </p:sp>
      <p:sp>
        <p:nvSpPr>
          <p:cNvPr id="79" name="Oval 78"/>
          <p:cNvSpPr/>
          <p:nvPr/>
        </p:nvSpPr>
        <p:spPr>
          <a:xfrm>
            <a:off x="843991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8080" y="5779008"/>
            <a:ext cx="2011680" cy="2560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4380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Building &amp; Env.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380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Top 5  ·  co-1st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2023</a:t>
            </a:r>
          </a:p>
        </p:txBody>
      </p:sp>
      <p:sp>
        <p:nvSpPr>
          <p:cNvPr id="84" name="Oval 83"/>
          <p:cNvSpPr/>
          <p:nvPr/>
        </p:nvSpPr>
        <p:spPr>
          <a:xfrm>
            <a:off x="1068019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738360" y="5779008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8408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8408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738360" y="5486400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84080" y="54955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Kumamoto Pol. ×2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5614416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Japanese  ·  first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4692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373368"/>
            <a:ext cx="109728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1">
                <a:solidFill>
                  <a:srgbClr val="142E55"/>
                </a:solidFill>
                <a:latin typeface="Calibri"/>
              </a:rPr>
              <a:t>ONE CONTINUOUS LINE: building energy → indoor comfort → PM2.5 → urban heat → green infra → policy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07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Organizer, not just participant — three concrete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SAKURA SCIENCE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ZSTU × Japanese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universities student-researcher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exchanges over multiple years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Sustained partnership — paused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by COVID, friendship intact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056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ZHEJIANG CARBON-NEUTRAL CENTER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Built the Zhejiang International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Co-op Center on Carbon Neutrality,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as ZSTU representative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1 of 4 provincial centers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— ZSTU as core unit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532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7532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5-COUNTRY ONLINE FORUM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international forum: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China · Japan · UK (UCL) ·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Indonesia · Bangladesh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0392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Multi-country coordination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under COVID constraints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754880"/>
            <a:ext cx="10972800" cy="320040"/>
          </a:xfrm>
          <a:prstGeom prst="rect">
            <a:avLst/>
          </a:prstGeom>
          <a:noFill/>
          <a:ln w="63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" y="4754880"/>
            <a:ext cx="54864" cy="3200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47548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INVITED TALKS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832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42E55"/>
                </a:solidFill>
                <a:latin typeface="Calibri"/>
              </a:rPr>
              <a:t>Shanghai Inst. for Global City (2025)  ·  Shanghai Normal U. (2025)  ·  Hangzhou Fengjinglishe (2021)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166360"/>
            <a:ext cx="10972800" cy="11887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22960" y="540410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51560" y="5239512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FUTURE NETWORK  ·  BUILDING ON EXISTING FRIENDSHIP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5568696"/>
            <a:ext cx="1554480" cy="329184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U.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2057400.0" y="5733288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128016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UCL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Dr. Huanfa Chen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977640.0" y="5733288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320040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ZSTU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Sakura net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.0" y="5733288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758952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8952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ZHEJIANG U.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8952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Prof. Jian Ge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172200.0" y="5733288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50976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097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 NODES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0976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Indonesia · Bangladesh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08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FUNDING &amp; PROJECT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≈ 100 million JPY total — and the Japan pattern has already started.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08/11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CHINA  ·  2018–2023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≈ 100 M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JPY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8 projects  ·  5 as Leading 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Including NSSFC General Project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(collaborator)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HIGH-COMPETITION ENVIRONMENT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C6F33"/>
                </a:solidFill>
                <a:latin typeface="Calibri"/>
              </a:rPr>
              <a:t>KUMAMOTO  ·  2023–2025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Municipal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post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3886200"/>
            <a:ext cx="731520" cy="12700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Institutional rule: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external competitive grants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not permitted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POLICY-OUTPUT  ·  MLIT EBPM-CITED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 ·  since 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# 1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/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Top-ranked applicant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 Yamaguchi U. regional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research program (4 selected)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JAPAN PATTERN HAS STARTED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577840"/>
            <a:ext cx="10972800" cy="731520"/>
          </a:xfrm>
          <a:prstGeom prst="rect">
            <a:avLst/>
          </a:prstGeom>
          <a:noFill/>
          <a:ln w="1524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669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FORWARD 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907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KAKENHI KIBAN C  (FY2026 autumn)   →   KAKENHI KIBAN B  (during HIRAKU)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09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PLAN  ·  FEASIBILITY &amp; INTERNATIONAL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Not from zero — pipeline running, partners ready, first grant won.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09/11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840480" cy="274320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3 CITIES  ×  3 WIND REGIMES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03120"/>
            <a:ext cx="3291840" cy="59436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SEA OF JAPAN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2697480"/>
            <a:ext cx="3291840" cy="914400"/>
          </a:xfrm>
          <a:prstGeom prst="rect">
            <a:avLst/>
          </a:prstGeom>
          <a:solidFill>
            <a:srgbClr val="F6F8FA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8895A8"/>
                </a:solidFill>
                <a:latin typeface="Calibri"/>
              </a:rPr>
              <a:t>CHUGOKU REGION  ·  WESTERN HONSHU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3611880"/>
            <a:ext cx="3291840" cy="45720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685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SETO INLAND SEA</a:t>
            </a:r>
          </a:p>
        </p:txBody>
      </p:sp>
      <p:sp>
        <p:nvSpPr>
          <p:cNvPr id="34" name="Oval 33"/>
          <p:cNvSpPr/>
          <p:nvPr/>
        </p:nvSpPr>
        <p:spPr>
          <a:xfrm>
            <a:off x="1170432" y="295351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4752" y="293522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MATSUE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309981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LAKESIDE</a:t>
            </a:r>
          </a:p>
        </p:txBody>
      </p:sp>
      <p:sp>
        <p:nvSpPr>
          <p:cNvPr id="37" name="Oval 36"/>
          <p:cNvSpPr/>
          <p:nvPr/>
        </p:nvSpPr>
        <p:spPr>
          <a:xfrm>
            <a:off x="2359152" y="31363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33472" y="31181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YAMAGUCHI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3472" y="32826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BASIN</a:t>
            </a:r>
          </a:p>
        </p:txBody>
      </p:sp>
      <p:sp>
        <p:nvSpPr>
          <p:cNvPr id="40" name="Oval 39"/>
          <p:cNvSpPr/>
          <p:nvPr/>
        </p:nvSpPr>
        <p:spPr>
          <a:xfrm>
            <a:off x="3182112" y="33649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3467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3511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COASTAL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N</a:t>
            </a:r>
          </a:p>
        </p:txBody>
      </p:sp>
      <p:sp>
        <p:nvSpPr>
          <p:cNvPr id="44" name="Isosceles Triangle 43"/>
          <p:cNvSpPr/>
          <p:nvPr/>
        </p:nvSpPr>
        <p:spPr>
          <a:xfrm>
            <a:off x="4178808" y="2194560"/>
            <a:ext cx="146304" cy="274320"/>
          </a:xfrm>
          <a:prstGeom prst="triangl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3480" y="169164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METHOD CHAIN  ·  CITY → CORRIDOR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0574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960" y="2130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SATELLITE SCREENING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Landsat-8/9 LST × Sentinel-2 LCZ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Years 1–2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.0" y="274320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54880" y="283464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29077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BLOCK CFD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318211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wind × morphology × GBI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09360.0" y="352044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754880" y="361188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6850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PEDESTRIAN VALIDATION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39593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WBGT field measurement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9244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321040" y="169164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5-YEAR PLAN  ·  HIRAKU PERIOD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9872" y="2560320"/>
            <a:ext cx="1426464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2542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LST × LCZ diagnosis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60536" y="27889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UCL stay (2 months)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01200" y="30175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92440" y="29992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Block-scale CFD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01200" y="32461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Zhejiang U. visit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41864" y="34747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92440" y="34564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Pedestrian WBGT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41864" y="37033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92440" y="3685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Int'l workshop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082528" y="3931920"/>
            <a:ext cx="685800" cy="1828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92440" y="3913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Synthesis + Kakenhi 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47304" y="2560320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LST × LCZ diagnosis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87968" y="2788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UCL stay (2 months)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28632" y="30175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Block-scale CFD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28632" y="32461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Zhejiang U. visit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69296" y="34747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Pedestrian WBGT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69296" y="37033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Int'l workshop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09960" y="3931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Synthesis + Kakenhi B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800" y="4526280"/>
            <a:ext cx="1097280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8680" y="4572000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FEASIBILITY — ALREADY PROVEN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477316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Satellite pipeline running  ·  CFD methodology established  ·  Partners aligned  ·  First Japanese grant won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85800" y="5285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914400" y="512064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BUDGET PLAN  ·  STARTUP FUND  ¥ 2 M  /  OVERSEAS DISPATCH  ¥ 2 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724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¥ 700K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724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equipment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724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WBGT · loggers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radiometers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56032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5176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¥ 350K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5176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Data &amp;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workstation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5176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GIS · CFD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storage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43484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2628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2628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Student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RAs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Master's students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from Year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Domestic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fieldwork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Yamaguchi · Ube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Matsue surveys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18388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7532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¥ 800K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7532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UCL stay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Year 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532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2 months  ·  joint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method paper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05840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14984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¥ 400K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Zhejiang U.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Year 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4984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Comparative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framework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291072"/>
            <a:ext cx="10972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RISK MANAGED  ·  ANCHOR YAMAGUCHI FIRST · STEPWISE EXPANSION · ONLINE COLLAB FALLBACK · KUMAMOTO BASELINE AS REFERENCE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10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ASPIRATIONS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Year-by-year KPI · 3I framework × 5 years.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10/11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169164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DURING HIRAKU-GLOBAL  ·  YEAR-BY-YEAR KPI MATRIX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2057400"/>
            <a:ext cx="1463040" cy="27432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3I  / 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59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59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78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78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397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397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46916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16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INNOVATIVE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48840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1992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LCZ × LST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diagnosis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59" y="233172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1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UCL joint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method paper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78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71030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Mechanism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paper (1st)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397" y="233172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45549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Comparative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paper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6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20068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Synthesis +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workflow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297180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297180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INFLUENTIAL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48840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21992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Kakenhi C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59" y="297180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96511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First UCL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co-author paper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97878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030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Q1 mechanism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published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397" y="297180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45549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Q1 + int'l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workshop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6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20068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Kakenhi B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361188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36118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IMPACTFUL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48840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21992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Yamaguchi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baseline 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23359" y="361188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6511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Ube · Matsue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case design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97878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71030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Heat-risk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maps (3 cities)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397" y="361188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45549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Intervention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maps delivered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46916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68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Policy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guidelines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453542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14400" y="4370832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POST-TENURE  ·  LOCAL-TO-GLOBAL  ·  LONG-TERM ANCHOR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580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72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872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Stable group at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2608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92608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2608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2900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REGION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Chugoku-Shikoku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heat toolkit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6636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16636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6636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W. JAPAN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Urban-thermal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research 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0664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0664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0664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0956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0956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EU · CN · SE Asia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platform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4692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64692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4692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4984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GLOBAL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4984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Local-to-Global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model export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85800" y="56052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914400" y="54406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WHAT I GIVE BACK  ·  ACTIVE MEMBER, NOT ONLY RECIPIENT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8580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8580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5039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INT'L WORKSHOP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 at Yamaguchi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7472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47472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3931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CHINA–JAPAN BRIDGE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3931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Annual seminar · translation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6364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6364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2823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TEACHING &amp; MENTORING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2823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Grad supervision · seminars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05256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05256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21715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DEPT. &amp; REGION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21715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Faculty collaboration · cities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CLOSING  ·  4 FOUNDATIONS  ·  4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822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Four foundations — already in motion.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 papers · 3 Q1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all 1st / responsible author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Building &amp; Env.  ·  Env. Pollution  ·  Energies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008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BRIDGE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Sakura · Zhejiang Center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· 5-country forum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33088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93008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UCL  ·  Zhejiang U.  ·  Asia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0216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FUNDING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≈ 100 M JPY · # 1 of 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0296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Kakenhi C →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7424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IMPLEMENTATION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Kumamoto green-infra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MLIT EBPM case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47504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7424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→ Yamaguchi · Ube · Matsue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160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FOUR COMMITMENTS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Deliver papers,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workflow, and Kakenhi 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93008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93008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5888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TEACHING &amp; MENTORING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Supervise students;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teaching informed by research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0216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3096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DEPARTMENT &amp; COLLABORATION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83096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Active member of the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faculty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07424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07424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0304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REGION &amp; LONG-TERM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90304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 long-term anchor at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Yamaguchi University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669280"/>
            <a:ext cx="10972800" cy="25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5806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HIRAKU-Global is the multiplier — not the starter.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3093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Thank you very much.  I look forward to your questions.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