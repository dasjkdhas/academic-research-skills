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 — TITLE — ~25s]</a:t>
            </a:r>
          </a:p>
          <a:p/>
          <a:p>
            <a:r>
              <a:t>Good morning. My name is Liu Haiqiang. I am a tenure-track Lecturer at Yamaguchi University, working on urban thermal environment.</a:t>
            </a:r>
          </a:p>
          <a:p/>
          <a:p>
            <a:r>
              <a:t>In one sentence — I bridge urban thermal research with international collaboration, regional policy, and social implementation.</a:t>
            </a:r>
          </a:p>
          <a:p/>
          <a:p>
            <a:r>
              <a:t>In ten minutes, I will show you why my background fits HIRAKU-Global.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 — PROFILE — ~45s]</a:t>
            </a:r>
          </a:p>
          <a:p/>
          <a:p>
            <a:r>
              <a:t>Briefly — who I am.</a:t>
            </a:r>
          </a:p>
          <a:p/>
          <a:p>
            <a:r>
              <a:t>Three pillars. Japan-trained: Ph.D. from Saga University in 2017. China-experienced: Associate Professor at Zhejiang Sci-Tech University, 2018 to 2023. Japan-returned: Yamaguchi University since January 2026.</a:t>
            </a:r>
          </a:p>
          <a:p/>
          <a:p>
            <a:r>
              <a:t>The timeline below shows ten years of continuity, moving from building, to person, to city.</a:t>
            </a:r>
          </a:p>
          <a:p/>
          <a:p>
            <a:r>
              <a:t>What this gives me is rare — I work natively in both Japanese regional cities and Chinese high-density urbanism, through one continuous research agenda on urban heat.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— WHY MY RESEARCH MATTERS — ~50s]</a:t>
            </a:r>
          </a:p>
          <a:p/>
          <a:p>
            <a:r>
              <a:t>Why does this research matter?</a:t>
            </a:r>
          </a:p>
          <a:p/>
          <a:p>
            <a:r>
              <a:t>In 2023, Japan recorded over 91,000 emergency heatstroke transports. In Yamaguchi alone, 1,200 cases — and 60 percent were aged 65 or older.</a:t>
            </a:r>
          </a:p>
          <a:p/>
          <a:p>
            <a:r>
              <a:t>But not every street is equally hot. As the section drawing shows: built-up zones trap heat; green-and-wind zones stay cool. Elderly residents walk through this contrast every day, over 500 to 1,000 meters.</a:t>
            </a:r>
          </a:p>
          <a:p/>
          <a:p>
            <a:r>
              <a:t>So my research asks three simple questions — Where is it hot? Why is it hot? How can we cool the city while keeping it walkable?</a:t>
            </a:r>
          </a:p>
          <a:p/>
          <a:p>
            <a:r>
              <a:t>This sits at the intersection of climate warming, aging society, and city-center decline — the triple challenge of regional cities.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 — RESEARCH TRAJECTORY — ~60s]</a:t>
            </a:r>
          </a:p>
          <a:p/>
          <a:p>
            <a:r>
              <a:t>My research has moved through three stages — not jumped between topics.</a:t>
            </a:r>
          </a:p>
          <a:p/>
          <a:p>
            <a:r>
              <a:t>Stage 1 — Building. How does form shape indoor thermal and energy performance? This gave me the physical side, but not the human side.</a:t>
            </a:r>
          </a:p>
          <a:p/>
          <a:p>
            <a:r>
              <a:t>Stage 2 — Person. How do indoor conditions affect learning, health, behavior? This is where my two Q1 papers come from — Building and Environment, top 5 in its field, and Environmental Pollution. But I was still indoors.</a:t>
            </a:r>
          </a:p>
          <a:p/>
          <a:p>
            <a:r>
              <a:t>Stage 3 — City. How do green-blue infrastructure, wind, and morphology together regulate pedestrian heat exposure? This is where the Kumamoto work — and the MLIT-cited case — comes from.</a:t>
            </a:r>
          </a:p>
          <a:p/>
          <a:p>
            <a:r>
              <a:t>Each stage was pushed forward by a question the previous one could only partly answer. Stage 3 is where HIRAKU-Global begins.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— ORIGINALITY (CORE) — ~70s]</a:t>
            </a:r>
          </a:p>
          <a:p/>
          <a:p>
            <a:r>
              <a:t>This is the core of my originality.</a:t>
            </a:r>
          </a:p>
          <a:p/>
          <a:p>
            <a:r>
              <a:t>I work at three scales — chained as one workflow, not three separate studies.</a:t>
            </a:r>
          </a:p>
          <a:p/>
          <a:p>
            <a:r>
              <a:t>Top — satellite. Landsat-8/9 and Sentinel-2 tell me where heat accumulates.</a:t>
            </a:r>
          </a:p>
          <a:p/>
          <a:p>
            <a:r>
              <a:t>Middle — block-scale CFD. OpenFOAM tells me why, given wind and building form.</a:t>
            </a:r>
          </a:p>
          <a:p/>
          <a:p>
            <a:r>
              <a:t>Bottom — pedestrian validation. WBGT along the actual 500-to-1,000-meter walking corridors of elderly residents.</a:t>
            </a:r>
          </a:p>
          <a:p/>
          <a:p>
            <a:r>
              <a:t>Four things make this original. First, multi-source data fusion. Second, cumulative heat exposure — not instantaneous temperature. Third, already applied to Kumamoto's green-infrastructure policy.</a:t>
            </a:r>
          </a:p>
          <a:p/>
          <a:p>
            <a:r>
              <a:t>And fourth — most importantly — cited by Japan's MLIT as an Evidence-Based Policy Making case.</a:t>
            </a:r>
          </a:p>
          <a:p/>
          <a:p>
            <a:r>
              <a:t>Few researchers can show all four — satellite, measurement, CFD, and national policy adoption — in one workflow.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— RESEARCH OUTPUTS — ~50s]</a:t>
            </a:r>
          </a:p>
          <a:p/>
          <a:p>
            <a:r>
              <a:t>Now my publications — quality first.</a:t>
            </a:r>
          </a:p>
          <a:p/>
          <a:p>
            <a:r>
              <a:t>Fifteen peer-reviewed papers. Ten English SCI or SCIE. Eight with impact factor. Three in Q1 — and this is what I want you to remember: all three Q1 papers are first, co-first, or corresponding author. I led them.</a:t>
            </a:r>
          </a:p>
          <a:p/>
          <a:p>
            <a:r>
              <a:t>The three Q1 journals — Building and Environment, in the top 5 of its field. Environmental Pollution, top-tier environmental science. And Energies.</a:t>
            </a:r>
          </a:p>
          <a:p/>
          <a:p>
            <a:r>
              <a:t>What matters more than the journal count is the line that connects them — building energy, indoor comfort, PM2.5 health, urban heat, green infrastructure, policy. One continuous research agenda.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— INTERNATIONAL COLLABORATION — ~55s]</a:t>
            </a:r>
          </a:p>
          <a:p/>
          <a:p>
            <a:r>
              <a:t>International collaboration, for me, means organizing — not just attending.</a:t>
            </a:r>
          </a:p>
          <a:p/>
          <a:p>
            <a:r>
              <a:t>Three concrete records.</a:t>
            </a:r>
          </a:p>
          <a:p/>
          <a:p>
            <a:r>
              <a:t>One — the Sakura Science Program. I organized exchanges between Zhejiang Sci-Tech University and Japanese universities over multiple years. Paused by COVID; friendship intact.</a:t>
            </a:r>
          </a:p>
          <a:p/>
          <a:p>
            <a:r>
              <a:t>Two — during COVID, I helped build the Zhejiang International Cooperation Center on Carbon Neutrality. Only four such centers province-wide; ZSTU was the core unit of one.</a:t>
            </a:r>
          </a:p>
          <a:p/>
          <a:p>
            <a:r>
              <a:t>Three — I organized a five-country online forum: China, Japan, UK at UCL, Indonesia, and Bangladesh.</a:t>
            </a:r>
          </a:p>
          <a:p/>
          <a:p>
            <a:r>
              <a:t>The future network below builds on these existing friendships, with Yamaguchi University at the center.</a:t>
            </a:r>
          </a:p>
          <a:p/>
          <a:p>
            <a:r>
              <a:t>In all three cases — I was the organizer.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8 — FUNDING &amp; LEADERSHIP — ~60s]</a:t>
            </a:r>
          </a:p>
          <a:p/>
          <a:p>
            <a:r>
              <a:t>Funding — the honest picture in three phases.</a:t>
            </a:r>
          </a:p>
          <a:p/>
          <a:p>
            <a:r>
              <a:t>China, 2018 to 2023. Across eight projects, approximately 100 million yen total. Five as Leading Researcher, in a highly competitive environment.</a:t>
            </a:r>
          </a:p>
          <a:p/>
          <a:p>
            <a:r>
              <a:t>Kumamoto, 2023 to 2025. Municipal post — institutional rule did not permit external grants such as Kakenhi. What I produced instead was the MLIT EBPM-cited policy work.</a:t>
            </a:r>
          </a:p>
          <a:p/>
          <a:p>
            <a:r>
              <a:t>Yamaguchi, since January 2026 — the first time I could apply in Japan. Within months, I was ranked number one out of thirteen applicants in the Yamaguchi regional research program. Four were selected.</a:t>
            </a:r>
          </a:p>
          <a:p/>
          <a:p>
            <a:r>
              <a:t>Forward path — Kakenhi Kiban C this autumn, building toward Kiban B during HIRAKU. The Japan pattern has started.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9 — RESEARCH PLAN (CORE) — ~70s]</a:t>
            </a:r>
          </a:p>
          <a:p/>
          <a:p>
            <a:r>
              <a:t>This is the project I will run during HIRAKU-Global.</a:t>
            </a:r>
          </a:p>
          <a:p/>
          <a:p>
            <a:r>
              <a:t>Left — three cities, three wind regimes within one region: Matsue lakeside, Yamaguchi basin, Ube coastal. The contrast is exactly what the science needs.</a:t>
            </a:r>
          </a:p>
          <a:p/>
          <a:p>
            <a:r>
              <a:t>Middle — the method chain. Step 1 satellite screening — already running. Step 2 block CFD — methodology already established. Step 3 pedestrian WBGT — co-designed with Yamaguchi City's elderly-care offices.</a:t>
            </a:r>
          </a:p>
          <a:p/>
          <a:p>
            <a:r>
              <a:t>Right — the five-year plan. Year 1 diagnosis. Year 2 UCL stay with Dr. Huanfa Chen. Year 3 CFD plus Zhejiang visit. Year 4 pedestrian field plus international workshop at Yamaguchi. Year 5 synthesis and Kakenhi B.</a:t>
            </a:r>
          </a:p>
          <a:p/>
          <a:p>
            <a:r>
              <a:t>This plan does not start from zero. Pipeline running. Partners ready. First grant won.</a:t>
            </a:r>
          </a:p>
          <a:p/>
          <a:p>
            <a:r>
              <a:t>I also manage risk — anchor Yamaguchi first, expand stepwise, use online collaboration when needed. Deliver, not over-promise.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10 — ASPIRATIONS — ~60s]</a:t>
            </a:r>
          </a:p>
          <a:p/>
          <a:p>
            <a:r>
              <a:t>What will I do during and after HIRAKU-Global?</a:t>
            </a:r>
          </a:p>
          <a:p/>
          <a:p>
            <a:r>
              <a:t>Aligned with the 3I framework. Innovative — the cross-scale mechanism paper and a reusable diagnostic workflow. Influential — continued Q1 publications and the Kakenhi path. Impactful — deliverables to Yamaguchi, Ube, and Matsue.</a:t>
            </a:r>
          </a:p>
          <a:p/>
          <a:p>
            <a:r>
              <a:t>After tenure — and this is critical — I will be a long-term anchor at Yamaguchi University. The rings on the right show the path: from my lab, to the region, to Western Japan as an urban thermal hub, to an Asia platform, to a Local-to-Global model.</a:t>
            </a:r>
          </a:p>
          <a:p/>
          <a:p>
            <a:r>
              <a:t>I am not only a recipient. I will give back — an international workshop at Yamaguchi, a China–Japan academic bridge, teaching and mentoring graduate students, and active service to the department and the region.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11 — CLOSING — ~25s]</a:t>
            </a:r>
          </a:p>
          <a:p/>
          <a:p>
            <a:r>
              <a:t>To close.</a:t>
            </a:r>
          </a:p>
          <a:p/>
          <a:p>
            <a:r>
              <a:t>Four foundations — already in motion. Quality. Bridge. Funding. Implementation.</a:t>
            </a:r>
          </a:p>
          <a:p/>
          <a:p>
            <a:r>
              <a:t>And four commitments — research, teaching, collaboration, long-term anchor.</a:t>
            </a:r>
          </a:p>
          <a:p/>
          <a:p>
            <a:r>
              <a:t>HIRAKU-Global is the multiplier — not the starter.</a:t>
            </a:r>
          </a:p>
          <a:p/>
          <a:p>
            <a:r>
              <a:t>Thank you very much. I look forward to your questions.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11480" y="685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11480" y="1371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20574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1480" y="27432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34290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4114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" y="4800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57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15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0" y="0"/>
            <a:ext cx="2743200" cy="914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YAMAGUCHI UNIVERSITY  ·  HIRAKU-GLOBAL  ·  7TH COHORT  · 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141732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Bridging Cities, Climate,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2514600"/>
            <a:ext cx="27432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697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Calibri"/>
              </a:rPr>
              <a:t>Urban Thermal Environment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1546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B8C8DC"/>
                </a:solidFill>
                <a:latin typeface="Calibri"/>
              </a:rPr>
              <a:t>from Japanese Regional Cities to International Asia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11480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LIU  HAIQIANG, Ph.D.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9A961"/>
                </a:solidFill>
                <a:latin typeface="Calibri"/>
              </a:rPr>
              <a:t>Lecturer (Tenure-track)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87375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8DC"/>
                </a:solidFill>
                <a:latin typeface="Calibri"/>
              </a:rPr>
              <a:t>Graduate School of Sciences and Technology for Innovation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8DC"/>
                </a:solidFill>
                <a:latin typeface="Calibri"/>
              </a:rPr>
              <a:t>Yamaguchi University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URBAN THERMAL ENVIRONMENT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INTERNATIONAL COLLABORATION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18504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18504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REGIONAL POLICY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34856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34856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SOCIAL IMPLEMENTATION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0" y="6446520"/>
            <a:ext cx="3108960" cy="292608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9601200" y="6446520"/>
            <a:ext cx="0" cy="292608"/>
          </a:xfrm>
          <a:prstGeom prst="line">
            <a:avLst/>
          </a:prstGeom>
          <a:ln w="762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744200" y="6446520"/>
            <a:ext cx="0" cy="292608"/>
          </a:xfrm>
          <a:prstGeom prst="line">
            <a:avLst/>
          </a:prstGeom>
          <a:ln w="762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686800" y="644652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01 / 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6920" y="644652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TITLE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89920" y="6446520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02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Who I am — a researcher trained between Japan and China.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02/11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JAPAN-TRAINED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Ph.D. (Architectural Environmental Engineering)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Saga University, Japan  ·  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8056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CHINA-EXPERIENCED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Associate Professor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Zhejiang Sci-Tech University  ·  2018–2023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7532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JAPAN-RETURNED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Lecturer (Tenure-track)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Yamaguchi University  ·  since Jan 2026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336499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320040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CAREER TIMELINE  ·  10 YEARS ACROSS BUILDING → PERSON → CITY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4434840"/>
            <a:ext cx="10817352" cy="0"/>
          </a:xfrm>
          <a:prstGeom prst="line">
            <a:avLst/>
          </a:prstGeom>
          <a:ln w="1905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4360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2009–2011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-137160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Master's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46" name="Oval 45"/>
          <p:cNvSpPr/>
          <p:nvPr/>
        </p:nvSpPr>
        <p:spPr>
          <a:xfrm>
            <a:off x="2216962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6832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2014–2017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544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Ph.D.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49" name="Oval 48"/>
          <p:cNvSpPr/>
          <p:nvPr/>
        </p:nvSpPr>
        <p:spPr>
          <a:xfrm>
            <a:off x="4055912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0727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2017–2018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2439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Researcher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52" name="Oval 51"/>
          <p:cNvSpPr/>
          <p:nvPr/>
        </p:nvSpPr>
        <p:spPr>
          <a:xfrm>
            <a:off x="5570341" y="4343400"/>
            <a:ext cx="182880" cy="18288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1701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2018–2023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38821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Associate Prof.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ZSTU</a:t>
            </a:r>
          </a:p>
        </p:txBody>
      </p:sp>
      <p:sp>
        <p:nvSpPr>
          <p:cNvPr id="55" name="Oval 54"/>
          <p:cNvSpPr/>
          <p:nvPr/>
        </p:nvSpPr>
        <p:spPr>
          <a:xfrm>
            <a:off x="7733812" y="4343400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8517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2023–2025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0229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Researcher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Kumamoto City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Policy Institute</a:t>
            </a:r>
          </a:p>
        </p:txBody>
      </p:sp>
      <p:sp>
        <p:nvSpPr>
          <p:cNvPr id="58" name="Oval 57"/>
          <p:cNvSpPr/>
          <p:nvPr/>
        </p:nvSpPr>
        <p:spPr>
          <a:xfrm>
            <a:off x="9897282" y="4343400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4864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2026—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576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Lecturer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Yamaguchi U.</a:t>
            </a:r>
          </a:p>
        </p:txBody>
      </p:sp>
      <p:sp>
        <p:nvSpPr>
          <p:cNvPr id="61" name="Oval 60"/>
          <p:cNvSpPr/>
          <p:nvPr/>
        </p:nvSpPr>
        <p:spPr>
          <a:xfrm>
            <a:off x="685800" y="5394960"/>
            <a:ext cx="164592" cy="164592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" y="5349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68"/>
                </a:solidFill>
                <a:latin typeface="Calibri"/>
              </a:rPr>
              <a:t>STAGE 1  ·  BUILDING</a:t>
            </a:r>
          </a:p>
        </p:txBody>
      </p:sp>
      <p:sp>
        <p:nvSpPr>
          <p:cNvPr id="63" name="Oval 62"/>
          <p:cNvSpPr/>
          <p:nvPr/>
        </p:nvSpPr>
        <p:spPr>
          <a:xfrm>
            <a:off x="3429000" y="5394960"/>
            <a:ext cx="164592" cy="164592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0" y="5349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68"/>
                </a:solidFill>
                <a:latin typeface="Calibri"/>
              </a:rPr>
              <a:t>STAGE 2  ·  PERSON</a:t>
            </a:r>
          </a:p>
        </p:txBody>
      </p:sp>
      <p:sp>
        <p:nvSpPr>
          <p:cNvPr id="65" name="Oval 64"/>
          <p:cNvSpPr/>
          <p:nvPr/>
        </p:nvSpPr>
        <p:spPr>
          <a:xfrm>
            <a:off x="6172200" y="5394960"/>
            <a:ext cx="164592" cy="164592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5349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68"/>
                </a:solidFill>
                <a:latin typeface="Calibri"/>
              </a:rPr>
              <a:t>STAGE 3  ·  CITY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5800" y="5760720"/>
            <a:ext cx="10972800" cy="5943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587959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ONE OF THE FEW RESEARCHERS WHO WORKS NATIVELY ACROSS JAPANESE REGIONAL CITIES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680" y="60807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FFFFF"/>
                </a:solidFill>
                <a:latin typeface="Calibri"/>
              </a:rPr>
              <a:t>and Chinese high-density urbanism — through one continuous research agenda on urban heat.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03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PROBLEM SETTING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Climate change becomes a local problem — on every street.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03/11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5852160" cy="30175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2296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STREET SECTION  ·  WHAT AN ELDERLY RESIDENT FACES</a:t>
            </a:r>
          </a:p>
        </p:txBody>
      </p:sp>
      <p:sp>
        <p:nvSpPr>
          <p:cNvPr id="28" name="Oval 27"/>
          <p:cNvSpPr/>
          <p:nvPr/>
        </p:nvSpPr>
        <p:spPr>
          <a:xfrm>
            <a:off x="5417820" y="2400300"/>
            <a:ext cx="320040" cy="32004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785866.0" y="2560320.0"/>
            <a:ext cx="96012.0" cy="0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724936.595263112" y="2707416.595263113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7840.0" y="2768346.0"/>
            <a:ext cx="0.0" cy="96012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5362852.668461604" y="2707416.595263113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5273802.0" y="2560320.0"/>
            <a:ext cx="96012.0" cy="0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5362852.668461604" y="2345332.6684616045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577840.0" y="2256282.0"/>
            <a:ext cx="0.0" cy="96012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724936.595263112" y="2345332.6684616045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60120" y="4297680"/>
            <a:ext cx="5303520" cy="914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" y="3182112"/>
            <a:ext cx="822960" cy="658368"/>
          </a:xfrm>
          <a:prstGeom prst="rect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Isosceles Triangle 38"/>
          <p:cNvSpPr/>
          <p:nvPr/>
        </p:nvSpPr>
        <p:spPr>
          <a:xfrm>
            <a:off x="1143000" y="3017520"/>
            <a:ext cx="822960" cy="205740"/>
          </a:xfrm>
          <a:prstGeom prst="triangle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4175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4749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5323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4175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749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5323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57400" y="2816352"/>
            <a:ext cx="822960" cy="658368"/>
          </a:xfrm>
          <a:prstGeom prst="rect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>
            <a:off x="2057400" y="2651760"/>
            <a:ext cx="822960" cy="205740"/>
          </a:xfrm>
          <a:prstGeom prst="triangle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15615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6189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6763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5615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36189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6763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1560" y="4251960"/>
            <a:ext cx="2194560" cy="4572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280" y="44622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534F"/>
                </a:solidFill>
                <a:latin typeface="Calibri"/>
              </a:rPr>
              <a:t>HOT  ·  built-up</a:t>
            </a:r>
          </a:p>
        </p:txBody>
      </p:sp>
      <p:sp>
        <p:nvSpPr>
          <p:cNvPr id="56" name="Oval 55"/>
          <p:cNvSpPr/>
          <p:nvPr/>
        </p:nvSpPr>
        <p:spPr>
          <a:xfrm>
            <a:off x="3472891" y="3520440"/>
            <a:ext cx="140817" cy="14081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92424" y="3686403"/>
            <a:ext cx="301752" cy="2514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46739" y="393786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9510" y="393786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Isosceles Triangle 59"/>
          <p:cNvSpPr/>
          <p:nvPr/>
        </p:nvSpPr>
        <p:spPr>
          <a:xfrm>
            <a:off x="4343400" y="3291840"/>
            <a:ext cx="731520" cy="512063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636008" y="3803904"/>
            <a:ext cx="146304" cy="219456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Isosceles Triangle 61"/>
          <p:cNvSpPr/>
          <p:nvPr/>
        </p:nvSpPr>
        <p:spPr>
          <a:xfrm>
            <a:off x="5212080" y="3429000"/>
            <a:ext cx="640080" cy="448056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468112" y="3877056"/>
            <a:ext cx="128016" cy="192024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51960" y="4251960"/>
            <a:ext cx="1828800" cy="4572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97680" y="44622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6FA8C6"/>
                </a:solidFill>
                <a:latin typeface="Calibri"/>
              </a:rPr>
              <a:t>COOL  ·  green &amp; wind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51560" y="4663440"/>
            <a:ext cx="5029200" cy="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5156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1">
                <a:solidFill>
                  <a:srgbClr val="8C6F33"/>
                </a:solidFill>
                <a:latin typeface="Calibri"/>
              </a:rPr>
              <a:t>← 500–1000 m daily-activity corridor →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81228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40880" y="169164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THE NUMBERS  ·  FDMA 2024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2103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D9534F"/>
                </a:solidFill>
                <a:latin typeface="Calibri"/>
              </a:rPr>
              <a:t>91,000+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12280" y="2971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heatstroke emergency transports — Japan, 2023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12280" y="338328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2E55"/>
                </a:solidFill>
                <a:latin typeface="Calibri"/>
              </a:rPr>
              <a:t>1,200+  in Yamaguchi  ·  60%  aged 65+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12280" y="3886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Heat is no longer just weather — it is a regional public-health issue.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812280" y="45994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040880" y="443484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MY THREE QUESTIONS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12280" y="489204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95160" y="48463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WHERE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0" y="488289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is it hot?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12280" y="530352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95160" y="5257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WHY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294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is it hot?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12280" y="571500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95160" y="5669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HOW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0" y="5705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to cool &amp; re-vitalize the city?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85800" y="6263640"/>
            <a:ext cx="10972800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REGIONAL CITIES FACE A TRIPLE CHALLENGE   ·   CLIMATE WARMING  +  AGING SOCIETY  +  CITY-CENTER DECLINE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04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10 years, three stages — Building → Person → City.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04/11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BUILDING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2377440"/>
            <a:ext cx="914400" cy="731520"/>
          </a:xfrm>
          <a:prstGeom prst="rect">
            <a:avLst/>
          </a:prstGeom>
          <a:noFill/>
          <a:ln w="1524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3200400" y="2194560"/>
            <a:ext cx="914400" cy="228600"/>
          </a:xfrm>
          <a:prstGeom prst="triangle">
            <a:avLst/>
          </a:prstGeom>
          <a:noFill/>
          <a:ln w="1524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101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5387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673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101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387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91440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4300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does building type &amp; form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shape indoor thermal &amp; energy?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183 households across 3 cities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Window-to-wall ratio optimization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CFD wind environment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4300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C-6, C-7, C-11, D-3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056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6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PERSON</a:t>
            </a:r>
          </a:p>
        </p:txBody>
      </p:sp>
      <p:sp>
        <p:nvSpPr>
          <p:cNvPr id="50" name="Oval 49"/>
          <p:cNvSpPr/>
          <p:nvPr/>
        </p:nvSpPr>
        <p:spPr>
          <a:xfrm>
            <a:off x="7324344" y="2194560"/>
            <a:ext cx="256032" cy="256032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178040" y="2496312"/>
            <a:ext cx="548640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6795" y="2953512"/>
            <a:ext cx="109728" cy="16459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18196" y="2953512"/>
            <a:ext cx="109728" cy="16459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70916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93776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0916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 indoor conditions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affect learning, health, behavior?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70916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93776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0916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Classroom thermal × learning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PM2.5 health risk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Elderly spatial needs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70916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93776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6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C-3 (Q1, Top 5), C-5 (Q1)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7532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7532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392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CITY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812780" y="2606040"/>
            <a:ext cx="105482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936877" y="2331720"/>
            <a:ext cx="105482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60974" y="2743200"/>
            <a:ext cx="105482" cy="3657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185071" y="2468880"/>
            <a:ext cx="105482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309168" y="2651760"/>
            <a:ext cx="105482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433265" y="2240280"/>
            <a:ext cx="105482" cy="8686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557362" y="2560320"/>
            <a:ext cx="105482" cy="5486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850392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73252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0392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 GBI, wind &amp; morphology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regulate pedestrian heat exposure?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50392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73252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92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Satellite LST + Sentinel-2 LCZ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Kumamoto green-infra mapping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MLIT EBPM-cited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50392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73252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0392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C-1, C-14, C-15, A-1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389120" y="1892808"/>
            <a:ext cx="91440" cy="0"/>
          </a:xfrm>
          <a:prstGeom prst="line">
            <a:avLst/>
          </a:prstGeom>
          <a:ln w="317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8183880" y="1892808"/>
            <a:ext cx="91440" cy="0"/>
          </a:xfrm>
          <a:prstGeom prst="line">
            <a:avLst/>
          </a:prstGeom>
          <a:ln w="317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685800" y="5577840"/>
            <a:ext cx="10972800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" y="56875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WHAT BINDS THE THREE STAGES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8680" y="59436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Each stage was pushed forward by a question the previous stage could only partly answer.  Stage 3 is where HIRAKU-Global begins.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05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ORIGINALITY  · 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Satellite + measurement + CFD + national-level policy — in one workflow.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05/11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5212080" cy="39319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6868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9728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CROSS-SCALE WORKFLOW  ·  SATELLITE → BLOCK → PEDESTRIAN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286000"/>
            <a:ext cx="0" cy="2926080"/>
          </a:xfrm>
          <a:prstGeom prst="line">
            <a:avLst/>
          </a:prstGeom>
          <a:ln w="1905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15568" y="23774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15568" y="35204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15568" y="470916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15568" y="51206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7240" y="22402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km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0292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3372" y="2499741"/>
            <a:ext cx="310896" cy="349758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00200" y="2558034"/>
            <a:ext cx="194310" cy="233172"/>
          </a:xfrm>
          <a:prstGeom prst="rect">
            <a:avLst/>
          </a:prstGeom>
          <a:noFill/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83130" y="2558034"/>
            <a:ext cx="194310" cy="233172"/>
          </a:xfrm>
          <a:prstGeom prst="rect">
            <a:avLst/>
          </a:prstGeom>
          <a:noFill/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1988820.0" y="2286000"/>
            <a:ext cx="0.0" cy="213741.0"/>
          </a:xfrm>
          <a:prstGeom prst="line">
            <a:avLst/>
          </a:prstGeom>
          <a:ln w="1524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1957730" y="2247138"/>
            <a:ext cx="62179" cy="62179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19" y="23774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LANDSAT-8/9  +  SENTINEL-2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19" y="26517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LST × LCZ — 30 m resolution screening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88186" y="3927348"/>
            <a:ext cx="116030" cy="55321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24692" y="3625596"/>
            <a:ext cx="116030" cy="85496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61199" y="4078224"/>
            <a:ext cx="116030" cy="402336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97706" y="3776472"/>
            <a:ext cx="116030" cy="704088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34213" y="3977640"/>
            <a:ext cx="116030" cy="50292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70720" y="3525012"/>
            <a:ext cx="116030" cy="955548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307227" y="3877056"/>
            <a:ext cx="116030" cy="60350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60319" y="3154680"/>
            <a:ext cx="731521" cy="0"/>
          </a:xfrm>
          <a:prstGeom prst="line">
            <a:avLst/>
          </a:prstGeom>
          <a:ln w="19050">
            <a:solidFill>
              <a:srgbClr val="6FA8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>
            <a:off x="3246120" y="3118104"/>
            <a:ext cx="73152" cy="73152"/>
          </a:xfrm>
          <a:prstGeom prst="triangle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560319" y="3429000"/>
            <a:ext cx="731521" cy="0"/>
          </a:xfrm>
          <a:prstGeom prst="line">
            <a:avLst/>
          </a:prstGeom>
          <a:ln w="19050">
            <a:solidFill>
              <a:srgbClr val="6FA8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>
            <a:off x="3246120" y="3392424"/>
            <a:ext cx="73152" cy="73152"/>
          </a:xfrm>
          <a:prstGeom prst="triangle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83280" y="3246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BLOCK-SCALE CFD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83280" y="3474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OpenFOAM — wind × morphology × GBI</a:t>
            </a:r>
          </a:p>
        </p:txBody>
      </p:sp>
      <p:sp>
        <p:nvSpPr>
          <p:cNvPr id="55" name="Oval 54"/>
          <p:cNvSpPr/>
          <p:nvPr/>
        </p:nvSpPr>
        <p:spPr>
          <a:xfrm>
            <a:off x="1964131" y="4709160"/>
            <a:ext cx="140817" cy="14081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883664" y="4875123"/>
            <a:ext cx="301752" cy="2514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37979" y="512658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70750" y="512658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463040" y="5303520"/>
            <a:ext cx="3337560" cy="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>
            <a:off x="2788920" y="4892040"/>
            <a:ext cx="365760" cy="256031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35224" y="5148072"/>
            <a:ext cx="73152" cy="109728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Isosceles Triangle 61"/>
          <p:cNvSpPr/>
          <p:nvPr/>
        </p:nvSpPr>
        <p:spPr>
          <a:xfrm>
            <a:off x="3886200" y="4892040"/>
            <a:ext cx="365760" cy="256031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32504" y="5148072"/>
            <a:ext cx="73152" cy="109728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60319" y="4617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PEDESTRIAN  ·  WBGT FIELD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19" y="4846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Elderly walking corridor, 500–1000 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1691640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63640" y="1691640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720" y="16916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MULTI-SOURCE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148840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Satellite RS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+ on-site measurement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+ CFD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52560" y="1691640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052560" y="1691640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8972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92640" y="16916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CUMULATIVE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148840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Pedestrian-scale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heat retention zones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(not instantaneous 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657599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63640" y="3657599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0" y="365759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03720" y="3657599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POLICY-APPLIED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4114799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Kumamoto City green-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infrastructure policy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(Book chapter A-1)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052560" y="3657599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52560" y="3657599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89720" y="365759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92640" y="3657599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MLIT EBPM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89720" y="4114799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Adopted by MLIT as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an Evidence-Based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Policy Making case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52560" y="3657599"/>
            <a:ext cx="2697480" cy="1874519"/>
          </a:xfrm>
          <a:prstGeom prst="rect">
            <a:avLst/>
          </a:prstGeom>
          <a:noFill/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85800" y="5715000"/>
            <a:ext cx="1097280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68680" y="58064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RESEARCH  →  POLICY  →  NATIONAL RECOGNITION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603504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Few researchers combine satellite, measurement, CFD, and national-level policy adoption in one continuous workflow.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06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Quality first. Continuity second. All Q1 led by 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06/11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2761488" cy="192024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0120" y="320040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1874520"/>
            <a:ext cx="27614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 i="0">
                <a:solidFill>
                  <a:srgbClr val="142E55"/>
                </a:solidFill>
                <a:latin typeface="Calibri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291840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peer-reviewed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papers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8728" y="1691640"/>
            <a:ext cx="2761488" cy="192024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13048" y="320040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38728" y="1874520"/>
            <a:ext cx="27614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 i="0">
                <a:solidFill>
                  <a:srgbClr val="142E55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3048" y="3291840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English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SCI / SCIE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1691640"/>
            <a:ext cx="2761488" cy="192024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65976" y="320040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874520"/>
            <a:ext cx="27614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 i="0">
                <a:solidFill>
                  <a:srgbClr val="142E55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5976" y="3291840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with Impact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Factor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44584" y="1691640"/>
            <a:ext cx="2761488" cy="1920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18904" y="3200400"/>
            <a:ext cx="36576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584" y="1874520"/>
            <a:ext cx="27614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8904" y="3291840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Q1 papers — all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1st / co-1st / corresponding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384048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Q1 JOURNALS  ·  ALL FIRST / CO-FIRST / CORRESPONDING AUTHOR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297680"/>
            <a:ext cx="3703320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5800" y="4297680"/>
            <a:ext cx="64008" cy="13716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4348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E55"/>
                </a:solidFill>
                <a:latin typeface="Calibri"/>
              </a:rPr>
              <a:t>Building and Environment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8006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IF ≈ 7.1  ·  Q1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07492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4A5568"/>
                </a:solidFill>
                <a:latin typeface="Calibri"/>
              </a:rPr>
              <a:t>TOP 5 IN FIELD  ·  Co-first author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4A5568"/>
                </a:solidFill>
                <a:latin typeface="Calibri"/>
              </a:rPr>
              <a:t>Classroom thermal × learning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80560" y="4297680"/>
            <a:ext cx="3703320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480560" y="4297680"/>
            <a:ext cx="64008" cy="13716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09160" y="44348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E55"/>
                </a:solidFill>
                <a:latin typeface="Calibri"/>
              </a:rPr>
              <a:t>Environmental Pollution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60" y="48006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IF ≈ 7.3  ·  Q1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9160" y="507492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4A5568"/>
                </a:solidFill>
                <a:latin typeface="Calibri"/>
              </a:rPr>
              <a:t>Top-tier Environmental Science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4A5568"/>
                </a:solidFill>
                <a:latin typeface="Calibri"/>
              </a:rPr>
              <a:t>PM2.5 health-effects assessment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75320" y="4297680"/>
            <a:ext cx="3703320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75320" y="4297680"/>
            <a:ext cx="64008" cy="13716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44348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E55"/>
                </a:solidFill>
                <a:latin typeface="Calibri"/>
              </a:rPr>
              <a:t>Energies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8006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IF ≈ 3.1  ·  Q1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507492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4A5568"/>
                </a:solidFill>
                <a:latin typeface="Calibri"/>
              </a:rPr>
              <a:t>First author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4A5568"/>
                </a:solidFill>
                <a:latin typeface="Calibri"/>
              </a:rPr>
              <a:t>Classroom comfort × learning efficiency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" y="5806440"/>
            <a:ext cx="10972800" cy="5486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" y="5861304"/>
            <a:ext cx="10607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RESEARCH LINE  ·  ONE CONTINUOUS AGENDA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" y="60807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Building energy  →  Indoor comfort &amp; learning  →  PM2.5 health  →  Urban heat &amp; LULC  →  Green-blue infrastructure  →  Policy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07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INTERNATIONAL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Organizer, not just participant — three concrete records.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07/11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6916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961"/>
                </a:solidFill>
                <a:latin typeface="Calibri"/>
              </a:rPr>
              <a:t>SAKURA SCIENCE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Organized ZSTU × Japanese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universities student-researcher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exchanges over multiple years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Sustained partnership — paused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by COVID, friendship intact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056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8056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16916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961"/>
                </a:solidFill>
                <a:latin typeface="Calibri"/>
              </a:rPr>
              <a:t>ZHEJIANG CARBON-NEUTRAL CENTER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Built the Zhejiang International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Co-op Center on Carbon Neutrality,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as ZSTU representative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6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0916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1 of 4 provincial centers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— ZSTU as core unit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7532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7532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16916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961"/>
                </a:solidFill>
                <a:latin typeface="Calibri"/>
              </a:rPr>
              <a:t>5-COUNTRY ONLINE FORUM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Organized international forum: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China · Japan · UK (UCL) ·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Indonesia · Bangladesh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0392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Multi-country coordination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under COVID constraints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800600"/>
            <a:ext cx="10972800" cy="137160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22960" y="50566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51560" y="489204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FUTURE NETWORK  ·  BUILDING ON EXISTING FRIENDSHIP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94960" y="5486400"/>
            <a:ext cx="1554480" cy="3657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0" y="54864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YAMAGUCHI U.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2057400.0" y="5669280"/>
            <a:ext cx="411480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280160" y="5486400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80160" y="54864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UCL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80160" y="5870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Dr. Huanfa Chen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3977640.0" y="5669280"/>
            <a:ext cx="219456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3200400" y="5486400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0" y="54864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ZSTU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0" y="5870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Sakura net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172200.0" y="5669280"/>
            <a:ext cx="219456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589520" y="5486400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89520" y="54864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ZHEJIANG U.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89520" y="5870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Prof. Jian Ge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.0" y="5669280"/>
            <a:ext cx="411480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9509760" y="5486400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760" y="54864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ASIA NODES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09760" y="5870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Indonesia · Bangladesh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635508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IN ALL THREE CASES — I WAS THE ORGANIZER, NOT JUST A PARTICIPANT.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08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FUNDING &amp; PROJECT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≈ 100 million JPY total — and the Japan pattern has already started.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08/11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36576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CHINA  ·  2018–2023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≈ 100 M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JPY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3886200"/>
            <a:ext cx="731520" cy="127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8 projects  ·  5 as Leading Researcher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Including NSSFC General Project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(collaborator)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C9A961"/>
                </a:solidFill>
                <a:latin typeface="Calibri"/>
              </a:rPr>
              <a:t>HIGH-COMPETITION ENVIRONMENT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1691640"/>
            <a:ext cx="3703320" cy="3657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C6F33"/>
                </a:solidFill>
                <a:latin typeface="Calibri"/>
              </a:rPr>
              <a:t>KUMAMOTO  ·  2023–2025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142E55"/>
                </a:solidFill>
                <a:latin typeface="Calibri"/>
              </a:rPr>
              <a:t>Municipal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142E55"/>
                </a:solidFill>
                <a:latin typeface="Calibri"/>
              </a:rPr>
              <a:t>post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3886200"/>
            <a:ext cx="731520" cy="12700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Institutional rule: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external competitive grants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not permitted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8C6F33"/>
                </a:solidFill>
                <a:latin typeface="Calibri"/>
              </a:rPr>
              <a:t>POLICY-OUTPUT  ·  MLIT EBPM-CITED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1691640"/>
            <a:ext cx="3703320" cy="36576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YAMAGUCHI  ·  since Jan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# 1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/ 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03920" y="3886200"/>
            <a:ext cx="731520" cy="127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Top-ranked applicant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 Yamaguchi U. regional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research program (4 selected)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C9A961"/>
                </a:solidFill>
                <a:latin typeface="Calibri"/>
              </a:rPr>
              <a:t>JAPAN PATTERN HAS STARTED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577840"/>
            <a:ext cx="10972800" cy="731520"/>
          </a:xfrm>
          <a:prstGeom prst="rect">
            <a:avLst/>
          </a:prstGeom>
          <a:noFill/>
          <a:ln w="1524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669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FORWARD PATH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5907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KAKENHI KIBAN C  (FY2026 autumn)   →   KAKENHI KIBAN B  (during HIRAKU)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09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PLAN  ·  FEASIBILITY &amp; INTERNATIONAL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Not from zero — pipeline running, partners ready, first grant won.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09/11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840480" cy="274320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2296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3 CITIES  ×  3 WIND REGIMES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2103120"/>
            <a:ext cx="3291840" cy="59436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FFFFFF"/>
                </a:solidFill>
                <a:latin typeface="Calibri"/>
              </a:rPr>
              <a:t>SEA OF JAPAN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2697480"/>
            <a:ext cx="3291840" cy="914400"/>
          </a:xfrm>
          <a:prstGeom prst="rect">
            <a:avLst/>
          </a:prstGeom>
          <a:solidFill>
            <a:srgbClr val="F6F8FA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8895A8"/>
                </a:solidFill>
                <a:latin typeface="Calibri"/>
              </a:rPr>
              <a:t>CHUGOKU REGION  ·  WESTERN HONSHU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3611880"/>
            <a:ext cx="3291840" cy="45720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685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FFFFFF"/>
                </a:solidFill>
                <a:latin typeface="Calibri"/>
              </a:rPr>
              <a:t>SETO INLAND SEA</a:t>
            </a:r>
          </a:p>
        </p:txBody>
      </p:sp>
      <p:sp>
        <p:nvSpPr>
          <p:cNvPr id="34" name="Oval 33"/>
          <p:cNvSpPr/>
          <p:nvPr/>
        </p:nvSpPr>
        <p:spPr>
          <a:xfrm>
            <a:off x="1170432" y="295351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44752" y="293522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MATSUE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752" y="309981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LAKESIDE</a:t>
            </a:r>
          </a:p>
        </p:txBody>
      </p:sp>
      <p:sp>
        <p:nvSpPr>
          <p:cNvPr id="37" name="Oval 36"/>
          <p:cNvSpPr/>
          <p:nvPr/>
        </p:nvSpPr>
        <p:spPr>
          <a:xfrm>
            <a:off x="2359152" y="313639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33472" y="311810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YAMAGUCHI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3472" y="32826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BASIN</a:t>
            </a:r>
          </a:p>
        </p:txBody>
      </p:sp>
      <p:sp>
        <p:nvSpPr>
          <p:cNvPr id="40" name="Oval 39"/>
          <p:cNvSpPr/>
          <p:nvPr/>
        </p:nvSpPr>
        <p:spPr>
          <a:xfrm>
            <a:off x="3182112" y="336499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56432" y="334670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UBE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2" y="35112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COASTAL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2468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N</a:t>
            </a:r>
          </a:p>
        </p:txBody>
      </p:sp>
      <p:sp>
        <p:nvSpPr>
          <p:cNvPr id="44" name="Isosceles Triangle 43"/>
          <p:cNvSpPr/>
          <p:nvPr/>
        </p:nvSpPr>
        <p:spPr>
          <a:xfrm>
            <a:off x="4178808" y="2194560"/>
            <a:ext cx="146304" cy="274320"/>
          </a:xfrm>
          <a:prstGeom prst="triangl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75488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83480" y="1691640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METHOD CHAIN  ·  CITY → CORRIDOR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20574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754880" y="205740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0" y="205740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960" y="2130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SATELLITE SCREENING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24048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Landsat-8/9 LST × Sentinel-2 LCZ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Years 1–2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09360.0" y="2743200"/>
            <a:ext cx="0.0" cy="9144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754880" y="283464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54880" y="283464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283464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29077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BLOCK CFD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960" y="318211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OpenFOAM wind × morphology × GBI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3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309360.0" y="3520440"/>
            <a:ext cx="0.0" cy="9144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754880" y="361188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54880" y="361188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361188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36850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PEDESTRIAN VALIDATION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94960" y="395935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WBGT field measurement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4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09244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321040" y="1691640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5-YEAR PLAN  ·  HIRAKU PERIOD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92440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2440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33104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33104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3768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73768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14432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14432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55096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55096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119872" y="2560320"/>
            <a:ext cx="1426464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92440" y="25420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LST × LCZ diagnosis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60536" y="27889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2770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UCL stay (2 months)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601200" y="3017520"/>
            <a:ext cx="685800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92440" y="29992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Block-scale CFD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01200" y="32461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92440" y="32278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Zhejiang U. visit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41864" y="3474720"/>
            <a:ext cx="685800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92440" y="34564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Pedestrian WBGT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341864" y="37033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92440" y="36850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Int'l workshop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082528" y="3931920"/>
            <a:ext cx="685800" cy="18288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92440" y="3913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Synthesis + Kakenhi 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47304" y="2560320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LST × LCZ diagnosis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87968" y="27889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UCL stay (2 months)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28632" y="30175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Block-scale CFD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28632" y="32461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Zhejiang U. visit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69296" y="34747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Pedestrian WBGT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69296" y="37033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Int'l workshop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09960" y="39319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Synthesis + Kakenhi B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85800" y="4617720"/>
            <a:ext cx="10972800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8680" y="47365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FEASIBILITY — ALREADY PROVEN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49834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Satellite pipeline running (C-1, 2024)  ·  CFD methodology established (C-2, D-3)  ·  Partners aligned  ·  First Japanese grant won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685800" y="57424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914400" y="557784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RISK MANAGEMENT  ·  WHAT COULD GO WRONG, AND HOW I HANDLE IT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5800" y="5897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Anchor Yamaguchi as the primary case  ·  expand stepwise to Ube and Matsue  ·  online collaboration if travel is constrained  ·  Kumamoto baseline retained as pre-validated reference.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10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ASPIRATIONS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During HIRAKU-Global, and after tenure — a long-term anchor.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10/11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580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169164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DURING HIRAKU-GLOBAL  ·  ALIGNED WITH THE 3I FRAMEWORK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2075688"/>
            <a:ext cx="1371600" cy="8686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075688"/>
            <a:ext cx="1371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INNOVATIVE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03120" y="2075688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40280" y="2075688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Cross-scale wind × GBI ×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pedestrian-heat mechanism paper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075688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2075688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Reproducible city-to-corridor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diagnostic workflow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017520"/>
            <a:ext cx="1371600" cy="8686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017520"/>
            <a:ext cx="1371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INFLUENTIAL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03120" y="3017520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40280" y="301752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Continued Q1 publications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through the HIRAKU period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3017520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80" y="301752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Kakenhi Kiban C (FY2026)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→ Kiban B target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3959352"/>
            <a:ext cx="1371600" cy="8686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959352"/>
            <a:ext cx="1371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IMPACTFUL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03120" y="3959352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80" y="3959352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Deliver outputs to Yamaguchi,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Ube, Matsue municipalities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0520" y="3959352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0" y="3959352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Continue MLIT EBPM-aligned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policy translation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12280" y="169164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POST-TENURE  ·  LONG-TERM ANCHOR  ·  LOCAL-TO-GLOBAL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0" y="2075688"/>
            <a:ext cx="41148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0" y="2075688"/>
            <a:ext cx="411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40880" y="2075688"/>
            <a:ext cx="1371600" cy="5029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0" y="207568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LAB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199" y="2075688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Stable group at Yamaguchi U.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93408" y="2596896"/>
            <a:ext cx="41148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93408" y="2596896"/>
            <a:ext cx="411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150608" y="2596896"/>
            <a:ext cx="1371600" cy="5029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42048" y="2596896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REGION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67927" y="2596896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Chugoku-Shikoku heat toolkit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03136" y="3118104"/>
            <a:ext cx="41148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03136" y="3118104"/>
            <a:ext cx="411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60336" y="3118104"/>
            <a:ext cx="1371600" cy="5029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51776" y="3118104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W. JAPAN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77655" y="3118104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Urban-thermal research hub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12864" y="3639312"/>
            <a:ext cx="41148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12864" y="3639312"/>
            <a:ext cx="411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70064" y="3639312"/>
            <a:ext cx="1371600" cy="5029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61504" y="3639312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ASIA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87383" y="3639312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EU · China · SE Asia platform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22592" y="4160520"/>
            <a:ext cx="41148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22592" y="4160520"/>
            <a:ext cx="411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79792" y="4160520"/>
            <a:ext cx="1371600" cy="5029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71232" y="41605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GLOBAL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97111" y="41605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Local-to-Global model export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8580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14400" y="484632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WHAT I GIVE BACK  ·  ACTIVE MEMBER, NOT ONLY RECIPIENT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5800" y="5257800"/>
            <a:ext cx="2715768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85800" y="5257800"/>
            <a:ext cx="54864" cy="9601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68680" y="5349240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42E55"/>
                </a:solidFill>
                <a:latin typeface="Calibri"/>
              </a:rPr>
              <a:t>INTERNATIONAL WORKSHOP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8680" y="5641848"/>
            <a:ext cx="2441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4A5568"/>
                </a:solidFill>
                <a:latin typeface="Calibri"/>
              </a:rPr>
              <a:t>Year 4 at Yamaguchi University</a:t>
            </a:r>
          </a:p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4A5568"/>
                </a:solidFill>
                <a:latin typeface="Calibri"/>
              </a:rPr>
              <a:t>Urban thermal × GBI × climate adaptation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474720" y="5257800"/>
            <a:ext cx="2715768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474720" y="5257800"/>
            <a:ext cx="54864" cy="9601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0" y="5349240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42E55"/>
                </a:solidFill>
                <a:latin typeface="Calibri"/>
              </a:rPr>
              <a:t>CHINA-JAPAN BRIDGE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5641848"/>
            <a:ext cx="2441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4A5568"/>
                </a:solidFill>
                <a:latin typeface="Calibri"/>
              </a:rPr>
              <a:t>Annual seminar · academic translation</a:t>
            </a:r>
          </a:p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4A5568"/>
                </a:solidFill>
                <a:latin typeface="Calibri"/>
              </a:rPr>
              <a:t>Fieldwork &amp; collaboration support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5257800"/>
            <a:ext cx="2715768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263640" y="5257800"/>
            <a:ext cx="54864" cy="9601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46520" y="5349240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42E55"/>
                </a:solidFill>
                <a:latin typeface="Calibri"/>
              </a:rPr>
              <a:t>TEACHING &amp; MENTORING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46520" y="5641848"/>
            <a:ext cx="2441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4A5568"/>
                </a:solidFill>
                <a:latin typeface="Calibri"/>
              </a:rPr>
              <a:t>Graduate supervision</a:t>
            </a:r>
          </a:p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4A5568"/>
                </a:solidFill>
                <a:latin typeface="Calibri"/>
              </a:rPr>
              <a:t>Cross-discipline seminars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52560" y="5257800"/>
            <a:ext cx="2715768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52560" y="5257800"/>
            <a:ext cx="54864" cy="9601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35440" y="5349240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42E55"/>
                </a:solidFill>
                <a:latin typeface="Calibri"/>
              </a:rPr>
              <a:t>DEPT. &amp; REGION SERVICE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35440" y="5641848"/>
            <a:ext cx="2441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4A5568"/>
                </a:solidFill>
                <a:latin typeface="Calibri"/>
              </a:rPr>
              <a:t>Active in faculty collaboration</a:t>
            </a:r>
          </a:p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4A5568"/>
                </a:solidFill>
                <a:latin typeface="Calibri"/>
              </a:rPr>
              <a:t>Support to Chugoku-Shikoku cities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11480" y="685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11480" y="1371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20574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1480" y="27432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34290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4114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" y="4800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57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15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0" y="0"/>
            <a:ext cx="2743200" cy="914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CLOSING  ·  4 FOUNDATIONS  ·  4 COMMITMENTS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822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Four foundations — already in motion.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15 papers · 3 Q1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all 1st / responsible author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Building &amp; Env.  ·  Env. Pollution  ·  Energies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008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93008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BRIDGE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Sakura · Zhejiang Center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· 5-country forum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33088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93008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UCL  ·  Zhejiang U.  ·  Asia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0216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FUNDING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≈ 100 M JPY · # 1 of 13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0296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Kakenhi C →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7424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IMPLEMENTATION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7424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Kumamoto green-infra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+ MLIT EBPM case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47504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07424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→ Yamaguchi · Ube · Matsue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4160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FOUR COMMITMENTS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RESEARCH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Deliver papers,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workflow, and Kakenhi 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93008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93008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5888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TEACHING &amp; MENTORING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75888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Supervise students;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teaching informed by research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0216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0216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83096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DEPARTMENT &amp; COLLABORATION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83096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Active member of the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faculty community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07424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07424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90304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REGION &amp; LONG-TERM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90304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 long-term anchor at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Yamaguchi University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" y="5669280"/>
            <a:ext cx="10972800" cy="25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58064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HIRAKU-Global is the multiplier — not the starter.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3093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Thank you very much.  I look forward to your questions.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