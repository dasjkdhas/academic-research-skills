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皆さま、本日はお時間をいただきありがとうございます。</a:t>
            </a:r>
          </a:p>
          <a:p>
            <a:r>
              <a:t>山口大学の○○です。</a:t>
            </a:r>
          </a:p>
          <a:p>
            <a:r>
              <a:t>本日は『天気予報を活用したキャンパスSDR運用支援システム』について発表いたします。</a:t>
            </a:r>
          </a:p>
          <a:p>
            <a:r>
              <a:t>SDRとは「Setpoint Demand Response (設定温度デマンドレスポンス)」、</a:t>
            </a:r>
          </a:p>
          <a:p>
            <a:r>
              <a:t>つまり気温が高い日にエアコンの設定温度を一時的に上げて、ピーク電力を抑える運用です。</a:t>
            </a:r>
          </a:p>
          <a:p>
            <a:r>
              <a:t>本研究では、翌日の電力ピークを事前に予測して、SDR発令を判断する仕組みを作りました。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研究の背景を3点でご説明します。</a:t>
            </a:r>
          </a:p>
          <a:p>
            <a:r>
              <a:t>まず①、夏の猛暑により電力ピークが増加しています。</a:t>
            </a:r>
          </a:p>
          <a:p>
            <a:r>
              <a:t>キャンパス電力の約4割が空調です。</a:t>
            </a:r>
          </a:p>
          <a:p>
            <a:r>
              <a:t>次に②、SDRは設定温度を少し上げるだけで5〜10%の節電効果があり、有効な手段です。</a:t>
            </a:r>
          </a:p>
          <a:p>
            <a:r>
              <a:t>しかし「どの日に発令すべきか」が運用上の課題となっています。</a:t>
            </a:r>
          </a:p>
          <a:p>
            <a:r>
              <a:t>そこで③、翌日のピークを事前に予測してSDR発令を判断する仕組みが必要です。</a:t>
            </a:r>
          </a:p>
          <a:p>
            <a:r>
              <a:t>これが本研究のモチベーションです。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研究の目的とアプローチです。</a:t>
            </a:r>
          </a:p>
          <a:p>
            <a:r>
              <a:t>目的は、当日17時の時点で、翌日各時間の電力負荷を予測することです。</a:t>
            </a:r>
          </a:p>
          <a:p>
            <a:r>
              <a:t>気象予報を活用し、未来情報を使わない部署可能な仕組みを目指します。</a:t>
            </a:r>
          </a:p>
          <a:p>
            <a:r>
              <a:t>アプローチの工夫として、ハイブリッド気象入力を提案します。</a:t>
            </a:r>
          </a:p>
          <a:p>
            <a:r>
              <a:t>過去の気象は観測値、未来の気象は予報値を使い分けます。</a:t>
            </a:r>
          </a:p>
          <a:p>
            <a:r>
              <a:t>こうすることで訓練データの質を保ちつつ、実運用での精度も担保します。</a:t>
            </a:r>
          </a:p>
          <a:p>
            <a:r>
              <a:t>これが本研究のポイントです。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使用したデータをご説明します。</a:t>
            </a:r>
          </a:p>
          <a:p>
            <a:r>
              <a:t>電力データは山口大学キャンパスの建物別1時間電力で、本研究は主棟 b00 を予測対象としました。</a:t>
            </a:r>
          </a:p>
          <a:p>
            <a:r>
              <a:t>気象データは観測値と予報値の両方を使用します。</a:t>
            </a:r>
          </a:p>
          <a:p>
            <a:r>
              <a:t>データ期間は2025年7月から10月の約4ヶ月間です。</a:t>
            </a:r>
          </a:p>
          <a:p>
            <a:r>
              <a:t>センサー停止により無効となった期間を除外しています。</a:t>
            </a:r>
          </a:p>
          <a:p>
            <a:r>
              <a:t>そして、時系列で70%を学習、30%をテストに割り当てました。</a:t>
            </a:r>
          </a:p>
          <a:p>
            <a:r>
              <a:t>これにより、未来データを学習に使わない、リークを防ぐ評価ができます。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こちらが学習データとテストデータの分割です。</a:t>
            </a:r>
          </a:p>
          <a:p>
            <a:r>
              <a:t>青色が学習データ、約2ヶ月分です。オレンジが評価用のテストデータ、約5週間分です。</a:t>
            </a:r>
          </a:p>
          <a:p>
            <a:r>
              <a:t>重要なのは、テスト期間のデータは学習に一切使用していない点です。</a:t>
            </a:r>
          </a:p>
          <a:p>
            <a:r>
              <a:t>これにより、本当の意味で未知の期間に対する予測性能を測れます。</a:t>
            </a:r>
          </a:p>
          <a:p>
            <a:r>
              <a:t>テスト期間にもピーク日が複数含まれており、SDR発令判断の検証に適しています。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まず探索的にデータの傾向を見ていきます。</a:t>
            </a:r>
          </a:p>
          <a:p>
            <a:r>
              <a:t>これは月別の1日の負荷パターンです。</a:t>
            </a:r>
          </a:p>
          <a:p>
            <a:r>
              <a:t>赤い線が7月、青い線が10月です。</a:t>
            </a:r>
          </a:p>
          <a:p>
            <a:r>
              <a:t>7月の真夏は午後2時頃に最大1,360 kWのピークを迎えますが、10月になると1,040 kW程度まで下がります。</a:t>
            </a:r>
          </a:p>
          <a:p>
            <a:r>
              <a:t>これは冷房使用量の差によるものです。</a:t>
            </a:r>
          </a:p>
          <a:p>
            <a:r>
              <a:t>どの月も朝5〜6時に最低、午後14〜15時に最高、夜にかけて減少という共通パターンを示します。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まず気象と電力の関係性を見ていきます。</a:t>
            </a:r>
          </a:p>
          <a:p>
            <a:r>
              <a:t>左の図は、各気象変数と電力消費 b00 の相関係数です。</a:t>
            </a:r>
          </a:p>
          <a:p>
            <a:r>
              <a:t>最も強い正相関は「日射量」、r = +0.67 です。</a:t>
            </a:r>
          </a:p>
          <a:p>
            <a:r>
              <a:t>次が「気温」、r = +0.57。</a:t>
            </a:r>
          </a:p>
          <a:p>
            <a:r>
              <a:t>そして「湿度」は負相関、r = −0.52 です。</a:t>
            </a:r>
          </a:p>
          <a:p>
            <a:r>
              <a:t>右下の標準化回帰係数では、日射量と気温が主な「電力を上げる」要因、</a:t>
            </a:r>
          </a:p>
          <a:p>
            <a:r>
              <a:t>湿度と気圧が「電力を下げる」要因として現れています。</a:t>
            </a:r>
          </a:p>
          <a:p>
            <a:r>
              <a:t>気象変数だけで電力分散の約 53% を説明できることが分かりました。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次に主成分分析、PCAの結果です。</a:t>
            </a:r>
          </a:p>
          <a:p>
            <a:r>
              <a:t>気象データは 10個の変数からなりますが、互いに相関するため、独立な成分に分解しました。</a:t>
            </a:r>
          </a:p>
          <a:p>
            <a:r>
              <a:t>左のグラフは各主成分の寄与率です。</a:t>
            </a:r>
          </a:p>
          <a:p>
            <a:r>
              <a:t>PC1 が 41.7%、PC2 が 21.1%、PC3 が 13.1%。</a:t>
            </a:r>
          </a:p>
          <a:p>
            <a:r>
              <a:t>つまり、3つの主成分だけで、気象変動の 76% を表現できます。</a:t>
            </a:r>
          </a:p>
          <a:p/>
          <a:p>
            <a:r>
              <a:t>右のヒートマップは、各主成分の構成を示しています。</a:t>
            </a:r>
          </a:p>
          <a:p>
            <a:r>
              <a:t>PC1 は「熱関連成分」、気温・体感気温・WBGT が共に寄与します。</a:t>
            </a:r>
          </a:p>
          <a:p>
            <a:r>
              <a:t>PC2 は「湿度と日射の対立成分」、悪天候の日に対応します。</a:t>
            </a:r>
          </a:p>
          <a:p>
            <a:r>
              <a:t>右側のバーは、各主成分と b00 の相関を示しており、</a:t>
            </a:r>
          </a:p>
          <a:p>
            <a:r>
              <a:t>PC1 は +0.47、PC2 は −0.50、PC3 は +0.16 となっています。</a:t>
            </a:r>
          </a:p>
          <a:p>
            <a:r>
              <a:t>つまり、気温と湿天候という 2つの軸が電力を主に左右していることが分かります。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ここからは結果のご紹介です。</a:t>
            </a:r>
          </a:p>
          <a:p>
            <a:r>
              <a:t>こちらがテスト期間の予測結果です。</a:t>
            </a:r>
          </a:p>
          <a:p>
            <a:r>
              <a:t>青い線が実測値、オレンジの線が予測値です。</a:t>
            </a:r>
          </a:p>
          <a:p>
            <a:r>
              <a:t>赤い点線はP80閾値、つまりSDR発令を検討するべき水準です。</a:t>
            </a:r>
          </a:p>
          <a:p>
            <a:r>
              <a:t>全体として、予測値は実測値をよく追従しており、複数のピーク日も正しく捕捉できています。</a:t>
            </a:r>
          </a:p>
          <a:p>
            <a:r>
              <a:t>平均誤差 (MAE) は約 54.0 kW、決定係数 R² は 0.905 と良好な精度を達成しました。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次に散布図とアーキテクチャ比較です。</a:t>
            </a:r>
          </a:p>
          <a:p>
            <a:r>
              <a:t>左の散布図では、点が対角線 y=x に沿って分布しており、予測値と実測値がよく一致していることが分かります。</a:t>
            </a:r>
          </a:p>
          <a:p>
            <a:r>
              <a:t>右の表は、3つの手法を比較したものです。</a:t>
            </a:r>
          </a:p>
          <a:p>
            <a:r>
              <a:t>A は観測値のみを使う理論上限、B は予報値のみを使う従来手法、そして C が本研究のハイブリッド手法です。</a:t>
            </a:r>
          </a:p>
          <a:p>
            <a:r>
              <a:t>Cは B より MAE が 10% 改善し、A との差はわずか 6% です。</a:t>
            </a:r>
          </a:p>
          <a:p>
            <a:r>
              <a:t>つまり、観測値を使った理論上限に近い精度を、実運用で実現できたということです。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こちらが予測の根拠となる特徴量です。SHAP値で重要度を可視化しました。</a:t>
            </a:r>
          </a:p>
          <a:p>
            <a:r>
              <a:t>最も重要なのが「前週同時刻の負荷」です。週周期パターンが強いことを示しています。</a:t>
            </a:r>
          </a:p>
          <a:p>
            <a:r>
              <a:t>次いで「営業日フラグ」、平日と休日で電力消費が大きく異なります。</a:t>
            </a:r>
          </a:p>
          <a:p>
            <a:r>
              <a:t>3位は「前日同時刻の気温」、暑熱の連続性を反映しています。</a:t>
            </a:r>
          </a:p>
          <a:p>
            <a:r>
              <a:t>4位は「日射量予報」、翌日の冷房需要を予測する重要な情報源です。</a:t>
            </a:r>
          </a:p>
          <a:p>
            <a:r>
              <a:t>このように、モデルは現実的な物理的・運用的要因を捉えていることが分かります。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最後にまとめです。</a:t>
            </a:r>
          </a:p>
          <a:p>
            <a:r>
              <a:t>本研究の達成内容は4点です。</a:t>
            </a:r>
          </a:p>
          <a:p>
            <a:r>
              <a:t>1つ目、JMA気象予報を活用した翌日電力予測システムを構築しました。</a:t>
            </a:r>
          </a:p>
          <a:p>
            <a:r>
              <a:t>2つ目、ハイブリッド気象入力という新しい手法を提案しました。</a:t>
            </a:r>
          </a:p>
          <a:p>
            <a:r>
              <a:t>3つ目、平均誤差 54 kW、誤差率 約7%、決定係数 0.905 という良好な精度を達成しました。</a:t>
            </a:r>
          </a:p>
          <a:p>
            <a:r>
              <a:t>4つ目、理論上限の約94%の精度を実運用で実現できました。</a:t>
            </a:r>
          </a:p>
          <a:p/>
          <a:p>
            <a:r>
              <a:t>今後の課題は、通年データへの拡張、全15棟へのスケールアップ、実機での試験運用、</a:t>
            </a:r>
          </a:p>
          <a:p>
            <a:r>
              <a:t>そしてSDR発令ルールの最適化です。</a:t>
            </a:r>
          </a:p>
          <a:p/>
          <a:p>
            <a:r>
              <a:t>以上で発表を終わります。ご清聴ありがとうございました。</a:t>
            </a:r>
          </a:p>
          <a:p>
            <a:r>
              <a:t>ご質問をお願いいたします。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山口大学  YAMAGUCHI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天気予報を活用した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キャンパスSDR運用支援システムの研究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C880"/>
                </a:solidFill>
                <a:latin typeface="Yu Gothic"/>
                <a:ea typeface="Yu Gothic"/>
              </a:rPr>
              <a:t>— ハイブリッド気象入力による翌日電力ピーク予測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Yu Gothic"/>
                <a:ea typeface="Yu Gothic"/>
              </a:rPr>
              <a:t>発表者: 〇〇 〇〇 (山口大学 ○○研究室)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Yu Gothic"/>
                <a:ea typeface="Yu Gothic"/>
              </a:rPr>
              <a:t>省エネ研究会 /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研究背景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なぜキャンパスのピーク予測が必要か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657600" cy="5486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9280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①.  猛暑による電力ピーク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365760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003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・山口県は2025年も猛暑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・キャンパス電力の40%は空調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・ピーク時の契約電力上昇は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経費負担に直結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28800"/>
            <a:ext cx="3657600" cy="54864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9280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②.  SDRの有効性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377440"/>
            <a:ext cx="365760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・空調設定温度を1〜2℃上げる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だけで5〜10%節電可能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・しかし「いつ発令するか」が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運用上の大きな課題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solidFill>
            <a:srgbClr val="2D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9280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③.  予測による事前判断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377440"/>
            <a:ext cx="365760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2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51460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・前日の気象予報から翌日の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電力ピークを予測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・リスクの高い日のみSDR発令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・快適性と省エネを両立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研究目的とアプローチ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翌日ピーク予測 → SDR運用判断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486400" cy="4572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92807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研究目的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5486400" cy="3017520"/>
          </a:xfrm>
          <a:prstGeom prst="rect">
            <a:avLst/>
          </a:prstGeom>
          <a:solidFill>
            <a:srgbClr val="F4F6FA"/>
          </a:solidFill>
          <a:ln w="9525">
            <a:solidFill>
              <a:srgbClr val="003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目標: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当日 17時時点で、翌日0時〜23時の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各時間電力 b00 (kW) を予測する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条件: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・気象予報 (JMA MSM) を入力に活用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・部署可能 (未来情報を使わない)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・予測精度 MAE ≦ 60 kW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出力: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時間予測値 → ピーク日のSDR発令推奨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577840" cy="45720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92807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アプローチ: ハイブリッド気象入力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5577840" cy="3017520"/>
          </a:xfrm>
          <a:prstGeom prst="rect">
            <a:avLst/>
          </a:prstGeom>
          <a:solidFill>
            <a:srgbClr val="F4F6FA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5212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発想: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「過去の気象は観測 (AMeDAS)、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  未来の気象は予報 (JMA MSM) を使う」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理由: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・過去 → すでに観測済み、誤差ゼロ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・未来 → 観測は存在しない、予報が唯一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結果: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訓練データの精度を保ちつつ、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実運用での再現性も担保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データと前処理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有効データ範囲: 2025-07-20 → 2025-10-26  (2,145 時間)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1"/>
                </a:solidFill>
                <a:latin typeface="Yu Gothic"/>
                <a:ea typeface="Yu Gothic"/>
              </a:rPr>
              <a:t>■ 使用したデータ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0292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1. キャンパス電力 (1時間値)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建物 b00 〜 b15, 計15棟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本研究は b00 (主棟) を対象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2. 気象観測 (ERA5 / AMeDAS同等)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気温・湿度・日射量・WBGT等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3. 気象予報 (JMA MSM, 5km)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最大39時間先まで利用可能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4. カレンダー (営業日, 休日, 曜日)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1"/>
                </a:solidFill>
                <a:latin typeface="Yu Gothic"/>
                <a:ea typeface="Yu Gothic"/>
              </a:rPr>
              <a:t>■ データクリーニング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286000"/>
            <a:ext cx="5943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・センサー停止期間を除外: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2025-09-24 (14時間ゼロ)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2025-10-27 〜 10-31 (5日間ゼロ)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・有効サンプル数: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学習: 1,501 時間 (2025-07-20 → 2025-09-20)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テスト: 644 時間 (2025-09-20 → 2025-10-26)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・分割比: 時系列 70 : 30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未来データを学習に使わない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(リーク防止)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学習データとテストデータ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学習 1,501 h (2025-07-20 → 2025-09-20)  →  テスト 644 h (2025-09-20 → 2025-10-26)</a:t>
            </a:r>
          </a:p>
        </p:txBody>
      </p:sp>
      <p:pic>
        <p:nvPicPr>
          <p:cNvPr id="10" name="Picture 9" descr="pres_07_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430000" cy="3117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8A00"/>
                </a:solidFill>
                <a:latin typeface="Yu Gothic"/>
                <a:ea typeface="Yu Gothic"/>
              </a:rPr>
              <a:t>■ ポイント: テスト期間 (オレンジ) のデータは学習に一切使用していない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577840"/>
            <a:ext cx="11430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・夏 (7〜9月) のピーク日で学習し、晩夏〜秋初 (9月後半〜10月) で性能評価。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・テスト期間にも複数のピーク日が含まれ、SDR発令判断の検証に適切。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日内負荷パターンの月別比較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7月のピークが最も高く、午後14〜15時にピーク</a:t>
            </a:r>
          </a:p>
        </p:txBody>
      </p:sp>
      <p:pic>
        <p:nvPicPr>
          <p:cNvPr id="10" name="Picture 9" descr="pres_01_overview_dai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430000" cy="6429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・7月 (赤): 14時頃に1,360 kW のピーク      ・10月 (紺): ピークが下がり1,040 kW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・全月共通: 5〜6時に最低 → 14〜15時にピーク → 夜間に減少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気象 × 電力の相関分析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どの気象要素が電力消費に最も影響するか</a:t>
            </a:r>
          </a:p>
        </p:txBody>
      </p:sp>
      <p:pic>
        <p:nvPicPr>
          <p:cNvPr id="10" name="Picture 9" descr="corr_01_pears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6400800" cy="426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1"/>
                </a:solidFill>
                <a:latin typeface="Yu Gothic"/>
                <a:ea typeface="Yu Gothic"/>
              </a:rPr>
              <a:t>■ 主な所見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1. 最強の正相関: 日射量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Pearson r = +0.67 (時間別)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2. 強い正相関: 気温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Pearson r = +0.57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3. 強い負相関: 湿度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Pearson r = −0.52</a:t>
            </a:r>
          </a:p>
        </p:txBody>
      </p:sp>
      <p:pic>
        <p:nvPicPr>
          <p:cNvPr id="13" name="Picture 12" descr="corr_07_standardized_b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114800"/>
            <a:ext cx="5029200" cy="3143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126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8A00"/>
                </a:solidFill>
                <a:latin typeface="Yu Gothic"/>
                <a:ea typeface="Yu Gothic"/>
              </a:rPr>
              <a:t>■ 線形重回帰でも気象だけで b00 分散の 53% を説明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主成分分析 (PCA)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気象10変数の本質を 3 つの主成分に圧縮</a:t>
            </a:r>
          </a:p>
        </p:txBody>
      </p:sp>
      <p:pic>
        <p:nvPicPr>
          <p:cNvPr id="10" name="Picture 9" descr="corr_05_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852160" cy="3291840"/>
          </a:xfrm>
          <a:prstGeom prst="rect">
            <a:avLst/>
          </a:prstGeom>
        </p:spPr>
      </p:pic>
      <p:pic>
        <p:nvPicPr>
          <p:cNvPr id="11" name="Picture 10" descr="corr_06_pca_loa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37360"/>
            <a:ext cx="5669280" cy="25635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解釈: 3つの主成分で気象変動の 76% を説明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080760"/>
            <a:ext cx="11430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・PC1 (41.7%) = 「熱関連成分」気温・体感・WBGT が共に寄与   →  b00 と +0.47 の相関</a:t>
            </a:r>
          </a:p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・PC2 (21.1%) = 「湿度・日射成分」湿度↑かつ日射↓ (悪天候)   →  b00 と −0.50 の相関</a:t>
            </a:r>
          </a:p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・PC3 (13.1%) = 「風・降水成分」 (b00 への影響は小)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結果① テスト期間の予測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提案手法 (Hybrid):  MAE = 54.0 kW,  R² = 0.905,  MAPE = 7.28%</a:t>
            </a:r>
          </a:p>
        </p:txBody>
      </p:sp>
      <p:pic>
        <p:nvPicPr>
          <p:cNvPr id="10" name="Picture 9" descr="pres_04_holdou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11430000" cy="46759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B71"/>
                </a:solidFill>
                <a:latin typeface="Yu Gothic"/>
                <a:ea typeface="Yu Gothic"/>
              </a:rPr>
              <a:t>■ 青: 実測値    オレンジ: 予測値    赤点線: P80閾値 (SDR発令検討基準)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・予測線は実測線を概ね追従。複数のピーク日 (10/07, 10/14, 10/22) を正しく捕捉。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結果② 予測 vs 実測の対応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散布図で見る予測精度  —  MAE 54.0 kW, MAPE 7.28%</a:t>
            </a:r>
          </a:p>
        </p:txBody>
      </p:sp>
      <p:pic>
        <p:nvPicPr>
          <p:cNvPr id="10" name="Picture 9" descr="pres_05_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5943600" cy="5448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1"/>
                </a:solidFill>
                <a:latin typeface="Yu Gothic"/>
                <a:ea typeface="Yu Gothic"/>
              </a:rPr>
              <a:t>■ 3アーキテクチャの精度比較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286000"/>
            <a:ext cx="2011680" cy="41148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322576"/>
            <a:ext cx="1920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</a:rPr>
              <a:t>手法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286000"/>
            <a:ext cx="1005840" cy="41148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322576"/>
            <a:ext cx="9144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</a:rPr>
              <a:t>MAE(kW)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286000"/>
            <a:ext cx="914400" cy="41148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32257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</a:rPr>
              <a:t>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2286000"/>
            <a:ext cx="914400" cy="41148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5640" y="232257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</a:rPr>
              <a:t>MAPE(%)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697480"/>
            <a:ext cx="201168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734056"/>
            <a:ext cx="1920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A: 観測のみ (上限)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697480"/>
            <a:ext cx="10058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734056"/>
            <a:ext cx="9144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50.7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697480"/>
            <a:ext cx="91440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73405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0.915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0" y="2697480"/>
            <a:ext cx="91440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5640" y="273405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6.96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108960"/>
            <a:ext cx="20116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145536"/>
            <a:ext cx="1920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B: 予報のみ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108960"/>
            <a:ext cx="10058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3145536"/>
            <a:ext cx="9144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59.7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3108960"/>
            <a:ext cx="914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314553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0.883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89920" y="3108960"/>
            <a:ext cx="914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5640" y="314553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7.93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520440"/>
            <a:ext cx="2011680" cy="411480"/>
          </a:xfrm>
          <a:prstGeom prst="rect">
            <a:avLst/>
          </a:prstGeom>
          <a:solidFill>
            <a:srgbClr val="FDE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3557016"/>
            <a:ext cx="1920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Yu Gothic"/>
                <a:ea typeface="Yu Gothic"/>
              </a:rPr>
              <a:t>C: Hybrid (本研究)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3520440"/>
            <a:ext cx="1005840" cy="411480"/>
          </a:xfrm>
          <a:prstGeom prst="rect">
            <a:avLst/>
          </a:prstGeom>
          <a:solidFill>
            <a:srgbClr val="FDE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3557016"/>
            <a:ext cx="9144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Yu Gothic"/>
                <a:ea typeface="Yu Gothic"/>
              </a:rPr>
              <a:t>54.0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3520440"/>
            <a:ext cx="914400" cy="411480"/>
          </a:xfrm>
          <a:prstGeom prst="rect">
            <a:avLst/>
          </a:prstGeom>
          <a:solidFill>
            <a:srgbClr val="FDE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355701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Yu Gothic"/>
                <a:ea typeface="Yu Gothic"/>
              </a:rPr>
              <a:t>0.905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89920" y="3520440"/>
            <a:ext cx="914400" cy="411480"/>
          </a:xfrm>
          <a:prstGeom prst="rect">
            <a:avLst/>
          </a:prstGeom>
          <a:solidFill>
            <a:srgbClr val="FDE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5640" y="3557016"/>
            <a:ext cx="822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Yu Gothic"/>
                <a:ea typeface="Yu Gothic"/>
              </a:rPr>
              <a:t>7.28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206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1"/>
                </a:solidFill>
                <a:latin typeface="Yu Gothic"/>
                <a:ea typeface="Yu Gothic"/>
              </a:rPr>
              <a:t>■ ポイント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57200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・C (Hybrid) は B より MAE 10%改善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(59.7 → 54.0 kW)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・A (上限) との差はわずか 6%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(50.7 → 54.0 kW)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・上限値に迫る精度を実運用で実現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結果③ 何が予測を決めているか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SHAP値で見る上位特徴量</a:t>
            </a:r>
          </a:p>
        </p:txBody>
      </p:sp>
      <p:pic>
        <p:nvPicPr>
          <p:cNvPr id="10" name="Picture 9" descr="pres_06_shap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1"/>
                </a:solidFill>
                <a:latin typeface="Yu Gothic"/>
                <a:ea typeface="Yu Gothic"/>
              </a:rPr>
              <a:t>■ 解釈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4114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1. 前週同時刻の負荷が最重要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→ 週周期パターンが強い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2. 営業日 / 休日フラグ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→ 平日と休日で大差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3. 前日同時刻の気温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→ 暑熱の連続性を反映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4. 日射量 (予報)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→ 翌日の冷房需要を予測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73152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(Yamaguchi University)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3B71"/>
                </a:solidFill>
                <a:latin typeface="Yu Gothic"/>
                <a:ea typeface="Yu Gothic"/>
              </a:rPr>
              <a:t>まとめと今後の課題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Yu Gothic"/>
                <a:ea typeface="Yu Gothic"/>
              </a:rPr>
              <a:t>達成内容と次のステップ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669280" cy="4572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7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■ 達成内容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5669280" cy="3200400"/>
          </a:xfrm>
          <a:prstGeom prst="rect">
            <a:avLst/>
          </a:prstGeom>
          <a:solidFill>
            <a:srgbClr val="F4F6FA"/>
          </a:solidFill>
          <a:ln w="9525">
            <a:solidFill>
              <a:srgbClr val="003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5394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1. JMA予報を活用した翌日電力予測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システムを構築 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2. ハイブリッド気象入力 (新手法)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過去=観測 + 未来=予報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3. 達成精度: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MAE 54.0 kW (誤差 ~7%)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R² 0.905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4. 上限値の94%の精度を実運用で実現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577840" cy="45720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92807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■ 今後の課題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5577840" cy="3200400"/>
          </a:xfrm>
          <a:prstGeom prst="rect">
            <a:avLst/>
          </a:prstGeom>
          <a:solidFill>
            <a:srgbClr val="F4F6FA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3035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1. 通年データへの拡張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冬季の暖房需要も検証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2. 全15棟へのスケールアップ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棟ごとの特性を学習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3. 実機運用の試験導入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現場担当者との連携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4. SDR発令ルールの最適化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  閾値・連続時間の校正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69280"/>
            <a:ext cx="11475720" cy="59436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715000"/>
            <a:ext cx="11475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ご清聴ありがとうございました。  ご質問をお待ちしております。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