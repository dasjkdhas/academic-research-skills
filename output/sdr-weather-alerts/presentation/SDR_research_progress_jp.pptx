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皆さま、本日はお時間をいただきありがとうございます。</a:t>
            </a:r>
          </a:p>
          <a:p>
            <a:r>
              <a:t>山口大学の○○です。</a:t>
            </a:r>
          </a:p>
          <a:p>
            <a:r>
              <a:t>本日は『天気予報を活用したキャンパスSDR運用支援システム』について発表いたします。</a:t>
            </a:r>
          </a:p>
          <a:p>
            <a:r>
              <a:t>SDRとは「Setpoint Demand Response (設定温度デマンドレスポンス)」、</a:t>
            </a:r>
          </a:p>
          <a:p>
            <a:r>
              <a:t>つまり気温が高い日にエアコンの設定温度を一時的に上げて、ピーク電力を抑える運用です。</a:t>
            </a:r>
          </a:p>
          <a:p>
            <a:r>
              <a:t>本研究では、翌日の電力ピークを事前に予測して、SDR発令を判断する仕組みを作りました。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研究の背景を3点でご説明します。</a:t>
            </a:r>
          </a:p>
          <a:p>
            <a:r>
              <a:t>まず①、夏の猛暑により電力ピークが増加しています。</a:t>
            </a:r>
          </a:p>
          <a:p>
            <a:r>
              <a:t>キャンパス電力の約4割が空調です。</a:t>
            </a:r>
          </a:p>
          <a:p>
            <a:r>
              <a:t>次に②、SDRは設定温度を少し上げるだけで5〜10%の節電効果があり、有効な手段です。</a:t>
            </a:r>
          </a:p>
          <a:p>
            <a:r>
              <a:t>しかし「どの日に発令すべきか」が運用上の課題となっています。</a:t>
            </a:r>
          </a:p>
          <a:p>
            <a:r>
              <a:t>そこで③、翌日のピークを事前に予測してSDR発令を判断する仕組みが必要です。</a:t>
            </a:r>
          </a:p>
          <a:p>
            <a:r>
              <a:t>これが本研究のモチベーションです。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研究の目的とアプローチです。</a:t>
            </a:r>
          </a:p>
          <a:p>
            <a:r>
              <a:t>目的は、当日17時の時点で、翌日各時間の電力負荷を予測することです。</a:t>
            </a:r>
          </a:p>
          <a:p>
            <a:r>
              <a:t>気象予報を活用し、未来情報を使わない部署可能な仕組みを目指します。</a:t>
            </a:r>
          </a:p>
          <a:p>
            <a:r>
              <a:t>アプローチの工夫として、ハイブリッド気象入力を提案します。</a:t>
            </a:r>
          </a:p>
          <a:p>
            <a:r>
              <a:t>過去の気象は観測値、未来の気象は予報値を使い分けます。</a:t>
            </a:r>
          </a:p>
          <a:p>
            <a:r>
              <a:t>こうすることで訓練データの質を保ちつつ、実運用での精度も担保します。</a:t>
            </a:r>
          </a:p>
          <a:p>
            <a:r>
              <a:t>これが本研究のポイントです。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使用したデータをご説明します。</a:t>
            </a:r>
          </a:p>
          <a:p>
            <a:r>
              <a:t>電力データは山口大学キャンパスの建物別1時間電力で、本研究は主棟 b00 を予測対象としました。</a:t>
            </a:r>
          </a:p>
          <a:p>
            <a:r>
              <a:t>気象データは観測値と予報値の両方を使用します。</a:t>
            </a:r>
          </a:p>
          <a:p>
            <a:r>
              <a:t>データ期間は2025年7月から10月の約4ヶ月間です。</a:t>
            </a:r>
          </a:p>
          <a:p>
            <a:r>
              <a:t>センサー停止により無効となった期間を除外しています。</a:t>
            </a:r>
          </a:p>
          <a:p>
            <a:r>
              <a:t>そして、時系列で70%を学習、30%をテストに割り当てました。</a:t>
            </a:r>
          </a:p>
          <a:p>
            <a:r>
              <a:t>これにより、未来データを学習に使わない、リークを防ぐ評価ができます。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こちらが学習データとテストデータの分割です。</a:t>
            </a:r>
          </a:p>
          <a:p>
            <a:r>
              <a:t>青色が学習データ、約2ヶ月分です。オレンジが評価用のテストデータ、約5週間分です。</a:t>
            </a:r>
          </a:p>
          <a:p>
            <a:r>
              <a:t>重要なのは、テスト期間のデータは学習に一切使用していない点です。</a:t>
            </a:r>
          </a:p>
          <a:p>
            <a:r>
              <a:t>これにより、本当の意味で未知の期間に対する予測性能を測れます。</a:t>
            </a:r>
          </a:p>
          <a:p>
            <a:r>
              <a:t>テスト期間にもピーク日が複数含まれており、SDR発令判断の検証に適しています。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まず探索的にデータの傾向を見ていきます。</a:t>
            </a:r>
          </a:p>
          <a:p>
            <a:r>
              <a:t>これは月別の1日の負荷パターンです。</a:t>
            </a:r>
          </a:p>
          <a:p>
            <a:r>
              <a:t>赤い線が7月、青い線が10月です。</a:t>
            </a:r>
          </a:p>
          <a:p>
            <a:r>
              <a:t>7月の真夏は午後2時頃に最大1,360 kWのピークを迎えますが、10月になると1,040 kW程度まで下がります。</a:t>
            </a:r>
          </a:p>
          <a:p>
            <a:r>
              <a:t>これは冷房使用量の差によるものです。</a:t>
            </a:r>
          </a:p>
          <a:p>
            <a:r>
              <a:t>どの月も朝5〜6時に最低、午後14〜15時に最高、夜にかけて減少という共通パターンを示します。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ここからは結果のご紹介です。</a:t>
            </a:r>
          </a:p>
          <a:p>
            <a:r>
              <a:t>こちらがテスト期間の予測結果です。</a:t>
            </a:r>
          </a:p>
          <a:p>
            <a:r>
              <a:t>青い線が実測値、オレンジの線が予測値です。</a:t>
            </a:r>
          </a:p>
          <a:p>
            <a:r>
              <a:t>赤い点線はP80閾値、つまりSDR発令を検討するべき水準です。</a:t>
            </a:r>
          </a:p>
          <a:p>
            <a:r>
              <a:t>全体として、予測値は実測値をよく追従しており、複数のピーク日も正しく捕捉できています。</a:t>
            </a:r>
          </a:p>
          <a:p>
            <a:r>
              <a:t>平均誤差 (MAE) は約 54.0 kW、決定係数 R² は 0.905 と良好な精度を達成しました。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次に散布図とアーキテクチャ比較です。</a:t>
            </a:r>
          </a:p>
          <a:p>
            <a:r>
              <a:t>左の散布図では、点が対角線 y=x に沿って分布しており、予測値と実測値がよく一致していることが分かります。</a:t>
            </a:r>
          </a:p>
          <a:p>
            <a:r>
              <a:t>右の表は、3つの手法を比較したものです。</a:t>
            </a:r>
          </a:p>
          <a:p>
            <a:r>
              <a:t>A は観測値のみを使う理論上限、B は予報値のみを使う従来手法、そして C が本研究のハイブリッド手法です。</a:t>
            </a:r>
          </a:p>
          <a:p>
            <a:r>
              <a:t>Cは B より MAE が 10% 改善し、A との差はわずか 6% です。</a:t>
            </a:r>
          </a:p>
          <a:p>
            <a:r>
              <a:t>つまり、観測値を使った理論上限に近い精度を、実運用で実現できたということです。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こちらが予測の根拠となる特徴量です。SHAP値で重要度を可視化しました。</a:t>
            </a:r>
          </a:p>
          <a:p>
            <a:r>
              <a:t>最も重要なのが「前週同時刻の負荷」です。週周期パターンが強いことを示しています。</a:t>
            </a:r>
          </a:p>
          <a:p>
            <a:r>
              <a:t>次いで「営業日フラグ」、平日と休日で電力消費が大きく異なります。</a:t>
            </a:r>
          </a:p>
          <a:p>
            <a:r>
              <a:t>3位は「前日同時刻の気温」、暑熱の連続性を反映しています。</a:t>
            </a:r>
          </a:p>
          <a:p>
            <a:r>
              <a:t>4位は「日射量予報」、翌日の冷房需要を予測する重要な情報源です。</a:t>
            </a:r>
          </a:p>
          <a:p>
            <a:r>
              <a:t>このように、モデルは現実的な物理的・運用的要因を捉えていることが分かります。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最後にまとめです。</a:t>
            </a:r>
          </a:p>
          <a:p>
            <a:r>
              <a:t>本研究の達成内容は4点です。</a:t>
            </a:r>
          </a:p>
          <a:p>
            <a:r>
              <a:t>1つ目、JMA気象予報を活用した翌日電力予測システムを構築しました。</a:t>
            </a:r>
          </a:p>
          <a:p>
            <a:r>
              <a:t>2つ目、ハイブリッド気象入力という新しい手法を提案しました。</a:t>
            </a:r>
          </a:p>
          <a:p>
            <a:r>
              <a:t>3つ目、平均誤差 54 kW、誤差率 約7%、決定係数 0.905 という良好な精度を達成しました。</a:t>
            </a:r>
          </a:p>
          <a:p>
            <a:r>
              <a:t>4つ目、理論上限の約94%の精度を実運用で実現できました。</a:t>
            </a:r>
          </a:p>
          <a:p/>
          <a:p>
            <a:r>
              <a:t>今後の課題は、通年データへの拡張、全15棟へのスケールアップ、実機での試験運用、</a:t>
            </a:r>
          </a:p>
          <a:p>
            <a:r>
              <a:t>そしてSDR発令ルールの最適化です。</a:t>
            </a:r>
          </a:p>
          <a:p/>
          <a:p>
            <a:r>
              <a:t>以上で発表を終わります。ご清聴ありがとうございました。</a:t>
            </a:r>
          </a:p>
          <a:p>
            <a:r>
              <a:t>ご質問をお願いいたします。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B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77440"/>
            <a:ext cx="12191695" cy="73152"/>
          </a:xfrm>
          <a:prstGeom prst="rect">
            <a:avLst/>
          </a:prstGeom>
          <a:solidFill>
            <a:srgbClr val="E7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Yu Gothic"/>
                <a:ea typeface="Yu Gothic"/>
              </a:rPr>
              <a:t>山口大学  YAMAGUCHI UNIVERSITY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51760"/>
            <a:ext cx="10972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Yu Gothic"/>
                <a:ea typeface="Yu Gothic"/>
              </a:rPr>
              <a:t>天気予報を活用した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Yu Gothic"/>
                <a:ea typeface="Yu Gothic"/>
              </a:rPr>
              <a:t>キャンパスSDR運用支援システムの研究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FFC880"/>
                </a:solidFill>
                <a:latin typeface="Yu Gothic"/>
                <a:ea typeface="Yu Gothic"/>
              </a:rPr>
              <a:t>— ハイブリッド気象入力による翌日電力ピーク予測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30352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Yu Gothic"/>
                <a:ea typeface="Yu Gothic"/>
              </a:rPr>
              <a:t>発表者: 〇〇 〇〇 (山口大学 ○○研究室)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76072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Yu Gothic"/>
                <a:ea typeface="Yu Gothic"/>
              </a:rPr>
              <a:t>省エネ研究会 / 2026年5月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003B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36576"/>
            <a:ext cx="73152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Yu Gothic"/>
                <a:ea typeface="Yu Gothic"/>
              </a:rPr>
              <a:t>省エネ研究 (山口大学)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"/>
            <a:ext cx="14630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Yu Gothic"/>
                <a:ea typeface="Yu Gothic"/>
              </a:rPr>
              <a:t>Slide 2 / 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003B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656832"/>
            <a:ext cx="914400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  <a:latin typeface="Yu Gothic"/>
                <a:ea typeface="Yu Gothic"/>
              </a:rPr>
              <a:t>山口大学 (Yamaguchi University) — 省エネ研究会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57200"/>
            <a:ext cx="11430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003B71"/>
                </a:solidFill>
                <a:latin typeface="Yu Gothic"/>
                <a:ea typeface="Yu Gothic"/>
              </a:rPr>
              <a:t>研究背景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024128"/>
            <a:ext cx="1097280" cy="54864"/>
          </a:xfrm>
          <a:prstGeom prst="rect">
            <a:avLst/>
          </a:prstGeom>
          <a:solidFill>
            <a:srgbClr val="E7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A5A5A"/>
                </a:solidFill>
                <a:latin typeface="Yu Gothic"/>
                <a:ea typeface="Yu Gothic"/>
              </a:rPr>
              <a:t>なぜキャンパスのピーク予測が必要か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828800"/>
            <a:ext cx="3657600" cy="548640"/>
          </a:xfrm>
          <a:prstGeom prst="rect">
            <a:avLst/>
          </a:prstGeom>
          <a:solidFill>
            <a:srgbClr val="003B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892807"/>
            <a:ext cx="32918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Yu Gothic"/>
                <a:ea typeface="Yu Gothic"/>
              </a:rPr>
              <a:t>①.  猛暑による電力ピーク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377440"/>
            <a:ext cx="3657600" cy="3108960"/>
          </a:xfrm>
          <a:prstGeom prst="rect">
            <a:avLst/>
          </a:prstGeom>
          <a:solidFill>
            <a:srgbClr val="F4F6FA"/>
          </a:solidFill>
          <a:ln w="9525">
            <a:solidFill>
              <a:srgbClr val="003B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514600"/>
            <a:ext cx="324612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Yu Gothic"/>
                <a:ea typeface="Yu Gothic"/>
              </a:rPr>
              <a:t>・山口県は2025年も猛暑</a:t>
            </a:r>
          </a:p>
          <a:p>
            <a:pPr algn="l"/>
            <a:r>
              <a:rPr sz="1300" b="0">
                <a:solidFill>
                  <a:srgbClr val="5A5A5A"/>
                </a:solidFill>
                <a:latin typeface="Yu Gothic"/>
                <a:ea typeface="Yu Gothic"/>
              </a:rPr>
              <a:t>・キャンパス電力の40%は空調</a:t>
            </a:r>
          </a:p>
          <a:p>
            <a:pPr algn="l"/>
            <a:r>
              <a:rPr sz="1300" b="0">
                <a:solidFill>
                  <a:srgbClr val="5A5A5A"/>
                </a:solidFill>
                <a:latin typeface="Yu Gothic"/>
                <a:ea typeface="Yu Gothic"/>
              </a:rPr>
              <a:t>・ピーク時の契約電力上昇は</a:t>
            </a:r>
          </a:p>
          <a:p>
            <a:pPr algn="l"/>
            <a:r>
              <a:rPr sz="1300" b="0">
                <a:solidFill>
                  <a:srgbClr val="5A5A5A"/>
                </a:solidFill>
                <a:latin typeface="Yu Gothic"/>
                <a:ea typeface="Yu Gothic"/>
              </a:rPr>
              <a:t>  経費負担に直結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51960" y="1828800"/>
            <a:ext cx="3657600" cy="548640"/>
          </a:xfrm>
          <a:prstGeom prst="rect">
            <a:avLst/>
          </a:prstGeom>
          <a:solidFill>
            <a:srgbClr val="E7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34840" y="1892807"/>
            <a:ext cx="32918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Yu Gothic"/>
                <a:ea typeface="Yu Gothic"/>
              </a:rPr>
              <a:t>②.  SDRの有効性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51960" y="2377440"/>
            <a:ext cx="3657600" cy="3108960"/>
          </a:xfrm>
          <a:prstGeom prst="rect">
            <a:avLst/>
          </a:prstGeom>
          <a:solidFill>
            <a:srgbClr val="F4F6FA"/>
          </a:solidFill>
          <a:ln w="9525">
            <a:solidFill>
              <a:srgbClr val="E7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80560" y="2514600"/>
            <a:ext cx="324612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Yu Gothic"/>
                <a:ea typeface="Yu Gothic"/>
              </a:rPr>
              <a:t>・空調設定温度を1〜2℃上げる</a:t>
            </a:r>
          </a:p>
          <a:p>
            <a:pPr algn="l"/>
            <a:r>
              <a:rPr sz="1300" b="0">
                <a:solidFill>
                  <a:srgbClr val="5A5A5A"/>
                </a:solidFill>
                <a:latin typeface="Yu Gothic"/>
                <a:ea typeface="Yu Gothic"/>
              </a:rPr>
              <a:t>  だけで5〜10%節電可能</a:t>
            </a:r>
          </a:p>
          <a:p>
            <a:pPr algn="l"/>
            <a:r>
              <a:rPr sz="1300" b="0">
                <a:solidFill>
                  <a:srgbClr val="5A5A5A"/>
                </a:solidFill>
                <a:latin typeface="Yu Gothic"/>
                <a:ea typeface="Yu Gothic"/>
              </a:rPr>
              <a:t>・しかし「いつ発令するか」が</a:t>
            </a:r>
          </a:p>
          <a:p>
            <a:pPr algn="l"/>
            <a:r>
              <a:rPr sz="1300" b="0">
                <a:solidFill>
                  <a:srgbClr val="5A5A5A"/>
                </a:solidFill>
                <a:latin typeface="Yu Gothic"/>
                <a:ea typeface="Yu Gothic"/>
              </a:rPr>
              <a:t>  運用上の大きな課題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38160" y="1828800"/>
            <a:ext cx="3657600" cy="548640"/>
          </a:xfrm>
          <a:prstGeom prst="rect">
            <a:avLst/>
          </a:prstGeom>
          <a:solidFill>
            <a:srgbClr val="2D9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1892807"/>
            <a:ext cx="32918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Yu Gothic"/>
                <a:ea typeface="Yu Gothic"/>
              </a:rPr>
              <a:t>③.  予測による事前判断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8160" y="2377440"/>
            <a:ext cx="3657600" cy="3108960"/>
          </a:xfrm>
          <a:prstGeom prst="rect">
            <a:avLst/>
          </a:prstGeom>
          <a:solidFill>
            <a:srgbClr val="F4F6FA"/>
          </a:solidFill>
          <a:ln w="9525">
            <a:solidFill>
              <a:srgbClr val="2D9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66760" y="2514600"/>
            <a:ext cx="324612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Yu Gothic"/>
                <a:ea typeface="Yu Gothic"/>
              </a:rPr>
              <a:t>・前日の気象予報から翌日の</a:t>
            </a:r>
          </a:p>
          <a:p>
            <a:pPr algn="l"/>
            <a:r>
              <a:rPr sz="1300" b="0">
                <a:solidFill>
                  <a:srgbClr val="5A5A5A"/>
                </a:solidFill>
                <a:latin typeface="Yu Gothic"/>
                <a:ea typeface="Yu Gothic"/>
              </a:rPr>
              <a:t>  電力ピークを予測</a:t>
            </a:r>
          </a:p>
          <a:p>
            <a:pPr algn="l"/>
            <a:r>
              <a:rPr sz="1300" b="0">
                <a:solidFill>
                  <a:srgbClr val="5A5A5A"/>
                </a:solidFill>
                <a:latin typeface="Yu Gothic"/>
                <a:ea typeface="Yu Gothic"/>
              </a:rPr>
              <a:t>・リスクの高い日のみSDR発令</a:t>
            </a:r>
          </a:p>
          <a:p>
            <a:pPr algn="l"/>
            <a:r>
              <a:rPr sz="1300" b="0">
                <a:solidFill>
                  <a:srgbClr val="5A5A5A"/>
                </a:solidFill>
                <a:latin typeface="Yu Gothic"/>
                <a:ea typeface="Yu Gothic"/>
              </a:rPr>
              <a:t>・快適性と省エネを両立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003B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36576"/>
            <a:ext cx="73152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Yu Gothic"/>
                <a:ea typeface="Yu Gothic"/>
              </a:rPr>
              <a:t>省エネ研究 (山口大学)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"/>
            <a:ext cx="14630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Yu Gothic"/>
                <a:ea typeface="Yu Gothic"/>
              </a:rPr>
              <a:t>Slide 3 / 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003B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656832"/>
            <a:ext cx="914400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  <a:latin typeface="Yu Gothic"/>
                <a:ea typeface="Yu Gothic"/>
              </a:rPr>
              <a:t>山口大学 (Yamaguchi University) — 省エネ研究会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57200"/>
            <a:ext cx="11430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003B71"/>
                </a:solidFill>
                <a:latin typeface="Yu Gothic"/>
                <a:ea typeface="Yu Gothic"/>
              </a:rPr>
              <a:t>研究目的とアプローチ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024128"/>
            <a:ext cx="1097280" cy="54864"/>
          </a:xfrm>
          <a:prstGeom prst="rect">
            <a:avLst/>
          </a:prstGeom>
          <a:solidFill>
            <a:srgbClr val="E7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A5A5A"/>
                </a:solidFill>
                <a:latin typeface="Yu Gothic"/>
                <a:ea typeface="Yu Gothic"/>
              </a:rPr>
              <a:t>翌日ピーク予測 → SDR運用判断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828800"/>
            <a:ext cx="5486400" cy="457200"/>
          </a:xfrm>
          <a:prstGeom prst="rect">
            <a:avLst/>
          </a:prstGeom>
          <a:solidFill>
            <a:srgbClr val="003B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892807"/>
            <a:ext cx="5120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Yu Gothic"/>
                <a:ea typeface="Yu Gothic"/>
              </a:rPr>
              <a:t>研究目的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286000"/>
            <a:ext cx="5486400" cy="3017520"/>
          </a:xfrm>
          <a:prstGeom prst="rect">
            <a:avLst/>
          </a:prstGeom>
          <a:solidFill>
            <a:srgbClr val="F4F6FA"/>
          </a:solidFill>
          <a:ln w="9525">
            <a:solidFill>
              <a:srgbClr val="003B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468880"/>
            <a:ext cx="51206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Yu Gothic"/>
                <a:ea typeface="Yu Gothic"/>
              </a:rPr>
              <a:t>目標:</a:t>
            </a:r>
          </a:p>
          <a:p>
            <a:pPr algn="l"/>
            <a:r>
              <a:rPr sz="1300" b="0">
                <a:solidFill>
                  <a:srgbClr val="5A5A5A"/>
                </a:solidFill>
                <a:latin typeface="Yu Gothic"/>
                <a:ea typeface="Yu Gothic"/>
              </a:rPr>
              <a:t>  当日 17時時点で、翌日0時〜23時の</a:t>
            </a:r>
          </a:p>
          <a:p>
            <a:pPr algn="l"/>
            <a:r>
              <a:rPr sz="1300" b="0">
                <a:solidFill>
                  <a:srgbClr val="5A5A5A"/>
                </a:solidFill>
                <a:latin typeface="Yu Gothic"/>
                <a:ea typeface="Yu Gothic"/>
              </a:rPr>
              <a:t>  各時間電力 b00 (kW) を予測する</a:t>
            </a:r>
          </a:p>
          <a:p>
            <a:pPr algn="l"/>
            <a:r>
              <a:rPr sz="1300" b="0">
                <a:solidFill>
                  <a:srgbClr val="5A5A5A"/>
                </a:solidFill>
                <a:latin typeface="Yu Gothic"/>
                <a:ea typeface="Yu Gothic"/>
              </a:rPr>
              <a:t/>
            </a:r>
          </a:p>
          <a:p>
            <a:pPr algn="l"/>
            <a:r>
              <a:rPr sz="1300" b="0">
                <a:solidFill>
                  <a:srgbClr val="5A5A5A"/>
                </a:solidFill>
                <a:latin typeface="Yu Gothic"/>
                <a:ea typeface="Yu Gothic"/>
              </a:rPr>
              <a:t>条件:</a:t>
            </a:r>
          </a:p>
          <a:p>
            <a:pPr algn="l"/>
            <a:r>
              <a:rPr sz="1300" b="0">
                <a:solidFill>
                  <a:srgbClr val="5A5A5A"/>
                </a:solidFill>
                <a:latin typeface="Yu Gothic"/>
                <a:ea typeface="Yu Gothic"/>
              </a:rPr>
              <a:t>  ・気象予報 (JMA MSM) を入力に活用</a:t>
            </a:r>
          </a:p>
          <a:p>
            <a:pPr algn="l"/>
            <a:r>
              <a:rPr sz="1300" b="0">
                <a:solidFill>
                  <a:srgbClr val="5A5A5A"/>
                </a:solidFill>
                <a:latin typeface="Yu Gothic"/>
                <a:ea typeface="Yu Gothic"/>
              </a:rPr>
              <a:t>  ・部署可能 (未来情報を使わない)</a:t>
            </a:r>
          </a:p>
          <a:p>
            <a:pPr algn="l"/>
            <a:r>
              <a:rPr sz="1300" b="0">
                <a:solidFill>
                  <a:srgbClr val="5A5A5A"/>
                </a:solidFill>
                <a:latin typeface="Yu Gothic"/>
                <a:ea typeface="Yu Gothic"/>
              </a:rPr>
              <a:t>  ・予測精度 MAE ≦ 60 kW</a:t>
            </a:r>
          </a:p>
          <a:p>
            <a:pPr algn="l"/>
            <a:r>
              <a:rPr sz="1300" b="0">
                <a:solidFill>
                  <a:srgbClr val="5A5A5A"/>
                </a:solidFill>
                <a:latin typeface="Yu Gothic"/>
                <a:ea typeface="Yu Gothic"/>
              </a:rPr>
              <a:t/>
            </a:r>
          </a:p>
          <a:p>
            <a:pPr algn="l"/>
            <a:r>
              <a:rPr sz="1300" b="0">
                <a:solidFill>
                  <a:srgbClr val="5A5A5A"/>
                </a:solidFill>
                <a:latin typeface="Yu Gothic"/>
                <a:ea typeface="Yu Gothic"/>
              </a:rPr>
              <a:t>出力:</a:t>
            </a:r>
          </a:p>
          <a:p>
            <a:pPr algn="l"/>
            <a:r>
              <a:rPr sz="1300" b="0">
                <a:solidFill>
                  <a:srgbClr val="5A5A5A"/>
                </a:solidFill>
                <a:latin typeface="Yu Gothic"/>
                <a:ea typeface="Yu Gothic"/>
              </a:rPr>
              <a:t>  時間予測値 → ピーク日のSDR発令推奨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1828800"/>
            <a:ext cx="5577840" cy="457200"/>
          </a:xfrm>
          <a:prstGeom prst="rect">
            <a:avLst/>
          </a:prstGeom>
          <a:solidFill>
            <a:srgbClr val="E7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1892807"/>
            <a:ext cx="52120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Yu Gothic"/>
                <a:ea typeface="Yu Gothic"/>
              </a:rPr>
              <a:t>アプローチ: ハイブリッド気象入力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63640" y="2286000"/>
            <a:ext cx="5577840" cy="3017520"/>
          </a:xfrm>
          <a:prstGeom prst="rect">
            <a:avLst/>
          </a:prstGeom>
          <a:solidFill>
            <a:srgbClr val="F4F6FA"/>
          </a:solidFill>
          <a:ln w="9525">
            <a:solidFill>
              <a:srgbClr val="E7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2468880"/>
            <a:ext cx="52120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Yu Gothic"/>
                <a:ea typeface="Yu Gothic"/>
              </a:rPr>
              <a:t>発想:</a:t>
            </a:r>
          </a:p>
          <a:p>
            <a:pPr algn="l"/>
            <a:r>
              <a:rPr sz="1300" b="0">
                <a:solidFill>
                  <a:srgbClr val="5A5A5A"/>
                </a:solidFill>
                <a:latin typeface="Yu Gothic"/>
                <a:ea typeface="Yu Gothic"/>
              </a:rPr>
              <a:t>  「過去の気象は観測 (AMeDAS)、</a:t>
            </a:r>
          </a:p>
          <a:p>
            <a:pPr algn="l"/>
            <a:r>
              <a:rPr sz="1300" b="0">
                <a:solidFill>
                  <a:srgbClr val="5A5A5A"/>
                </a:solidFill>
                <a:latin typeface="Yu Gothic"/>
                <a:ea typeface="Yu Gothic"/>
              </a:rPr>
              <a:t>    未来の気象は予報 (JMA MSM) を使う」</a:t>
            </a:r>
          </a:p>
          <a:p>
            <a:pPr algn="l"/>
            <a:r>
              <a:rPr sz="1300" b="0">
                <a:solidFill>
                  <a:srgbClr val="5A5A5A"/>
                </a:solidFill>
                <a:latin typeface="Yu Gothic"/>
                <a:ea typeface="Yu Gothic"/>
              </a:rPr>
              <a:t/>
            </a:r>
          </a:p>
          <a:p>
            <a:pPr algn="l"/>
            <a:r>
              <a:rPr sz="1300" b="0">
                <a:solidFill>
                  <a:srgbClr val="5A5A5A"/>
                </a:solidFill>
                <a:latin typeface="Yu Gothic"/>
                <a:ea typeface="Yu Gothic"/>
              </a:rPr>
              <a:t>理由:</a:t>
            </a:r>
          </a:p>
          <a:p>
            <a:pPr algn="l"/>
            <a:r>
              <a:rPr sz="1300" b="0">
                <a:solidFill>
                  <a:srgbClr val="5A5A5A"/>
                </a:solidFill>
                <a:latin typeface="Yu Gothic"/>
                <a:ea typeface="Yu Gothic"/>
              </a:rPr>
              <a:t>  ・過去 → すでに観測済み、誤差ゼロ</a:t>
            </a:r>
          </a:p>
          <a:p>
            <a:pPr algn="l"/>
            <a:r>
              <a:rPr sz="1300" b="0">
                <a:solidFill>
                  <a:srgbClr val="5A5A5A"/>
                </a:solidFill>
                <a:latin typeface="Yu Gothic"/>
                <a:ea typeface="Yu Gothic"/>
              </a:rPr>
              <a:t>  ・未来 → 観測は存在しない、予報が唯一</a:t>
            </a:r>
          </a:p>
          <a:p>
            <a:pPr algn="l"/>
            <a:r>
              <a:rPr sz="1300" b="0">
                <a:solidFill>
                  <a:srgbClr val="5A5A5A"/>
                </a:solidFill>
                <a:latin typeface="Yu Gothic"/>
                <a:ea typeface="Yu Gothic"/>
              </a:rPr>
              <a:t/>
            </a:r>
          </a:p>
          <a:p>
            <a:pPr algn="l"/>
            <a:r>
              <a:rPr sz="1300" b="0">
                <a:solidFill>
                  <a:srgbClr val="5A5A5A"/>
                </a:solidFill>
                <a:latin typeface="Yu Gothic"/>
                <a:ea typeface="Yu Gothic"/>
              </a:rPr>
              <a:t>結果:</a:t>
            </a:r>
          </a:p>
          <a:p>
            <a:pPr algn="l"/>
            <a:r>
              <a:rPr sz="1300" b="0">
                <a:solidFill>
                  <a:srgbClr val="5A5A5A"/>
                </a:solidFill>
                <a:latin typeface="Yu Gothic"/>
                <a:ea typeface="Yu Gothic"/>
              </a:rPr>
              <a:t>  訓練データの精度を保ちつつ、</a:t>
            </a:r>
          </a:p>
          <a:p>
            <a:pPr algn="l"/>
            <a:r>
              <a:rPr sz="1300" b="0">
                <a:solidFill>
                  <a:srgbClr val="5A5A5A"/>
                </a:solidFill>
                <a:latin typeface="Yu Gothic"/>
                <a:ea typeface="Yu Gothic"/>
              </a:rPr>
              <a:t>  実運用での再現性も担保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003B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36576"/>
            <a:ext cx="73152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Yu Gothic"/>
                <a:ea typeface="Yu Gothic"/>
              </a:rPr>
              <a:t>省エネ研究 (山口大学)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"/>
            <a:ext cx="14630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Yu Gothic"/>
                <a:ea typeface="Yu Gothic"/>
              </a:rPr>
              <a:t>Slide 4 / 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003B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656832"/>
            <a:ext cx="914400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  <a:latin typeface="Yu Gothic"/>
                <a:ea typeface="Yu Gothic"/>
              </a:rPr>
              <a:t>山口大学 (Yamaguchi University) — 省エネ研究会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57200"/>
            <a:ext cx="11430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003B71"/>
                </a:solidFill>
                <a:latin typeface="Yu Gothic"/>
                <a:ea typeface="Yu Gothic"/>
              </a:rPr>
              <a:t>データと前処理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024128"/>
            <a:ext cx="1097280" cy="54864"/>
          </a:xfrm>
          <a:prstGeom prst="rect">
            <a:avLst/>
          </a:prstGeom>
          <a:solidFill>
            <a:srgbClr val="E7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A5A5A"/>
                </a:solidFill>
                <a:latin typeface="Yu Gothic"/>
                <a:ea typeface="Yu Gothic"/>
              </a:rPr>
              <a:t>有効データ範囲: 2025-07-20 → 2025-10-26  (2,145 時間)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82880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03B71"/>
                </a:solidFill>
                <a:latin typeface="Yu Gothic"/>
                <a:ea typeface="Yu Gothic"/>
              </a:rPr>
              <a:t>■ 使用したデータ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286000"/>
            <a:ext cx="502920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A5A5A"/>
                </a:solidFill>
                <a:latin typeface="Yu Gothic"/>
                <a:ea typeface="Yu Gothic"/>
              </a:rPr>
              <a:t>1. キャンパス電力 (1時間値)</a:t>
            </a:r>
          </a:p>
          <a:p>
            <a:pPr algn="l"/>
            <a:r>
              <a:rPr sz="1250" b="0">
                <a:solidFill>
                  <a:srgbClr val="5A5A5A"/>
                </a:solidFill>
                <a:latin typeface="Yu Gothic"/>
                <a:ea typeface="Yu Gothic"/>
              </a:rPr>
              <a:t>    建物 b00 〜 b15, 計15棟</a:t>
            </a:r>
          </a:p>
          <a:p>
            <a:pPr algn="l"/>
            <a:r>
              <a:rPr sz="1250" b="0">
                <a:solidFill>
                  <a:srgbClr val="5A5A5A"/>
                </a:solidFill>
                <a:latin typeface="Yu Gothic"/>
                <a:ea typeface="Yu Gothic"/>
              </a:rPr>
              <a:t>    本研究は b00 (主棟) を対象</a:t>
            </a:r>
          </a:p>
          <a:p>
            <a:pPr algn="l"/>
            <a:r>
              <a:rPr sz="1250" b="0">
                <a:solidFill>
                  <a:srgbClr val="5A5A5A"/>
                </a:solidFill>
                <a:latin typeface="Yu Gothic"/>
                <a:ea typeface="Yu Gothic"/>
              </a:rPr>
              <a:t/>
            </a:r>
          </a:p>
          <a:p>
            <a:pPr algn="l"/>
            <a:r>
              <a:rPr sz="1250" b="0">
                <a:solidFill>
                  <a:srgbClr val="5A5A5A"/>
                </a:solidFill>
                <a:latin typeface="Yu Gothic"/>
                <a:ea typeface="Yu Gothic"/>
              </a:rPr>
              <a:t>2. 気象観測 (ERA5 / AMeDAS同等)</a:t>
            </a:r>
          </a:p>
          <a:p>
            <a:pPr algn="l"/>
            <a:r>
              <a:rPr sz="1250" b="0">
                <a:solidFill>
                  <a:srgbClr val="5A5A5A"/>
                </a:solidFill>
                <a:latin typeface="Yu Gothic"/>
                <a:ea typeface="Yu Gothic"/>
              </a:rPr>
              <a:t>    気温・湿度・日射量・WBGT等</a:t>
            </a:r>
          </a:p>
          <a:p>
            <a:pPr algn="l"/>
            <a:r>
              <a:rPr sz="1250" b="0">
                <a:solidFill>
                  <a:srgbClr val="5A5A5A"/>
                </a:solidFill>
                <a:latin typeface="Yu Gothic"/>
                <a:ea typeface="Yu Gothic"/>
              </a:rPr>
              <a:t/>
            </a:r>
          </a:p>
          <a:p>
            <a:pPr algn="l"/>
            <a:r>
              <a:rPr sz="1250" b="0">
                <a:solidFill>
                  <a:srgbClr val="5A5A5A"/>
                </a:solidFill>
                <a:latin typeface="Yu Gothic"/>
                <a:ea typeface="Yu Gothic"/>
              </a:rPr>
              <a:t>3. 気象予報 (JMA MSM, 5km)</a:t>
            </a:r>
          </a:p>
          <a:p>
            <a:pPr algn="l"/>
            <a:r>
              <a:rPr sz="1250" b="0">
                <a:solidFill>
                  <a:srgbClr val="5A5A5A"/>
                </a:solidFill>
                <a:latin typeface="Yu Gothic"/>
                <a:ea typeface="Yu Gothic"/>
              </a:rPr>
              <a:t>    最大39時間先まで利用可能</a:t>
            </a:r>
          </a:p>
          <a:p>
            <a:pPr algn="l"/>
            <a:r>
              <a:rPr sz="1250" b="0">
                <a:solidFill>
                  <a:srgbClr val="5A5A5A"/>
                </a:solidFill>
                <a:latin typeface="Yu Gothic"/>
                <a:ea typeface="Yu Gothic"/>
              </a:rPr>
              <a:t/>
            </a:r>
          </a:p>
          <a:p>
            <a:pPr algn="l"/>
            <a:r>
              <a:rPr sz="1250" b="0">
                <a:solidFill>
                  <a:srgbClr val="5A5A5A"/>
                </a:solidFill>
                <a:latin typeface="Yu Gothic"/>
                <a:ea typeface="Yu Gothic"/>
              </a:rPr>
              <a:t>4. カレンダー (営業日, 休日, 曜日)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1828800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03B71"/>
                </a:solidFill>
                <a:latin typeface="Yu Gothic"/>
                <a:ea typeface="Yu Gothic"/>
              </a:rPr>
              <a:t>■ データクリーニング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2286000"/>
            <a:ext cx="594360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A5A5A"/>
                </a:solidFill>
                <a:latin typeface="Yu Gothic"/>
                <a:ea typeface="Yu Gothic"/>
              </a:rPr>
              <a:t>・センサー停止期間を除外:</a:t>
            </a:r>
          </a:p>
          <a:p>
            <a:pPr algn="l"/>
            <a:r>
              <a:rPr sz="1250" b="0">
                <a:solidFill>
                  <a:srgbClr val="5A5A5A"/>
                </a:solidFill>
                <a:latin typeface="Yu Gothic"/>
                <a:ea typeface="Yu Gothic"/>
              </a:rPr>
              <a:t>    2025-09-24 (14時間ゼロ)</a:t>
            </a:r>
          </a:p>
          <a:p>
            <a:pPr algn="l"/>
            <a:r>
              <a:rPr sz="1250" b="0">
                <a:solidFill>
                  <a:srgbClr val="5A5A5A"/>
                </a:solidFill>
                <a:latin typeface="Yu Gothic"/>
                <a:ea typeface="Yu Gothic"/>
              </a:rPr>
              <a:t>    2025-10-27 〜 10-31 (5日間ゼロ)</a:t>
            </a:r>
          </a:p>
          <a:p>
            <a:pPr algn="l"/>
            <a:r>
              <a:rPr sz="1250" b="0">
                <a:solidFill>
                  <a:srgbClr val="5A5A5A"/>
                </a:solidFill>
                <a:latin typeface="Yu Gothic"/>
                <a:ea typeface="Yu Gothic"/>
              </a:rPr>
              <a:t/>
            </a:r>
          </a:p>
          <a:p>
            <a:pPr algn="l"/>
            <a:r>
              <a:rPr sz="1250" b="0">
                <a:solidFill>
                  <a:srgbClr val="5A5A5A"/>
                </a:solidFill>
                <a:latin typeface="Yu Gothic"/>
                <a:ea typeface="Yu Gothic"/>
              </a:rPr>
              <a:t>・有効サンプル数:</a:t>
            </a:r>
          </a:p>
          <a:p>
            <a:pPr algn="l"/>
            <a:r>
              <a:rPr sz="1250" b="0">
                <a:solidFill>
                  <a:srgbClr val="5A5A5A"/>
                </a:solidFill>
                <a:latin typeface="Yu Gothic"/>
                <a:ea typeface="Yu Gothic"/>
              </a:rPr>
              <a:t>    学習: 1,501 時間 (2025-07-20 → 2025-09-20)</a:t>
            </a:r>
          </a:p>
          <a:p>
            <a:pPr algn="l"/>
            <a:r>
              <a:rPr sz="1250" b="0">
                <a:solidFill>
                  <a:srgbClr val="5A5A5A"/>
                </a:solidFill>
                <a:latin typeface="Yu Gothic"/>
                <a:ea typeface="Yu Gothic"/>
              </a:rPr>
              <a:t>    テスト: 644 時間 (2025-09-20 → 2025-10-26)</a:t>
            </a:r>
          </a:p>
          <a:p>
            <a:pPr algn="l"/>
            <a:r>
              <a:rPr sz="1250" b="0">
                <a:solidFill>
                  <a:srgbClr val="5A5A5A"/>
                </a:solidFill>
                <a:latin typeface="Yu Gothic"/>
                <a:ea typeface="Yu Gothic"/>
              </a:rPr>
              <a:t/>
            </a:r>
          </a:p>
          <a:p>
            <a:pPr algn="l"/>
            <a:r>
              <a:rPr sz="1250" b="0">
                <a:solidFill>
                  <a:srgbClr val="5A5A5A"/>
                </a:solidFill>
                <a:latin typeface="Yu Gothic"/>
                <a:ea typeface="Yu Gothic"/>
              </a:rPr>
              <a:t>・分割比: 時系列 70 : 30</a:t>
            </a:r>
          </a:p>
          <a:p>
            <a:pPr algn="l"/>
            <a:r>
              <a:rPr sz="1250" b="0">
                <a:solidFill>
                  <a:srgbClr val="5A5A5A"/>
                </a:solidFill>
                <a:latin typeface="Yu Gothic"/>
                <a:ea typeface="Yu Gothic"/>
              </a:rPr>
              <a:t>    未来データを学習に使わない</a:t>
            </a:r>
          </a:p>
          <a:p>
            <a:pPr algn="l"/>
            <a:r>
              <a:rPr sz="1250" b="0">
                <a:solidFill>
                  <a:srgbClr val="5A5A5A"/>
                </a:solidFill>
                <a:latin typeface="Yu Gothic"/>
                <a:ea typeface="Yu Gothic"/>
              </a:rPr>
              <a:t>    (リーク防止)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003B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36576"/>
            <a:ext cx="73152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Yu Gothic"/>
                <a:ea typeface="Yu Gothic"/>
              </a:rPr>
              <a:t>省エネ研究 (山口大学)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"/>
            <a:ext cx="14630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Yu Gothic"/>
                <a:ea typeface="Yu Gothic"/>
              </a:rPr>
              <a:t>Slide 5 / 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003B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656832"/>
            <a:ext cx="914400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  <a:latin typeface="Yu Gothic"/>
                <a:ea typeface="Yu Gothic"/>
              </a:rPr>
              <a:t>山口大学 (Yamaguchi University) — 省エネ研究会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57200"/>
            <a:ext cx="11430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003B71"/>
                </a:solidFill>
                <a:latin typeface="Yu Gothic"/>
                <a:ea typeface="Yu Gothic"/>
              </a:rPr>
              <a:t>学習データとテストデータ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024128"/>
            <a:ext cx="1097280" cy="54864"/>
          </a:xfrm>
          <a:prstGeom prst="rect">
            <a:avLst/>
          </a:prstGeom>
          <a:solidFill>
            <a:srgbClr val="E7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A5A5A"/>
                </a:solidFill>
                <a:latin typeface="Yu Gothic"/>
                <a:ea typeface="Yu Gothic"/>
              </a:rPr>
              <a:t>学習 1,501 h (2025-07-20 → 2025-09-20)  →  テスト 644 h (2025-09-20 → 2025-10-26)</a:t>
            </a:r>
          </a:p>
        </p:txBody>
      </p:sp>
      <p:pic>
        <p:nvPicPr>
          <p:cNvPr id="10" name="Picture 9" descr="pres_07_train_test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28800"/>
            <a:ext cx="11430000" cy="311727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5760" y="5120640"/>
            <a:ext cx="11430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78A00"/>
                </a:solidFill>
                <a:latin typeface="Yu Gothic"/>
                <a:ea typeface="Yu Gothic"/>
              </a:rPr>
              <a:t>■ ポイント: テスト期間 (オレンジ) のデータは学習に一切使用していない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5577840"/>
            <a:ext cx="11430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A5A5A"/>
                </a:solidFill>
                <a:latin typeface="Yu Gothic"/>
                <a:ea typeface="Yu Gothic"/>
              </a:rPr>
              <a:t>・夏 (7〜9月) のピーク日で学習し、晩夏〜秋初 (9月後半〜10月) で性能評価。</a:t>
            </a:r>
          </a:p>
          <a:p>
            <a:pPr algn="l"/>
            <a:r>
              <a:rPr sz="1200" b="0">
                <a:solidFill>
                  <a:srgbClr val="5A5A5A"/>
                </a:solidFill>
                <a:latin typeface="Yu Gothic"/>
                <a:ea typeface="Yu Gothic"/>
              </a:rPr>
              <a:t>・テスト期間にも複数のピーク日が含まれ、SDR発令判断の検証に適切。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003B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36576"/>
            <a:ext cx="73152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Yu Gothic"/>
                <a:ea typeface="Yu Gothic"/>
              </a:rPr>
              <a:t>省エネ研究 (山口大学)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"/>
            <a:ext cx="14630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Yu Gothic"/>
                <a:ea typeface="Yu Gothic"/>
              </a:rPr>
              <a:t>Slide 6 / 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003B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656832"/>
            <a:ext cx="914400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  <a:latin typeface="Yu Gothic"/>
                <a:ea typeface="Yu Gothic"/>
              </a:rPr>
              <a:t>山口大学 (Yamaguchi University) — 省エネ研究会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57200"/>
            <a:ext cx="11430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003B71"/>
                </a:solidFill>
                <a:latin typeface="Yu Gothic"/>
                <a:ea typeface="Yu Gothic"/>
              </a:rPr>
              <a:t>日内負荷パターンの月別比較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024128"/>
            <a:ext cx="1097280" cy="54864"/>
          </a:xfrm>
          <a:prstGeom prst="rect">
            <a:avLst/>
          </a:prstGeom>
          <a:solidFill>
            <a:srgbClr val="E7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A5A5A"/>
                </a:solidFill>
                <a:latin typeface="Yu Gothic"/>
                <a:ea typeface="Yu Gothic"/>
              </a:rPr>
              <a:t>7月のピークが最も高く、午後14〜15時にピーク</a:t>
            </a:r>
          </a:p>
        </p:txBody>
      </p:sp>
      <p:pic>
        <p:nvPicPr>
          <p:cNvPr id="10" name="Picture 9" descr="pres_01_overview_daily_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28800"/>
            <a:ext cx="11430000" cy="642937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5760" y="5943600"/>
            <a:ext cx="11430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A5A5A"/>
                </a:solidFill>
                <a:latin typeface="Yu Gothic"/>
                <a:ea typeface="Yu Gothic"/>
              </a:rPr>
              <a:t>・7月 (赤): 14時頃に1,360 kW のピーク      ・10月 (紺): ピークが下がり1,040 kW</a:t>
            </a:r>
          </a:p>
          <a:p>
            <a:pPr algn="l"/>
            <a:r>
              <a:rPr sz="1200" b="0">
                <a:solidFill>
                  <a:srgbClr val="5A5A5A"/>
                </a:solidFill>
                <a:latin typeface="Yu Gothic"/>
                <a:ea typeface="Yu Gothic"/>
              </a:rPr>
              <a:t>・全月共通: 5〜6時に最低 → 14〜15時にピーク → 夜間に減少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003B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36576"/>
            <a:ext cx="73152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Yu Gothic"/>
                <a:ea typeface="Yu Gothic"/>
              </a:rPr>
              <a:t>省エネ研究 (山口大学)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"/>
            <a:ext cx="14630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Yu Gothic"/>
                <a:ea typeface="Yu Gothic"/>
              </a:rPr>
              <a:t>Slide 7 / 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003B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656832"/>
            <a:ext cx="914400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  <a:latin typeface="Yu Gothic"/>
                <a:ea typeface="Yu Gothic"/>
              </a:rPr>
              <a:t>山口大学 (Yamaguchi University) — 省エネ研究会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57200"/>
            <a:ext cx="11430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003B71"/>
                </a:solidFill>
                <a:latin typeface="Yu Gothic"/>
                <a:ea typeface="Yu Gothic"/>
              </a:rPr>
              <a:t>結果① テスト期間の予測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024128"/>
            <a:ext cx="1097280" cy="54864"/>
          </a:xfrm>
          <a:prstGeom prst="rect">
            <a:avLst/>
          </a:prstGeom>
          <a:solidFill>
            <a:srgbClr val="E7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A5A5A"/>
                </a:solidFill>
                <a:latin typeface="Yu Gothic"/>
                <a:ea typeface="Yu Gothic"/>
              </a:rPr>
              <a:t>提案手法 (Hybrid):  MAE = 54.0 kW,  R² = 0.905,  MAPE = 7.28%</a:t>
            </a:r>
          </a:p>
        </p:txBody>
      </p:sp>
      <p:pic>
        <p:nvPicPr>
          <p:cNvPr id="10" name="Picture 9" descr="pres_04_holdout_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737360"/>
            <a:ext cx="11430000" cy="467590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5760" y="576072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03B71"/>
                </a:solidFill>
                <a:latin typeface="Yu Gothic"/>
                <a:ea typeface="Yu Gothic"/>
              </a:rPr>
              <a:t>■ 青: 実測値    オレンジ: 予測値    赤点線: P80閾値 (SDR発令検討基準)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217920"/>
            <a:ext cx="11430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A5A5A"/>
                </a:solidFill>
                <a:latin typeface="Yu Gothic"/>
                <a:ea typeface="Yu Gothic"/>
              </a:rPr>
              <a:t>・予測線は実測線を概ね追従。複数のピーク日 (10/07, 10/14, 10/22) を正しく捕捉。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003B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36576"/>
            <a:ext cx="73152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Yu Gothic"/>
                <a:ea typeface="Yu Gothic"/>
              </a:rPr>
              <a:t>省エネ研究 (山口大学)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"/>
            <a:ext cx="14630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Yu Gothic"/>
                <a:ea typeface="Yu Gothic"/>
              </a:rPr>
              <a:t>Slide 8 / 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003B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656832"/>
            <a:ext cx="914400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  <a:latin typeface="Yu Gothic"/>
                <a:ea typeface="Yu Gothic"/>
              </a:rPr>
              <a:t>山口大学 (Yamaguchi University) — 省エネ研究会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57200"/>
            <a:ext cx="11430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003B71"/>
                </a:solidFill>
                <a:latin typeface="Yu Gothic"/>
                <a:ea typeface="Yu Gothic"/>
              </a:rPr>
              <a:t>結果② 予測 vs 実測の対応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024128"/>
            <a:ext cx="1097280" cy="54864"/>
          </a:xfrm>
          <a:prstGeom prst="rect">
            <a:avLst/>
          </a:prstGeom>
          <a:solidFill>
            <a:srgbClr val="E7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A5A5A"/>
                </a:solidFill>
                <a:latin typeface="Yu Gothic"/>
                <a:ea typeface="Yu Gothic"/>
              </a:rPr>
              <a:t>散布図で見る予測精度  —  MAE 54.0 kW, MAPE 7.28%</a:t>
            </a:r>
          </a:p>
        </p:txBody>
      </p:sp>
      <p:pic>
        <p:nvPicPr>
          <p:cNvPr id="10" name="Picture 9" descr="pres_05_pred_vs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28800"/>
            <a:ext cx="5943600" cy="54483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58000" y="182880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03B71"/>
                </a:solidFill>
                <a:latin typeface="Yu Gothic"/>
                <a:ea typeface="Yu Gothic"/>
              </a:rPr>
              <a:t>■ 3アーキテクチャの精度比較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0" y="2286000"/>
            <a:ext cx="2011680" cy="411480"/>
          </a:xfrm>
          <a:prstGeom prst="rect">
            <a:avLst/>
          </a:prstGeom>
          <a:solidFill>
            <a:srgbClr val="003B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03720" y="2322576"/>
            <a:ext cx="192024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  <a:ea typeface="Yu Gothic"/>
              </a:rPr>
              <a:t>手法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69680" y="2286000"/>
            <a:ext cx="1005840" cy="411480"/>
          </a:xfrm>
          <a:prstGeom prst="rect">
            <a:avLst/>
          </a:prstGeom>
          <a:solidFill>
            <a:srgbClr val="003B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15400" y="2322576"/>
            <a:ext cx="91440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  <a:ea typeface="Yu Gothic"/>
              </a:rPr>
              <a:t>MAE(kW)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875520" y="2286000"/>
            <a:ext cx="914400" cy="411480"/>
          </a:xfrm>
          <a:prstGeom prst="rect">
            <a:avLst/>
          </a:prstGeom>
          <a:solidFill>
            <a:srgbClr val="003B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21240" y="2322576"/>
            <a:ext cx="82296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  <a:ea typeface="Yu Gothic"/>
              </a:rPr>
              <a:t>R²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789920" y="2286000"/>
            <a:ext cx="914400" cy="411480"/>
          </a:xfrm>
          <a:prstGeom prst="rect">
            <a:avLst/>
          </a:prstGeom>
          <a:solidFill>
            <a:srgbClr val="003B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35640" y="2322576"/>
            <a:ext cx="82296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  <a:ea typeface="Yu Gothic"/>
              </a:rPr>
              <a:t>MAPE(%)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0" y="2697480"/>
            <a:ext cx="2011680" cy="4114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03720" y="2734056"/>
            <a:ext cx="192024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5A5A5A"/>
                </a:solidFill>
                <a:latin typeface="Yu Gothic"/>
                <a:ea typeface="Yu Gothic"/>
              </a:rPr>
              <a:t>A: 観測のみ (上限)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869680" y="2697480"/>
            <a:ext cx="1005840" cy="4114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15400" y="2734056"/>
            <a:ext cx="91440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5A5A5A"/>
                </a:solidFill>
                <a:latin typeface="Yu Gothic"/>
                <a:ea typeface="Yu Gothic"/>
              </a:rPr>
              <a:t>50.7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875520" y="2697480"/>
            <a:ext cx="914400" cy="4114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21240" y="2734056"/>
            <a:ext cx="82296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5A5A5A"/>
                </a:solidFill>
                <a:latin typeface="Yu Gothic"/>
                <a:ea typeface="Yu Gothic"/>
              </a:rPr>
              <a:t>0.915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789920" y="2697480"/>
            <a:ext cx="914400" cy="4114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835640" y="2734056"/>
            <a:ext cx="82296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5A5A5A"/>
                </a:solidFill>
                <a:latin typeface="Yu Gothic"/>
                <a:ea typeface="Yu Gothic"/>
              </a:rPr>
              <a:t>6.96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0" y="3108960"/>
            <a:ext cx="201168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03720" y="3145536"/>
            <a:ext cx="192024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5A5A5A"/>
                </a:solidFill>
                <a:latin typeface="Yu Gothic"/>
                <a:ea typeface="Yu Gothic"/>
              </a:rPr>
              <a:t>B: 予報のみ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869680" y="3108960"/>
            <a:ext cx="100584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15400" y="3145536"/>
            <a:ext cx="91440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5A5A5A"/>
                </a:solidFill>
                <a:latin typeface="Yu Gothic"/>
                <a:ea typeface="Yu Gothic"/>
              </a:rPr>
              <a:t>59.7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875520" y="3108960"/>
            <a:ext cx="914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921240" y="3145536"/>
            <a:ext cx="82296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5A5A5A"/>
                </a:solidFill>
                <a:latin typeface="Yu Gothic"/>
                <a:ea typeface="Yu Gothic"/>
              </a:rPr>
              <a:t>0.883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789920" y="3108960"/>
            <a:ext cx="914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835640" y="3145536"/>
            <a:ext cx="82296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5A5A5A"/>
                </a:solidFill>
                <a:latin typeface="Yu Gothic"/>
                <a:ea typeface="Yu Gothic"/>
              </a:rPr>
              <a:t>7.93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58000" y="3520440"/>
            <a:ext cx="2011680" cy="411480"/>
          </a:xfrm>
          <a:prstGeom prst="rect">
            <a:avLst/>
          </a:prstGeom>
          <a:solidFill>
            <a:srgbClr val="FDE9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03720" y="3557016"/>
            <a:ext cx="192024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8102E"/>
                </a:solidFill>
                <a:latin typeface="Yu Gothic"/>
                <a:ea typeface="Yu Gothic"/>
              </a:rPr>
              <a:t>C: Hybrid (本研究)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869680" y="3520440"/>
            <a:ext cx="1005840" cy="411480"/>
          </a:xfrm>
          <a:prstGeom prst="rect">
            <a:avLst/>
          </a:prstGeom>
          <a:solidFill>
            <a:srgbClr val="FDE9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915400" y="3557016"/>
            <a:ext cx="91440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8102E"/>
                </a:solidFill>
                <a:latin typeface="Yu Gothic"/>
                <a:ea typeface="Yu Gothic"/>
              </a:rPr>
              <a:t>54.0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875520" y="3520440"/>
            <a:ext cx="914400" cy="411480"/>
          </a:xfrm>
          <a:prstGeom prst="rect">
            <a:avLst/>
          </a:prstGeom>
          <a:solidFill>
            <a:srgbClr val="FDE9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921240" y="3557016"/>
            <a:ext cx="82296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8102E"/>
                </a:solidFill>
                <a:latin typeface="Yu Gothic"/>
                <a:ea typeface="Yu Gothic"/>
              </a:rPr>
              <a:t>0.905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789920" y="3520440"/>
            <a:ext cx="914400" cy="411480"/>
          </a:xfrm>
          <a:prstGeom prst="rect">
            <a:avLst/>
          </a:prstGeom>
          <a:solidFill>
            <a:srgbClr val="FDE9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835640" y="3557016"/>
            <a:ext cx="82296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8102E"/>
                </a:solidFill>
                <a:latin typeface="Yu Gothic"/>
                <a:ea typeface="Yu Gothic"/>
              </a:rPr>
              <a:t>7.28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0" y="420624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03B71"/>
                </a:solidFill>
                <a:latin typeface="Yu Gothic"/>
                <a:ea typeface="Yu Gothic"/>
              </a:rPr>
              <a:t>■ ポイント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58000" y="4572000"/>
            <a:ext cx="50292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A5A5A"/>
                </a:solidFill>
                <a:latin typeface="Yu Gothic"/>
                <a:ea typeface="Yu Gothic"/>
              </a:rPr>
              <a:t>・C (Hybrid) は B より MAE 10%改善</a:t>
            </a:r>
          </a:p>
          <a:p>
            <a:pPr algn="l"/>
            <a:r>
              <a:rPr sz="1250" b="0">
                <a:solidFill>
                  <a:srgbClr val="5A5A5A"/>
                </a:solidFill>
                <a:latin typeface="Yu Gothic"/>
                <a:ea typeface="Yu Gothic"/>
              </a:rPr>
              <a:t>  (59.7 → 54.0 kW)</a:t>
            </a:r>
          </a:p>
          <a:p>
            <a:pPr algn="l"/>
            <a:r>
              <a:rPr sz="1250" b="0">
                <a:solidFill>
                  <a:srgbClr val="5A5A5A"/>
                </a:solidFill>
                <a:latin typeface="Yu Gothic"/>
                <a:ea typeface="Yu Gothic"/>
              </a:rPr>
              <a:t/>
            </a:r>
          </a:p>
          <a:p>
            <a:pPr algn="l"/>
            <a:r>
              <a:rPr sz="1250" b="0">
                <a:solidFill>
                  <a:srgbClr val="5A5A5A"/>
                </a:solidFill>
                <a:latin typeface="Yu Gothic"/>
                <a:ea typeface="Yu Gothic"/>
              </a:rPr>
              <a:t>・A (上限) との差はわずか 6%</a:t>
            </a:r>
          </a:p>
          <a:p>
            <a:pPr algn="l"/>
            <a:r>
              <a:rPr sz="1250" b="0">
                <a:solidFill>
                  <a:srgbClr val="5A5A5A"/>
                </a:solidFill>
                <a:latin typeface="Yu Gothic"/>
                <a:ea typeface="Yu Gothic"/>
              </a:rPr>
              <a:t>  (50.7 → 54.0 kW)</a:t>
            </a:r>
          </a:p>
          <a:p>
            <a:pPr algn="l"/>
            <a:r>
              <a:rPr sz="1250" b="0">
                <a:solidFill>
                  <a:srgbClr val="5A5A5A"/>
                </a:solidFill>
                <a:latin typeface="Yu Gothic"/>
                <a:ea typeface="Yu Gothic"/>
              </a:rPr>
              <a:t/>
            </a:r>
          </a:p>
          <a:p>
            <a:pPr algn="l"/>
            <a:r>
              <a:rPr sz="1250" b="0">
                <a:solidFill>
                  <a:srgbClr val="5A5A5A"/>
                </a:solidFill>
                <a:latin typeface="Yu Gothic"/>
                <a:ea typeface="Yu Gothic"/>
              </a:rPr>
              <a:t>・上限値に迫る精度を実運用で実現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003B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36576"/>
            <a:ext cx="73152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Yu Gothic"/>
                <a:ea typeface="Yu Gothic"/>
              </a:rPr>
              <a:t>省エネ研究 (山口大学)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"/>
            <a:ext cx="14630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Yu Gothic"/>
                <a:ea typeface="Yu Gothic"/>
              </a:rPr>
              <a:t>Slide 9 / 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003B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656832"/>
            <a:ext cx="914400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  <a:latin typeface="Yu Gothic"/>
                <a:ea typeface="Yu Gothic"/>
              </a:rPr>
              <a:t>山口大学 (Yamaguchi University) — 省エネ研究会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57200"/>
            <a:ext cx="11430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003B71"/>
                </a:solidFill>
                <a:latin typeface="Yu Gothic"/>
                <a:ea typeface="Yu Gothic"/>
              </a:rPr>
              <a:t>結果③ 何が予測を決めているか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024128"/>
            <a:ext cx="1097280" cy="54864"/>
          </a:xfrm>
          <a:prstGeom prst="rect">
            <a:avLst/>
          </a:prstGeom>
          <a:solidFill>
            <a:srgbClr val="E7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A5A5A"/>
                </a:solidFill>
                <a:latin typeface="Yu Gothic"/>
                <a:ea typeface="Yu Gothic"/>
              </a:rPr>
              <a:t>SHAP値で見る上位特徴量</a:t>
            </a:r>
          </a:p>
        </p:txBody>
      </p:sp>
      <p:pic>
        <p:nvPicPr>
          <p:cNvPr id="10" name="Picture 9" descr="pres_06_shap_top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28800"/>
            <a:ext cx="7315200" cy="4114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863840" y="182880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03B71"/>
                </a:solidFill>
                <a:latin typeface="Yu Gothic"/>
                <a:ea typeface="Yu Gothic"/>
              </a:rPr>
              <a:t>■ 解釈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2286000"/>
            <a:ext cx="411480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A5A5A"/>
                </a:solidFill>
                <a:latin typeface="Yu Gothic"/>
                <a:ea typeface="Yu Gothic"/>
              </a:rPr>
              <a:t>1. 前週同時刻の負荷が最重要</a:t>
            </a:r>
          </a:p>
          <a:p>
            <a:pPr algn="l"/>
            <a:r>
              <a:rPr sz="1250" b="0">
                <a:solidFill>
                  <a:srgbClr val="5A5A5A"/>
                </a:solidFill>
                <a:latin typeface="Yu Gothic"/>
                <a:ea typeface="Yu Gothic"/>
              </a:rPr>
              <a:t>    → 週周期パターンが強い</a:t>
            </a:r>
          </a:p>
          <a:p>
            <a:pPr algn="l"/>
            <a:r>
              <a:rPr sz="1250" b="0">
                <a:solidFill>
                  <a:srgbClr val="5A5A5A"/>
                </a:solidFill>
                <a:latin typeface="Yu Gothic"/>
                <a:ea typeface="Yu Gothic"/>
              </a:rPr>
              <a:t/>
            </a:r>
          </a:p>
          <a:p>
            <a:pPr algn="l"/>
            <a:r>
              <a:rPr sz="1250" b="0">
                <a:solidFill>
                  <a:srgbClr val="5A5A5A"/>
                </a:solidFill>
                <a:latin typeface="Yu Gothic"/>
                <a:ea typeface="Yu Gothic"/>
              </a:rPr>
              <a:t>2. 営業日 / 休日フラグ</a:t>
            </a:r>
          </a:p>
          <a:p>
            <a:pPr algn="l"/>
            <a:r>
              <a:rPr sz="1250" b="0">
                <a:solidFill>
                  <a:srgbClr val="5A5A5A"/>
                </a:solidFill>
                <a:latin typeface="Yu Gothic"/>
                <a:ea typeface="Yu Gothic"/>
              </a:rPr>
              <a:t>    → 平日と休日で大差</a:t>
            </a:r>
          </a:p>
          <a:p>
            <a:pPr algn="l"/>
            <a:r>
              <a:rPr sz="1250" b="0">
                <a:solidFill>
                  <a:srgbClr val="5A5A5A"/>
                </a:solidFill>
                <a:latin typeface="Yu Gothic"/>
                <a:ea typeface="Yu Gothic"/>
              </a:rPr>
              <a:t/>
            </a:r>
          </a:p>
          <a:p>
            <a:pPr algn="l"/>
            <a:r>
              <a:rPr sz="1250" b="0">
                <a:solidFill>
                  <a:srgbClr val="5A5A5A"/>
                </a:solidFill>
                <a:latin typeface="Yu Gothic"/>
                <a:ea typeface="Yu Gothic"/>
              </a:rPr>
              <a:t>3. 前日同時刻の気温</a:t>
            </a:r>
          </a:p>
          <a:p>
            <a:pPr algn="l"/>
            <a:r>
              <a:rPr sz="1250" b="0">
                <a:solidFill>
                  <a:srgbClr val="5A5A5A"/>
                </a:solidFill>
                <a:latin typeface="Yu Gothic"/>
                <a:ea typeface="Yu Gothic"/>
              </a:rPr>
              <a:t>    → 暑熱の連続性を反映</a:t>
            </a:r>
          </a:p>
          <a:p>
            <a:pPr algn="l"/>
            <a:r>
              <a:rPr sz="1250" b="0">
                <a:solidFill>
                  <a:srgbClr val="5A5A5A"/>
                </a:solidFill>
                <a:latin typeface="Yu Gothic"/>
                <a:ea typeface="Yu Gothic"/>
              </a:rPr>
              <a:t/>
            </a:r>
          </a:p>
          <a:p>
            <a:pPr algn="l"/>
            <a:r>
              <a:rPr sz="1250" b="0">
                <a:solidFill>
                  <a:srgbClr val="5A5A5A"/>
                </a:solidFill>
                <a:latin typeface="Yu Gothic"/>
                <a:ea typeface="Yu Gothic"/>
              </a:rPr>
              <a:t>4. 日射量 (予報)</a:t>
            </a:r>
          </a:p>
          <a:p>
            <a:pPr algn="l"/>
            <a:r>
              <a:rPr sz="1250" b="0">
                <a:solidFill>
                  <a:srgbClr val="5A5A5A"/>
                </a:solidFill>
                <a:latin typeface="Yu Gothic"/>
                <a:ea typeface="Yu Gothic"/>
              </a:rPr>
              <a:t>    → 翌日の冷房需要を予測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003B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36576"/>
            <a:ext cx="73152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Yu Gothic"/>
                <a:ea typeface="Yu Gothic"/>
              </a:rPr>
              <a:t>省エネ研究 (山口大学)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"/>
            <a:ext cx="14630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Yu Gothic"/>
                <a:ea typeface="Yu Gothic"/>
              </a:rPr>
              <a:t>Slide 10 / 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003B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656832"/>
            <a:ext cx="914400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  <a:latin typeface="Yu Gothic"/>
                <a:ea typeface="Yu Gothic"/>
              </a:rPr>
              <a:t>山口大学 (Yamaguchi University) — 省エネ研究会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57200"/>
            <a:ext cx="11430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003B71"/>
                </a:solidFill>
                <a:latin typeface="Yu Gothic"/>
                <a:ea typeface="Yu Gothic"/>
              </a:rPr>
              <a:t>まとめと今後の課題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024128"/>
            <a:ext cx="1097280" cy="54864"/>
          </a:xfrm>
          <a:prstGeom prst="rect">
            <a:avLst/>
          </a:prstGeom>
          <a:solidFill>
            <a:srgbClr val="E7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A5A5A"/>
                </a:solidFill>
                <a:latin typeface="Yu Gothic"/>
                <a:ea typeface="Yu Gothic"/>
              </a:rPr>
              <a:t>達成内容と次のステップ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828800"/>
            <a:ext cx="5669280" cy="457200"/>
          </a:xfrm>
          <a:prstGeom prst="rect">
            <a:avLst/>
          </a:prstGeom>
          <a:solidFill>
            <a:srgbClr val="003B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892807"/>
            <a:ext cx="5486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Yu Gothic"/>
                <a:ea typeface="Yu Gothic"/>
              </a:rPr>
              <a:t>■ 達成内容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286000"/>
            <a:ext cx="5669280" cy="3200400"/>
          </a:xfrm>
          <a:prstGeom prst="rect">
            <a:avLst/>
          </a:prstGeom>
          <a:solidFill>
            <a:srgbClr val="F4F6FA"/>
          </a:solidFill>
          <a:ln w="9525">
            <a:solidFill>
              <a:srgbClr val="003B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423160"/>
            <a:ext cx="539496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A5A5A"/>
                </a:solidFill>
                <a:latin typeface="Yu Gothic"/>
                <a:ea typeface="Yu Gothic"/>
              </a:rPr>
              <a:t>1. JMA予報を活用した翌日電力予測</a:t>
            </a:r>
          </a:p>
          <a:p>
            <a:pPr algn="l"/>
            <a:r>
              <a:rPr sz="1250" b="0">
                <a:solidFill>
                  <a:srgbClr val="5A5A5A"/>
                </a:solidFill>
                <a:latin typeface="Yu Gothic"/>
                <a:ea typeface="Yu Gothic"/>
              </a:rPr>
              <a:t>    システムを構築 </a:t>
            </a:r>
          </a:p>
          <a:p>
            <a:pPr algn="l"/>
            <a:r>
              <a:rPr sz="1250" b="0">
                <a:solidFill>
                  <a:srgbClr val="5A5A5A"/>
                </a:solidFill>
                <a:latin typeface="Yu Gothic"/>
                <a:ea typeface="Yu Gothic"/>
              </a:rPr>
              <a:t/>
            </a:r>
          </a:p>
          <a:p>
            <a:pPr algn="l"/>
            <a:r>
              <a:rPr sz="1250" b="0">
                <a:solidFill>
                  <a:srgbClr val="5A5A5A"/>
                </a:solidFill>
                <a:latin typeface="Yu Gothic"/>
                <a:ea typeface="Yu Gothic"/>
              </a:rPr>
              <a:t>2. ハイブリッド気象入力 (新手法)</a:t>
            </a:r>
          </a:p>
          <a:p>
            <a:pPr algn="l"/>
            <a:r>
              <a:rPr sz="1250" b="0">
                <a:solidFill>
                  <a:srgbClr val="5A5A5A"/>
                </a:solidFill>
                <a:latin typeface="Yu Gothic"/>
                <a:ea typeface="Yu Gothic"/>
              </a:rPr>
              <a:t>    過去=観測 + 未来=予報</a:t>
            </a:r>
          </a:p>
          <a:p>
            <a:pPr algn="l"/>
            <a:r>
              <a:rPr sz="1250" b="0">
                <a:solidFill>
                  <a:srgbClr val="5A5A5A"/>
                </a:solidFill>
                <a:latin typeface="Yu Gothic"/>
                <a:ea typeface="Yu Gothic"/>
              </a:rPr>
              <a:t/>
            </a:r>
          </a:p>
          <a:p>
            <a:pPr algn="l"/>
            <a:r>
              <a:rPr sz="1250" b="0">
                <a:solidFill>
                  <a:srgbClr val="5A5A5A"/>
                </a:solidFill>
                <a:latin typeface="Yu Gothic"/>
                <a:ea typeface="Yu Gothic"/>
              </a:rPr>
              <a:t>3. 達成精度:</a:t>
            </a:r>
          </a:p>
          <a:p>
            <a:pPr algn="l"/>
            <a:r>
              <a:rPr sz="1250" b="0">
                <a:solidFill>
                  <a:srgbClr val="5A5A5A"/>
                </a:solidFill>
                <a:latin typeface="Yu Gothic"/>
                <a:ea typeface="Yu Gothic"/>
              </a:rPr>
              <a:t>    MAE 54.0 kW (誤差 ~7%)</a:t>
            </a:r>
          </a:p>
          <a:p>
            <a:pPr algn="l"/>
            <a:r>
              <a:rPr sz="1250" b="0">
                <a:solidFill>
                  <a:srgbClr val="5A5A5A"/>
                </a:solidFill>
                <a:latin typeface="Yu Gothic"/>
                <a:ea typeface="Yu Gothic"/>
              </a:rPr>
              <a:t>    R² 0.905</a:t>
            </a:r>
          </a:p>
          <a:p>
            <a:pPr algn="l"/>
            <a:r>
              <a:rPr sz="1250" b="0">
                <a:solidFill>
                  <a:srgbClr val="5A5A5A"/>
                </a:solidFill>
                <a:latin typeface="Yu Gothic"/>
                <a:ea typeface="Yu Gothic"/>
              </a:rPr>
              <a:t/>
            </a:r>
          </a:p>
          <a:p>
            <a:pPr algn="l"/>
            <a:r>
              <a:rPr sz="1250" b="0">
                <a:solidFill>
                  <a:srgbClr val="5A5A5A"/>
                </a:solidFill>
                <a:latin typeface="Yu Gothic"/>
                <a:ea typeface="Yu Gothic"/>
              </a:rPr>
              <a:t>4. 上限値の94%の精度を実運用で実現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1828800"/>
            <a:ext cx="5577840" cy="457200"/>
          </a:xfrm>
          <a:prstGeom prst="rect">
            <a:avLst/>
          </a:prstGeom>
          <a:solidFill>
            <a:srgbClr val="E7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1892807"/>
            <a:ext cx="5394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Yu Gothic"/>
                <a:ea typeface="Yu Gothic"/>
              </a:rPr>
              <a:t>■ 今後の課題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63640" y="2286000"/>
            <a:ext cx="5577840" cy="3200400"/>
          </a:xfrm>
          <a:prstGeom prst="rect">
            <a:avLst/>
          </a:prstGeom>
          <a:solidFill>
            <a:srgbClr val="F4F6FA"/>
          </a:solidFill>
          <a:ln w="9525">
            <a:solidFill>
              <a:srgbClr val="E7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2423160"/>
            <a:ext cx="530352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A5A5A"/>
                </a:solidFill>
                <a:latin typeface="Yu Gothic"/>
                <a:ea typeface="Yu Gothic"/>
              </a:rPr>
              <a:t>1. 通年データへの拡張</a:t>
            </a:r>
          </a:p>
          <a:p>
            <a:pPr algn="l"/>
            <a:r>
              <a:rPr sz="1250" b="0">
                <a:solidFill>
                  <a:srgbClr val="5A5A5A"/>
                </a:solidFill>
                <a:latin typeface="Yu Gothic"/>
                <a:ea typeface="Yu Gothic"/>
              </a:rPr>
              <a:t>    冬季の暖房需要も検証</a:t>
            </a:r>
          </a:p>
          <a:p>
            <a:pPr algn="l"/>
            <a:r>
              <a:rPr sz="1250" b="0">
                <a:solidFill>
                  <a:srgbClr val="5A5A5A"/>
                </a:solidFill>
                <a:latin typeface="Yu Gothic"/>
                <a:ea typeface="Yu Gothic"/>
              </a:rPr>
              <a:t/>
            </a:r>
          </a:p>
          <a:p>
            <a:pPr algn="l"/>
            <a:r>
              <a:rPr sz="1250" b="0">
                <a:solidFill>
                  <a:srgbClr val="5A5A5A"/>
                </a:solidFill>
                <a:latin typeface="Yu Gothic"/>
                <a:ea typeface="Yu Gothic"/>
              </a:rPr>
              <a:t>2. 全15棟へのスケールアップ</a:t>
            </a:r>
          </a:p>
          <a:p>
            <a:pPr algn="l"/>
            <a:r>
              <a:rPr sz="1250" b="0">
                <a:solidFill>
                  <a:srgbClr val="5A5A5A"/>
                </a:solidFill>
                <a:latin typeface="Yu Gothic"/>
                <a:ea typeface="Yu Gothic"/>
              </a:rPr>
              <a:t>    棟ごとの特性を学習</a:t>
            </a:r>
          </a:p>
          <a:p>
            <a:pPr algn="l"/>
            <a:r>
              <a:rPr sz="1250" b="0">
                <a:solidFill>
                  <a:srgbClr val="5A5A5A"/>
                </a:solidFill>
                <a:latin typeface="Yu Gothic"/>
                <a:ea typeface="Yu Gothic"/>
              </a:rPr>
              <a:t/>
            </a:r>
          </a:p>
          <a:p>
            <a:pPr algn="l"/>
            <a:r>
              <a:rPr sz="1250" b="0">
                <a:solidFill>
                  <a:srgbClr val="5A5A5A"/>
                </a:solidFill>
                <a:latin typeface="Yu Gothic"/>
                <a:ea typeface="Yu Gothic"/>
              </a:rPr>
              <a:t>3. 実機運用の試験導入</a:t>
            </a:r>
          </a:p>
          <a:p>
            <a:pPr algn="l"/>
            <a:r>
              <a:rPr sz="1250" b="0">
                <a:solidFill>
                  <a:srgbClr val="5A5A5A"/>
                </a:solidFill>
                <a:latin typeface="Yu Gothic"/>
                <a:ea typeface="Yu Gothic"/>
              </a:rPr>
              <a:t>    現場担当者との連携</a:t>
            </a:r>
          </a:p>
          <a:p>
            <a:pPr algn="l"/>
            <a:r>
              <a:rPr sz="1250" b="0">
                <a:solidFill>
                  <a:srgbClr val="5A5A5A"/>
                </a:solidFill>
                <a:latin typeface="Yu Gothic"/>
                <a:ea typeface="Yu Gothic"/>
              </a:rPr>
              <a:t/>
            </a:r>
          </a:p>
          <a:p>
            <a:pPr algn="l"/>
            <a:r>
              <a:rPr sz="1250" b="0">
                <a:solidFill>
                  <a:srgbClr val="5A5A5A"/>
                </a:solidFill>
                <a:latin typeface="Yu Gothic"/>
                <a:ea typeface="Yu Gothic"/>
              </a:rPr>
              <a:t>4. SDR発令ルールの最適化</a:t>
            </a:r>
          </a:p>
          <a:p>
            <a:pPr algn="l"/>
            <a:r>
              <a:rPr sz="1250" b="0">
                <a:solidFill>
                  <a:srgbClr val="5A5A5A"/>
                </a:solidFill>
                <a:latin typeface="Yu Gothic"/>
                <a:ea typeface="Yu Gothic"/>
              </a:rPr>
              <a:t>    閾値・連続時間の校正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5669280"/>
            <a:ext cx="11475720" cy="594360"/>
          </a:xfrm>
          <a:prstGeom prst="rect">
            <a:avLst/>
          </a:prstGeom>
          <a:solidFill>
            <a:srgbClr val="003B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5715000"/>
            <a:ext cx="114757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Yu Gothic"/>
                <a:ea typeface="Yu Gothic"/>
              </a:rPr>
              <a:t>ご清聴ありがとうございました。  ご質問をお待ちしております。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