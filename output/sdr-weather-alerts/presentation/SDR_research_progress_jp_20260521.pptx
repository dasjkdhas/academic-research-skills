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皆さま、本日はお時間をいただきありがとうございます。山口大学の○○です。</a:t>
            </a:r>
          </a:p>
          <a:p>
            <a:r>
              <a:t>本日は『Soft DR のための気象駆動型警報配信システム』について発表いたします。</a:t>
            </a:r>
          </a:p>
          <a:p/>
          <a:p>
            <a:r>
              <a:t>まずキーワードのご確認ですが、本研究の Soft DR とは、Soft Demand Response、</a:t>
            </a:r>
          </a:p>
          <a:p>
            <a:r>
              <a:t>つまり強制的な制御ではなく、節電依頼・設備運用調整・利用者への協力呼びかけ</a:t>
            </a:r>
          </a:p>
          <a:p>
            <a:r>
              <a:t>などの非強制的な需要調整を指します。経済産業省 ERAB でも使われる用語です。</a:t>
            </a:r>
          </a:p>
          <a:p/>
          <a:p>
            <a:r>
              <a:t>本研究は『警報配信システム』であって、設定温度を勝手に変える等の自動制御</a:t>
            </a:r>
          </a:p>
          <a:p>
            <a:r>
              <a:t>システムではありません。予測した結果を警報として配信し、最終的な判断は</a:t>
            </a:r>
          </a:p>
          <a:p>
            <a:r>
              <a:t>設備管理者が行うという、意思決定支援の枠組みです。</a:t>
            </a:r>
          </a:p>
          <a:p/>
          <a:p>
            <a:r>
              <a:t>キーポイントは「相関分析による気象-電力関係の解明」と「警報配信フレーム</a:t>
            </a:r>
          </a:p>
          <a:p>
            <a:r>
              <a:t>の設計」の二点になります。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研究背景を3点でご説明します。</a:t>
            </a:r>
          </a:p>
          <a:p>
            <a:r>
              <a:t>①、近年の猛暑により電力需要が増加。キャンパス電力の約40%が空調由来です。</a:t>
            </a:r>
          </a:p>
          <a:p>
            <a:r>
              <a:t>②、Soft DR は多様な選択肢を含む幅広い概念です。節電依頼の学内放送、空調</a:t>
            </a:r>
          </a:p>
          <a:p>
            <a:r>
              <a:t>設定温度の見直し、照明調光、OA 機器の運用シフト、利用者への協力呼びかけ等、</a:t>
            </a:r>
          </a:p>
          <a:p>
            <a:r>
              <a:t>管理者が状況に応じて選択する非強制的な手段の総称です。</a:t>
            </a:r>
          </a:p>
          <a:p>
            <a:r>
              <a:t>③、本研究では、翌日のピーク発生可能性を「警報レベル」に分類し、設備管理者</a:t>
            </a:r>
          </a:p>
          <a:p>
            <a:r>
              <a:t>に配信する仕組みを開発します。</a:t>
            </a:r>
          </a:p>
          <a:p/>
          <a:p>
            <a:r>
              <a:t>重要な点をご確認ください。本研究は「予告・警報を出すまで」が範囲です。</a:t>
            </a:r>
          </a:p>
          <a:p>
            <a:r>
              <a:t>実際に空調を操作したり Soft DR 措置を実施したりするのは、管理者の判断と</a:t>
            </a:r>
          </a:p>
          <a:p>
            <a:r>
              <a:t>なります。人間が必ず介在する意思決定支援システム、という位置付けです。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研究の問いは3段階で構成されています。</a:t>
            </a:r>
          </a:p>
          <a:p/>
          <a:p>
            <a:r>
              <a:t>Q1 は理解段階。どの気象因子がピークを駆動するかを、Pearson/Spearman 相関、</a:t>
            </a:r>
          </a:p>
          <a:p>
            <a:r>
              <a:t>時刻別層別化、標準化回帰、主成分分析で多角的に解明します。</a:t>
            </a:r>
          </a:p>
          <a:p/>
          <a:p>
            <a:r>
              <a:t>Q2 は予測段階。Q1 の知見を活かし、ハイブリッド気象入力 + LightGBM で翌日</a:t>
            </a:r>
          </a:p>
          <a:p>
            <a:r>
              <a:t>24時間の予測を行います。</a:t>
            </a:r>
          </a:p>
          <a:p/>
          <a:p>
            <a:r>
              <a:t>Q3 は応用段階で、本研究の新規貢献です。予測値を CCRI という指標で集約し、</a:t>
            </a:r>
          </a:p>
          <a:p>
            <a:r>
              <a:t>Normal/High/Critical の3段階に分類して、当日17時に設備管理者へ配信します。</a:t>
            </a:r>
          </a:p>
          <a:p/>
          <a:p>
            <a:r>
              <a:t>三段階の論理は、Q1 で『気象の影響構造』を解明 → Q2 で『その知見を予測に</a:t>
            </a:r>
          </a:p>
          <a:p>
            <a:r>
              <a:t>活用』 → Q3 で『警報として実用化』、というストーリーです。</a:t>
            </a:r>
          </a:p>
          <a:p>
            <a:r>
              <a:t>加えて SHAP 解析により、機械学習モデルが Q1 で発見した要因を重視している</a:t>
            </a:r>
          </a:p>
          <a:p>
            <a:r>
              <a:t>ことを確認します。これが統計分析と機械学習の整合性確認です。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データと方法をご説明します。</a:t>
            </a:r>
          </a:p>
          <a:p>
            <a:r>
              <a:t>電力データは BEMS から取得した1時間値、b00 主棟が対象。</a:t>
            </a:r>
          </a:p>
          <a:p>
            <a:r>
              <a:t>気象は ERA5 再解析と JMA MSM 予報を併用します。</a:t>
            </a:r>
          </a:p>
          <a:p/>
          <a:p>
            <a:r>
              <a:t>重要な開示として、AMeDAS 宇部站は四要素観測のみで、湿度・気圧の観測が</a:t>
            </a:r>
          </a:p>
          <a:p>
            <a:r>
              <a:t>ありません。そこで Hersbach 等2020以降エネルギー研究で標準的な</a:t>
            </a:r>
          </a:p>
          <a:p>
            <a:r>
              <a:t>ERA5 再解析を採用しました。</a:t>
            </a:r>
          </a:p>
          <a:p/>
          <a:p>
            <a:r>
              <a:t>解析フローは8段階です。</a:t>
            </a:r>
          </a:p>
          <a:p>
            <a:r>
              <a:t>①〜⑤ が Q1 (理解段階、青)</a:t>
            </a:r>
          </a:p>
          <a:p>
            <a:r>
              <a:t>⑥ が Q2 (予測段階、橙)</a:t>
            </a:r>
          </a:p>
          <a:p>
            <a:r>
              <a:t>⑦⑧ が Q3 (警報段階、赤) ← 本研究の新規</a:t>
            </a:r>
          </a:p>
          <a:p/>
          <a:p>
            <a:r>
              <a:t>そして今後のデータ拡張として、2025年通年データの取得を予定しており、</a:t>
            </a:r>
          </a:p>
          <a:p>
            <a:r>
              <a:t>冬季暖房需要も含めた評価へ拡張する予定です。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本研究のシステム全体像をご説明します。</a:t>
            </a:r>
          </a:p>
          <a:p/>
          <a:p>
            <a:r>
              <a:t>システムは4つの層で構成されています。</a:t>
            </a:r>
          </a:p>
          <a:p>
            <a:r>
              <a:t>・入力層: 気象観測 (ERA5)、気象予報 (JMA MSM)、電力履歴 (BEMS)</a:t>
            </a:r>
          </a:p>
          <a:p>
            <a:r>
              <a:t>・モデル層: LightGBM ハイブリッドモデル</a:t>
            </a:r>
          </a:p>
          <a:p>
            <a:r>
              <a:t>・判定層: CCRI を算出してリスクを定量化</a:t>
            </a:r>
          </a:p>
          <a:p>
            <a:r>
              <a:t>・配信層: Normal/High/Critical の3段階で管理者へ配信</a:t>
            </a:r>
          </a:p>
          <a:p/>
          <a:p>
            <a:r>
              <a:t>重要なのは右側にある『境界線』です。本研究の範囲は警報配信までで、</a:t>
            </a:r>
          </a:p>
          <a:p>
            <a:r>
              <a:t>その先の Soft DR 措置 — 節電依頼、空調温度調整、照明調光、機器シフト、</a:t>
            </a:r>
          </a:p>
          <a:p>
            <a:r>
              <a:t>利用者協力呼びかけ等 — は、設備管理者の判断で実施されます。</a:t>
            </a:r>
          </a:p>
          <a:p/>
          <a:p>
            <a:r>
              <a:t>つまり本システムは自動制御システムではなく、人間 (管理者) が判断する</a:t>
            </a:r>
          </a:p>
          <a:p>
            <a:r>
              <a:t>ための情報を提供する意思決定支援システムである、ということです。</a:t>
            </a:r>
          </a:p>
          <a:p>
            <a:r>
              <a:t>この『人間が必ず介在する』設計が、Soft DR の本質と整合しています。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まず探索的分析として、月別の日内負荷パターンを見ます。</a:t>
            </a:r>
          </a:p>
          <a:p>
            <a:r>
              <a:t>赤線が7月、青線が10月。</a:t>
            </a:r>
          </a:p>
          <a:p>
            <a:r>
              <a:t>7月の真夏は午後2時頃に最大1,360 kWのピーク、10月の秋は1,040 kW まで</a:t>
            </a:r>
          </a:p>
          <a:p>
            <a:r>
              <a:t>下がります。差は約320 kW で、これが冷房負荷の典型的な大きさです。</a:t>
            </a:r>
          </a:p>
          <a:p>
            <a:r>
              <a:t>全月共通で、朝5〜6時に最低、午後14〜15時に最高、夜にかけて減少。</a:t>
            </a:r>
          </a:p>
          <a:p>
            <a:r>
              <a:t>次にこのピークを駆動する気象要素の特定に進みます。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次に各気象変数と電力 b00 の関係を散布図で見ます。色は時刻を表します。</a:t>
            </a:r>
          </a:p>
          <a:p>
            <a:r>
              <a:t>気温と日射量は明瞭な正相関、湿度は負相関、WBGT は非線形、雲量は</a:t>
            </a:r>
          </a:p>
          <a:p>
            <a:r>
              <a:t>明確な関係なし、体感気温は線形に近い正相関を示します。</a:t>
            </a:r>
          </a:p>
          <a:p>
            <a:r>
              <a:t>視覚的傾向は把握できましたが、次に定量的な相関係数で評価します。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Pearson 相関と Spearman 順位相関のヒートマップです。</a:t>
            </a:r>
          </a:p>
          <a:p>
            <a:r>
              <a:t>左が時間別、右が日単位集計後の相関です。</a:t>
            </a:r>
          </a:p>
          <a:p/>
          <a:p>
            <a:r>
              <a:t>時間別での最強の相関は:</a:t>
            </a:r>
          </a:p>
          <a:p>
            <a:r>
              <a:t>・日射量: Pearson r=+0.67 (最強の正相関)</a:t>
            </a:r>
          </a:p>
          <a:p>
            <a:r>
              <a:t>・気温: r=+0.57</a:t>
            </a:r>
          </a:p>
          <a:p>
            <a:r>
              <a:t>・湿度: r=-0.52 (最強の負相関)</a:t>
            </a:r>
          </a:p>
          <a:p/>
          <a:p>
            <a:r>
              <a:t>日単位に集計しても傾向は同じです。日射・気温・湿度の3変数が支配的な</a:t>
            </a:r>
          </a:p>
          <a:p>
            <a:r>
              <a:t>要因であることが分かります。</a:t>
            </a:r>
          </a:p>
          <a:p/>
          <a:p>
            <a:r>
              <a:t>しかし、これが本物の関係性か、それとも「日内変動の見せかけ」かを</a:t>
            </a:r>
          </a:p>
          <a:p>
            <a:r>
              <a:t>次のスライドで検証します。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本研究の重要な発見の一つです。</a:t>
            </a:r>
          </a:p>
          <a:p/>
          <a:p>
            <a:r>
              <a:t>日射と電力は共に正午頃ピークを取るので、時刻という交絡因子による</a:t>
            </a:r>
          </a:p>
          <a:p>
            <a:r>
              <a:t>擬似相関の懸念があります。</a:t>
            </a:r>
          </a:p>
          <a:p>
            <a:r>
              <a:t>そこで時刻別に層別化した相関を計算しました。同じ時刻内で気象と</a:t>
            </a:r>
          </a:p>
          <a:p>
            <a:r>
              <a:t>電力がどう動くかを見る分析です。</a:t>
            </a:r>
          </a:p>
          <a:p/>
          <a:p>
            <a:r>
              <a:t>結果、気温・WBGT・体感気温の正相関は、ほぼすべての時刻で維持</a:t>
            </a:r>
          </a:p>
          <a:p>
            <a:r>
              <a:t>されています。</a:t>
            </a:r>
          </a:p>
          <a:p>
            <a:r>
              <a:t>これは『暑い日ほど電力が増える』という本質的な結合の存在を実証</a:t>
            </a:r>
          </a:p>
          <a:p>
            <a:r>
              <a:t>しており、見かけ相関ではないと言えます。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標準化重回帰係数 β は『他の変数の影響を取り除いた独立な寄与』を表します。</a:t>
            </a:r>
          </a:p>
          <a:p>
            <a:r>
              <a:t>派生変数 (体感気温・WBGT 等) は共線性が高いため、7つの独立した気象</a:t>
            </a:r>
          </a:p>
          <a:p>
            <a:r>
              <a:t>変数のみで再回帰しました。</a:t>
            </a:r>
          </a:p>
          <a:p/>
          <a:p>
            <a:r>
              <a:t>最大の正寄与は日射量 β=+0.41、次が気温 β=+0.22、最大の負寄与は</a:t>
            </a:r>
          </a:p>
          <a:p>
            <a:r>
              <a:t>湿度 β=-0.19 です。</a:t>
            </a:r>
          </a:p>
          <a:p>
            <a:r>
              <a:t>重要な指標として R² = 0.527。つまり気象変数だけで電力分散の53%を</a:t>
            </a:r>
          </a:p>
          <a:p>
            <a:r>
              <a:t>説明できることが分かりました。残りの47%は曜日・時刻・休日等の</a:t>
            </a:r>
          </a:p>
          <a:p>
            <a:r>
              <a:t>非気象要因です。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気象10変数は互いに相関しているため、独立な寄与の解釈が困難です。</a:t>
            </a:r>
          </a:p>
          <a:p>
            <a:r>
              <a:t>そこで PCA で直交独立な成分に変換しました。</a:t>
            </a:r>
          </a:p>
          <a:p/>
          <a:p>
            <a:r>
              <a:t>PC1 が 41.7%、PC2 が 21.1%、PC3 が 13.1%。3 つの主成分だけで気象</a:t>
            </a:r>
          </a:p>
          <a:p>
            <a:r>
              <a:t>変動の76%を説明できます。</a:t>
            </a:r>
          </a:p>
          <a:p>
            <a:r>
              <a:t>残りの4成分は寄与が5%以下と小さく、本質的な変動は3軸で十分捉え</a:t>
            </a:r>
          </a:p>
          <a:p>
            <a:r>
              <a:t>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PCA の本質を見ます。</a:t>
            </a:r>
          </a:p>
          <a:p>
            <a:r>
              <a:t>PC1 は気温・WBGT・体感気温が共に高い正の寄与で「熱関連成分」と解釈</a:t>
            </a:r>
          </a:p>
          <a:p>
            <a:r>
              <a:t>でき、b00 と +0.47 の相関です。「暑い日 → 電力増」という直感に合います。</a:t>
            </a:r>
          </a:p>
          <a:p/>
          <a:p>
            <a:r>
              <a:t>PC2 は湿度が大きな正、日射が大きな負の寄与で『悪天候成分』。b00 とは</a:t>
            </a:r>
          </a:p>
          <a:p>
            <a:r>
              <a:t>-0.50 の相関で、悪天候の日は電力が下がります。</a:t>
            </a:r>
          </a:p>
          <a:p/>
          <a:p>
            <a:r>
              <a:t>PC3 は風・降水で影響は限定的です。</a:t>
            </a:r>
          </a:p>
          <a:p/>
          <a:p>
            <a:r>
              <a:t>まとめると、気象変動は『熱』と『天候』の2軸で大半が表現でき、これが</a:t>
            </a:r>
          </a:p>
          <a:p>
            <a:r>
              <a:t>電力に強く影響することが定量的に示されました。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Q1で発見した気象の影響構造を活かし、翌日のピーク予測モデルを構築しました。</a:t>
            </a:r>
          </a:p>
          <a:p>
            <a:r>
              <a:t>工夫は『ハイブリッド気象入力』で、過去の気象は ERA5 観測、未来の気象は</a:t>
            </a:r>
          </a:p>
          <a:p>
            <a:r>
              <a:t>JMA 予報を使い分けます。</a:t>
            </a:r>
          </a:p>
          <a:p/>
          <a:p>
            <a:r>
              <a:t>3アーキテクチャ比較:</a:t>
            </a:r>
          </a:p>
          <a:p>
            <a:r>
              <a:t>・A 観測のみ MAE 50.7 kW (理論上限)</a:t>
            </a:r>
          </a:p>
          <a:p>
            <a:r>
              <a:t>・B 予報のみ MAE 59.7 kW (従来)</a:t>
            </a:r>
          </a:p>
          <a:p>
            <a:r>
              <a:t>・C ハイブリッド MAE 54.0 kW (本研究)</a:t>
            </a:r>
          </a:p>
          <a:p>
            <a:r>
              <a:t>理論上限とわずか6%、従来比10%改善です。</a:t>
            </a:r>
          </a:p>
          <a:p/>
          <a:p>
            <a:r>
              <a:t>しかし予測がゴールではありません。予測値を CCRI で集約し、警報レベル</a:t>
            </a:r>
          </a:p>
          <a:p>
            <a:r>
              <a:t>に分類して管理者へ配信する、これが Q3 で次のスライドで説明します。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これが本研究の応用部分、Q3 の内容です。CCRI 警報の設計と配信について</a:t>
            </a:r>
          </a:p>
          <a:p>
            <a:r>
              <a:t>ご説明します。</a:t>
            </a:r>
          </a:p>
          <a:p/>
          <a:p>
            <a:r>
              <a:t>CCRI = Campus Critical Risk Index は、3つの要素の重み付き和です。</a:t>
            </a:r>
          </a:p>
          <a:p>
            <a:r>
              <a:t>・50% × 予測値の相対大きさ (P80 比)</a:t>
            </a:r>
          </a:p>
          <a:p>
            <a:r>
              <a:t>・30% × P95 超過確率 (分類モデルから)</a:t>
            </a:r>
          </a:p>
          <a:p>
            <a:r>
              <a:t>・20% × 6時間連続超過の長さ (持続性)</a:t>
            </a:r>
          </a:p>
          <a:p>
            <a:r>
              <a:t>これにより『大きさ』『確率』『持続』の3軸で総合的にリスクを評価します。</a:t>
            </a:r>
          </a:p>
          <a:p/>
          <a:p>
            <a:r>
              <a:t>閾値による3段階分類:</a:t>
            </a:r>
          </a:p>
          <a:p>
            <a:r>
              <a:t>・Critical (CCRI ≥ 0.85): メール + SMS の緊急配信</a:t>
            </a:r>
          </a:p>
          <a:p>
            <a:r>
              <a:t>・High (0.65 ≤ CCRI &lt; 0.85): メール通知</a:t>
            </a:r>
          </a:p>
          <a:p>
            <a:r>
              <a:t>・Normal (&lt; 0.65): 通知なし</a:t>
            </a:r>
          </a:p>
          <a:p/>
          <a:p>
            <a:r>
              <a:t>配信ワークフローは1日1回、当日17時に翌日の警報を配信します。</a:t>
            </a:r>
          </a:p>
          <a:p>
            <a:r>
              <a:t>16時に予報取得 → 16:30 予測 → 16:45 CCRI 算出 → 17:00 配信、という</a:t>
            </a:r>
          </a:p>
          <a:p>
            <a:r>
              <a:t>自動化フローです。</a:t>
            </a:r>
          </a:p>
          <a:p/>
          <a:p>
            <a:r>
              <a:t>最後に強調したい点ですが、実際の Soft DR 措置 — 節電依頼、温度調整、</a:t>
            </a:r>
          </a:p>
          <a:p>
            <a:r>
              <a:t>照明調光、機器シフト等 — の選択は、設備管理者の判断によります。</a:t>
            </a:r>
          </a:p>
          <a:p>
            <a:r>
              <a:t>本システムは情報を提供し、人間が最終決定する設計です。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 SHAP 値で機械学習モデルの解釈を確認します。</a:t>
            </a:r>
          </a:p>
          <a:p/>
          <a:p>
            <a:r>
              <a:t>SHAP 上位の特徴量は、前週同時刻負荷、営業日フラグ、前日同時刻気温、</a:t>
            </a:r>
          </a:p>
          <a:p>
            <a:r>
              <a:t>前日同時刻負荷、年内日付、日射量予報の順です。</a:t>
            </a:r>
          </a:p>
          <a:p/>
          <a:p>
            <a:r>
              <a:t>重要なのは、Q1 で発見した『熱関連 (気温)』と『日射量』が SHAP 上位</a:t>
            </a:r>
          </a:p>
          <a:p>
            <a:r>
              <a:t>にも入っていることです。これは『機械学習モデルが統計分析と整合的な</a:t>
            </a:r>
          </a:p>
          <a:p>
            <a:r>
              <a:t>要因を学んだ』ことの検証になります。</a:t>
            </a:r>
          </a:p>
          <a:p/>
          <a:p>
            <a:r>
              <a:t>加えて、機械学習は『前週負荷』『前日負荷』など時間構造も学習しており、</a:t>
            </a:r>
          </a:p>
          <a:p>
            <a:r>
              <a:t>これが予測精度の向上に寄与しています。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まとめです。達成した成果は4点:</a:t>
            </a:r>
          </a:p>
          <a:p>
            <a:r>
              <a:t>1. Q1 気象-電力関係の解明: 気象だけで b00 分散の 53% を説明、主成分で</a:t>
            </a:r>
          </a:p>
          <a:p>
            <a:r>
              <a:t>   気象変動の63%を要約</a:t>
            </a:r>
          </a:p>
          <a:p>
            <a:r>
              <a:t>2. Q2 翌日ピーク予測: ハイブリッド手法で MAE 54 kW、観測上限の94%を実現</a:t>
            </a:r>
          </a:p>
          <a:p>
            <a:r>
              <a:t>3. Q3 警報配信フレーム設計: CCRI 3段階分類 + 自動ワークフロー定義</a:t>
            </a:r>
          </a:p>
          <a:p>
            <a:r>
              <a:t>4. SHAP で統計分析と機械学習の整合性を確認</a:t>
            </a:r>
          </a:p>
          <a:p/>
          <a:p>
            <a:r>
              <a:t>今後の課題は4点:</a:t>
            </a:r>
          </a:p>
          <a:p>
            <a:r>
              <a:t>1. データ拡張 (2025年通年・冬季暖房評価)</a:t>
            </a:r>
          </a:p>
          <a:p>
            <a:r>
              <a:t>2. 警報品質のフィールド検証 — 予報精度・空振り率・見逃し率を運用で測定</a:t>
            </a:r>
          </a:p>
          <a:p>
            <a:r>
              <a:t>3. 管理者の意思決定評価 ← 重要な新規課題。インタビュー・アンケートで、</a:t>
            </a:r>
          </a:p>
          <a:p>
            <a:r>
              <a:t>   警報受信時に管理者がどの Soft DR 措置を選択し、信頼性と実用性をどう</a:t>
            </a:r>
          </a:p>
          <a:p>
            <a:r>
              <a:t>   評価するかを定量的に調べます。これにより情報提供から意思決定支援の</a:t>
            </a:r>
          </a:p>
          <a:p>
            <a:r>
              <a:t>   品質まで全体を評価できます。</a:t>
            </a:r>
          </a:p>
          <a:p>
            <a:r>
              <a:t>4. 他棟へのスケール</a:t>
            </a:r>
          </a:p>
          <a:p/>
          <a:p>
            <a:r>
              <a:t>以上、ご清聴ありがとうございました。ご質問をお願いいたします。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山口大学  YAMAGUCHI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9728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Yu Gothic"/>
                <a:ea typeface="Yu Gothic"/>
              </a:rPr>
              <a:t>Soft DR のための気象駆動型警報配信システム</a:t>
            </a:r>
          </a:p>
          <a:p>
            <a:pPr algn="l"/>
            <a:r>
              <a:rPr sz="2700" b="1">
                <a:solidFill>
                  <a:srgbClr val="FFFFFF"/>
                </a:solidFill>
                <a:latin typeface="Yu Gothic"/>
                <a:ea typeface="Yu Gothic"/>
              </a:rPr>
              <a:t>— 大学キャンパスにおける翌日ピーク予測とリスク階層アラート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C880"/>
                </a:solidFill>
                <a:latin typeface="Yu Gothic"/>
                <a:ea typeface="Yu Gothic"/>
              </a:rPr>
              <a:t>A Weather-Driven Advisory System for Soft Demand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Yu Gothic"/>
                <a:ea typeface="Yu Gothic"/>
              </a:rPr>
              <a:t>発表者: ○○ ○○ (山口大学 ○○研究室)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Yu Gothic"/>
                <a:ea typeface="Yu Gothic"/>
              </a:rPr>
              <a:t>省エネ研究会 / 2026年5月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2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研究背景と課題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なぜキャンパス電力ピークの予測・警報が必要か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3657600" cy="5486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92807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①.  気候変動と猛暑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365760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003B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514600"/>
            <a:ext cx="3246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・近年の夏季猛暑で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電力需要急増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・キャンパス電力の約 40% が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空調由来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・契約電力更新は経費直結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828800"/>
            <a:ext cx="3657600" cy="54864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892807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②.  Soft DR は多様な選択肢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2377440"/>
            <a:ext cx="365760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514600"/>
            <a:ext cx="3246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・節電依頼の学内放送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・空調設定温度の見直し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・照明調光・OA 機器シフト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・利用者協力呼びかけ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→ 管理者が状況に応じ選択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3657600" cy="548640"/>
          </a:xfrm>
          <a:prstGeom prst="rect">
            <a:avLst/>
          </a:prstGeom>
          <a:solidFill>
            <a:srgbClr val="2D9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892807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③.  予測ベース警報配信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377440"/>
            <a:ext cx="3657600" cy="3108960"/>
          </a:xfrm>
          <a:prstGeom prst="rect">
            <a:avLst/>
          </a:prstGeom>
          <a:solidFill>
            <a:srgbClr val="F4F6FA"/>
          </a:solidFill>
          <a:ln w="9525">
            <a:solidFill>
              <a:srgbClr val="2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514600"/>
            <a:ext cx="3246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・前日の気象予報から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翌日ピーク発生確率を予測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・警報レベルに分類し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  設備管理者に配信</a:t>
            </a:r>
          </a:p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・管理者が Soft DR を判断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8102E"/>
                </a:solidFill>
                <a:latin typeface="Yu Gothic"/>
                <a:ea typeface="Yu Gothic"/>
              </a:rPr>
              <a:t>■ 本研究は「予告・警報を出すまで」が範囲: 実際の Soft DR 措置は管理者の判断による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3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研究の問い: 3段階アプローチ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理解 → 予測 → 警報設計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3703320" cy="50292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01952"/>
            <a:ext cx="3520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01952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Yu Gothic"/>
                <a:ea typeface="Yu Gothic"/>
              </a:rPr>
              <a:t>何が電力ピークを駆動するか?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31720"/>
            <a:ext cx="3703320" cy="2743200"/>
          </a:xfrm>
          <a:prstGeom prst="rect">
            <a:avLst/>
          </a:prstGeom>
          <a:solidFill>
            <a:srgbClr val="F4F6FA"/>
          </a:solidFill>
          <a:ln w="9525">
            <a:solidFill>
              <a:srgbClr val="003B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468880"/>
            <a:ext cx="352044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段階: 理解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方法: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・Pearson / Spearman 相関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・時刻別 層別化相関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・標準化重回帰 β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・主成分分析 (PCA)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出力: 駆動要因の同定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      + 影響構造の定量化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828800"/>
            <a:ext cx="3703320" cy="50292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901952"/>
            <a:ext cx="3520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901952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Yu Gothic"/>
                <a:ea typeface="Yu Gothic"/>
              </a:rPr>
              <a:t>翌日ピークを精度良く予測できるか?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2331720"/>
            <a:ext cx="3703320" cy="2743200"/>
          </a:xfrm>
          <a:prstGeom prst="rect">
            <a:avLst/>
          </a:prstGeom>
          <a:solidFill>
            <a:srgbClr val="F4F6FA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6552" y="2468880"/>
            <a:ext cx="352044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段階: 予測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方法: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・ハイブリッド気象入力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(ERA5 観測 + JMA MSM 予報)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・LightGBM 回帰モデル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・SHAP 値による解釈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出力: 翌 24 時間の電力予測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      MAE = 54 kW (達成)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828800"/>
            <a:ext cx="3703320" cy="5029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901952"/>
            <a:ext cx="3520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1901952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Yu Gothic"/>
                <a:ea typeface="Yu Gothic"/>
              </a:rPr>
              <a:t>警報をどう設計・配信するか?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2331720"/>
            <a:ext cx="3703320" cy="2743200"/>
          </a:xfrm>
          <a:prstGeom prst="rect">
            <a:avLst/>
          </a:prstGeom>
          <a:solidFill>
            <a:srgbClr val="F4F6FA"/>
          </a:solidFill>
          <a:ln w="952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2468880"/>
            <a:ext cx="352044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段階: 応用 (新規)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方法: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・CCRI (Critical Risk Index)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・Normal / High / Critical の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3 段階分類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・当日 17 時に配信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出力: 管理者向け警報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      + 意思決定支援フレーム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212080"/>
            <a:ext cx="11475720" cy="914400"/>
          </a:xfrm>
          <a:prstGeom prst="rect">
            <a:avLst/>
          </a:prstGeom>
          <a:solidFill>
            <a:srgbClr val="FDE9CE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28523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03B71"/>
                </a:solidFill>
                <a:latin typeface="Yu Gothic"/>
                <a:ea typeface="Yu Gothic"/>
              </a:rPr>
              <a:t>■ 三段階の論理: Q1で気象の影響構造を解明 → Q2でその知見を予測モデルに活用 → Q3で警報として実用化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6692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  SHAP 解析で「機械学習モデルが Q1 の発見と一致する要因を学んだか」を検証 (Q1↔Q2 整合性確認)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4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データと方法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使用期間: 2025-07-20 → 2025-10-26 (2,145 有効時間, 2025 年通年に拡張予定)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データ源 (観測 = ERA5 再解析、予報 = JMA MSM)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402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03B71"/>
                </a:solidFill>
                <a:latin typeface="Yu Gothic"/>
                <a:ea typeface="Yu Gothic"/>
              </a:rPr>
              <a:t>電力 (1h)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24028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BEMS 山口大学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40280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建物別 b00–b15 (主棟 b00 を対象)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03B71"/>
                </a:solidFill>
                <a:latin typeface="Yu Gothic"/>
                <a:ea typeface="Yu Gothic"/>
              </a:rPr>
              <a:t>気象観測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6032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ERA5 再解析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560320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気温/湿度/日射/気圧/雲/風/降水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88036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03B71"/>
                </a:solidFill>
                <a:latin typeface="Yu Gothic"/>
                <a:ea typeface="Yu Gothic"/>
              </a:rPr>
              <a:t>気象予報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8803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JMA MSM 5km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880360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気温/湿度/日射 等 (+39h)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03B71"/>
                </a:solidFill>
                <a:latin typeface="Yu Gothic"/>
                <a:ea typeface="Yu Gothic"/>
              </a:rPr>
              <a:t>派生量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20040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(計算)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200400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WBGT, 体感気温, 露点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6400800" cy="1280160"/>
          </a:xfrm>
          <a:prstGeom prst="rect">
            <a:avLst/>
          </a:prstGeom>
          <a:solidFill>
            <a:srgbClr val="FDE9CE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675887"/>
            <a:ext cx="6126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C8102E"/>
                </a:solidFill>
                <a:latin typeface="Yu Gothic"/>
                <a:ea typeface="Yu Gothic"/>
              </a:rPr>
              <a:t>※ AMeDAS 宇部站の制約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995928"/>
            <a:ext cx="61264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・AMeDAS 宇部は四要素観測 (気温・風・降水・日照) のみ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・湿度・気圧データなし → ERA5 再解析を採用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・ERA5: 全球グリッド 31km、エネルギー研究で標準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  (Hersbach et al. 2020, Q.J.R.M.S.)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8 段階 解析フロー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2240280"/>
            <a:ext cx="502920" cy="347472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2240280"/>
            <a:ext cx="502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267712"/>
            <a:ext cx="42062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探索的データ分析 (パターン把握)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2651760"/>
            <a:ext cx="502920" cy="347472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651760"/>
            <a:ext cx="502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2679192"/>
            <a:ext cx="42062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ペアワイズ相関 (Pearson, Spearman)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3063240"/>
            <a:ext cx="502920" cy="347472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8040" y="3063240"/>
            <a:ext cx="502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3090672"/>
            <a:ext cx="42062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時刻別層別化相関 (交絡除去)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78040" y="3474720"/>
            <a:ext cx="502920" cy="347472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474720"/>
            <a:ext cx="502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502152"/>
            <a:ext cx="42062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標準化重回帰 β (相対寄与度)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78040" y="3886200"/>
            <a:ext cx="502920" cy="347472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40" y="3886200"/>
            <a:ext cx="502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913632"/>
            <a:ext cx="42062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主成分分析 (本質的な軸抽出)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78040" y="4434840"/>
            <a:ext cx="502920" cy="347472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4434840"/>
            <a:ext cx="502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462272"/>
            <a:ext cx="42062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ハイブリッド予測モデル + SHAP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8040" y="4983480"/>
            <a:ext cx="502920" cy="3474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78040" y="4983480"/>
            <a:ext cx="502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5010912"/>
            <a:ext cx="42062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CCRI 算出・警報レベル分類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78040" y="5394960"/>
            <a:ext cx="502920" cy="3474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5394960"/>
            <a:ext cx="502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5422392"/>
            <a:ext cx="42062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管理者ダッシュボード配信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585216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Yu Gothic"/>
                <a:ea typeface="Yu Gothic"/>
              </a:rPr>
              <a:t>Q1: 理解 (青)  /  Q2: 予測 (橙)  /  Q3: 警報 (赤)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5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システム全体像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気象データ → 予測 → 警報 → 管理者判断 → Soft DR 措置 (人間介在型)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03B71"/>
                </a:solidFill>
                <a:latin typeface="Yu Gothic"/>
                <a:ea typeface="Yu Gothic"/>
              </a:rPr>
              <a:t>[入力層]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11680"/>
            <a:ext cx="2011680" cy="64008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103120"/>
            <a:ext cx="2011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Yu Gothic"/>
                <a:ea typeface="Yu Gothic"/>
              </a:rPr>
              <a:t>気象観測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77440"/>
            <a:ext cx="20116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Yu Gothic"/>
                <a:ea typeface="Yu Gothic"/>
              </a:rPr>
              <a:t>ERA5 再解析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2011680"/>
            <a:ext cx="2011680" cy="640080"/>
          </a:xfrm>
          <a:prstGeom prst="rect">
            <a:avLst/>
          </a:prstGeom>
          <a:solidFill>
            <a:srgbClr val="2A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2103120"/>
            <a:ext cx="2011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Yu Gothic"/>
                <a:ea typeface="Yu Gothic"/>
              </a:rPr>
              <a:t>気象予報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377440"/>
            <a:ext cx="20116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Yu Gothic"/>
                <a:ea typeface="Yu Gothic"/>
              </a:rPr>
              <a:t>JMA MSM (+39h)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2011680"/>
            <a:ext cx="2011680" cy="640080"/>
          </a:xfrm>
          <a:prstGeom prst="rect">
            <a:avLst/>
          </a:prstGeom>
          <a:solidFill>
            <a:srgbClr val="2A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103120"/>
            <a:ext cx="2011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Yu Gothic"/>
                <a:ea typeface="Yu Gothic"/>
              </a:rPr>
              <a:t>電力履歴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377440"/>
            <a:ext cx="20116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Yu Gothic"/>
                <a:ea typeface="Yu Gothic"/>
              </a:rPr>
              <a:t>BEMS 1h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8803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03B71"/>
                </a:solidFill>
                <a:latin typeface="Yu Gothic"/>
                <a:ea typeface="Yu Gothic"/>
              </a:rPr>
              <a:t>[モデル層]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3154680"/>
            <a:ext cx="2011680" cy="64008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06040" y="3246120"/>
            <a:ext cx="2011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Yu Gothic"/>
                <a:ea typeface="Yu Gothic"/>
              </a:rPr>
              <a:t>LightGBM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3520440"/>
            <a:ext cx="20116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Yu Gothic"/>
                <a:ea typeface="Yu Gothic"/>
              </a:rPr>
              <a:t>MAE 54 kW, R²=0.91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0233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03B71"/>
                </a:solidFill>
                <a:latin typeface="Yu Gothic"/>
                <a:ea typeface="Yu Gothic"/>
              </a:rPr>
              <a:t>[判定層]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4297680"/>
            <a:ext cx="2011680" cy="64008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4389120"/>
            <a:ext cx="2011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Yu Gothic"/>
                <a:ea typeface="Yu Gothic"/>
              </a:rPr>
              <a:t>CCRI 算出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663440"/>
            <a:ext cx="20116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Yu Gothic"/>
                <a:ea typeface="Yu Gothic"/>
              </a:rPr>
              <a:t>リスク指標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1663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03B71"/>
                </a:solidFill>
                <a:latin typeface="Yu Gothic"/>
                <a:ea typeface="Yu Gothic"/>
              </a:rPr>
              <a:t>[配信層]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5440680"/>
            <a:ext cx="868680" cy="640080"/>
          </a:xfrm>
          <a:prstGeom prst="rect">
            <a:avLst/>
          </a:prstGeom>
          <a:solidFill>
            <a:srgbClr val="2D9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6040" y="5532120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Yu Gothic"/>
                <a:ea typeface="Yu Gothic"/>
              </a:rPr>
              <a:t>Normal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806440"/>
            <a:ext cx="8686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Yu Gothic"/>
                <a:ea typeface="Yu Gothic"/>
              </a:rPr>
              <a:t>🟢 通知なし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66160" y="5440680"/>
            <a:ext cx="868680" cy="64008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532120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Yu Gothic"/>
                <a:ea typeface="Yu Gothic"/>
              </a:rPr>
              <a:t>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5806440"/>
            <a:ext cx="8686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Yu Gothic"/>
                <a:ea typeface="Yu Gothic"/>
              </a:rPr>
              <a:t>🟠 メール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26280" y="5440680"/>
            <a:ext cx="868680" cy="6400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80" y="5532120"/>
            <a:ext cx="868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Yu Gothic"/>
                <a:ea typeface="Yu Gothic"/>
              </a:rPr>
              <a:t>Critical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5806440"/>
            <a:ext cx="8686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Yu Gothic"/>
                <a:ea typeface="Yu Gothic"/>
              </a:rPr>
              <a:t>🔴 SMS+メール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1828800"/>
            <a:ext cx="36576" cy="43891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16916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C8102E"/>
                </a:solidFill>
                <a:latin typeface="Yu Gothic"/>
                <a:ea typeface="Yu Gothic"/>
              </a:rPr>
              <a:t>境界線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73736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C8102E"/>
                </a:solidFill>
                <a:latin typeface="Yu Gothic"/>
                <a:ea typeface="Yu Gothic"/>
              </a:rPr>
              <a:t>[管理者の判断 + Soft DR 措置]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2011680"/>
            <a:ext cx="4297680" cy="640080"/>
          </a:xfrm>
          <a:prstGeom prst="rect">
            <a:avLst/>
          </a:prstGeom>
          <a:solidFill>
            <a:srgbClr val="FDE9CE"/>
          </a:solidFill>
          <a:ln w="952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0" y="20574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Yu Gothic"/>
                <a:ea typeface="Yu Gothic"/>
              </a:rPr>
              <a:t>★ 設備管理者の判断 ★</a:t>
            </a:r>
          </a:p>
          <a:p>
            <a:pPr algn="ctr"/>
            <a:r>
              <a:rPr sz="1100" b="1">
                <a:solidFill>
                  <a:srgbClr val="C8102E"/>
                </a:solidFill>
                <a:latin typeface="Yu Gothic"/>
                <a:ea typeface="Yu Gothic"/>
              </a:rPr>
              <a:t>警報受信 → 状況確認 → 措置選択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288036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3B71"/>
                </a:solidFill>
                <a:latin typeface="Yu Gothic"/>
                <a:ea typeface="Yu Gothic"/>
              </a:rPr>
              <a:t>1.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288036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節電依頼の学内放送・メール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33756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3B71"/>
                </a:solidFill>
                <a:latin typeface="Yu Gothic"/>
                <a:ea typeface="Yu Gothic"/>
              </a:rPr>
              <a:t>2.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333756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空調設定温度の見直し (+1〜2℃)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379476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3B71"/>
                </a:solidFill>
                <a:latin typeface="Yu Gothic"/>
                <a:ea typeface="Yu Gothic"/>
              </a:rPr>
              <a:t>3.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92440" y="379476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照明調光 (廊下・共用空間)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0" y="425196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3B71"/>
                </a:solidFill>
                <a:latin typeface="Yu Gothic"/>
                <a:ea typeface="Yu Gothic"/>
              </a:rPr>
              <a:t>4.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2440" y="425196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非必須機器の運用時刻シフト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470916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3B71"/>
                </a:solidFill>
                <a:latin typeface="Yu Gothic"/>
                <a:ea typeface="Yu Gothic"/>
              </a:rPr>
              <a:t>5.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470916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利用者への協力呼びかけ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5349240"/>
            <a:ext cx="4297680" cy="777240"/>
          </a:xfrm>
          <a:prstGeom prst="rect">
            <a:avLst/>
          </a:prstGeom>
          <a:solidFill>
            <a:srgbClr val="F4F6FA"/>
          </a:solidFill>
          <a:ln w="9525">
            <a:solidFill>
              <a:srgbClr val="003B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8120" y="541324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3B71"/>
                </a:solidFill>
                <a:latin typeface="Yu Gothic"/>
                <a:ea typeface="Yu Gothic"/>
              </a:rPr>
              <a:t>本研究の境界線: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8120" y="5733288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Yu Gothic"/>
                <a:ea typeface="Yu Gothic"/>
              </a:rPr>
              <a:t>「予測 → 警報配信」までが対象</a:t>
            </a:r>
          </a:p>
          <a:p>
            <a:pPr algn="l"/>
            <a:r>
              <a:rPr sz="1000" b="0">
                <a:solidFill>
                  <a:srgbClr val="5A5A5A"/>
                </a:solidFill>
                <a:latin typeface="Yu Gothic"/>
                <a:ea typeface="Yu Gothic"/>
              </a:rPr>
              <a:t>Soft DR 実施は管理者の判断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6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探索的分析①: 日内・月別 負荷パターン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→ ピーク時刻と振幅の把握</a:t>
            </a:r>
          </a:p>
        </p:txBody>
      </p:sp>
      <p:pic>
        <p:nvPicPr>
          <p:cNvPr id="10" name="Picture 9" descr="pres_01_overview_dai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73152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0" y="18288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主な観察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41148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1. ピーク時刻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 全月 14〜15 時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2. ピーク振幅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 7月: 1,360 kW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 10月: 1,040 kW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3. 冷房負荷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 約 320 kW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4. ベース負荷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 早朝 5〜6 時 550〜700 kW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7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探索的分析②: 気象 × 電力 散布図グリッド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→ 各気象変数と b00 の関係を視覚的に確認 (色: 時刻)</a:t>
            </a:r>
          </a:p>
        </p:txBody>
      </p:sp>
      <p:pic>
        <p:nvPicPr>
          <p:cNvPr id="10" name="Picture 9" descr="corr_03_scatter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9144000" cy="54032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92640" y="18288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視覚的所見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286000"/>
            <a:ext cx="22860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・気温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  明瞭な正相関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・湿度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  負相関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・日射量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  最強の正相関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・WBGT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  非線形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・雲量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  明確な関係なし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・体感気温</a:t>
            </a:r>
          </a:p>
          <a:p>
            <a:pPr algn="l"/>
            <a:r>
              <a:rPr sz="1050" b="0">
                <a:solidFill>
                  <a:srgbClr val="5A5A5A"/>
                </a:solidFill>
                <a:latin typeface="Yu Gothic"/>
                <a:ea typeface="Yu Gothic"/>
              </a:rPr>
              <a:t>  線形に近い正相関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8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相関分析①  Pearson / Spearman 相関係数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→ 定量的に「電力を駆動する気象因子」をランク付け</a:t>
            </a:r>
          </a:p>
        </p:txBody>
      </p:sp>
      <p:pic>
        <p:nvPicPr>
          <p:cNvPr id="10" name="Picture 9" descr="corr_01_pear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7360"/>
            <a:ext cx="5852160" cy="3901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60807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5A5A5A"/>
                </a:solidFill>
                <a:latin typeface="Yu Gothic"/>
                <a:ea typeface="Yu Gothic"/>
              </a:rPr>
              <a:t>(a) 時間別データ (n=2,635 hours)</a:t>
            </a:r>
          </a:p>
        </p:txBody>
      </p:sp>
      <p:pic>
        <p:nvPicPr>
          <p:cNvPr id="12" name="Picture 11" descr="corr_02_daily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669280" cy="3779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608076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5A5A5A"/>
                </a:solidFill>
                <a:latin typeface="Yu Gothic"/>
                <a:ea typeface="Yu Gothic"/>
              </a:rPr>
              <a:t>(b) 日単位集計後 (n=113 days)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9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相関分析②  時刻別 層別化相関 (重要発見)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→ 日内変動の交絡を除去 → 真の気象効果を抽出</a:t>
            </a:r>
          </a:p>
        </p:txBody>
      </p:sp>
      <p:pic>
        <p:nvPicPr>
          <p:cNvPr id="10" name="Picture 9" descr="corr_04_hourly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11430000" cy="519545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5394960"/>
            <a:ext cx="11475720" cy="1005840"/>
          </a:xfrm>
          <a:prstGeom prst="rect">
            <a:avLst/>
          </a:prstGeom>
          <a:solidFill>
            <a:srgbClr val="FDE9CE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3B71"/>
                </a:solidFill>
                <a:latin typeface="Yu Gothic"/>
                <a:ea typeface="Yu Gothic"/>
              </a:rPr>
              <a:t>■ 重要な発見:  時刻を固定しても気温・WBGT・体感気温の正相関は維持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→ 「日射と電力が共にピークを取るのは時刻が同じだから」という擬似相関ではなく、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   「暑い日ほど電力が増える」という本質的な気象-電力結合が存在することを実証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10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相関分析③  標準化重回帰係数 β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→ 各気象変数の「相対的寄与度」を一つの指標で比較</a:t>
            </a:r>
          </a:p>
        </p:txBody>
      </p:sp>
      <p:pic>
        <p:nvPicPr>
          <p:cNvPr id="10" name="Picture 9" descr="corr_07_standardized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7315200" cy="457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0" y="18288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主な所見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41148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1. 最大の正寄与: 日射量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 β = +0.41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2. 次点: 気温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 β = +0.22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3. 最大の負寄与: 湿度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 β = −0.19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4. 寄与小: 風・降水・雲量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5. R² = 0.527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気象だけで電力分散の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 53% を説明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11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主成分分析①  各主成分の寄与率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→ 気象10変数を「独立な3軸」に次元削減</a:t>
            </a:r>
          </a:p>
        </p:txBody>
      </p:sp>
      <p:pic>
        <p:nvPicPr>
          <p:cNvPr id="10" name="Picture 9" descr="corr_05_pca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73152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0" y="18288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なぜ PCA を使うか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41148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問題: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気象10変数は互いに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相関 → 寄与解釈が困難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解決: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PCAで直交独立な成分に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変換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結果: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・PC1: 41.7%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・PC2: 21.1%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・PC3: 13.1%</a:t>
            </a:r>
          </a:p>
          <a:p>
            <a:pPr algn="l"/>
            <a:r>
              <a:rPr sz="1200" b="0">
                <a:solidFill>
                  <a:srgbClr val="5A5A5A"/>
                </a:solidFill>
                <a:latin typeface="Yu Gothic"/>
                <a:ea typeface="Yu Gothic"/>
              </a:rPr>
              <a:t>  → 3成分で 76% を説明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12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主成分分析②  各主成分の構成と b00 への影響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→ 主成分の物理的意味 + b00 との関係性を定量化</a:t>
            </a:r>
          </a:p>
        </p:txBody>
      </p:sp>
      <p:pic>
        <p:nvPicPr>
          <p:cNvPr id="10" name="Picture 9" descr="corr_06_pca_lo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11430000" cy="516834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5394960"/>
            <a:ext cx="11475720" cy="1005840"/>
          </a:xfrm>
          <a:prstGeom prst="rect">
            <a:avLst/>
          </a:prstGeom>
          <a:solidFill>
            <a:srgbClr val="FDE9CE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3B71"/>
                </a:solidFill>
                <a:latin typeface="Yu Gothic"/>
                <a:ea typeface="Yu Gothic"/>
              </a:rPr>
              <a:t>■ 主成分の物理的解釈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・PC1 (41.7%) = 「熱関連成分」 (気温・WBGT・体感気温が同方向)  → b00 と r=+0.47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・PC2 (21.1%) = 「湿度↑×日射↓ の悪天候成分」  (湿度高+日射弱)  → b00 と r=−0.50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・PC3 (13.1%) = 「風・降水成分」 (b00 への影響は小さい r=+0.16)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13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予測モデル: ハイブリッド気象入力 + 結果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Q1 の知見を活用 → MAE = 54.0 kW → CCRI へ接続</a:t>
            </a:r>
          </a:p>
        </p:txBody>
      </p:sp>
      <p:pic>
        <p:nvPicPr>
          <p:cNvPr id="10" name="Picture 9" descr="pres_03_arch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7360"/>
            <a:ext cx="6400800" cy="2844800"/>
          </a:xfrm>
          <a:prstGeom prst="rect">
            <a:avLst/>
          </a:prstGeom>
        </p:spPr>
      </p:pic>
      <p:pic>
        <p:nvPicPr>
          <p:cNvPr id="11" name="Picture 10" descr="pres_04_holdout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37360"/>
            <a:ext cx="5120640" cy="209480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65760" y="5212080"/>
            <a:ext cx="11475720" cy="1188720"/>
          </a:xfrm>
          <a:prstGeom prst="rect">
            <a:avLst/>
          </a:prstGeom>
          <a:solidFill>
            <a:srgbClr val="F4F6FA"/>
          </a:solidFill>
          <a:ln w="952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28523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3B71"/>
                </a:solidFill>
                <a:latin typeface="Yu Gothic"/>
                <a:ea typeface="Yu Gothic"/>
              </a:rPr>
              <a:t>■ 性能 → 警報への流れ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650992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・MAE = 54.0 kW,  R² = 0.905,  MAPE = 7.28%   (従来比 10% 改善、観測上限の 94%)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・予測値 → CCRI 算出 → Normal / High / Critical 分類 → 管理者へ配信 (次スライドで詳細)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14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Q3  CCRI 警報の設計と配信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予測値 → リスク指標 → 警報レベル → 配信タイミング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CCRI 算出式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94560"/>
            <a:ext cx="5669280" cy="1371600"/>
          </a:xfrm>
          <a:prstGeom prst="rect">
            <a:avLst/>
          </a:prstGeom>
          <a:solidFill>
            <a:srgbClr val="F4F6FA"/>
          </a:solidFill>
          <a:ln w="9525">
            <a:solidFill>
              <a:srgbClr val="003B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03B71"/>
                </a:solidFill>
                <a:latin typeface="Yu Gothic"/>
                <a:ea typeface="Yu Gothic"/>
              </a:rPr>
              <a:t>CCRI = 0.50 × (予測値 / P80)</a:t>
            </a:r>
          </a:p>
          <a:p>
            <a:pPr algn="l"/>
            <a:r>
              <a:rPr sz="1250" b="1">
                <a:solidFill>
                  <a:srgbClr val="003B71"/>
                </a:solidFill>
                <a:latin typeface="Yu Gothic"/>
                <a:ea typeface="Yu Gothic"/>
              </a:rPr>
              <a:t>       + 0.30 × P95超過確率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03B71"/>
                </a:solidFill>
                <a:latin typeface="Yu Gothic"/>
                <a:ea typeface="Yu Gothic"/>
              </a:rPr>
              <a:t>       + 0.20 × (6h 連続超過時間 / 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703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警報レベル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14800"/>
            <a:ext cx="640080" cy="5029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11480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  <a:ea typeface="Yu Gothic"/>
              </a:rPr>
              <a:t>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14800"/>
            <a:ext cx="2103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A5A5A"/>
                </a:solidFill>
                <a:latin typeface="Yu Gothic"/>
                <a:ea typeface="Yu Gothic"/>
              </a:rPr>
              <a:t>Critical  CCRI ≥ 0.85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11480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メール + SMS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63440"/>
            <a:ext cx="640080" cy="50292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66344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  <a:ea typeface="Yu Gothic"/>
              </a:rPr>
              <a:t>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663440"/>
            <a:ext cx="2103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A5A5A"/>
                </a:solidFill>
                <a:latin typeface="Yu Gothic"/>
                <a:ea typeface="Yu Gothic"/>
              </a:rPr>
              <a:t>High      0.65 ≤ CCRI &lt; 0.85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66344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メール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12080"/>
            <a:ext cx="640080" cy="502920"/>
          </a:xfrm>
          <a:prstGeom prst="rect">
            <a:avLst/>
          </a:prstGeom>
          <a:solidFill>
            <a:srgbClr val="2D9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21208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  <a:ea typeface="Yu Gothic"/>
              </a:rPr>
              <a:t>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212080"/>
            <a:ext cx="2103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A5A5A"/>
                </a:solidFill>
                <a:latin typeface="Yu Gothic"/>
                <a:ea typeface="Yu Gothic"/>
              </a:rPr>
              <a:t>Normal    CCRI &lt; 0.65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1208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通知なし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配信ワークフロー (1 日 1 回)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240280"/>
            <a:ext cx="1554480" cy="502920"/>
          </a:xfrm>
          <a:prstGeom prst="rect">
            <a:avLst/>
          </a:prstGeom>
          <a:solidFill>
            <a:srgbClr val="2A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24028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当日 16:00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2240280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JMA予報・最新観測の自動取得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834640"/>
            <a:ext cx="1554480" cy="502920"/>
          </a:xfrm>
          <a:prstGeom prst="rect">
            <a:avLst/>
          </a:prstGeom>
          <a:solidFill>
            <a:srgbClr val="2A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83464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当日 16:30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2834640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ハイブリッドモデル予測実行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429000"/>
            <a:ext cx="1554480" cy="502920"/>
          </a:xfrm>
          <a:prstGeom prst="rect">
            <a:avLst/>
          </a:prstGeom>
          <a:solidFill>
            <a:srgbClr val="2A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42900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当日 16:45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3429000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CCRI 算出・警報レベル分類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023360"/>
            <a:ext cx="1554480" cy="502920"/>
          </a:xfrm>
          <a:prstGeom prst="rect">
            <a:avLst/>
          </a:prstGeom>
          <a:solidFill>
            <a:srgbClr val="2A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02336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当日 17:00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4023360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管理者へメール/SMS 配信 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617720"/>
            <a:ext cx="1554480" cy="502920"/>
          </a:xfrm>
          <a:prstGeom prst="rect">
            <a:avLst/>
          </a:prstGeom>
          <a:solidFill>
            <a:srgbClr val="2A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461772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当日 17:00–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617720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管理者が Soft DR 措置を判断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212080"/>
            <a:ext cx="1554480" cy="502920"/>
          </a:xfrm>
          <a:prstGeom prst="rect">
            <a:avLst/>
          </a:prstGeom>
          <a:solidFill>
            <a:srgbClr val="2A5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5212080"/>
            <a:ext cx="1554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翌日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5212080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実績との比較で品質検証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852160"/>
            <a:ext cx="11475720" cy="502920"/>
          </a:xfrm>
          <a:prstGeom prst="rect">
            <a:avLst/>
          </a:prstGeom>
          <a:solidFill>
            <a:srgbClr val="FDE9CE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897880"/>
            <a:ext cx="112471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C8102E"/>
                </a:solidFill>
                <a:latin typeface="Yu Gothic"/>
                <a:ea typeface="Yu Gothic"/>
              </a:rPr>
              <a:t>■ Soft DR 措置の選択 (節電依頼・温度調整・照明・機器シフト等) は 管理者の判断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15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解釈と検証: SHAP値が示す重要特徴量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→ 機械学習モデルが Q1 の発見 (熱関連 + 日射) と一致する特徴量を重視</a:t>
            </a:r>
          </a:p>
        </p:txBody>
      </p:sp>
      <p:pic>
        <p:nvPicPr>
          <p:cNvPr id="10" name="Picture 9" descr="pres_06_shap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7360"/>
            <a:ext cx="73152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8288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Yu Gothic"/>
                <a:ea typeface="Yu Gothic"/>
              </a:rPr>
              <a:t>■ 統計-機械学習の整合性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286000"/>
            <a:ext cx="41148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Q1 の発見: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熱関連 (PC1) + 過去負荷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SHAP 上位 (機械学習):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1. 前週同時刻負荷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2. 営業日フラグ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3. 前日同時刻気温 ←気象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4. 前日同時刻負荷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5. 年内日付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6. 日射量 (予報) ←気象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→ 統計 (気象) +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  時間構造 (周期)</a:t>
            </a:r>
          </a:p>
          <a:p>
            <a:pPr algn="l"/>
            <a:r>
              <a:rPr sz="1100" b="0">
                <a:solidFill>
                  <a:srgbClr val="5A5A5A"/>
                </a:solidFill>
                <a:latin typeface="Yu Gothic"/>
                <a:ea typeface="Yu Gothic"/>
              </a:rPr>
              <a:t>    の両方を学習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36576"/>
            <a:ext cx="10058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"/>
                <a:ea typeface="Yu Gothic"/>
              </a:rPr>
              <a:t>省エネ研究 (山口大学) — Soft DR 警報配信システム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"/>
            <a:ext cx="146304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Yu Gothic"/>
                <a:ea typeface="Yu Gothic"/>
              </a:rPr>
              <a:t>Slide 16 /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56832"/>
            <a:ext cx="914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Yu Gothic"/>
                <a:ea typeface="Yu Gothic"/>
              </a:rPr>
              <a:t>山口大学 Yamaguchi University — 省エネ研究会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B71"/>
                </a:solidFill>
                <a:latin typeface="Yu Gothic"/>
                <a:ea typeface="Yu Gothic"/>
              </a:rPr>
              <a:t>まとめと今後の課題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097280" cy="54864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Yu Gothic"/>
                <a:ea typeface="Yu Gothic"/>
              </a:rPr>
              <a:t>達成内容と次のステップ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4708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■ 達成した成果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0280"/>
            <a:ext cx="5669280" cy="3383280"/>
          </a:xfrm>
          <a:prstGeom prst="rect">
            <a:avLst/>
          </a:prstGeom>
          <a:solidFill>
            <a:srgbClr val="F4F6FA"/>
          </a:solidFill>
          <a:ln w="9525">
            <a:solidFill>
              <a:srgbClr val="003B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77440"/>
            <a:ext cx="53949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1. Q1. 気象-電力関係の解明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・気象だけで b00 分散の 53% 説明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・PC1(熱)+PC2(湿度×日射) で 63%要約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2. Q2. 翌日ピーク予測の達成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・ハイブリッド手法で MAE = 54 kW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・観測上限の 94% を実運用で実現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3. Q3. 警報配信フレーム設計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・CCRI 3 段階分類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・自動配信ワークフロー定義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4. SHAP で統計-機械学習の整合性確認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577840" cy="457200"/>
          </a:xfrm>
          <a:prstGeom prst="rect">
            <a:avLst/>
          </a:prstGeom>
          <a:solidFill>
            <a:srgbClr val="E7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47088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■ 今後の課題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240280"/>
            <a:ext cx="5577840" cy="3383280"/>
          </a:xfrm>
          <a:prstGeom prst="rect">
            <a:avLst/>
          </a:prstGeom>
          <a:solidFill>
            <a:srgbClr val="F4F6FA"/>
          </a:solidFill>
          <a:ln w="9525">
            <a:solidFill>
              <a:srgbClr val="E7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377440"/>
            <a:ext cx="53035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1. データ拡張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・2025年通年データ取得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・冬季 (暖房) 需要の評価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2. 警報品質のフィールド検証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・予報精度の継続評価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・空振り率/見逃し率の運用測定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3. 管理者の意思決定評価  ★新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・インタビュー・アンケート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・警報受信 → どの Soft DR を選択?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    ・信頼性・実用性の評価</a:t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/>
            </a:r>
          </a:p>
          <a:p>
            <a:pPr algn="l"/>
            <a:r>
              <a:rPr sz="1150" b="0">
                <a:solidFill>
                  <a:srgbClr val="5A5A5A"/>
                </a:solidFill>
                <a:latin typeface="Yu Gothic"/>
                <a:ea typeface="Yu Gothic"/>
              </a:rPr>
              <a:t>4. 他棟 (b01-b15) へのスケール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669280"/>
            <a:ext cx="11475720" cy="594360"/>
          </a:xfrm>
          <a:prstGeom prst="rect">
            <a:avLst/>
          </a:prstGeom>
          <a:solidFill>
            <a:srgbClr val="003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5715000"/>
            <a:ext cx="11475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  <a:ea typeface="Yu Gothic"/>
              </a:rPr>
              <a:t>ご清聴ありがとうございました。  ご質問をお待ちしております。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