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9"/>
    <p:sldId id="269" r:id="rId20"/>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603"/>
  </p:normalViewPr>
  <p:slideViewPr>
    <p:cSldViewPr snapToGrid="0" snapToObjects="1">
      <p:cViewPr varScale="1">
        <p:scale>
          <a:sx n="104" d="100"/>
          <a:sy n="104" d="100"/>
        </p:scale>
        <p:origin x="144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2037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皆さま、本日はお時間をいただきありがとうございます。</a:t>
            </a:r>
          </a:p>
          <a:p>
            <a:r>
              <a:t>建築学科の劉です。</a:t>
            </a:r>
          </a:p>
          <a:p>
            <a:r>
              <a:t>本日は『天気予報を活用したキャンパスSDR運用支援システム』について研究の紹介をいたします。</a:t>
            </a:r>
          </a:p>
          <a:p/>
          <a:p>
            <a:r>
              <a:t>まず重要なキーワードのご確認ですが、本研究の SDR とは「Soft Demand Response」、</a:t>
            </a:r>
          </a:p>
          <a:p>
            <a:r>
              <a:t>つまり強制的な制御ではなく、節電依頼・設備運用調整・利用者への協力呼びかけ等の</a:t>
            </a:r>
          </a:p>
          <a:p>
            <a:r>
              <a:t>非強制的な需要調整の総称です。経済産業省 ERAB でも使われる用語です。</a:t>
            </a:r>
          </a:p>
          <a:p/>
          <a:p>
            <a:r>
              <a:t>本研究は『警報・予告を配信する仕組み』であって、設定温度を自動的に変える等の</a:t>
            </a:r>
          </a:p>
          <a:p>
            <a:r>
              <a:t>制御システムではありません。予測結果を警報として配信し、最終的な判断は</a:t>
            </a:r>
          </a:p>
          <a:p>
            <a:r>
              <a:t>設備管理者が行う、意思決定支援の枠組みです。</a:t>
            </a:r>
          </a:p>
          <a:p/>
          <a:p>
            <a:r>
              <a:t>発表のキーポイントは、(1) 気象と電力の関係性を統計的に解明したこと、</a:t>
            </a:r>
          </a:p>
          <a:p>
            <a:r>
              <a:t>(2) ハイブリッド気象入力で精度の高い予測モデルを構築したこと、</a:t>
            </a:r>
          </a:p>
          <a:p>
            <a:r>
              <a:t>(3) CCRI 警報配信フレームワークを設計したこと、の3点です。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研究背景を3点でご説明します。</a:t>
            </a:r>
          </a:p>
          <a:p>
            <a:r>
              <a:t>①、近年の猛暑により電力需要が増加。キャンパス電力の約40%が空調由来です。</a:t>
            </a:r>
          </a:p>
          <a:p>
            <a:r>
              <a:t>②、Soft DR は多様な選択肢を含む幅広い概念です。節電依頼の学内放送、設定温度</a:t>
            </a:r>
          </a:p>
          <a:p>
            <a:r>
              <a:t>調整、照明調光、機器運用シフト、利用者協力呼びかけなど、管理者が状況に応じて</a:t>
            </a:r>
          </a:p>
          <a:p>
            <a:r>
              <a:t>選択する非強制的な手段の総称です。</a:t>
            </a:r>
          </a:p>
          <a:p>
            <a:r>
              <a:t>③、本研究では翌日のピーク発生可能性を「警報レベル」に分類し、設備管理者に</a:t>
            </a:r>
          </a:p>
          <a:p>
            <a:r>
              <a:t>配信する仕組みを開発します。</a:t>
            </a:r>
          </a:p>
          <a:p/>
          <a:p>
            <a:r>
              <a:t>重要な点として、本研究は「予告・警報を出すまで」が範囲です。実際に Soft DR</a:t>
            </a:r>
          </a:p>
          <a:p>
            <a:r>
              <a:t>措置を選択・実施するのは設備管理者の判断であり、必ず人間が介在する意思決定</a:t>
            </a:r>
          </a:p>
          <a:p>
            <a:r>
              <a:t>支援システム、という位置付けです。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研究の目的とアプローチです。</a:t>
            </a:r>
          </a:p>
          <a:p>
            <a:r>
              <a:t>目的は当日17時の時点で翌日各時間の電力負荷を予測し、それを CCRI という</a:t>
            </a:r>
          </a:p>
          <a:p>
            <a:r>
              <a:t>指標で集約して警報レベルに分類、設備管理者へ配信することです。</a:t>
            </a:r>
          </a:p>
          <a:p/>
          <a:p>
            <a:r>
              <a:t>アプローチの工夫として、ハイブリッド気象入力を提案します。</a:t>
            </a:r>
          </a:p>
          <a:p>
            <a:r>
              <a:t>過去の気象は ERA5 観測値、未来の気象は JMA MSM 予報を使い分けることで、</a:t>
            </a:r>
          </a:p>
          <a:p>
            <a:r>
              <a:t>訓練データの質と実運用での現実性を両立させます。</a:t>
            </a:r>
          </a:p>
          <a:p/>
          <a:p>
            <a:r>
              <a:t>研究は 3 段階のアプローチで構成されます。</a:t>
            </a:r>
          </a:p>
          <a:p>
            <a:r>
              <a:t>① 気象-電力関係の理解 (相関+PCA)</a:t>
            </a:r>
          </a:p>
          <a:p>
            <a:r>
              <a:t>② 翌日ピーク予測 (LightGBM)</a:t>
            </a:r>
          </a:p>
          <a:p>
            <a:r>
              <a:t>③ 警報配信 (CCRI 設計) — Slide 12 で詳述</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使用したデータをご説明します。</a:t>
            </a:r>
          </a:p>
          <a:p>
            <a:r>
              <a:t>電力データは BEMS から取得した1時間値、b00 主棟を対象です。</a:t>
            </a:r>
          </a:p>
          <a:p/>
          <a:p>
            <a:r>
              <a:t>重要な開示として、気象観測には ERA5 再解析データを採用しました。</a:t>
            </a:r>
          </a:p>
          <a:p>
            <a:r>
              <a:t>AMeDAS 宇部站は四要素観測 (気温・風・降水・日照) のみで、湿度・気圧の</a:t>
            </a:r>
          </a:p>
          <a:p>
            <a:r>
              <a:t>観測がありません。ERA5 は ECMWF の全球再解析で、Hersbach 等 2020 年</a:t>
            </a:r>
          </a:p>
          <a:p>
            <a:r>
              <a:t>以降エネルギー研究分野で標準的に使用されています。</a:t>
            </a:r>
          </a:p>
          <a:p/>
          <a:p>
            <a:r>
              <a:t>気象予報には JMA MSM (5km 格子、+39h) を使用。</a:t>
            </a:r>
          </a:p>
          <a:p>
            <a:r>
              <a:t>データ期間は 2025年 7-10月の約 4 ヶ月。今後 2025 年通年に拡張予定です。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こちらが学習データとテストデータの分割です。</a:t>
            </a:r>
          </a:p>
          <a:p>
            <a:r>
              <a:t>青色が学習データ、約2ヶ月分です。オレンジが評価用のテストデータ、約5週間分です。</a:t>
            </a:r>
          </a:p>
          <a:p>
            <a:r>
              <a:t>重要なのは、テスト期間のデータは学習に一切使用していない点です。</a:t>
            </a:r>
          </a:p>
          <a:p>
            <a:r>
              <a:t>これにより、本当の意味で未知の期間に対する予測性能を測れます。</a:t>
            </a:r>
          </a:p>
          <a:p>
            <a:r>
              <a:t>テスト期間にもピーク日が複数含まれており、SDR発令判断の検証に適しています。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まず探索的にデータの傾向を見ていきます。</a:t>
            </a:r>
          </a:p>
          <a:p>
            <a:r>
              <a:t>これは月別の1日の負荷パターンです。</a:t>
            </a:r>
          </a:p>
          <a:p>
            <a:r>
              <a:t>赤い線が7月、青い線が10月です。</a:t>
            </a:r>
          </a:p>
          <a:p>
            <a:r>
              <a:t>7月の真夏は午後2時頃に最大1,360 kWのピークを迎えますが、10月になると1,040 kW程度まで下がります。</a:t>
            </a:r>
          </a:p>
          <a:p>
            <a:r>
              <a:t>これは冷房使用量の差によるものです。</a:t>
            </a:r>
          </a:p>
          <a:p>
            <a:r>
              <a:t>どの月も朝5〜6時に最低、午後14〜15時に最高、夜にかけて減少という共通パターンを示します。</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まず気象と電力の関係性を見ていきます。</a:t>
            </a:r>
          </a:p>
          <a:p>
            <a:r>
              <a:t>左の図は、各気象変数と電力消費 b00 の相関係数です。</a:t>
            </a:r>
          </a:p>
          <a:p>
            <a:r>
              <a:t>最も強い正相関は「日射量」、r = +0.67 です。</a:t>
            </a:r>
          </a:p>
          <a:p>
            <a:r>
              <a:t>次が「気温」、r = +0.57。</a:t>
            </a:r>
          </a:p>
          <a:p>
            <a:r>
              <a:t>そして「湿度」は負相関、r = −0.52 です。</a:t>
            </a:r>
          </a:p>
          <a:p>
            <a:r>
              <a:t>右下の標準化回帰係数では、日射量と気温が主な「電力を上げる」要因、</a:t>
            </a:r>
          </a:p>
          <a:p>
            <a:r>
              <a:t>湿度と気圧が「電力を下げる」要因として現れています。</a:t>
            </a:r>
          </a:p>
          <a:p>
            <a:r>
              <a:t>気象変数だけで電力分散の約 53% を説明できることが分かりました。</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次に主成分分析、PCAの結果です。</a:t>
            </a:r>
          </a:p>
          <a:p>
            <a:r>
              <a:t>気象データは 10個の変数からなりますが、互いに相関するため、独立な成分に分解しました。</a:t>
            </a:r>
          </a:p>
          <a:p>
            <a:r>
              <a:t>左のグラフは各主成分の寄与率です。</a:t>
            </a:r>
          </a:p>
          <a:p>
            <a:r>
              <a:t>PC1 が 41.7%、PC2 が 21.1%、PC3 が 13.1%。</a:t>
            </a:r>
          </a:p>
          <a:p>
            <a:r>
              <a:t>つまり、3つの主成分だけで、気象変動の 76% を表現できます。</a:t>
            </a:r>
          </a:p>
          <a:p>
            <a:endParaRPr/>
          </a:p>
          <a:p>
            <a:r>
              <a:t>右のヒートマップは、各主成分の構成を示しています。</a:t>
            </a:r>
          </a:p>
          <a:p>
            <a:r>
              <a:t>PC1 は「熱関連成分」、気温・体感気温・WBGT が共に寄与します。</a:t>
            </a:r>
          </a:p>
          <a:p>
            <a:r>
              <a:t>PC2 は「湿度と日射の対立成分」、悪天候の日に対応します。</a:t>
            </a:r>
          </a:p>
          <a:p>
            <a:r>
              <a:t>右側のバーは、各主成分と b00 の相関を示しており、</a:t>
            </a:r>
          </a:p>
          <a:p>
            <a:r>
              <a:t>PC1 は +0.47、PC2 は −0.50、PC3 は +0.16 となっています。</a:t>
            </a:r>
          </a:p>
          <a:p>
            <a:r>
              <a:t>つまり、気温と湿天候という 2つの軸が電力を主に左右していることが分かります。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ここからは結果のご紹介です。</a:t>
            </a:r>
          </a:p>
          <a:p>
            <a:r>
              <a:t>こちらがテスト期間の予測結果です。</a:t>
            </a:r>
          </a:p>
          <a:p>
            <a:r>
              <a:t>青い線が実測値、オレンジの線が予測値です。</a:t>
            </a:r>
          </a:p>
          <a:p>
            <a:r>
              <a:t>赤い点線はP80閾値、つまりSDR発令を検討するべき水準です。</a:t>
            </a:r>
          </a:p>
          <a:p>
            <a:r>
              <a:t>全体として、予測値は実測値をよく追従しており、複数のピーク日も正しく捕捉できています。</a:t>
            </a:r>
          </a:p>
          <a:p>
            <a:r>
              <a:t>平均誤差 (MAE) は約 54.0 kW、決定係数 R² は 0.905 と良好な精度を達成しました。</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次に散布図とアーキテクチャ比較です。</a:t>
            </a:r>
          </a:p>
          <a:p>
            <a:r>
              <a:t>左の散布図では、点が対角線 y=x に沿って分布しており、予測値と実測値がよく一致していることが分かります。</a:t>
            </a:r>
          </a:p>
          <a:p>
            <a:r>
              <a:t>右の表は、3つの手法を比較したものです。</a:t>
            </a:r>
          </a:p>
          <a:p>
            <a:r>
              <a:t>A は観測値のみを使う理論上限、B は予報値のみを使う従来手法、そして C が本研究のハイブリッド手法です。</a:t>
            </a:r>
          </a:p>
          <a:p>
            <a:r>
              <a:t>Cは B より MAE が 10% 改善し、A との差はわずか 6% です。</a:t>
            </a:r>
          </a:p>
          <a:p>
            <a:r>
              <a:t>つまり、観測値を使った理論上限に近い精度を、実運用で実現できたということです。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こちらが予測の根拠となる特徴量です。SHAP値で重要度を可視化しました。</a:t>
            </a:r>
          </a:p>
          <a:p>
            <a:r>
              <a:t>最も重要なのが「前週同時刻の負荷」です。週周期パターンが強いことを示しています。</a:t>
            </a:r>
          </a:p>
          <a:p>
            <a:r>
              <a:t>次いで「営業日フラグ」、平日と休日で電力消費が大きく異なります。</a:t>
            </a:r>
          </a:p>
          <a:p>
            <a:r>
              <a:t>3位は「前日同時刻の気温」、暑熱の連続性を反映しています。</a:t>
            </a:r>
          </a:p>
          <a:p>
            <a:r>
              <a:t>4位は「日射量予報」、翌日の冷房需要を予測する重要な情報源です。</a:t>
            </a:r>
          </a:p>
          <a:p>
            <a:r>
              <a:t>このように、モデルは現実的な物理的・運用的要因を捉えていることが分かります。</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最後にまとめです。本研究の達成内容は4点。</a:t>
            </a:r>
          </a:p>
          <a:p>
            <a:r>
              <a:t>1. JMA 予報を活用した翌日電力予測。ハイブリッド気象入力で MAE 54 kW、</a:t>
            </a:r>
          </a:p>
          <a:p>
            <a:r>
              <a:t>   観測上限の 94% の精度を実運用で実現しました。</a:t>
            </a:r>
          </a:p>
          <a:p>
            <a:r>
              <a:t>2. 相関分析と PCA で気象-電力関係を体系的に解明。3 つの主成分が気象</a:t>
            </a:r>
          </a:p>
          <a:p>
            <a:r>
              <a:t>   変動の 76% を説明します。</a:t>
            </a:r>
          </a:p>
          <a:p>
            <a:r>
              <a:t>3. CCRI による警報配信フレームを設計。Normal/High/Critical の3段階分類</a:t>
            </a:r>
          </a:p>
          <a:p>
            <a:r>
              <a:t>   で管理者へ配信します。</a:t>
            </a:r>
          </a:p>
          <a:p>
            <a:r>
              <a:t>4. SHAP 解析で機械学習モデルが統計分析と整合的な要因を学んでいることを確認。</a:t>
            </a:r>
          </a:p>
          <a:p/>
          <a:p>
            <a:r>
              <a:t>今後の課題は4点。</a:t>
            </a:r>
          </a:p>
          <a:p>
            <a:r>
              <a:t>1. データ拡張: 2025年通年データで冬季暖房需要も検証</a:t>
            </a:r>
          </a:p>
          <a:p>
            <a:r>
              <a:t>2. 全15棟へのスケールアップ</a:t>
            </a:r>
          </a:p>
          <a:p>
            <a:r>
              <a:t>3. ★ 管理者の意思決定評価: インタビュー・アンケートで、警報受信時に</a:t>
            </a:r>
          </a:p>
          <a:p>
            <a:r>
              <a:t>   どの Soft DR 措置を選択するか、信頼性・実用性を定量的に評価</a:t>
            </a:r>
          </a:p>
          <a:p>
            <a:r>
              <a:t>4. CCRI 閾値・警報ルールの最適化</a:t>
            </a:r>
          </a:p>
          <a:p/>
          <a:p>
            <a:r>
              <a:t>以上、ご清聴ありがとうございました。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554480"/>
            <a:ext cx="12191695" cy="73152"/>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0080"/>
            <a:ext cx="10972800" cy="457200"/>
          </a:xfrm>
          <a:prstGeom prst="rect">
            <a:avLst/>
          </a:prstGeom>
          <a:noFill/>
        </p:spPr>
        <p:txBody>
          <a:bodyPr wrap="square" lIns="0" tIns="0" rIns="0" bIns="0" anchor="t">
            <a:spAutoFit/>
          </a:bodyPr>
          <a:lstStyle/>
          <a:p>
            <a:pPr algn="l"/>
            <a:r>
              <a:rPr sz="1400" b="1">
                <a:solidFill>
                  <a:srgbClr val="FFFFFF"/>
                </a:solidFill>
                <a:latin typeface="Yu Gothic"/>
                <a:ea typeface="Yu Gothic"/>
              </a:rPr>
              <a:t>山口大学  YAMAGUCHI UNIVERSITY</a:t>
            </a:r>
          </a:p>
        </p:txBody>
      </p:sp>
      <p:sp>
        <p:nvSpPr>
          <p:cNvPr id="5" name="TextBox 4"/>
          <p:cNvSpPr txBox="1"/>
          <p:nvPr/>
        </p:nvSpPr>
        <p:spPr>
          <a:xfrm>
            <a:off x="548640" y="1828800"/>
            <a:ext cx="10972800" cy="1371600"/>
          </a:xfrm>
          <a:prstGeom prst="rect">
            <a:avLst/>
          </a:prstGeom>
          <a:noFill/>
        </p:spPr>
        <p:txBody>
          <a:bodyPr wrap="square" lIns="0" tIns="0" rIns="0" bIns="0" anchor="t">
            <a:spAutoFit/>
          </a:bodyPr>
          <a:lstStyle/>
          <a:p>
            <a:pPr algn="l"/>
            <a:r>
              <a:rPr sz="3600" b="1">
                <a:solidFill>
                  <a:srgbClr val="FFFFFF"/>
                </a:solidFill>
                <a:latin typeface="Yu Gothic"/>
                <a:ea typeface="Yu Gothic"/>
              </a:rPr>
              <a:t>天気予報を活用した</a:t>
            </a:r>
          </a:p>
          <a:p>
            <a:pPr algn="l"/>
            <a:r>
              <a:rPr sz="3600" b="1">
                <a:solidFill>
                  <a:srgbClr val="FFFFFF"/>
                </a:solidFill>
                <a:latin typeface="Yu Gothic"/>
                <a:ea typeface="Yu Gothic"/>
              </a:rPr>
              <a:t>キャンパスSDR運用支援システムの研究</a:t>
            </a:r>
          </a:p>
        </p:txBody>
      </p:sp>
      <p:sp>
        <p:nvSpPr>
          <p:cNvPr id="6" name="TextBox 5"/>
          <p:cNvSpPr txBox="1"/>
          <p:nvPr/>
        </p:nvSpPr>
        <p:spPr>
          <a:xfrm>
            <a:off x="548640" y="4206240"/>
            <a:ext cx="10972800" cy="548640"/>
          </a:xfrm>
          <a:prstGeom prst="rect">
            <a:avLst/>
          </a:prstGeom>
          <a:noFill/>
        </p:spPr>
        <p:txBody>
          <a:bodyPr wrap="square" lIns="0" tIns="0" rIns="0" bIns="0" anchor="t">
            <a:spAutoFit/>
          </a:bodyPr>
          <a:lstStyle/>
          <a:p>
            <a:pPr algn="l"/>
            <a:r>
              <a:rPr sz="1800" b="0">
                <a:solidFill>
                  <a:srgbClr val="FFC880"/>
                </a:solidFill>
                <a:latin typeface="Yu Gothic"/>
                <a:ea typeface="Yu Gothic"/>
              </a:rPr>
              <a:t>— ハイブリッド気象入力による翌日電力ピーク予測 —</a:t>
            </a:r>
          </a:p>
        </p:txBody>
      </p:sp>
      <p:sp>
        <p:nvSpPr>
          <p:cNvPr id="7" name="TextBox 6"/>
          <p:cNvSpPr txBox="1"/>
          <p:nvPr/>
        </p:nvSpPr>
        <p:spPr>
          <a:xfrm>
            <a:off x="548640" y="5303520"/>
            <a:ext cx="10972800" cy="215444"/>
          </a:xfrm>
          <a:prstGeom prst="rect">
            <a:avLst/>
          </a:prstGeom>
          <a:noFill/>
        </p:spPr>
        <p:txBody>
          <a:bodyPr wrap="square" lIns="0" tIns="0" rIns="0" bIns="0" anchor="t">
            <a:spAutoFit/>
          </a:bodyPr>
          <a:lstStyle/>
          <a:p>
            <a:pPr algn="l"/>
            <a:r>
              <a:rPr sz="1400" b="0" dirty="0" err="1">
                <a:solidFill>
                  <a:srgbClr val="FFFFFF"/>
                </a:solidFill>
                <a:latin typeface="Yu Gothic"/>
                <a:ea typeface="Yu Gothic"/>
              </a:rPr>
              <a:t>発表者</a:t>
            </a:r>
            <a:r>
              <a:rPr sz="1400" b="0" dirty="0">
                <a:solidFill>
                  <a:srgbClr val="FFFFFF"/>
                </a:solidFill>
                <a:latin typeface="Yu Gothic"/>
                <a:ea typeface="Yu Gothic"/>
              </a:rPr>
              <a:t>: </a:t>
            </a:r>
            <a:r>
              <a:rPr lang="zh-CN" altLang="en-US" sz="1400" b="0" dirty="0">
                <a:solidFill>
                  <a:srgbClr val="FFFFFF"/>
                </a:solidFill>
                <a:latin typeface="Yu Gothic"/>
                <a:ea typeface="Yu Gothic"/>
              </a:rPr>
              <a:t>劉</a:t>
            </a:r>
            <a:r>
              <a:rPr lang="ja-JP" altLang="en-US" sz="1400" b="0">
                <a:solidFill>
                  <a:srgbClr val="FFFFFF"/>
                </a:solidFill>
                <a:latin typeface="Yu Gothic"/>
                <a:ea typeface="Yu Gothic"/>
              </a:rPr>
              <a:t>　</a:t>
            </a:r>
            <a:r>
              <a:rPr lang="zh-CN" altLang="en-US" sz="1400" b="0" dirty="0">
                <a:solidFill>
                  <a:srgbClr val="FFFFFF"/>
                </a:solidFill>
                <a:latin typeface="Yu Gothic"/>
                <a:ea typeface="Yu Gothic"/>
              </a:rPr>
              <a:t>海強</a:t>
            </a:r>
            <a:r>
              <a:rPr lang="ja-JP" altLang="en-US" sz="1400" b="0">
                <a:solidFill>
                  <a:srgbClr val="FFFFFF"/>
                </a:solidFill>
                <a:latin typeface="Yu Gothic"/>
                <a:ea typeface="Yu Gothic"/>
              </a:rPr>
              <a:t>　</a:t>
            </a:r>
            <a:r>
              <a:rPr sz="1400" b="0" dirty="0">
                <a:solidFill>
                  <a:srgbClr val="FFFFFF"/>
                </a:solidFill>
                <a:latin typeface="Yu Gothic"/>
                <a:ea typeface="Yu Gothic"/>
              </a:rPr>
              <a:t>(</a:t>
            </a:r>
            <a:r>
              <a:rPr sz="1400" b="0" dirty="0" err="1">
                <a:solidFill>
                  <a:srgbClr val="FFFFFF"/>
                </a:solidFill>
                <a:latin typeface="Yu Gothic"/>
                <a:ea typeface="Yu Gothic"/>
              </a:rPr>
              <a:t>山口大学</a:t>
            </a:r>
            <a:r>
              <a:rPr sz="1400" b="0" dirty="0">
                <a:solidFill>
                  <a:srgbClr val="FFFFFF"/>
                </a:solidFill>
                <a:latin typeface="Yu Gothic"/>
                <a:ea typeface="Yu Gothic"/>
              </a:rPr>
              <a:t> </a:t>
            </a:r>
            <a:r>
              <a:rPr lang="zh-CN" altLang="en-US" sz="1400" b="0" dirty="0">
                <a:solidFill>
                  <a:srgbClr val="FFFFFF"/>
                </a:solidFill>
                <a:latin typeface="Yu Gothic"/>
                <a:ea typeface="Yu Gothic"/>
              </a:rPr>
              <a:t>工学部</a:t>
            </a:r>
            <a:r>
              <a:rPr sz="1400" b="0" dirty="0">
                <a:solidFill>
                  <a:srgbClr val="FFFFFF"/>
                </a:solidFill>
                <a:latin typeface="Yu Gothic"/>
                <a:ea typeface="Yu Gothic"/>
              </a:rPr>
              <a:t>)</a:t>
            </a:r>
          </a:p>
        </p:txBody>
      </p:sp>
      <p:sp>
        <p:nvSpPr>
          <p:cNvPr id="8" name="TextBox 7"/>
          <p:cNvSpPr txBox="1"/>
          <p:nvPr/>
        </p:nvSpPr>
        <p:spPr>
          <a:xfrm>
            <a:off x="548640" y="5760720"/>
            <a:ext cx="10972800" cy="215444"/>
          </a:xfrm>
          <a:prstGeom prst="rect">
            <a:avLst/>
          </a:prstGeom>
          <a:noFill/>
        </p:spPr>
        <p:txBody>
          <a:bodyPr wrap="square" lIns="0" tIns="0" rIns="0" bIns="0" anchor="t">
            <a:spAutoFit/>
          </a:bodyPr>
          <a:lstStyle/>
          <a:p>
            <a:pPr algn="l"/>
            <a:r>
              <a:rPr lang="zh-CN" altLang="en-US" sz="1400" b="0" dirty="0">
                <a:solidFill>
                  <a:srgbClr val="FFFFFF"/>
                </a:solidFill>
                <a:latin typeface="Yu Gothic"/>
                <a:ea typeface="Yu Gothic"/>
              </a:rPr>
              <a:t>省</a:t>
            </a:r>
            <a:r>
              <a:rPr lang="ja-JP" altLang="en-US" sz="1400" b="0">
                <a:solidFill>
                  <a:srgbClr val="FFFFFF"/>
                </a:solidFill>
                <a:latin typeface="Yu Gothic"/>
                <a:ea typeface="Yu Gothic"/>
              </a:rPr>
              <a:t>エネ</a:t>
            </a:r>
            <a:r>
              <a:rPr lang="zh-CN" altLang="en-US" sz="1400" b="0" dirty="0">
                <a:solidFill>
                  <a:srgbClr val="FFFFFF"/>
                </a:solidFill>
                <a:latin typeface="Yu Gothic"/>
                <a:ea typeface="Yu Gothic"/>
              </a:rPr>
              <a:t>推進室</a:t>
            </a:r>
            <a:r>
              <a:rPr sz="1400" b="0" dirty="0">
                <a:solidFill>
                  <a:srgbClr val="FFFFFF"/>
                </a:solidFill>
                <a:latin typeface="Yu Gothic"/>
                <a:ea typeface="Yu Gothic"/>
              </a:rPr>
              <a:t>/ 2026年5月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2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研究背景</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なぜキャンパスのピーク予測が必要か</a:t>
            </a:r>
          </a:p>
        </p:txBody>
      </p:sp>
      <p:sp>
        <p:nvSpPr>
          <p:cNvPr id="10" name="Rectangle 9"/>
          <p:cNvSpPr/>
          <p:nvPr/>
        </p:nvSpPr>
        <p:spPr>
          <a:xfrm>
            <a:off x="365760" y="1828800"/>
            <a:ext cx="3657600" cy="5486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967518"/>
            <a:ext cx="3291840" cy="307777"/>
          </a:xfrm>
          <a:prstGeom prst="rect">
            <a:avLst/>
          </a:prstGeom>
          <a:noFill/>
        </p:spPr>
        <p:txBody>
          <a:bodyPr wrap="square" lIns="0" tIns="0" rIns="0" bIns="0" anchor="ctr">
            <a:spAutoFit/>
          </a:bodyPr>
          <a:lstStyle/>
          <a:p>
            <a:pPr algn="l"/>
            <a:r>
              <a:rPr sz="2000" b="1" dirty="0">
                <a:solidFill>
                  <a:srgbClr val="FFFFFF"/>
                </a:solidFill>
                <a:latin typeface="Yu Gothic"/>
                <a:ea typeface="Yu Gothic"/>
              </a:rPr>
              <a:t>①.  </a:t>
            </a:r>
            <a:r>
              <a:rPr sz="2000" b="1" dirty="0" err="1">
                <a:solidFill>
                  <a:srgbClr val="FFFFFF"/>
                </a:solidFill>
                <a:latin typeface="Yu Gothic"/>
                <a:ea typeface="Yu Gothic"/>
              </a:rPr>
              <a:t>猛暑による電力ピーク</a:t>
            </a:r>
            <a:endParaRPr sz="2000" b="1" dirty="0">
              <a:solidFill>
                <a:srgbClr val="FFFFFF"/>
              </a:solidFill>
              <a:latin typeface="Yu Gothic"/>
              <a:ea typeface="Yu Gothic"/>
            </a:endParaRPr>
          </a:p>
        </p:txBody>
      </p:sp>
      <p:sp>
        <p:nvSpPr>
          <p:cNvPr id="12" name="Rectangle 11"/>
          <p:cNvSpPr/>
          <p:nvPr/>
        </p:nvSpPr>
        <p:spPr>
          <a:xfrm>
            <a:off x="365760" y="2377440"/>
            <a:ext cx="3657600" cy="3108960"/>
          </a:xfrm>
          <a:prstGeom prst="rect">
            <a:avLst/>
          </a:prstGeom>
          <a:solidFill>
            <a:srgbClr val="F4F6FA"/>
          </a:solidFill>
          <a:ln w="9525">
            <a:solidFill>
              <a:srgbClr val="003B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514600"/>
            <a:ext cx="3246120" cy="2154436"/>
          </a:xfrm>
          <a:prstGeom prst="rect">
            <a:avLst/>
          </a:prstGeom>
          <a:noFill/>
        </p:spPr>
        <p:txBody>
          <a:bodyPr wrap="square" lIns="0" tIns="0" rIns="0" bIns="0" anchor="t">
            <a:spAutoFit/>
          </a:bodyPr>
          <a:lstStyle/>
          <a:p>
            <a:pPr algn="l"/>
            <a:r>
              <a:rPr sz="2000" b="0" dirty="0">
                <a:solidFill>
                  <a:srgbClr val="5A5A5A"/>
                </a:solidFill>
                <a:latin typeface="Yu Gothic"/>
                <a:ea typeface="Yu Gothic"/>
              </a:rPr>
              <a:t>・山口県は2025年も猛暑</a:t>
            </a:r>
            <a:endParaRPr lang="en-US" sz="2000" b="0" dirty="0">
              <a:solidFill>
                <a:srgbClr val="5A5A5A"/>
              </a:solidFill>
              <a:latin typeface="Yu Gothic"/>
              <a:ea typeface="Yu Gothic"/>
            </a:endParaRPr>
          </a:p>
          <a:p>
            <a:pPr algn="l"/>
            <a:endParaRPr sz="2000" b="0" dirty="0">
              <a:solidFill>
                <a:srgbClr val="5A5A5A"/>
              </a:solidFill>
              <a:latin typeface="Yu Gothic"/>
              <a:ea typeface="Yu Gothic"/>
            </a:endParaRPr>
          </a:p>
          <a:p>
            <a:pPr algn="l"/>
            <a:r>
              <a:rPr sz="2000" b="0" dirty="0">
                <a:solidFill>
                  <a:srgbClr val="5A5A5A"/>
                </a:solidFill>
                <a:latin typeface="Yu Gothic"/>
                <a:ea typeface="Yu Gothic"/>
              </a:rPr>
              <a:t>・キャンパス電力の40%は空調</a:t>
            </a:r>
            <a:endParaRPr lang="en-US" sz="2000" b="0" dirty="0">
              <a:solidFill>
                <a:srgbClr val="5A5A5A"/>
              </a:solidFill>
              <a:latin typeface="Yu Gothic"/>
              <a:ea typeface="Yu Gothic"/>
            </a:endParaRPr>
          </a:p>
          <a:p>
            <a:pPr algn="l"/>
            <a:endParaRPr sz="2000" b="0" dirty="0">
              <a:solidFill>
                <a:srgbClr val="5A5A5A"/>
              </a:solidFill>
              <a:latin typeface="Yu Gothic"/>
              <a:ea typeface="Yu Gothic"/>
            </a:endParaRPr>
          </a:p>
          <a:p>
            <a:pPr algn="l"/>
            <a:r>
              <a:rPr sz="2000" b="0" dirty="0">
                <a:solidFill>
                  <a:srgbClr val="5A5A5A"/>
                </a:solidFill>
                <a:latin typeface="Yu Gothic"/>
                <a:ea typeface="Yu Gothic"/>
              </a:rPr>
              <a:t>・</a:t>
            </a:r>
            <a:r>
              <a:rPr sz="2000" b="0" dirty="0" err="1">
                <a:solidFill>
                  <a:srgbClr val="5A5A5A"/>
                </a:solidFill>
                <a:latin typeface="Yu Gothic"/>
                <a:ea typeface="Yu Gothic"/>
              </a:rPr>
              <a:t>ピーク時の契約電力上昇は</a:t>
            </a:r>
            <a:r>
              <a:rPr sz="2000" b="0" dirty="0">
                <a:solidFill>
                  <a:srgbClr val="5A5A5A"/>
                </a:solidFill>
                <a:latin typeface="Yu Gothic"/>
                <a:ea typeface="Yu Gothic"/>
              </a:rPr>
              <a:t>  </a:t>
            </a:r>
            <a:r>
              <a:rPr sz="2000" b="0" dirty="0" err="1">
                <a:solidFill>
                  <a:srgbClr val="5A5A5A"/>
                </a:solidFill>
                <a:latin typeface="Yu Gothic"/>
                <a:ea typeface="Yu Gothic"/>
              </a:rPr>
              <a:t>経費負担に直結</a:t>
            </a:r>
            <a:endParaRPr sz="2000" b="0" dirty="0">
              <a:solidFill>
                <a:srgbClr val="5A5A5A"/>
              </a:solidFill>
              <a:latin typeface="Yu Gothic"/>
              <a:ea typeface="Yu Gothic"/>
            </a:endParaRPr>
          </a:p>
        </p:txBody>
      </p:sp>
      <p:sp>
        <p:nvSpPr>
          <p:cNvPr id="14" name="Rectangle 13"/>
          <p:cNvSpPr/>
          <p:nvPr/>
        </p:nvSpPr>
        <p:spPr>
          <a:xfrm>
            <a:off x="4251960" y="1828800"/>
            <a:ext cx="3657600" cy="548640"/>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1967518"/>
            <a:ext cx="3291840" cy="307777"/>
          </a:xfrm>
          <a:prstGeom prst="rect">
            <a:avLst/>
          </a:prstGeom>
          <a:noFill/>
        </p:spPr>
        <p:txBody>
          <a:bodyPr wrap="square" lIns="0" tIns="0" rIns="0" bIns="0" anchor="ctr">
            <a:spAutoFit/>
          </a:bodyPr>
          <a:lstStyle/>
          <a:p>
            <a:pPr algn="l"/>
            <a:r>
              <a:rPr sz="2000" b="1">
                <a:solidFill>
                  <a:srgbClr val="FFFFFF"/>
                </a:solidFill>
                <a:latin typeface="Yu Gothic"/>
                <a:ea typeface="Yu Gothic"/>
              </a:rPr>
              <a:t>②.  SDRの有効性</a:t>
            </a:r>
          </a:p>
        </p:txBody>
      </p:sp>
      <p:sp>
        <p:nvSpPr>
          <p:cNvPr id="16" name="Rectangle 15"/>
          <p:cNvSpPr/>
          <p:nvPr/>
        </p:nvSpPr>
        <p:spPr>
          <a:xfrm>
            <a:off x="4251960" y="2377440"/>
            <a:ext cx="3657600" cy="3108960"/>
          </a:xfrm>
          <a:prstGeom prst="rect">
            <a:avLst/>
          </a:prstGeom>
          <a:solidFill>
            <a:srgbClr val="F4F6FA"/>
          </a:solidFill>
          <a:ln w="9525">
            <a:solidFill>
              <a:srgbClr val="E7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2514600"/>
            <a:ext cx="3246120" cy="1846659"/>
          </a:xfrm>
          <a:prstGeom prst="rect">
            <a:avLst/>
          </a:prstGeom>
          <a:noFill/>
        </p:spPr>
        <p:txBody>
          <a:bodyPr wrap="square" lIns="0" tIns="0" rIns="0" bIns="0" anchor="t">
            <a:spAutoFit/>
          </a:bodyPr>
          <a:lstStyle/>
          <a:p>
            <a:pPr algn="l"/>
            <a:r>
              <a:rPr sz="1300">
                <a:solidFill>
                  <a:srgbClr val="5A5A5A"/>
                </a:solidFill>
                <a:latin typeface="Yu Gothic"/>
                <a:ea typeface="Yu Gothic"/>
              </a:rPr>
              <a:t>・Soft DR は多様な選択肢</a:t>
            </a:r>
            <a:endParaRPr lang="en-US" sz="2000" b="0" dirty="0">
              <a:solidFill>
                <a:srgbClr val="5A5A5A"/>
              </a:solidFill>
              <a:latin typeface="Yu Gothic"/>
              <a:ea typeface="Yu Gothic"/>
            </a:endParaRPr>
          </a:p>
          <a:p>
            <a:r>
              <a:rPr sz="1300">
                <a:solidFill>
                  <a:srgbClr val="5A5A5A"/>
                </a:solidFill>
                <a:latin typeface="Yu Gothic"/>
                <a:ea typeface="Yu Gothic"/>
              </a:rPr>
              <a:t>  節電依頼/設定温度調整/</a:t>
            </a:r>
          </a:p>
          <a:p>
            <a:r>
              <a:rPr sz="1300">
                <a:solidFill>
                  <a:srgbClr val="5A5A5A"/>
                </a:solidFill>
                <a:latin typeface="Yu Gothic"/>
                <a:ea typeface="Yu Gothic"/>
              </a:rPr>
              <a:t>  照明調光/機器シフト 等</a:t>
            </a:r>
          </a:p>
          <a:p>
            <a:r>
              <a:rPr sz="1300">
                <a:solidFill>
                  <a:srgbClr val="5A5A5A"/>
                </a:solidFill>
                <a:latin typeface="Yu Gothic"/>
                <a:ea typeface="Yu Gothic"/>
              </a:rPr>
              <a:t>・5〜10% の節電効果</a:t>
            </a:r>
          </a:p>
          <a:p>
            <a:r>
              <a:rPr sz="1300">
                <a:solidFill>
                  <a:srgbClr val="5A5A5A"/>
                </a:solidFill>
                <a:latin typeface="Yu Gothic"/>
                <a:ea typeface="Yu Gothic"/>
              </a:rPr>
              <a:t>・管理者が状況に応じ</a:t>
            </a:r>
          </a:p>
          <a:p>
            <a:r>
              <a:rPr sz="1300">
                <a:solidFill>
                  <a:srgbClr val="5A5A5A"/>
                </a:solidFill>
                <a:latin typeface="Yu Gothic"/>
                <a:ea typeface="Yu Gothic"/>
              </a:rPr>
              <a:t>  非強制的に選択</a:t>
            </a:r>
          </a:p>
        </p:txBody>
      </p:sp>
      <p:sp>
        <p:nvSpPr>
          <p:cNvPr id="18" name="Rectangle 17"/>
          <p:cNvSpPr/>
          <p:nvPr/>
        </p:nvSpPr>
        <p:spPr>
          <a:xfrm>
            <a:off x="8138160" y="1828800"/>
            <a:ext cx="3657600" cy="548640"/>
          </a:xfrm>
          <a:prstGeom prst="rect">
            <a:avLst/>
          </a:prstGeom>
          <a:solidFill>
            <a:srgbClr val="2D9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1967518"/>
            <a:ext cx="3291840" cy="307777"/>
          </a:xfrm>
          <a:prstGeom prst="rect">
            <a:avLst/>
          </a:prstGeom>
          <a:noFill/>
        </p:spPr>
        <p:txBody>
          <a:bodyPr wrap="square" lIns="0" tIns="0" rIns="0" bIns="0" anchor="ctr">
            <a:spAutoFit/>
          </a:bodyPr>
          <a:lstStyle/>
          <a:p>
            <a:pPr algn="l"/>
            <a:r>
              <a:rPr sz="2000" b="1">
                <a:solidFill>
                  <a:srgbClr val="FFFFFF"/>
                </a:solidFill>
                <a:latin typeface="Yu Gothic"/>
                <a:ea typeface="Yu Gothic"/>
              </a:rPr>
              <a:t>③.  予測による事前判断</a:t>
            </a:r>
          </a:p>
        </p:txBody>
      </p:sp>
      <p:sp>
        <p:nvSpPr>
          <p:cNvPr id="20" name="Rectangle 19"/>
          <p:cNvSpPr/>
          <p:nvPr/>
        </p:nvSpPr>
        <p:spPr>
          <a:xfrm>
            <a:off x="8138160" y="2377440"/>
            <a:ext cx="3657600" cy="3108960"/>
          </a:xfrm>
          <a:prstGeom prst="rect">
            <a:avLst/>
          </a:prstGeom>
          <a:solidFill>
            <a:srgbClr val="F4F6FA"/>
          </a:solidFill>
          <a:ln w="9525">
            <a:solidFill>
              <a:srgbClr val="2D9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2514600"/>
            <a:ext cx="3246120" cy="2154436"/>
          </a:xfrm>
          <a:prstGeom prst="rect">
            <a:avLst/>
          </a:prstGeom>
          <a:noFill/>
        </p:spPr>
        <p:txBody>
          <a:bodyPr wrap="square" lIns="0" tIns="0" rIns="0" bIns="0" anchor="t">
            <a:spAutoFit/>
          </a:bodyPr>
          <a:lstStyle/>
          <a:p>
            <a:pPr algn="l"/>
            <a:r>
              <a:rPr sz="1300">
                <a:solidFill>
                  <a:srgbClr val="5A5A5A"/>
                </a:solidFill>
                <a:latin typeface="Yu Gothic"/>
                <a:ea typeface="Yu Gothic"/>
              </a:rPr>
              <a:t>・前日の気象予報から</a:t>
            </a:r>
            <a:endParaRPr lang="en-US" sz="2000" b="0" dirty="0">
              <a:solidFill>
                <a:srgbClr val="5A5A5A"/>
              </a:solidFill>
              <a:latin typeface="Yu Gothic"/>
              <a:ea typeface="Yu Gothic"/>
            </a:endParaRPr>
          </a:p>
          <a:p>
            <a:r>
              <a:rPr sz="1300">
                <a:solidFill>
                  <a:srgbClr val="5A5A5A"/>
                </a:solidFill>
                <a:latin typeface="Yu Gothic"/>
                <a:ea typeface="Yu Gothic"/>
              </a:rPr>
              <a:t>  翌日ピークを予測</a:t>
            </a:r>
          </a:p>
          <a:p>
            <a:r>
              <a:rPr sz="1300">
                <a:solidFill>
                  <a:srgbClr val="5A5A5A"/>
                </a:solidFill>
                <a:latin typeface="Yu Gothic"/>
                <a:ea typeface="Yu Gothic"/>
              </a:rPr>
              <a:t>・警報レベルに分類して</a:t>
            </a:r>
          </a:p>
          <a:p>
            <a:r>
              <a:rPr sz="1300">
                <a:solidFill>
                  <a:srgbClr val="5A5A5A"/>
                </a:solidFill>
                <a:latin typeface="Yu Gothic"/>
                <a:ea typeface="Yu Gothic"/>
              </a:rPr>
              <a:t>  管理者へ配信</a:t>
            </a:r>
          </a:p>
          <a:p>
            <a:r>
              <a:rPr sz="1300">
                <a:solidFill>
                  <a:srgbClr val="5A5A5A"/>
                </a:solidFill>
                <a:latin typeface="Yu Gothic"/>
                <a:ea typeface="Yu Gothic"/>
              </a:rPr>
              <a:t>・Soft DR 措置は</a:t>
            </a:r>
          </a:p>
          <a:p>
            <a:r>
              <a:rPr sz="1300">
                <a:solidFill>
                  <a:srgbClr val="5A5A5A"/>
                </a:solidFill>
                <a:latin typeface="Yu Gothic"/>
                <a:ea typeface="Yu Gothic"/>
              </a:rPr>
              <a:t>  管理者の判断で実施</a:t>
            </a:r>
          </a:p>
        </p:txBody>
      </p:sp>
      <p:sp>
        <p:nvSpPr>
          <p:cNvPr id="22" name="Rectangle 21"/>
          <p:cNvSpPr/>
          <p:nvPr/>
        </p:nvSpPr>
        <p:spPr>
          <a:xfrm>
            <a:off x="365760" y="5852160"/>
            <a:ext cx="11475720" cy="457200"/>
          </a:xfrm>
          <a:prstGeom prst="rect">
            <a:avLst/>
          </a:prstGeom>
          <a:solidFill>
            <a:srgbClr val="FDE9C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897880"/>
            <a:ext cx="11247120" cy="365760"/>
          </a:xfrm>
          <a:prstGeom prst="rect">
            <a:avLst/>
          </a:prstGeom>
          <a:noFill/>
        </p:spPr>
        <p:txBody>
          <a:bodyPr wrap="square" anchor="ctr" lIns="0" rIns="0" tIns="0" bIns="0">
            <a:spAutoFit/>
          </a:bodyPr>
          <a:lstStyle/>
          <a:p>
            <a:pPr algn="l"/>
            <a:r>
              <a:rPr sz="1250" b="1">
                <a:solidFill>
                  <a:srgbClr val="C8102E"/>
                </a:solidFill>
                <a:latin typeface="Yu Gothic"/>
                <a:ea typeface="Yu Gothic"/>
              </a:rPr>
              <a:t>■ 本研究は「予告・警報を出すまで」が範囲: 実際の Soft DR 措置は管理者の判断による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3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研究目的とアプローチ</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a:solidFill>
                  <a:srgbClr val="5A5A5A"/>
                </a:solidFill>
                <a:latin typeface="Yu Gothic"/>
                <a:ea typeface="Yu Gothic"/>
              </a:rPr>
              <a:t>翌日ピーク予測 → CCRI 警報配信 → 管理者の Soft DR 判断</a:t>
            </a:r>
          </a:p>
        </p:txBody>
      </p:sp>
      <p:sp>
        <p:nvSpPr>
          <p:cNvPr id="10" name="Rectangle 9"/>
          <p:cNvSpPr/>
          <p:nvPr/>
        </p:nvSpPr>
        <p:spPr>
          <a:xfrm>
            <a:off x="365760" y="1828800"/>
            <a:ext cx="5486400" cy="4572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892807"/>
            <a:ext cx="5120640" cy="365760"/>
          </a:xfrm>
          <a:prstGeom prst="rect">
            <a:avLst/>
          </a:prstGeom>
          <a:noFill/>
        </p:spPr>
        <p:txBody>
          <a:bodyPr wrap="square" lIns="0" tIns="0" rIns="0" bIns="0" anchor="ctr">
            <a:spAutoFit/>
          </a:bodyPr>
          <a:lstStyle/>
          <a:p>
            <a:pPr algn="l"/>
            <a:r>
              <a:rPr sz="1400" b="1">
                <a:solidFill>
                  <a:srgbClr val="FFFFFF"/>
                </a:solidFill>
                <a:latin typeface="Yu Gothic"/>
                <a:ea typeface="Yu Gothic"/>
              </a:rPr>
              <a:t>研究目的</a:t>
            </a:r>
          </a:p>
        </p:txBody>
      </p:sp>
      <p:sp>
        <p:nvSpPr>
          <p:cNvPr id="12" name="Rectangle 11"/>
          <p:cNvSpPr/>
          <p:nvPr/>
        </p:nvSpPr>
        <p:spPr>
          <a:xfrm>
            <a:off x="365760" y="2286000"/>
            <a:ext cx="5486400" cy="3017520"/>
          </a:xfrm>
          <a:prstGeom prst="rect">
            <a:avLst/>
          </a:prstGeom>
          <a:solidFill>
            <a:srgbClr val="F4F6FA"/>
          </a:solidFill>
          <a:ln w="9525">
            <a:solidFill>
              <a:srgbClr val="003B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468880"/>
            <a:ext cx="5120640" cy="2708434"/>
          </a:xfrm>
          <a:prstGeom prst="rect">
            <a:avLst/>
          </a:prstGeom>
          <a:noFill/>
        </p:spPr>
        <p:txBody>
          <a:bodyPr wrap="square" lIns="0" tIns="0" rIns="0" bIns="0" anchor="t">
            <a:spAutoFit/>
          </a:bodyPr>
          <a:lstStyle/>
          <a:p>
            <a:pPr algn="l"/>
            <a:r>
              <a:rPr sz="1300">
                <a:solidFill>
                  <a:srgbClr val="5A5A5A"/>
                </a:solidFill>
                <a:latin typeface="Yu Gothic"/>
                <a:ea typeface="Yu Gothic"/>
              </a:rPr>
              <a:t>目標:</a:t>
            </a:r>
          </a:p>
          <a:p>
            <a:r>
              <a:rPr sz="1300">
                <a:solidFill>
                  <a:srgbClr val="5A5A5A"/>
                </a:solidFill>
                <a:latin typeface="Yu Gothic"/>
                <a:ea typeface="Yu Gothic"/>
              </a:rPr>
              <a:t>  当日 17 時時点で、翌日 0〜23 時の</a:t>
            </a:r>
          </a:p>
          <a:p>
            <a:r>
              <a:rPr sz="1300">
                <a:solidFill>
                  <a:srgbClr val="5A5A5A"/>
                </a:solidFill>
                <a:latin typeface="Yu Gothic"/>
                <a:ea typeface="Yu Gothic"/>
              </a:rPr>
              <a:t>  各時間電力 b00 (kW) を予測</a:t>
            </a:r>
          </a:p>
          <a:p>
            <a:r>
              <a:rPr sz="1300">
                <a:solidFill>
                  <a:srgbClr val="5A5A5A"/>
                </a:solidFill>
                <a:latin typeface="Yu Gothic"/>
                <a:ea typeface="Yu Gothic"/>
              </a:rPr>
              <a:t/>
            </a:r>
          </a:p>
          <a:p>
            <a:r>
              <a:rPr sz="1300">
                <a:solidFill>
                  <a:srgbClr val="5A5A5A"/>
                </a:solidFill>
                <a:latin typeface="Yu Gothic"/>
                <a:ea typeface="Yu Gothic"/>
              </a:rPr>
              <a:t>条件:</a:t>
            </a:r>
          </a:p>
          <a:p>
            <a:r>
              <a:rPr sz="1300">
                <a:solidFill>
                  <a:srgbClr val="5A5A5A"/>
                </a:solidFill>
                <a:latin typeface="Yu Gothic"/>
                <a:ea typeface="Yu Gothic"/>
              </a:rPr>
              <a:t>  ・気象予報 (JMA MSM) を活用</a:t>
            </a:r>
          </a:p>
          <a:p>
            <a:r>
              <a:rPr sz="1300">
                <a:solidFill>
                  <a:srgbClr val="5A5A5A"/>
                </a:solidFill>
                <a:latin typeface="Yu Gothic"/>
                <a:ea typeface="Yu Gothic"/>
              </a:rPr>
              <a:t>  ・実運用可能 (未来情報を使わない)</a:t>
            </a:r>
          </a:p>
          <a:p>
            <a:r>
              <a:rPr sz="1300">
                <a:solidFill>
                  <a:srgbClr val="5A5A5A"/>
                </a:solidFill>
                <a:latin typeface="Yu Gothic"/>
                <a:ea typeface="Yu Gothic"/>
              </a:rPr>
              <a:t>  ・予測精度 MAE ≦ 60 kW</a:t>
            </a:r>
          </a:p>
          <a:p>
            <a:r>
              <a:rPr sz="1300">
                <a:solidFill>
                  <a:srgbClr val="5A5A5A"/>
                </a:solidFill>
                <a:latin typeface="Yu Gothic"/>
                <a:ea typeface="Yu Gothic"/>
              </a:rPr>
              <a:t/>
            </a:r>
          </a:p>
          <a:p>
            <a:r>
              <a:rPr sz="1300">
                <a:solidFill>
                  <a:srgbClr val="5A5A5A"/>
                </a:solidFill>
                <a:latin typeface="Yu Gothic"/>
                <a:ea typeface="Yu Gothic"/>
              </a:rPr>
              <a:t>出力:</a:t>
            </a:r>
          </a:p>
          <a:p>
            <a:r>
              <a:rPr sz="1300">
                <a:solidFill>
                  <a:srgbClr val="5A5A5A"/>
                </a:solidFill>
                <a:latin typeface="Yu Gothic"/>
                <a:ea typeface="Yu Gothic"/>
              </a:rPr>
              <a:t>  時間予測値 → CCRI → 警報</a:t>
            </a:r>
          </a:p>
        </p:txBody>
      </p:sp>
      <p:sp>
        <p:nvSpPr>
          <p:cNvPr id="14" name="Rectangle 13"/>
          <p:cNvSpPr/>
          <p:nvPr/>
        </p:nvSpPr>
        <p:spPr>
          <a:xfrm>
            <a:off x="6263640" y="1828800"/>
            <a:ext cx="5577840" cy="457200"/>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1892807"/>
            <a:ext cx="5212080" cy="365760"/>
          </a:xfrm>
          <a:prstGeom prst="rect">
            <a:avLst/>
          </a:prstGeom>
          <a:noFill/>
        </p:spPr>
        <p:txBody>
          <a:bodyPr wrap="square" lIns="0" tIns="0" rIns="0" bIns="0" anchor="ctr">
            <a:spAutoFit/>
          </a:bodyPr>
          <a:lstStyle/>
          <a:p>
            <a:pPr algn="l"/>
            <a:r>
              <a:rPr sz="1400" b="1">
                <a:solidFill>
                  <a:srgbClr val="FFFFFF"/>
                </a:solidFill>
                <a:latin typeface="Yu Gothic"/>
                <a:ea typeface="Yu Gothic"/>
              </a:rPr>
              <a:t>アプローチ: ハイブリッド気象入力</a:t>
            </a:r>
          </a:p>
        </p:txBody>
      </p:sp>
      <p:sp>
        <p:nvSpPr>
          <p:cNvPr id="16" name="Rectangle 15"/>
          <p:cNvSpPr/>
          <p:nvPr/>
        </p:nvSpPr>
        <p:spPr>
          <a:xfrm>
            <a:off x="6263640" y="2286000"/>
            <a:ext cx="5577840" cy="3017520"/>
          </a:xfrm>
          <a:prstGeom prst="rect">
            <a:avLst/>
          </a:prstGeom>
          <a:solidFill>
            <a:srgbClr val="F4F6FA"/>
          </a:solidFill>
          <a:ln w="9525">
            <a:solidFill>
              <a:srgbClr val="E7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2468880"/>
            <a:ext cx="5212080" cy="2708434"/>
          </a:xfrm>
          <a:prstGeom prst="rect">
            <a:avLst/>
          </a:prstGeom>
          <a:noFill/>
        </p:spPr>
        <p:txBody>
          <a:bodyPr wrap="square" lIns="0" tIns="0" rIns="0" bIns="0" anchor="t">
            <a:spAutoFit/>
          </a:bodyPr>
          <a:lstStyle/>
          <a:p>
            <a:r>
              <a:rPr sz="1300">
                <a:solidFill>
                  <a:srgbClr val="5A5A5A"/>
                </a:solidFill>
                <a:latin typeface="Yu Gothic"/>
                <a:ea typeface="Yu Gothic"/>
              </a:rPr>
              <a:t>発想:</a:t>
            </a:r>
          </a:p>
          <a:p>
            <a:r>
              <a:rPr sz="1300">
                <a:solidFill>
                  <a:srgbClr val="5A5A5A"/>
                </a:solidFill>
                <a:latin typeface="Yu Gothic"/>
                <a:ea typeface="Yu Gothic"/>
              </a:rPr>
              <a:t>  「過去の気象は観測 (ERA5)、</a:t>
            </a:r>
          </a:p>
          <a:p>
            <a:r>
              <a:rPr sz="1300">
                <a:solidFill>
                  <a:srgbClr val="5A5A5A"/>
                </a:solidFill>
                <a:latin typeface="Yu Gothic"/>
                <a:ea typeface="Yu Gothic"/>
              </a:rPr>
              <a:t>    未来の気象は予報 (JMA MSM)」</a:t>
            </a:r>
          </a:p>
          <a:p>
            <a:r>
              <a:rPr sz="1300">
                <a:solidFill>
                  <a:srgbClr val="5A5A5A"/>
                </a:solidFill>
                <a:latin typeface="Yu Gothic"/>
                <a:ea typeface="Yu Gothic"/>
              </a:rPr>
              <a:t/>
            </a:r>
          </a:p>
          <a:p>
            <a:r>
              <a:rPr sz="1300">
                <a:solidFill>
                  <a:srgbClr val="5A5A5A"/>
                </a:solidFill>
                <a:latin typeface="Yu Gothic"/>
                <a:ea typeface="Yu Gothic"/>
              </a:rPr>
              <a:t>理由:</a:t>
            </a:r>
          </a:p>
          <a:p>
            <a:r>
              <a:rPr sz="1300">
                <a:solidFill>
                  <a:srgbClr val="5A5A5A"/>
                </a:solidFill>
                <a:latin typeface="Yu Gothic"/>
                <a:ea typeface="Yu Gothic"/>
              </a:rPr>
              <a:t>  ・過去 → 観測済み、誤差ゼロ</a:t>
            </a:r>
          </a:p>
          <a:p>
            <a:r>
              <a:rPr sz="1300">
                <a:solidFill>
                  <a:srgbClr val="5A5A5A"/>
                </a:solidFill>
                <a:latin typeface="Yu Gothic"/>
                <a:ea typeface="Yu Gothic"/>
              </a:rPr>
              <a:t>  ・未来 → 観測不可、予報が唯一</a:t>
            </a:r>
          </a:p>
          <a:p>
            <a:r>
              <a:rPr sz="1300">
                <a:solidFill>
                  <a:srgbClr val="5A5A5A"/>
                </a:solidFill>
                <a:latin typeface="Yu Gothic"/>
                <a:ea typeface="Yu Gothic"/>
              </a:rPr>
              <a:t/>
            </a:r>
          </a:p>
          <a:p>
            <a:r>
              <a:rPr sz="1300">
                <a:solidFill>
                  <a:srgbClr val="5A5A5A"/>
                </a:solidFill>
                <a:latin typeface="Yu Gothic"/>
                <a:ea typeface="Yu Gothic"/>
              </a:rPr>
              <a:t>結果:</a:t>
            </a:r>
          </a:p>
          <a:p>
            <a:r>
              <a:rPr sz="1300">
                <a:solidFill>
                  <a:srgbClr val="5A5A5A"/>
                </a:solidFill>
                <a:latin typeface="Yu Gothic"/>
                <a:ea typeface="Yu Gothic"/>
              </a:rPr>
              <a:t>  訓練データの質と</a:t>
            </a:r>
          </a:p>
          <a:p>
            <a:r>
              <a:rPr sz="1300">
                <a:solidFill>
                  <a:srgbClr val="5A5A5A"/>
                </a:solidFill>
                <a:latin typeface="Yu Gothic"/>
                <a:ea typeface="Yu Gothic"/>
              </a:rPr>
              <a:t>  実運用の現実性を両立</a:t>
            </a:r>
          </a:p>
        </p:txBody>
      </p:sp>
      <p:sp>
        <p:nvSpPr>
          <p:cNvPr id="18" name="Rectangle 17"/>
          <p:cNvSpPr/>
          <p:nvPr/>
        </p:nvSpPr>
        <p:spPr>
          <a:xfrm>
            <a:off x="365760" y="5852160"/>
            <a:ext cx="11475720" cy="457200"/>
          </a:xfrm>
          <a:prstGeom prst="rect">
            <a:avLst/>
          </a:prstGeom>
          <a:solidFill>
            <a:srgbClr val="FDE9CE"/>
          </a:solidFill>
          <a:ln w="9525">
            <a:solidFill>
              <a:srgbClr val="E7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5897880"/>
            <a:ext cx="11247120" cy="365760"/>
          </a:xfrm>
          <a:prstGeom prst="rect">
            <a:avLst/>
          </a:prstGeom>
          <a:noFill/>
        </p:spPr>
        <p:txBody>
          <a:bodyPr wrap="square" anchor="ctr" lIns="0" rIns="0" tIns="0" bIns="0">
            <a:spAutoFit/>
          </a:bodyPr>
          <a:lstStyle/>
          <a:p>
            <a:pPr algn="l"/>
            <a:r>
              <a:rPr sz="1200" b="1">
                <a:solidFill>
                  <a:srgbClr val="003B71"/>
                </a:solidFill>
                <a:latin typeface="Yu Gothic"/>
                <a:ea typeface="Yu Gothic"/>
              </a:rPr>
              <a:t>■ 3 段階アプローチ: ① 気象-電力関係の理解  ② 翌日ピーク予測  ③ 警報配信 (CCRI) — Slide 12 で詳述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4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データと前処理</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86041"/>
            <a:ext cx="11430000" cy="365760"/>
          </a:xfrm>
          <a:prstGeom prst="rect">
            <a:avLst/>
          </a:prstGeom>
          <a:noFill/>
        </p:spPr>
        <p:txBody>
          <a:bodyPr wrap="square" lIns="0" tIns="0" rIns="0" bIns="0" anchor="t">
            <a:spAutoFit/>
          </a:bodyPr>
          <a:lstStyle/>
          <a:p>
            <a:pPr algn="l"/>
            <a:r>
              <a:rPr sz="1400" b="0" dirty="0" err="1">
                <a:solidFill>
                  <a:srgbClr val="5A5A5A"/>
                </a:solidFill>
                <a:latin typeface="Yu Gothic"/>
                <a:ea typeface="Yu Gothic"/>
              </a:rPr>
              <a:t>有効データ範囲</a:t>
            </a:r>
            <a:r>
              <a:rPr sz="1400" b="0" dirty="0">
                <a:solidFill>
                  <a:srgbClr val="5A5A5A"/>
                </a:solidFill>
                <a:latin typeface="Yu Gothic"/>
                <a:ea typeface="Yu Gothic"/>
              </a:rPr>
              <a:t>: 2025-07-20 → 2025-10-26  (2,145 </a:t>
            </a:r>
            <a:r>
              <a:rPr sz="1400" b="0" dirty="0" err="1">
                <a:solidFill>
                  <a:srgbClr val="5A5A5A"/>
                </a:solidFill>
                <a:latin typeface="Yu Gothic"/>
                <a:ea typeface="Yu Gothic"/>
              </a:rPr>
              <a:t>時間</a:t>
            </a:r>
            <a:r>
              <a:rPr sz="1400" b="0" dirty="0">
                <a:solidFill>
                  <a:srgbClr val="5A5A5A"/>
                </a:solidFill>
                <a:latin typeface="Yu Gothic"/>
                <a:ea typeface="Yu Gothic"/>
              </a:rPr>
              <a:t>)</a:t>
            </a:r>
          </a:p>
        </p:txBody>
      </p:sp>
      <p:sp>
        <p:nvSpPr>
          <p:cNvPr id="10" name="TextBox 9"/>
          <p:cNvSpPr txBox="1"/>
          <p:nvPr/>
        </p:nvSpPr>
        <p:spPr>
          <a:xfrm>
            <a:off x="365760" y="1828800"/>
            <a:ext cx="5029200" cy="276999"/>
          </a:xfrm>
          <a:prstGeom prst="rect">
            <a:avLst/>
          </a:prstGeom>
          <a:noFill/>
        </p:spPr>
        <p:txBody>
          <a:bodyPr wrap="square" lIns="0" tIns="0" rIns="0" bIns="0" anchor="t">
            <a:spAutoFit/>
          </a:bodyPr>
          <a:lstStyle/>
          <a:p>
            <a:pPr algn="l"/>
            <a:r>
              <a:rPr b="1">
                <a:solidFill>
                  <a:srgbClr val="003B71"/>
                </a:solidFill>
                <a:latin typeface="Yu Gothic"/>
                <a:ea typeface="Yu Gothic"/>
              </a:rPr>
              <a:t>■ 使用したデータ</a:t>
            </a:r>
          </a:p>
        </p:txBody>
      </p:sp>
      <p:sp>
        <p:nvSpPr>
          <p:cNvPr id="11" name="TextBox 10"/>
          <p:cNvSpPr txBox="1"/>
          <p:nvPr/>
        </p:nvSpPr>
        <p:spPr>
          <a:xfrm>
            <a:off x="365760" y="2286000"/>
            <a:ext cx="5029200" cy="2708434"/>
          </a:xfrm>
          <a:prstGeom prst="rect">
            <a:avLst/>
          </a:prstGeom>
          <a:noFill/>
        </p:spPr>
        <p:txBody>
          <a:bodyPr wrap="square" lIns="0" tIns="0" rIns="0" bIns="0" anchor="t">
            <a:spAutoFit/>
          </a:bodyPr>
          <a:lstStyle/>
          <a:p>
            <a:pPr algn="l"/>
            <a:r>
              <a:rPr sz="1250">
                <a:solidFill>
                  <a:srgbClr val="5A5A5A"/>
                </a:solidFill>
                <a:latin typeface="Yu Gothic"/>
                <a:ea typeface="Yu Gothic"/>
              </a:rPr>
              <a:t>1. キャンパス電力 (1時間値)</a:t>
            </a:r>
          </a:p>
          <a:p>
            <a:r>
              <a:rPr sz="1250">
                <a:solidFill>
                  <a:srgbClr val="5A5A5A"/>
                </a:solidFill>
                <a:latin typeface="Yu Gothic"/>
                <a:ea typeface="Yu Gothic"/>
              </a:rPr>
              <a:t>    建物 b00 〜 b15, 計15棟</a:t>
            </a:r>
          </a:p>
          <a:p>
            <a:r>
              <a:rPr sz="1250">
                <a:solidFill>
                  <a:srgbClr val="5A5A5A"/>
                </a:solidFill>
                <a:latin typeface="Yu Gothic"/>
                <a:ea typeface="Yu Gothic"/>
              </a:rPr>
              <a:t>    本研究は b00 (主棟) を対象</a:t>
            </a:r>
          </a:p>
          <a:p>
            <a:r>
              <a:rPr sz="1250">
                <a:solidFill>
                  <a:srgbClr val="5A5A5A"/>
                </a:solidFill>
                <a:latin typeface="Yu Gothic"/>
                <a:ea typeface="Yu Gothic"/>
              </a:rPr>
              <a:t/>
            </a:r>
          </a:p>
          <a:p>
            <a:r>
              <a:rPr sz="1250">
                <a:solidFill>
                  <a:srgbClr val="5A5A5A"/>
                </a:solidFill>
                <a:latin typeface="Yu Gothic"/>
                <a:ea typeface="Yu Gothic"/>
              </a:rPr>
              <a:t>2. 気象観測 (ERA5 再解析)</a:t>
            </a:r>
          </a:p>
          <a:p>
            <a:r>
              <a:rPr sz="1250">
                <a:solidFill>
                  <a:srgbClr val="5A5A5A"/>
                </a:solidFill>
                <a:latin typeface="Yu Gothic"/>
                <a:ea typeface="Yu Gothic"/>
              </a:rPr>
              <a:t>    ※ AMeDAS 宇部は湿度なしのため</a:t>
            </a:r>
          </a:p>
          <a:p>
            <a:r>
              <a:rPr sz="1250">
                <a:solidFill>
                  <a:srgbClr val="5A5A5A"/>
                </a:solidFill>
                <a:latin typeface="Yu Gothic"/>
                <a:ea typeface="Yu Gothic"/>
              </a:rPr>
              <a:t>    気温・湿度・日射・WBGT 等</a:t>
            </a:r>
          </a:p>
          <a:p>
            <a:r>
              <a:rPr sz="1250">
                <a:solidFill>
                  <a:srgbClr val="5A5A5A"/>
                </a:solidFill>
                <a:latin typeface="Yu Gothic"/>
                <a:ea typeface="Yu Gothic"/>
              </a:rPr>
              <a:t/>
            </a:r>
          </a:p>
          <a:p>
            <a:r>
              <a:rPr sz="1250">
                <a:solidFill>
                  <a:srgbClr val="5A5A5A"/>
                </a:solidFill>
                <a:latin typeface="Yu Gothic"/>
                <a:ea typeface="Yu Gothic"/>
              </a:rPr>
              <a:t>3. 気象予報 (JMA MSM, 5km)</a:t>
            </a:r>
          </a:p>
          <a:p>
            <a:r>
              <a:rPr sz="1250">
                <a:solidFill>
                  <a:srgbClr val="5A5A5A"/>
                </a:solidFill>
                <a:latin typeface="Yu Gothic"/>
                <a:ea typeface="Yu Gothic"/>
              </a:rPr>
              <a:t>    最大39時間先まで利用可能</a:t>
            </a:r>
          </a:p>
          <a:p>
            <a:r>
              <a:rPr sz="1250">
                <a:solidFill>
                  <a:srgbClr val="5A5A5A"/>
                </a:solidFill>
                <a:latin typeface="Yu Gothic"/>
                <a:ea typeface="Yu Gothic"/>
              </a:rPr>
              <a:t/>
            </a:r>
          </a:p>
          <a:p>
            <a:r>
              <a:rPr sz="1250">
                <a:solidFill>
                  <a:srgbClr val="5A5A5A"/>
                </a:solidFill>
                <a:latin typeface="Yu Gothic"/>
                <a:ea typeface="Yu Gothic"/>
              </a:rPr>
              <a:t>4. カレンダー (営業日, 休日, 曜日)</a:t>
            </a:r>
          </a:p>
        </p:txBody>
      </p:sp>
      <p:sp>
        <p:nvSpPr>
          <p:cNvPr id="12" name="TextBox 11"/>
          <p:cNvSpPr txBox="1"/>
          <p:nvPr/>
        </p:nvSpPr>
        <p:spPr>
          <a:xfrm>
            <a:off x="5943600" y="1828800"/>
            <a:ext cx="5943600" cy="276999"/>
          </a:xfrm>
          <a:prstGeom prst="rect">
            <a:avLst/>
          </a:prstGeom>
          <a:noFill/>
        </p:spPr>
        <p:txBody>
          <a:bodyPr wrap="square" lIns="0" tIns="0" rIns="0" bIns="0" anchor="t">
            <a:spAutoFit/>
          </a:bodyPr>
          <a:lstStyle/>
          <a:p>
            <a:pPr algn="l"/>
            <a:r>
              <a:rPr b="1">
                <a:solidFill>
                  <a:srgbClr val="003B71"/>
                </a:solidFill>
                <a:latin typeface="Yu Gothic"/>
                <a:ea typeface="Yu Gothic"/>
              </a:rPr>
              <a:t>■ データクリーニング</a:t>
            </a:r>
          </a:p>
        </p:txBody>
      </p:sp>
      <p:sp>
        <p:nvSpPr>
          <p:cNvPr id="13" name="TextBox 12"/>
          <p:cNvSpPr txBox="1"/>
          <p:nvPr/>
        </p:nvSpPr>
        <p:spPr>
          <a:xfrm>
            <a:off x="5943600" y="2286000"/>
            <a:ext cx="5943600" cy="2708434"/>
          </a:xfrm>
          <a:prstGeom prst="rect">
            <a:avLst/>
          </a:prstGeom>
          <a:noFill/>
        </p:spPr>
        <p:txBody>
          <a:bodyPr wrap="square" lIns="0" tIns="0" rIns="0" bIns="0" anchor="t">
            <a:spAutoFit/>
          </a:bodyPr>
          <a:lstStyle/>
          <a:p>
            <a:r>
              <a:rPr sz="1600" b="0" dirty="0">
                <a:solidFill>
                  <a:srgbClr val="5A5A5A"/>
                </a:solidFill>
                <a:latin typeface="Yu Gothic"/>
                <a:ea typeface="Yu Gothic"/>
              </a:rPr>
              <a:t>・</a:t>
            </a:r>
            <a:r>
              <a:rPr sz="1600" b="1" dirty="0" err="1">
                <a:solidFill>
                  <a:srgbClr val="5A5A5A"/>
                </a:solidFill>
                <a:latin typeface="Yu Gothic"/>
                <a:ea typeface="Yu Gothic"/>
              </a:rPr>
              <a:t>センサー停止期間を除外</a:t>
            </a:r>
            <a:r>
              <a:rPr sz="1600" b="1" dirty="0">
                <a:solidFill>
                  <a:srgbClr val="5A5A5A"/>
                </a:solidFill>
                <a:latin typeface="Yu Gothic"/>
                <a:ea typeface="Yu Gothic"/>
              </a:rPr>
              <a:t>:</a:t>
            </a:r>
          </a:p>
          <a:p>
            <a:pPr algn="l"/>
            <a:r>
              <a:rPr sz="1600" b="0" dirty="0">
                <a:solidFill>
                  <a:srgbClr val="5A5A5A"/>
                </a:solidFill>
                <a:latin typeface="Yu Gothic"/>
                <a:ea typeface="Yu Gothic"/>
              </a:rPr>
              <a:t>    2025-09-24 (14時間ゼロ)</a:t>
            </a:r>
          </a:p>
          <a:p>
            <a:pPr algn="l"/>
            <a:r>
              <a:rPr sz="1600" b="0" dirty="0">
                <a:solidFill>
                  <a:srgbClr val="5A5A5A"/>
                </a:solidFill>
                <a:latin typeface="Yu Gothic"/>
                <a:ea typeface="Yu Gothic"/>
              </a:rPr>
              <a:t>    2025-10-27 〜 10-31 (5日間ゼロ)</a:t>
            </a:r>
          </a:p>
          <a:p>
            <a:pPr algn="l"/>
            <a:endParaRPr sz="1600" b="0" dirty="0">
              <a:solidFill>
                <a:srgbClr val="5A5A5A"/>
              </a:solidFill>
              <a:latin typeface="Yu Gothic"/>
              <a:ea typeface="Yu Gothic"/>
            </a:endParaRPr>
          </a:p>
          <a:p>
            <a:pPr algn="l"/>
            <a:r>
              <a:rPr sz="1600" b="0" dirty="0">
                <a:solidFill>
                  <a:srgbClr val="5A5A5A"/>
                </a:solidFill>
                <a:latin typeface="Yu Gothic"/>
                <a:ea typeface="Yu Gothic"/>
              </a:rPr>
              <a:t>・</a:t>
            </a:r>
            <a:r>
              <a:rPr sz="1600" b="1" dirty="0" err="1">
                <a:solidFill>
                  <a:srgbClr val="5A5A5A"/>
                </a:solidFill>
                <a:latin typeface="Yu Gothic"/>
                <a:ea typeface="Yu Gothic"/>
              </a:rPr>
              <a:t>有効サンプル数</a:t>
            </a:r>
            <a:r>
              <a:rPr sz="1600" b="1" dirty="0">
                <a:solidFill>
                  <a:srgbClr val="5A5A5A"/>
                </a:solidFill>
                <a:latin typeface="Yu Gothic"/>
                <a:ea typeface="Yu Gothic"/>
              </a:rPr>
              <a:t>:</a:t>
            </a:r>
          </a:p>
          <a:p>
            <a:pPr algn="l"/>
            <a:r>
              <a:rPr sz="1600" b="0" dirty="0">
                <a:solidFill>
                  <a:srgbClr val="5A5A5A"/>
                </a:solidFill>
                <a:latin typeface="Yu Gothic"/>
                <a:ea typeface="Yu Gothic"/>
              </a:rPr>
              <a:t>    </a:t>
            </a:r>
            <a:r>
              <a:rPr sz="1600" b="0" dirty="0" err="1">
                <a:solidFill>
                  <a:srgbClr val="5A5A5A"/>
                </a:solidFill>
                <a:latin typeface="Yu Gothic"/>
                <a:ea typeface="Yu Gothic"/>
              </a:rPr>
              <a:t>学習</a:t>
            </a:r>
            <a:r>
              <a:rPr sz="1600" b="0" dirty="0">
                <a:solidFill>
                  <a:srgbClr val="5A5A5A"/>
                </a:solidFill>
                <a:latin typeface="Yu Gothic"/>
                <a:ea typeface="Yu Gothic"/>
              </a:rPr>
              <a:t>: 1,501 </a:t>
            </a:r>
            <a:r>
              <a:rPr sz="1600" b="0" dirty="0" err="1">
                <a:solidFill>
                  <a:srgbClr val="5A5A5A"/>
                </a:solidFill>
                <a:latin typeface="Yu Gothic"/>
                <a:ea typeface="Yu Gothic"/>
              </a:rPr>
              <a:t>時間</a:t>
            </a:r>
            <a:r>
              <a:rPr sz="1600" b="0" dirty="0">
                <a:solidFill>
                  <a:srgbClr val="5A5A5A"/>
                </a:solidFill>
                <a:latin typeface="Yu Gothic"/>
                <a:ea typeface="Yu Gothic"/>
              </a:rPr>
              <a:t> (2025-07-20 → 2025-09-20)</a:t>
            </a:r>
          </a:p>
          <a:p>
            <a:pPr algn="l"/>
            <a:r>
              <a:rPr sz="1600" b="0" dirty="0">
                <a:solidFill>
                  <a:srgbClr val="5A5A5A"/>
                </a:solidFill>
                <a:latin typeface="Yu Gothic"/>
                <a:ea typeface="Yu Gothic"/>
              </a:rPr>
              <a:t>    </a:t>
            </a:r>
            <a:r>
              <a:rPr sz="1600" b="0" dirty="0" err="1">
                <a:solidFill>
                  <a:srgbClr val="5A5A5A"/>
                </a:solidFill>
                <a:latin typeface="Yu Gothic"/>
                <a:ea typeface="Yu Gothic"/>
              </a:rPr>
              <a:t>テスト</a:t>
            </a:r>
            <a:r>
              <a:rPr sz="1600" b="0" dirty="0">
                <a:solidFill>
                  <a:srgbClr val="5A5A5A"/>
                </a:solidFill>
                <a:latin typeface="Yu Gothic"/>
                <a:ea typeface="Yu Gothic"/>
              </a:rPr>
              <a:t>: 644 </a:t>
            </a:r>
            <a:r>
              <a:rPr sz="1600" b="0" dirty="0" err="1">
                <a:solidFill>
                  <a:srgbClr val="5A5A5A"/>
                </a:solidFill>
                <a:latin typeface="Yu Gothic"/>
                <a:ea typeface="Yu Gothic"/>
              </a:rPr>
              <a:t>時間</a:t>
            </a:r>
            <a:r>
              <a:rPr sz="1600" b="0" dirty="0">
                <a:solidFill>
                  <a:srgbClr val="5A5A5A"/>
                </a:solidFill>
                <a:latin typeface="Yu Gothic"/>
                <a:ea typeface="Yu Gothic"/>
              </a:rPr>
              <a:t> (2025-09-20 → 2025-10-26)</a:t>
            </a:r>
          </a:p>
          <a:p>
            <a:pPr algn="l"/>
            <a:endParaRPr sz="1600" b="0" dirty="0">
              <a:solidFill>
                <a:srgbClr val="5A5A5A"/>
              </a:solidFill>
              <a:latin typeface="Yu Gothic"/>
              <a:ea typeface="Yu Gothic"/>
            </a:endParaRPr>
          </a:p>
          <a:p>
            <a:pPr algn="l"/>
            <a:r>
              <a:rPr sz="1600" b="0" dirty="0">
                <a:solidFill>
                  <a:srgbClr val="5A5A5A"/>
                </a:solidFill>
                <a:latin typeface="Yu Gothic"/>
                <a:ea typeface="Yu Gothic"/>
              </a:rPr>
              <a:t>・</a:t>
            </a:r>
            <a:r>
              <a:rPr sz="1600" b="1" dirty="0" err="1">
                <a:solidFill>
                  <a:srgbClr val="5A5A5A"/>
                </a:solidFill>
                <a:latin typeface="Yu Gothic"/>
                <a:ea typeface="Yu Gothic"/>
              </a:rPr>
              <a:t>分割比</a:t>
            </a:r>
            <a:r>
              <a:rPr sz="1600" b="1" dirty="0">
                <a:solidFill>
                  <a:srgbClr val="5A5A5A"/>
                </a:solidFill>
                <a:latin typeface="Yu Gothic"/>
                <a:ea typeface="Yu Gothic"/>
              </a:rPr>
              <a:t>: </a:t>
            </a:r>
            <a:r>
              <a:rPr sz="1600" b="1" dirty="0" err="1">
                <a:solidFill>
                  <a:srgbClr val="5A5A5A"/>
                </a:solidFill>
                <a:latin typeface="Yu Gothic"/>
                <a:ea typeface="Yu Gothic"/>
              </a:rPr>
              <a:t>時系列</a:t>
            </a:r>
            <a:r>
              <a:rPr sz="1600" b="1" dirty="0">
                <a:solidFill>
                  <a:srgbClr val="5A5A5A"/>
                </a:solidFill>
                <a:latin typeface="Yu Gothic"/>
                <a:ea typeface="Yu Gothic"/>
              </a:rPr>
              <a:t> 70 : 30</a:t>
            </a:r>
          </a:p>
          <a:p>
            <a:pPr algn="l"/>
            <a:r>
              <a:rPr sz="1600" b="0" dirty="0">
                <a:solidFill>
                  <a:srgbClr val="5A5A5A"/>
                </a:solidFill>
                <a:latin typeface="Yu Gothic"/>
                <a:ea typeface="Yu Gothic"/>
              </a:rPr>
              <a:t>    </a:t>
            </a:r>
            <a:r>
              <a:rPr sz="1600" b="0" dirty="0" err="1">
                <a:solidFill>
                  <a:srgbClr val="5A5A5A"/>
                </a:solidFill>
                <a:latin typeface="Yu Gothic"/>
                <a:ea typeface="Yu Gothic"/>
              </a:rPr>
              <a:t>未来データを学習に使わない</a:t>
            </a:r>
            <a:endParaRPr sz="1600" b="0" dirty="0">
              <a:solidFill>
                <a:srgbClr val="5A5A5A"/>
              </a:solidFill>
              <a:latin typeface="Yu Gothic"/>
              <a:ea typeface="Yu Gothic"/>
            </a:endParaRPr>
          </a:p>
          <a:p>
            <a:pPr algn="l"/>
            <a:r>
              <a:rPr sz="1600" b="0" dirty="0">
                <a:solidFill>
                  <a:srgbClr val="5A5A5A"/>
                </a:solidFill>
                <a:latin typeface="Yu Gothic"/>
                <a:ea typeface="Yu Gothic"/>
              </a:rPr>
              <a:t>    (</a:t>
            </a:r>
            <a:r>
              <a:rPr sz="1600" b="0" dirty="0" err="1">
                <a:solidFill>
                  <a:srgbClr val="5A5A5A"/>
                </a:solidFill>
                <a:latin typeface="Yu Gothic"/>
                <a:ea typeface="Yu Gothic"/>
              </a:rPr>
              <a:t>リーク防止</a:t>
            </a:r>
            <a:r>
              <a:rPr sz="1600" b="0" dirty="0">
                <a:solidFill>
                  <a:srgbClr val="5A5A5A"/>
                </a:solidFill>
                <a:latin typeface="Yu Gothic"/>
                <a:ea typeface="Yu Gothic"/>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5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学習データとテストデータ</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学習 1,501 h (2025-07-20 → 2025-09-20)  →  テスト 644 h (2025-09-20 → 2025-10-26)</a:t>
            </a:r>
          </a:p>
        </p:txBody>
      </p:sp>
      <p:pic>
        <p:nvPicPr>
          <p:cNvPr id="10" name="Picture 9" descr="pres_07_train_test_split.png"/>
          <p:cNvPicPr>
            <a:picLocks noChangeAspect="1"/>
          </p:cNvPicPr>
          <p:nvPr/>
        </p:nvPicPr>
        <p:blipFill>
          <a:blip r:embed="rId3"/>
          <a:stretch>
            <a:fillRect/>
          </a:stretch>
        </p:blipFill>
        <p:spPr>
          <a:xfrm>
            <a:off x="365760" y="1828800"/>
            <a:ext cx="11430000" cy="3117273"/>
          </a:xfrm>
          <a:prstGeom prst="rect">
            <a:avLst/>
          </a:prstGeom>
        </p:spPr>
      </p:pic>
      <p:sp>
        <p:nvSpPr>
          <p:cNvPr id="11" name="TextBox 10"/>
          <p:cNvSpPr txBox="1"/>
          <p:nvPr/>
        </p:nvSpPr>
        <p:spPr>
          <a:xfrm>
            <a:off x="365760" y="5120640"/>
            <a:ext cx="11430000" cy="276999"/>
          </a:xfrm>
          <a:prstGeom prst="rect">
            <a:avLst/>
          </a:prstGeom>
          <a:noFill/>
        </p:spPr>
        <p:txBody>
          <a:bodyPr wrap="square" lIns="0" tIns="0" rIns="0" bIns="0" anchor="t">
            <a:spAutoFit/>
          </a:bodyPr>
          <a:lstStyle/>
          <a:p>
            <a:pPr algn="l"/>
            <a:r>
              <a:rPr b="1">
                <a:solidFill>
                  <a:srgbClr val="E78A00"/>
                </a:solidFill>
                <a:latin typeface="Yu Gothic"/>
                <a:ea typeface="Yu Gothic"/>
              </a:rPr>
              <a:t>■ ポイント: テスト期間 (オレンジ) のデータは学習に一切使用していない</a:t>
            </a:r>
          </a:p>
        </p:txBody>
      </p:sp>
      <p:sp>
        <p:nvSpPr>
          <p:cNvPr id="12" name="TextBox 11"/>
          <p:cNvSpPr txBox="1"/>
          <p:nvPr/>
        </p:nvSpPr>
        <p:spPr>
          <a:xfrm>
            <a:off x="365760" y="5577840"/>
            <a:ext cx="11430000" cy="492443"/>
          </a:xfrm>
          <a:prstGeom prst="rect">
            <a:avLst/>
          </a:prstGeom>
          <a:noFill/>
        </p:spPr>
        <p:txBody>
          <a:bodyPr wrap="square" lIns="0" tIns="0" rIns="0" bIns="0" anchor="t">
            <a:spAutoFit/>
          </a:bodyPr>
          <a:lstStyle/>
          <a:p>
            <a:pPr algn="l"/>
            <a:r>
              <a:rPr sz="1600" b="0" dirty="0">
                <a:solidFill>
                  <a:srgbClr val="5A5A5A"/>
                </a:solidFill>
                <a:latin typeface="Yu Gothic"/>
                <a:ea typeface="Yu Gothic"/>
              </a:rPr>
              <a:t>・</a:t>
            </a:r>
            <a:r>
              <a:rPr sz="1600" b="0" dirty="0" err="1">
                <a:solidFill>
                  <a:srgbClr val="5A5A5A"/>
                </a:solidFill>
                <a:latin typeface="Yu Gothic"/>
                <a:ea typeface="Yu Gothic"/>
              </a:rPr>
              <a:t>夏</a:t>
            </a:r>
            <a:r>
              <a:rPr sz="1600" b="0" dirty="0">
                <a:solidFill>
                  <a:srgbClr val="5A5A5A"/>
                </a:solidFill>
                <a:latin typeface="Yu Gothic"/>
                <a:ea typeface="Yu Gothic"/>
              </a:rPr>
              <a:t> (7〜9月) </a:t>
            </a:r>
            <a:r>
              <a:rPr sz="1600" b="0" dirty="0" err="1">
                <a:solidFill>
                  <a:srgbClr val="5A5A5A"/>
                </a:solidFill>
                <a:latin typeface="Yu Gothic"/>
                <a:ea typeface="Yu Gothic"/>
              </a:rPr>
              <a:t>のピーク日で学習し、晩夏〜秋初</a:t>
            </a:r>
            <a:r>
              <a:rPr sz="1600" b="0" dirty="0">
                <a:solidFill>
                  <a:srgbClr val="5A5A5A"/>
                </a:solidFill>
                <a:latin typeface="Yu Gothic"/>
                <a:ea typeface="Yu Gothic"/>
              </a:rPr>
              <a:t> (9月後半〜10月) </a:t>
            </a:r>
            <a:r>
              <a:rPr sz="1600" b="0" dirty="0" err="1">
                <a:solidFill>
                  <a:srgbClr val="5A5A5A"/>
                </a:solidFill>
                <a:latin typeface="Yu Gothic"/>
                <a:ea typeface="Yu Gothic"/>
              </a:rPr>
              <a:t>で性能評価</a:t>
            </a:r>
            <a:r>
              <a:rPr sz="1600" b="0" dirty="0">
                <a:solidFill>
                  <a:srgbClr val="5A5A5A"/>
                </a:solidFill>
                <a:latin typeface="Yu Gothic"/>
                <a:ea typeface="Yu Gothic"/>
              </a:rPr>
              <a:t>。</a:t>
            </a:r>
          </a:p>
          <a:p>
            <a:pPr algn="l"/>
            <a:r>
              <a:rPr sz="1600" b="0" dirty="0">
                <a:solidFill>
                  <a:srgbClr val="5A5A5A"/>
                </a:solidFill>
                <a:latin typeface="Yu Gothic"/>
                <a:ea typeface="Yu Gothic"/>
              </a:rPr>
              <a:t>・</a:t>
            </a:r>
            <a:r>
              <a:rPr sz="1600" b="0" dirty="0" err="1">
                <a:solidFill>
                  <a:srgbClr val="5A5A5A"/>
                </a:solidFill>
                <a:latin typeface="Yu Gothic"/>
                <a:ea typeface="Yu Gothic"/>
              </a:rPr>
              <a:t>テスト期間にも複数のピーク日が含まれ、SDR発令判断の検証に適切</a:t>
            </a:r>
            <a:r>
              <a:rPr sz="1600" b="0" dirty="0">
                <a:solidFill>
                  <a:srgbClr val="5A5A5A"/>
                </a:solidFill>
                <a:latin typeface="Yu Gothic"/>
                <a:ea typeface="Yu Gothic"/>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6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日内負荷パターンの月別比較</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7月のピークが最も高く、午後14〜15時にピーク</a:t>
            </a:r>
          </a:p>
        </p:txBody>
      </p:sp>
      <p:pic>
        <p:nvPicPr>
          <p:cNvPr id="10" name="Picture 9" descr="pres_01_overview_daily_profile.png"/>
          <p:cNvPicPr>
            <a:picLocks noChangeAspect="1"/>
          </p:cNvPicPr>
          <p:nvPr/>
        </p:nvPicPr>
        <p:blipFill>
          <a:blip r:embed="rId3"/>
          <a:stretch>
            <a:fillRect/>
          </a:stretch>
        </p:blipFill>
        <p:spPr>
          <a:xfrm>
            <a:off x="365760" y="1463041"/>
            <a:ext cx="7836131" cy="4407824"/>
          </a:xfrm>
          <a:prstGeom prst="rect">
            <a:avLst/>
          </a:prstGeom>
        </p:spPr>
      </p:pic>
      <p:sp>
        <p:nvSpPr>
          <p:cNvPr id="11" name="TextBox 10"/>
          <p:cNvSpPr txBox="1"/>
          <p:nvPr/>
        </p:nvSpPr>
        <p:spPr>
          <a:xfrm>
            <a:off x="365760" y="5943600"/>
            <a:ext cx="11430000" cy="492443"/>
          </a:xfrm>
          <a:prstGeom prst="rect">
            <a:avLst/>
          </a:prstGeom>
          <a:noFill/>
        </p:spPr>
        <p:txBody>
          <a:bodyPr wrap="square" lIns="0" tIns="0" rIns="0" bIns="0" anchor="t">
            <a:spAutoFit/>
          </a:bodyPr>
          <a:lstStyle/>
          <a:p>
            <a:pPr algn="l"/>
            <a:r>
              <a:rPr sz="1600" b="1" dirty="0">
                <a:solidFill>
                  <a:srgbClr val="5A5A5A"/>
                </a:solidFill>
                <a:latin typeface="Yu Gothic"/>
                <a:ea typeface="Yu Gothic"/>
              </a:rPr>
              <a:t>・7月 (</a:t>
            </a:r>
            <a:r>
              <a:rPr sz="1600" b="1" dirty="0" err="1">
                <a:solidFill>
                  <a:srgbClr val="5A5A5A"/>
                </a:solidFill>
                <a:latin typeface="Yu Gothic"/>
                <a:ea typeface="Yu Gothic"/>
              </a:rPr>
              <a:t>赤</a:t>
            </a:r>
            <a:r>
              <a:rPr sz="1600" b="1" dirty="0">
                <a:solidFill>
                  <a:srgbClr val="5A5A5A"/>
                </a:solidFill>
                <a:latin typeface="Yu Gothic"/>
                <a:ea typeface="Yu Gothic"/>
              </a:rPr>
              <a:t>): 14時頃に1,360 kW </a:t>
            </a:r>
            <a:r>
              <a:rPr sz="1600" b="1" dirty="0" err="1">
                <a:solidFill>
                  <a:srgbClr val="5A5A5A"/>
                </a:solidFill>
                <a:latin typeface="Yu Gothic"/>
                <a:ea typeface="Yu Gothic"/>
              </a:rPr>
              <a:t>のピーク</a:t>
            </a:r>
            <a:r>
              <a:rPr sz="1600" b="1" dirty="0">
                <a:solidFill>
                  <a:srgbClr val="5A5A5A"/>
                </a:solidFill>
                <a:latin typeface="Yu Gothic"/>
                <a:ea typeface="Yu Gothic"/>
              </a:rPr>
              <a:t>      ・10月 (</a:t>
            </a:r>
            <a:r>
              <a:rPr sz="1600" b="1" dirty="0" err="1">
                <a:solidFill>
                  <a:srgbClr val="5A5A5A"/>
                </a:solidFill>
                <a:latin typeface="Yu Gothic"/>
                <a:ea typeface="Yu Gothic"/>
              </a:rPr>
              <a:t>紺</a:t>
            </a:r>
            <a:r>
              <a:rPr sz="1600" b="1" dirty="0">
                <a:solidFill>
                  <a:srgbClr val="5A5A5A"/>
                </a:solidFill>
                <a:latin typeface="Yu Gothic"/>
                <a:ea typeface="Yu Gothic"/>
              </a:rPr>
              <a:t>): ピークが下がり1,040 kW</a:t>
            </a:r>
          </a:p>
          <a:p>
            <a:pPr algn="l"/>
            <a:r>
              <a:rPr sz="1600" b="1" dirty="0">
                <a:solidFill>
                  <a:srgbClr val="5A5A5A"/>
                </a:solidFill>
                <a:latin typeface="Yu Gothic"/>
                <a:ea typeface="Yu Gothic"/>
              </a:rPr>
              <a:t>・</a:t>
            </a:r>
            <a:r>
              <a:rPr sz="1600" b="1" dirty="0" err="1">
                <a:solidFill>
                  <a:srgbClr val="5A5A5A"/>
                </a:solidFill>
                <a:latin typeface="Yu Gothic"/>
                <a:ea typeface="Yu Gothic"/>
              </a:rPr>
              <a:t>全月共通</a:t>
            </a:r>
            <a:r>
              <a:rPr sz="1600" b="1" dirty="0">
                <a:solidFill>
                  <a:srgbClr val="5A5A5A"/>
                </a:solidFill>
                <a:latin typeface="Yu Gothic"/>
                <a:ea typeface="Yu Gothic"/>
              </a:rPr>
              <a:t>: 5〜6時に最低 → 14〜15時にピーク → </a:t>
            </a:r>
            <a:r>
              <a:rPr sz="1600" b="1" dirty="0" err="1">
                <a:solidFill>
                  <a:srgbClr val="5A5A5A"/>
                </a:solidFill>
                <a:latin typeface="Yu Gothic"/>
                <a:ea typeface="Yu Gothic"/>
              </a:rPr>
              <a:t>夜間に減少</a:t>
            </a:r>
            <a:endParaRPr sz="1600" b="1" dirty="0">
              <a:solidFill>
                <a:srgbClr val="5A5A5A"/>
              </a:solidFill>
              <a:latin typeface="Yu Gothic"/>
              <a:ea typeface="Yu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7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気象 × 電力の相関分析</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どの気象要素が電力消費に最も影響するか</a:t>
            </a:r>
          </a:p>
        </p:txBody>
      </p:sp>
      <p:pic>
        <p:nvPicPr>
          <p:cNvPr id="10" name="Picture 9" descr="corr_01_pearson_heatmap.png"/>
          <p:cNvPicPr>
            <a:picLocks noChangeAspect="1"/>
          </p:cNvPicPr>
          <p:nvPr/>
        </p:nvPicPr>
        <p:blipFill>
          <a:blip r:embed="rId3"/>
          <a:stretch>
            <a:fillRect/>
          </a:stretch>
        </p:blipFill>
        <p:spPr>
          <a:xfrm>
            <a:off x="365760" y="1737360"/>
            <a:ext cx="6400800" cy="4267200"/>
          </a:xfrm>
          <a:prstGeom prst="rect">
            <a:avLst/>
          </a:prstGeom>
        </p:spPr>
      </p:pic>
      <p:sp>
        <p:nvSpPr>
          <p:cNvPr id="11" name="TextBox 10"/>
          <p:cNvSpPr txBox="1"/>
          <p:nvPr/>
        </p:nvSpPr>
        <p:spPr>
          <a:xfrm>
            <a:off x="6858000" y="4823208"/>
            <a:ext cx="4937760" cy="276999"/>
          </a:xfrm>
          <a:prstGeom prst="rect">
            <a:avLst/>
          </a:prstGeom>
          <a:noFill/>
        </p:spPr>
        <p:txBody>
          <a:bodyPr wrap="square" lIns="0" tIns="0" rIns="0" bIns="0" anchor="t">
            <a:spAutoFit/>
          </a:bodyPr>
          <a:lstStyle/>
          <a:p>
            <a:pPr algn="l"/>
            <a:r>
              <a:rPr b="1">
                <a:solidFill>
                  <a:srgbClr val="003B71"/>
                </a:solidFill>
                <a:latin typeface="Yu Gothic"/>
                <a:ea typeface="Yu Gothic"/>
              </a:rPr>
              <a:t>■ 主な所見</a:t>
            </a:r>
          </a:p>
        </p:txBody>
      </p:sp>
      <p:sp>
        <p:nvSpPr>
          <p:cNvPr id="12" name="TextBox 11"/>
          <p:cNvSpPr txBox="1"/>
          <p:nvPr/>
        </p:nvSpPr>
        <p:spPr>
          <a:xfrm>
            <a:off x="6858000" y="5127177"/>
            <a:ext cx="4937760" cy="1477328"/>
          </a:xfrm>
          <a:prstGeom prst="rect">
            <a:avLst/>
          </a:prstGeom>
          <a:noFill/>
        </p:spPr>
        <p:txBody>
          <a:bodyPr wrap="square" lIns="0" tIns="0" rIns="0" bIns="0" anchor="t">
            <a:spAutoFit/>
          </a:bodyPr>
          <a:lstStyle/>
          <a:p>
            <a:pPr algn="l"/>
            <a:r>
              <a:rPr sz="1600" b="1" dirty="0">
                <a:solidFill>
                  <a:srgbClr val="5A5A5A"/>
                </a:solidFill>
                <a:latin typeface="Yu Gothic"/>
                <a:ea typeface="Yu Gothic"/>
              </a:rPr>
              <a:t>1. </a:t>
            </a:r>
            <a:r>
              <a:rPr sz="1600" b="1" dirty="0" err="1">
                <a:solidFill>
                  <a:srgbClr val="5A5A5A"/>
                </a:solidFill>
                <a:latin typeface="Yu Gothic"/>
                <a:ea typeface="Yu Gothic"/>
              </a:rPr>
              <a:t>最強の正相関</a:t>
            </a:r>
            <a:r>
              <a:rPr sz="1600" b="1" dirty="0">
                <a:solidFill>
                  <a:srgbClr val="5A5A5A"/>
                </a:solidFill>
                <a:latin typeface="Yu Gothic"/>
                <a:ea typeface="Yu Gothic"/>
              </a:rPr>
              <a:t>: </a:t>
            </a:r>
            <a:r>
              <a:rPr sz="1600" b="1" dirty="0" err="1">
                <a:solidFill>
                  <a:srgbClr val="5A5A5A"/>
                </a:solidFill>
                <a:latin typeface="Yu Gothic"/>
                <a:ea typeface="Yu Gothic"/>
              </a:rPr>
              <a:t>日射量</a:t>
            </a:r>
            <a:endParaRPr sz="1600" b="1" dirty="0">
              <a:solidFill>
                <a:srgbClr val="5A5A5A"/>
              </a:solidFill>
              <a:latin typeface="Yu Gothic"/>
              <a:ea typeface="Yu Gothic"/>
            </a:endParaRPr>
          </a:p>
          <a:p>
            <a:pPr algn="l"/>
            <a:r>
              <a:rPr sz="1600" b="0" dirty="0">
                <a:solidFill>
                  <a:srgbClr val="5A5A5A"/>
                </a:solidFill>
                <a:latin typeface="Yu Gothic"/>
                <a:ea typeface="Yu Gothic"/>
              </a:rPr>
              <a:t>    Pearson r = +0.67 (</a:t>
            </a:r>
            <a:r>
              <a:rPr sz="1600" b="0" dirty="0" err="1">
                <a:solidFill>
                  <a:srgbClr val="5A5A5A"/>
                </a:solidFill>
                <a:latin typeface="Yu Gothic"/>
                <a:ea typeface="Yu Gothic"/>
              </a:rPr>
              <a:t>時間別</a:t>
            </a:r>
            <a:r>
              <a:rPr sz="1600" b="0" dirty="0">
                <a:solidFill>
                  <a:srgbClr val="5A5A5A"/>
                </a:solidFill>
                <a:latin typeface="Yu Gothic"/>
                <a:ea typeface="Yu Gothic"/>
              </a:rPr>
              <a:t>)</a:t>
            </a:r>
          </a:p>
          <a:p>
            <a:pPr algn="l"/>
            <a:r>
              <a:rPr sz="1600" b="1" dirty="0">
                <a:solidFill>
                  <a:srgbClr val="5A5A5A"/>
                </a:solidFill>
                <a:latin typeface="Yu Gothic"/>
                <a:ea typeface="Yu Gothic"/>
              </a:rPr>
              <a:t>2. </a:t>
            </a:r>
            <a:r>
              <a:rPr sz="1600" b="1" dirty="0" err="1">
                <a:solidFill>
                  <a:srgbClr val="5A5A5A"/>
                </a:solidFill>
                <a:latin typeface="Yu Gothic"/>
                <a:ea typeface="Yu Gothic"/>
              </a:rPr>
              <a:t>強い正相関</a:t>
            </a:r>
            <a:r>
              <a:rPr sz="1600" b="1" dirty="0">
                <a:solidFill>
                  <a:srgbClr val="5A5A5A"/>
                </a:solidFill>
                <a:latin typeface="Yu Gothic"/>
                <a:ea typeface="Yu Gothic"/>
              </a:rPr>
              <a:t>: </a:t>
            </a:r>
            <a:r>
              <a:rPr sz="1600" b="1" dirty="0" err="1">
                <a:solidFill>
                  <a:srgbClr val="5A5A5A"/>
                </a:solidFill>
                <a:latin typeface="Yu Gothic"/>
                <a:ea typeface="Yu Gothic"/>
              </a:rPr>
              <a:t>気温</a:t>
            </a:r>
            <a:endParaRPr sz="1600" b="1" dirty="0">
              <a:solidFill>
                <a:srgbClr val="5A5A5A"/>
              </a:solidFill>
              <a:latin typeface="Yu Gothic"/>
              <a:ea typeface="Yu Gothic"/>
            </a:endParaRPr>
          </a:p>
          <a:p>
            <a:pPr algn="l"/>
            <a:r>
              <a:rPr sz="1600" b="0" dirty="0">
                <a:solidFill>
                  <a:srgbClr val="5A5A5A"/>
                </a:solidFill>
                <a:latin typeface="Yu Gothic"/>
                <a:ea typeface="Yu Gothic"/>
              </a:rPr>
              <a:t>    Pearson r = +0.57</a:t>
            </a:r>
          </a:p>
          <a:p>
            <a:pPr algn="l"/>
            <a:r>
              <a:rPr sz="1600" b="1" dirty="0">
                <a:solidFill>
                  <a:srgbClr val="5A5A5A"/>
                </a:solidFill>
                <a:latin typeface="Yu Gothic"/>
                <a:ea typeface="Yu Gothic"/>
              </a:rPr>
              <a:t>3. </a:t>
            </a:r>
            <a:r>
              <a:rPr sz="1600" b="1" dirty="0" err="1">
                <a:solidFill>
                  <a:srgbClr val="5A5A5A"/>
                </a:solidFill>
                <a:latin typeface="Yu Gothic"/>
                <a:ea typeface="Yu Gothic"/>
              </a:rPr>
              <a:t>強い負相関</a:t>
            </a:r>
            <a:r>
              <a:rPr sz="1600" b="1" dirty="0">
                <a:solidFill>
                  <a:srgbClr val="5A5A5A"/>
                </a:solidFill>
                <a:latin typeface="Yu Gothic"/>
                <a:ea typeface="Yu Gothic"/>
              </a:rPr>
              <a:t>: </a:t>
            </a:r>
            <a:r>
              <a:rPr sz="1600" b="1" dirty="0" err="1">
                <a:solidFill>
                  <a:srgbClr val="5A5A5A"/>
                </a:solidFill>
                <a:latin typeface="Yu Gothic"/>
                <a:ea typeface="Yu Gothic"/>
              </a:rPr>
              <a:t>湿度</a:t>
            </a:r>
            <a:endParaRPr sz="1600" b="1" dirty="0">
              <a:solidFill>
                <a:srgbClr val="5A5A5A"/>
              </a:solidFill>
              <a:latin typeface="Yu Gothic"/>
              <a:ea typeface="Yu Gothic"/>
            </a:endParaRPr>
          </a:p>
          <a:p>
            <a:pPr algn="l"/>
            <a:r>
              <a:rPr sz="1600" b="0" dirty="0">
                <a:solidFill>
                  <a:srgbClr val="5A5A5A"/>
                </a:solidFill>
                <a:latin typeface="Yu Gothic"/>
                <a:ea typeface="Yu Gothic"/>
              </a:rPr>
              <a:t>    Pearson r = −0.52</a:t>
            </a:r>
          </a:p>
        </p:txBody>
      </p:sp>
      <p:pic>
        <p:nvPicPr>
          <p:cNvPr id="13" name="Picture 12" descr="corr_07_standardized_beta.png"/>
          <p:cNvPicPr>
            <a:picLocks noChangeAspect="1"/>
          </p:cNvPicPr>
          <p:nvPr/>
        </p:nvPicPr>
        <p:blipFill>
          <a:blip r:embed="rId4"/>
          <a:stretch>
            <a:fillRect/>
          </a:stretch>
        </p:blipFill>
        <p:spPr>
          <a:xfrm>
            <a:off x="6949440" y="1655064"/>
            <a:ext cx="5029200" cy="3143250"/>
          </a:xfrm>
          <a:prstGeom prst="rect">
            <a:avLst/>
          </a:prstGeom>
        </p:spPr>
      </p:pic>
      <p:sp>
        <p:nvSpPr>
          <p:cNvPr id="14" name="TextBox 13"/>
          <p:cNvSpPr txBox="1"/>
          <p:nvPr/>
        </p:nvSpPr>
        <p:spPr>
          <a:xfrm>
            <a:off x="365760" y="6126480"/>
            <a:ext cx="6400800" cy="365760"/>
          </a:xfrm>
          <a:prstGeom prst="rect">
            <a:avLst/>
          </a:prstGeom>
          <a:noFill/>
        </p:spPr>
        <p:txBody>
          <a:bodyPr wrap="square" lIns="0" tIns="0" rIns="0" bIns="0" anchor="t">
            <a:spAutoFit/>
          </a:bodyPr>
          <a:lstStyle/>
          <a:p>
            <a:pPr algn="l"/>
            <a:r>
              <a:rPr sz="1200" b="1">
                <a:solidFill>
                  <a:srgbClr val="E78A00"/>
                </a:solidFill>
                <a:latin typeface="Yu Gothic"/>
                <a:ea typeface="Yu Gothic"/>
              </a:rPr>
              <a:t>■ 線形重回帰でも気象だけで b00 分散の 53% を説明</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8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主成分分析 (PCA)</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気象10変数の本質を 3 つの主成分に圧縮</a:t>
            </a:r>
          </a:p>
        </p:txBody>
      </p:sp>
      <p:pic>
        <p:nvPicPr>
          <p:cNvPr id="10" name="Picture 9" descr="corr_05_pca_variance.png"/>
          <p:cNvPicPr>
            <a:picLocks noChangeAspect="1"/>
          </p:cNvPicPr>
          <p:nvPr/>
        </p:nvPicPr>
        <p:blipFill>
          <a:blip r:embed="rId3"/>
          <a:stretch>
            <a:fillRect/>
          </a:stretch>
        </p:blipFill>
        <p:spPr>
          <a:xfrm>
            <a:off x="365760" y="1737360"/>
            <a:ext cx="5852160" cy="3291840"/>
          </a:xfrm>
          <a:prstGeom prst="rect">
            <a:avLst/>
          </a:prstGeom>
        </p:spPr>
      </p:pic>
      <p:pic>
        <p:nvPicPr>
          <p:cNvPr id="11" name="Picture 10" descr="corr_06_pca_loadings.png"/>
          <p:cNvPicPr>
            <a:picLocks noChangeAspect="1"/>
          </p:cNvPicPr>
          <p:nvPr/>
        </p:nvPicPr>
        <p:blipFill>
          <a:blip r:embed="rId4"/>
          <a:stretch>
            <a:fillRect/>
          </a:stretch>
        </p:blipFill>
        <p:spPr>
          <a:xfrm>
            <a:off x="6355080" y="2259959"/>
            <a:ext cx="5669280" cy="2563501"/>
          </a:xfrm>
          <a:prstGeom prst="rect">
            <a:avLst/>
          </a:prstGeom>
        </p:spPr>
      </p:pic>
      <p:sp>
        <p:nvSpPr>
          <p:cNvPr id="12" name="TextBox 11"/>
          <p:cNvSpPr txBox="1"/>
          <p:nvPr/>
        </p:nvSpPr>
        <p:spPr>
          <a:xfrm>
            <a:off x="365760" y="5303520"/>
            <a:ext cx="11430000" cy="276999"/>
          </a:xfrm>
          <a:prstGeom prst="rect">
            <a:avLst/>
          </a:prstGeom>
          <a:noFill/>
        </p:spPr>
        <p:txBody>
          <a:bodyPr wrap="square" lIns="0" tIns="0" rIns="0" bIns="0" anchor="t">
            <a:spAutoFit/>
          </a:bodyPr>
          <a:lstStyle/>
          <a:p>
            <a:pPr algn="l"/>
            <a:r>
              <a:rPr b="1" dirty="0">
                <a:solidFill>
                  <a:srgbClr val="003B71"/>
                </a:solidFill>
                <a:latin typeface="Yu Gothic"/>
                <a:ea typeface="Yu Gothic"/>
              </a:rPr>
              <a:t>■ </a:t>
            </a:r>
            <a:r>
              <a:rPr b="1" dirty="0" err="1">
                <a:solidFill>
                  <a:srgbClr val="003B71"/>
                </a:solidFill>
                <a:latin typeface="Yu Gothic"/>
                <a:ea typeface="Yu Gothic"/>
              </a:rPr>
              <a:t>解釈</a:t>
            </a:r>
            <a:r>
              <a:rPr b="1" dirty="0">
                <a:solidFill>
                  <a:srgbClr val="003B71"/>
                </a:solidFill>
                <a:latin typeface="Yu Gothic"/>
                <a:ea typeface="Yu Gothic"/>
              </a:rPr>
              <a:t>: 3つの主成分で気象変動の 76% </a:t>
            </a:r>
            <a:r>
              <a:rPr b="1" dirty="0" err="1">
                <a:solidFill>
                  <a:srgbClr val="003B71"/>
                </a:solidFill>
                <a:latin typeface="Yu Gothic"/>
                <a:ea typeface="Yu Gothic"/>
              </a:rPr>
              <a:t>を説明</a:t>
            </a:r>
            <a:endParaRPr b="1" dirty="0">
              <a:solidFill>
                <a:srgbClr val="003B71"/>
              </a:solidFill>
              <a:latin typeface="Yu Gothic"/>
              <a:ea typeface="Yu Gothic"/>
            </a:endParaRPr>
          </a:p>
        </p:txBody>
      </p:sp>
      <p:sp>
        <p:nvSpPr>
          <p:cNvPr id="13" name="TextBox 12"/>
          <p:cNvSpPr txBox="1"/>
          <p:nvPr/>
        </p:nvSpPr>
        <p:spPr>
          <a:xfrm>
            <a:off x="365760" y="5715000"/>
            <a:ext cx="11430000" cy="646331"/>
          </a:xfrm>
          <a:prstGeom prst="rect">
            <a:avLst/>
          </a:prstGeom>
          <a:noFill/>
        </p:spPr>
        <p:txBody>
          <a:bodyPr wrap="square" lIns="0" tIns="0" rIns="0" bIns="0" anchor="t">
            <a:spAutoFit/>
          </a:bodyPr>
          <a:lstStyle/>
          <a:p>
            <a:pPr algn="l"/>
            <a:r>
              <a:rPr sz="1400" b="0" dirty="0">
                <a:solidFill>
                  <a:srgbClr val="5A5A5A"/>
                </a:solidFill>
                <a:latin typeface="Yu Gothic"/>
                <a:ea typeface="Yu Gothic"/>
              </a:rPr>
              <a:t>・PC1 (41.7%) = 「</a:t>
            </a:r>
            <a:r>
              <a:rPr sz="1400" b="0" dirty="0" err="1">
                <a:solidFill>
                  <a:srgbClr val="5A5A5A"/>
                </a:solidFill>
                <a:latin typeface="Yu Gothic"/>
                <a:ea typeface="Yu Gothic"/>
              </a:rPr>
              <a:t>熱関連成分」気温・体感・WBGT</a:t>
            </a:r>
            <a:r>
              <a:rPr sz="1400" b="0" dirty="0">
                <a:solidFill>
                  <a:srgbClr val="5A5A5A"/>
                </a:solidFill>
                <a:latin typeface="Yu Gothic"/>
                <a:ea typeface="Yu Gothic"/>
              </a:rPr>
              <a:t> </a:t>
            </a:r>
            <a:r>
              <a:rPr sz="1400" b="0" dirty="0" err="1">
                <a:solidFill>
                  <a:srgbClr val="5A5A5A"/>
                </a:solidFill>
                <a:latin typeface="Yu Gothic"/>
                <a:ea typeface="Yu Gothic"/>
              </a:rPr>
              <a:t>が共に寄与</a:t>
            </a:r>
            <a:r>
              <a:rPr sz="1400" b="0" dirty="0">
                <a:solidFill>
                  <a:srgbClr val="5A5A5A"/>
                </a:solidFill>
                <a:latin typeface="Yu Gothic"/>
                <a:ea typeface="Yu Gothic"/>
              </a:rPr>
              <a:t>   →  b00 </a:t>
            </a:r>
            <a:r>
              <a:rPr sz="1400" b="0" dirty="0" err="1">
                <a:solidFill>
                  <a:srgbClr val="5A5A5A"/>
                </a:solidFill>
                <a:latin typeface="Yu Gothic"/>
                <a:ea typeface="Yu Gothic"/>
              </a:rPr>
              <a:t>と</a:t>
            </a:r>
            <a:r>
              <a:rPr sz="1400" b="0" dirty="0">
                <a:solidFill>
                  <a:srgbClr val="5A5A5A"/>
                </a:solidFill>
                <a:latin typeface="Yu Gothic"/>
                <a:ea typeface="Yu Gothic"/>
              </a:rPr>
              <a:t> +0.47 </a:t>
            </a:r>
            <a:r>
              <a:rPr sz="1400" b="0" dirty="0" err="1">
                <a:solidFill>
                  <a:srgbClr val="5A5A5A"/>
                </a:solidFill>
                <a:latin typeface="Yu Gothic"/>
                <a:ea typeface="Yu Gothic"/>
              </a:rPr>
              <a:t>の相関</a:t>
            </a:r>
            <a:endParaRPr sz="1400" b="0" dirty="0">
              <a:solidFill>
                <a:srgbClr val="5A5A5A"/>
              </a:solidFill>
              <a:latin typeface="Yu Gothic"/>
              <a:ea typeface="Yu Gothic"/>
            </a:endParaRPr>
          </a:p>
          <a:p>
            <a:pPr algn="l"/>
            <a:r>
              <a:rPr sz="1400" b="0" dirty="0">
                <a:solidFill>
                  <a:srgbClr val="5A5A5A"/>
                </a:solidFill>
                <a:latin typeface="Yu Gothic"/>
                <a:ea typeface="Yu Gothic"/>
              </a:rPr>
              <a:t>・PC2 (21.1%) = 「</a:t>
            </a:r>
            <a:r>
              <a:rPr sz="1400" b="0" dirty="0" err="1">
                <a:solidFill>
                  <a:srgbClr val="5A5A5A"/>
                </a:solidFill>
                <a:latin typeface="Yu Gothic"/>
                <a:ea typeface="Yu Gothic"/>
              </a:rPr>
              <a:t>湿度・日射成分」湿度↑かつ日射</a:t>
            </a:r>
            <a:r>
              <a:rPr sz="1400" b="0" dirty="0">
                <a:solidFill>
                  <a:srgbClr val="5A5A5A"/>
                </a:solidFill>
                <a:latin typeface="Yu Gothic"/>
                <a:ea typeface="Yu Gothic"/>
              </a:rPr>
              <a:t>↓ (</a:t>
            </a:r>
            <a:r>
              <a:rPr sz="1400" b="0" dirty="0" err="1">
                <a:solidFill>
                  <a:srgbClr val="5A5A5A"/>
                </a:solidFill>
                <a:latin typeface="Yu Gothic"/>
                <a:ea typeface="Yu Gothic"/>
              </a:rPr>
              <a:t>悪天候</a:t>
            </a:r>
            <a:r>
              <a:rPr sz="1400" b="0" dirty="0">
                <a:solidFill>
                  <a:srgbClr val="5A5A5A"/>
                </a:solidFill>
                <a:latin typeface="Yu Gothic"/>
                <a:ea typeface="Yu Gothic"/>
              </a:rPr>
              <a:t>)   →  b00 </a:t>
            </a:r>
            <a:r>
              <a:rPr sz="1400" b="0" dirty="0" err="1">
                <a:solidFill>
                  <a:srgbClr val="5A5A5A"/>
                </a:solidFill>
                <a:latin typeface="Yu Gothic"/>
                <a:ea typeface="Yu Gothic"/>
              </a:rPr>
              <a:t>と</a:t>
            </a:r>
            <a:r>
              <a:rPr sz="1400" b="0" dirty="0">
                <a:solidFill>
                  <a:srgbClr val="5A5A5A"/>
                </a:solidFill>
                <a:latin typeface="Yu Gothic"/>
                <a:ea typeface="Yu Gothic"/>
              </a:rPr>
              <a:t> −0.50 </a:t>
            </a:r>
            <a:r>
              <a:rPr sz="1400" b="0" dirty="0" err="1">
                <a:solidFill>
                  <a:srgbClr val="5A5A5A"/>
                </a:solidFill>
                <a:latin typeface="Yu Gothic"/>
                <a:ea typeface="Yu Gothic"/>
              </a:rPr>
              <a:t>の相関</a:t>
            </a:r>
            <a:endParaRPr sz="1400" b="0" dirty="0">
              <a:solidFill>
                <a:srgbClr val="5A5A5A"/>
              </a:solidFill>
              <a:latin typeface="Yu Gothic"/>
              <a:ea typeface="Yu Gothic"/>
            </a:endParaRPr>
          </a:p>
          <a:p>
            <a:pPr algn="l"/>
            <a:r>
              <a:rPr sz="1400" b="0" dirty="0">
                <a:solidFill>
                  <a:srgbClr val="5A5A5A"/>
                </a:solidFill>
                <a:latin typeface="Yu Gothic"/>
                <a:ea typeface="Yu Gothic"/>
              </a:rPr>
              <a:t>・PC3 (13.1%) = 「</a:t>
            </a:r>
            <a:r>
              <a:rPr sz="1400" b="0" dirty="0" err="1">
                <a:solidFill>
                  <a:srgbClr val="5A5A5A"/>
                </a:solidFill>
                <a:latin typeface="Yu Gothic"/>
                <a:ea typeface="Yu Gothic"/>
              </a:rPr>
              <a:t>風・降水成分</a:t>
            </a:r>
            <a:r>
              <a:rPr sz="1400" b="0" dirty="0">
                <a:solidFill>
                  <a:srgbClr val="5A5A5A"/>
                </a:solidFill>
                <a:latin typeface="Yu Gothic"/>
                <a:ea typeface="Yu Gothic"/>
              </a:rPr>
              <a:t>」 (b00 </a:t>
            </a:r>
            <a:r>
              <a:rPr sz="1400" b="0" dirty="0" err="1">
                <a:solidFill>
                  <a:srgbClr val="5A5A5A"/>
                </a:solidFill>
                <a:latin typeface="Yu Gothic"/>
                <a:ea typeface="Yu Gothic"/>
              </a:rPr>
              <a:t>への影響は小</a:t>
            </a:r>
            <a:r>
              <a:rPr sz="1400" b="0" dirty="0">
                <a:solidFill>
                  <a:srgbClr val="5A5A5A"/>
                </a:solidFill>
                <a:latin typeface="Yu Gothic"/>
                <a:ea typeface="Yu Gothic"/>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9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結果① テスト期間の予測</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提案手法 (Hybrid):  MAE = 54.0 kW,  R² = 0.905,  MAPE = 7.28%</a:t>
            </a:r>
          </a:p>
        </p:txBody>
      </p:sp>
      <p:pic>
        <p:nvPicPr>
          <p:cNvPr id="10" name="Picture 9" descr="pres_04_holdout_timeseries.png"/>
          <p:cNvPicPr>
            <a:picLocks noChangeAspect="1"/>
          </p:cNvPicPr>
          <p:nvPr/>
        </p:nvPicPr>
        <p:blipFill>
          <a:blip r:embed="rId3"/>
          <a:stretch>
            <a:fillRect/>
          </a:stretch>
        </p:blipFill>
        <p:spPr>
          <a:xfrm>
            <a:off x="518160" y="1737361"/>
            <a:ext cx="9387840" cy="3840480"/>
          </a:xfrm>
          <a:prstGeom prst="rect">
            <a:avLst/>
          </a:prstGeom>
        </p:spPr>
      </p:pic>
      <p:sp>
        <p:nvSpPr>
          <p:cNvPr id="11" name="TextBox 10"/>
          <p:cNvSpPr txBox="1"/>
          <p:nvPr/>
        </p:nvSpPr>
        <p:spPr>
          <a:xfrm>
            <a:off x="365760" y="5760720"/>
            <a:ext cx="11430000" cy="246221"/>
          </a:xfrm>
          <a:prstGeom prst="rect">
            <a:avLst/>
          </a:prstGeom>
          <a:noFill/>
        </p:spPr>
        <p:txBody>
          <a:bodyPr wrap="square" lIns="0" tIns="0" rIns="0" bIns="0" anchor="t">
            <a:spAutoFit/>
          </a:bodyPr>
          <a:lstStyle/>
          <a:p>
            <a:pPr algn="l"/>
            <a:r>
              <a:rPr sz="1300" b="1">
                <a:solidFill>
                  <a:srgbClr val="003B71"/>
                </a:solidFill>
                <a:latin typeface="Yu Gothic"/>
                <a:ea typeface="Yu Gothic"/>
              </a:rPr>
              <a:t>■ 青: 実測値    オレンジ: 予測値    赤点線: P80閾値 (管理者への警報配信基準)</a:t>
            </a:r>
          </a:p>
        </p:txBody>
      </p:sp>
      <p:sp>
        <p:nvSpPr>
          <p:cNvPr id="12" name="TextBox 11"/>
          <p:cNvSpPr txBox="1"/>
          <p:nvPr/>
        </p:nvSpPr>
        <p:spPr>
          <a:xfrm>
            <a:off x="365760" y="6217920"/>
            <a:ext cx="11430000" cy="246221"/>
          </a:xfrm>
          <a:prstGeom prst="rect">
            <a:avLst/>
          </a:prstGeom>
          <a:noFill/>
        </p:spPr>
        <p:txBody>
          <a:bodyPr wrap="square" lIns="0" tIns="0" rIns="0" bIns="0" anchor="t">
            <a:spAutoFit/>
          </a:bodyPr>
          <a:lstStyle/>
          <a:p>
            <a:pPr algn="l"/>
            <a:r>
              <a:rPr sz="1600" b="0" dirty="0">
                <a:solidFill>
                  <a:srgbClr val="5A5A5A"/>
                </a:solidFill>
                <a:latin typeface="Yu Gothic"/>
                <a:ea typeface="Yu Gothic"/>
              </a:rPr>
              <a:t>・</a:t>
            </a:r>
            <a:r>
              <a:rPr sz="1600" b="0" dirty="0" err="1">
                <a:solidFill>
                  <a:srgbClr val="5A5A5A"/>
                </a:solidFill>
                <a:latin typeface="Yu Gothic"/>
                <a:ea typeface="Yu Gothic"/>
              </a:rPr>
              <a:t>予測線は実測線を概ね追従。複数のピーク日</a:t>
            </a:r>
            <a:r>
              <a:rPr sz="1600" b="0" dirty="0">
                <a:solidFill>
                  <a:srgbClr val="5A5A5A"/>
                </a:solidFill>
                <a:latin typeface="Yu Gothic"/>
                <a:ea typeface="Yu Gothic"/>
              </a:rPr>
              <a:t> (10/07, 10/14, 10/22) </a:t>
            </a:r>
            <a:r>
              <a:rPr sz="1600" b="0" dirty="0" err="1">
                <a:solidFill>
                  <a:srgbClr val="5A5A5A"/>
                </a:solidFill>
                <a:latin typeface="Yu Gothic"/>
                <a:ea typeface="Yu Gothic"/>
              </a:rPr>
              <a:t>を正しく捕捉</a:t>
            </a:r>
            <a:r>
              <a:rPr sz="1600" b="0" dirty="0">
                <a:solidFill>
                  <a:srgbClr val="5A5A5A"/>
                </a:solidFill>
                <a:latin typeface="Yu Gothic"/>
                <a:ea typeface="Yu Gothic"/>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10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結果② 予測 vs 実測の対応</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散布図で見る予測精度  —  MAE 54.0 kW, MAPE 7.28%</a:t>
            </a:r>
          </a:p>
        </p:txBody>
      </p:sp>
      <p:pic>
        <p:nvPicPr>
          <p:cNvPr id="10" name="Picture 9" descr="pres_05_pred_vs_actual.png"/>
          <p:cNvPicPr>
            <a:picLocks noChangeAspect="1"/>
          </p:cNvPicPr>
          <p:nvPr/>
        </p:nvPicPr>
        <p:blipFill>
          <a:blip r:embed="rId3"/>
          <a:stretch>
            <a:fillRect/>
          </a:stretch>
        </p:blipFill>
        <p:spPr>
          <a:xfrm>
            <a:off x="365760" y="1828800"/>
            <a:ext cx="4801985" cy="4401820"/>
          </a:xfrm>
          <a:prstGeom prst="rect">
            <a:avLst/>
          </a:prstGeom>
        </p:spPr>
      </p:pic>
      <p:sp>
        <p:nvSpPr>
          <p:cNvPr id="11" name="TextBox 10"/>
          <p:cNvSpPr txBox="1"/>
          <p:nvPr/>
        </p:nvSpPr>
        <p:spPr>
          <a:xfrm>
            <a:off x="6858000" y="1828800"/>
            <a:ext cx="5029200" cy="365760"/>
          </a:xfrm>
          <a:prstGeom prst="rect">
            <a:avLst/>
          </a:prstGeom>
          <a:noFill/>
        </p:spPr>
        <p:txBody>
          <a:bodyPr wrap="square" lIns="0" tIns="0" rIns="0" bIns="0" anchor="t">
            <a:spAutoFit/>
          </a:bodyPr>
          <a:lstStyle/>
          <a:p>
            <a:pPr algn="l"/>
            <a:r>
              <a:rPr sz="1500" b="1">
                <a:solidFill>
                  <a:srgbClr val="003B71"/>
                </a:solidFill>
                <a:latin typeface="Yu Gothic"/>
                <a:ea typeface="Yu Gothic"/>
              </a:rPr>
              <a:t>■ 3アーキテクチャの精度比較</a:t>
            </a:r>
          </a:p>
        </p:txBody>
      </p:sp>
      <p:sp>
        <p:nvSpPr>
          <p:cNvPr id="12" name="Rectangle 11"/>
          <p:cNvSpPr/>
          <p:nvPr/>
        </p:nvSpPr>
        <p:spPr>
          <a:xfrm>
            <a:off x="6858000" y="2286000"/>
            <a:ext cx="2011680" cy="41148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03720" y="2322576"/>
            <a:ext cx="1920240" cy="338328"/>
          </a:xfrm>
          <a:prstGeom prst="rect">
            <a:avLst/>
          </a:prstGeom>
          <a:noFill/>
        </p:spPr>
        <p:txBody>
          <a:bodyPr wrap="square" lIns="0" tIns="0" rIns="0" bIns="0" anchor="ctr">
            <a:spAutoFit/>
          </a:bodyPr>
          <a:lstStyle/>
          <a:p>
            <a:pPr algn="l"/>
            <a:r>
              <a:rPr sz="1200" b="1">
                <a:solidFill>
                  <a:srgbClr val="FFFFFF"/>
                </a:solidFill>
                <a:latin typeface="Yu Gothic"/>
                <a:ea typeface="Yu Gothic"/>
              </a:rPr>
              <a:t>手法</a:t>
            </a:r>
          </a:p>
        </p:txBody>
      </p:sp>
      <p:sp>
        <p:nvSpPr>
          <p:cNvPr id="14" name="Rectangle 13"/>
          <p:cNvSpPr/>
          <p:nvPr/>
        </p:nvSpPr>
        <p:spPr>
          <a:xfrm>
            <a:off x="8869680" y="2286000"/>
            <a:ext cx="1005840" cy="41148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15400" y="2322576"/>
            <a:ext cx="914400" cy="338328"/>
          </a:xfrm>
          <a:prstGeom prst="rect">
            <a:avLst/>
          </a:prstGeom>
          <a:noFill/>
        </p:spPr>
        <p:txBody>
          <a:bodyPr wrap="square" lIns="0" tIns="0" rIns="0" bIns="0" anchor="ctr">
            <a:spAutoFit/>
          </a:bodyPr>
          <a:lstStyle/>
          <a:p>
            <a:pPr algn="l"/>
            <a:r>
              <a:rPr sz="1200" b="1">
                <a:solidFill>
                  <a:srgbClr val="FFFFFF"/>
                </a:solidFill>
                <a:latin typeface="Yu Gothic"/>
                <a:ea typeface="Yu Gothic"/>
              </a:rPr>
              <a:t>MAE(kW)</a:t>
            </a:r>
          </a:p>
        </p:txBody>
      </p:sp>
      <p:sp>
        <p:nvSpPr>
          <p:cNvPr id="16" name="Rectangle 15"/>
          <p:cNvSpPr/>
          <p:nvPr/>
        </p:nvSpPr>
        <p:spPr>
          <a:xfrm>
            <a:off x="9875520" y="2286000"/>
            <a:ext cx="914400" cy="41148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21240" y="2322576"/>
            <a:ext cx="822960" cy="338328"/>
          </a:xfrm>
          <a:prstGeom prst="rect">
            <a:avLst/>
          </a:prstGeom>
          <a:noFill/>
        </p:spPr>
        <p:txBody>
          <a:bodyPr wrap="square" lIns="0" tIns="0" rIns="0" bIns="0" anchor="ctr">
            <a:spAutoFit/>
          </a:bodyPr>
          <a:lstStyle/>
          <a:p>
            <a:pPr algn="l"/>
            <a:r>
              <a:rPr sz="1200" b="1">
                <a:solidFill>
                  <a:srgbClr val="FFFFFF"/>
                </a:solidFill>
                <a:latin typeface="Yu Gothic"/>
                <a:ea typeface="Yu Gothic"/>
              </a:rPr>
              <a:t>R²</a:t>
            </a:r>
          </a:p>
        </p:txBody>
      </p:sp>
      <p:sp>
        <p:nvSpPr>
          <p:cNvPr id="18" name="Rectangle 17"/>
          <p:cNvSpPr/>
          <p:nvPr/>
        </p:nvSpPr>
        <p:spPr>
          <a:xfrm>
            <a:off x="10789920" y="2286000"/>
            <a:ext cx="914400" cy="41148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2322576"/>
            <a:ext cx="822960" cy="338328"/>
          </a:xfrm>
          <a:prstGeom prst="rect">
            <a:avLst/>
          </a:prstGeom>
          <a:noFill/>
        </p:spPr>
        <p:txBody>
          <a:bodyPr wrap="square" lIns="0" tIns="0" rIns="0" bIns="0" anchor="ctr">
            <a:spAutoFit/>
          </a:bodyPr>
          <a:lstStyle/>
          <a:p>
            <a:pPr algn="l"/>
            <a:r>
              <a:rPr sz="1200" b="1">
                <a:solidFill>
                  <a:srgbClr val="FFFFFF"/>
                </a:solidFill>
                <a:latin typeface="Yu Gothic"/>
                <a:ea typeface="Yu Gothic"/>
              </a:rPr>
              <a:t>MAPE(%)</a:t>
            </a:r>
          </a:p>
        </p:txBody>
      </p:sp>
      <p:sp>
        <p:nvSpPr>
          <p:cNvPr id="20" name="Rectangle 19"/>
          <p:cNvSpPr/>
          <p:nvPr/>
        </p:nvSpPr>
        <p:spPr>
          <a:xfrm>
            <a:off x="6858000" y="2697480"/>
            <a:ext cx="2011680" cy="41148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03720" y="2734056"/>
            <a:ext cx="1920240" cy="338328"/>
          </a:xfrm>
          <a:prstGeom prst="rect">
            <a:avLst/>
          </a:prstGeom>
          <a:noFill/>
        </p:spPr>
        <p:txBody>
          <a:bodyPr wrap="square" lIns="0" tIns="0" rIns="0" bIns="0" anchor="ctr">
            <a:spAutoFit/>
          </a:bodyPr>
          <a:lstStyle/>
          <a:p>
            <a:pPr algn="l"/>
            <a:r>
              <a:rPr sz="1200" b="0">
                <a:solidFill>
                  <a:srgbClr val="5A5A5A"/>
                </a:solidFill>
                <a:latin typeface="Yu Gothic"/>
                <a:ea typeface="Yu Gothic"/>
              </a:rPr>
              <a:t>A: 観測のみ (上限)</a:t>
            </a:r>
          </a:p>
        </p:txBody>
      </p:sp>
      <p:sp>
        <p:nvSpPr>
          <p:cNvPr id="22" name="Rectangle 21"/>
          <p:cNvSpPr/>
          <p:nvPr/>
        </p:nvSpPr>
        <p:spPr>
          <a:xfrm>
            <a:off x="8869680" y="2697480"/>
            <a:ext cx="1005840" cy="41148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15400" y="2734056"/>
            <a:ext cx="914400" cy="338328"/>
          </a:xfrm>
          <a:prstGeom prst="rect">
            <a:avLst/>
          </a:prstGeom>
          <a:noFill/>
        </p:spPr>
        <p:txBody>
          <a:bodyPr wrap="square" lIns="0" tIns="0" rIns="0" bIns="0" anchor="ctr">
            <a:spAutoFit/>
          </a:bodyPr>
          <a:lstStyle/>
          <a:p>
            <a:pPr algn="l"/>
            <a:r>
              <a:rPr sz="1200" b="0">
                <a:solidFill>
                  <a:srgbClr val="5A5A5A"/>
                </a:solidFill>
                <a:latin typeface="Yu Gothic"/>
                <a:ea typeface="Yu Gothic"/>
              </a:rPr>
              <a:t>50.7</a:t>
            </a:r>
          </a:p>
        </p:txBody>
      </p:sp>
      <p:sp>
        <p:nvSpPr>
          <p:cNvPr id="24" name="Rectangle 23"/>
          <p:cNvSpPr/>
          <p:nvPr/>
        </p:nvSpPr>
        <p:spPr>
          <a:xfrm>
            <a:off x="9875520" y="2697480"/>
            <a:ext cx="914400" cy="41148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921240" y="2734056"/>
            <a:ext cx="822960" cy="338328"/>
          </a:xfrm>
          <a:prstGeom prst="rect">
            <a:avLst/>
          </a:prstGeom>
          <a:noFill/>
        </p:spPr>
        <p:txBody>
          <a:bodyPr wrap="square" lIns="0" tIns="0" rIns="0" bIns="0" anchor="ctr">
            <a:spAutoFit/>
          </a:bodyPr>
          <a:lstStyle/>
          <a:p>
            <a:pPr algn="l"/>
            <a:r>
              <a:rPr sz="1200" b="0">
                <a:solidFill>
                  <a:srgbClr val="5A5A5A"/>
                </a:solidFill>
                <a:latin typeface="Yu Gothic"/>
                <a:ea typeface="Yu Gothic"/>
              </a:rPr>
              <a:t>0.915</a:t>
            </a:r>
          </a:p>
        </p:txBody>
      </p:sp>
      <p:sp>
        <p:nvSpPr>
          <p:cNvPr id="26" name="Rectangle 25"/>
          <p:cNvSpPr/>
          <p:nvPr/>
        </p:nvSpPr>
        <p:spPr>
          <a:xfrm>
            <a:off x="10789920" y="2697480"/>
            <a:ext cx="914400" cy="41148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835640" y="2734056"/>
            <a:ext cx="822960" cy="338328"/>
          </a:xfrm>
          <a:prstGeom prst="rect">
            <a:avLst/>
          </a:prstGeom>
          <a:noFill/>
        </p:spPr>
        <p:txBody>
          <a:bodyPr wrap="square" lIns="0" tIns="0" rIns="0" bIns="0" anchor="ctr">
            <a:spAutoFit/>
          </a:bodyPr>
          <a:lstStyle/>
          <a:p>
            <a:pPr algn="l"/>
            <a:r>
              <a:rPr sz="1200" b="0">
                <a:solidFill>
                  <a:srgbClr val="5A5A5A"/>
                </a:solidFill>
                <a:latin typeface="Yu Gothic"/>
                <a:ea typeface="Yu Gothic"/>
              </a:rPr>
              <a:t>6.96</a:t>
            </a:r>
          </a:p>
        </p:txBody>
      </p:sp>
      <p:sp>
        <p:nvSpPr>
          <p:cNvPr id="28" name="Rectangle 27"/>
          <p:cNvSpPr/>
          <p:nvPr/>
        </p:nvSpPr>
        <p:spPr>
          <a:xfrm>
            <a:off x="6858000" y="3108960"/>
            <a:ext cx="201168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903720" y="3145536"/>
            <a:ext cx="1920240" cy="338328"/>
          </a:xfrm>
          <a:prstGeom prst="rect">
            <a:avLst/>
          </a:prstGeom>
          <a:noFill/>
        </p:spPr>
        <p:txBody>
          <a:bodyPr wrap="square" lIns="0" tIns="0" rIns="0" bIns="0" anchor="ctr">
            <a:spAutoFit/>
          </a:bodyPr>
          <a:lstStyle/>
          <a:p>
            <a:pPr algn="l"/>
            <a:r>
              <a:rPr sz="1200" b="0">
                <a:solidFill>
                  <a:srgbClr val="5A5A5A"/>
                </a:solidFill>
                <a:latin typeface="Yu Gothic"/>
                <a:ea typeface="Yu Gothic"/>
              </a:rPr>
              <a:t>B: 予報のみ</a:t>
            </a:r>
          </a:p>
        </p:txBody>
      </p:sp>
      <p:sp>
        <p:nvSpPr>
          <p:cNvPr id="30" name="Rectangle 29"/>
          <p:cNvSpPr/>
          <p:nvPr/>
        </p:nvSpPr>
        <p:spPr>
          <a:xfrm>
            <a:off x="8869680" y="3108960"/>
            <a:ext cx="10058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915400" y="3145536"/>
            <a:ext cx="914400" cy="338328"/>
          </a:xfrm>
          <a:prstGeom prst="rect">
            <a:avLst/>
          </a:prstGeom>
          <a:noFill/>
        </p:spPr>
        <p:txBody>
          <a:bodyPr wrap="square" lIns="0" tIns="0" rIns="0" bIns="0" anchor="ctr">
            <a:spAutoFit/>
          </a:bodyPr>
          <a:lstStyle/>
          <a:p>
            <a:pPr algn="l"/>
            <a:r>
              <a:rPr sz="1200" b="0">
                <a:solidFill>
                  <a:srgbClr val="5A5A5A"/>
                </a:solidFill>
                <a:latin typeface="Yu Gothic"/>
                <a:ea typeface="Yu Gothic"/>
              </a:rPr>
              <a:t>59.7</a:t>
            </a:r>
          </a:p>
        </p:txBody>
      </p:sp>
      <p:sp>
        <p:nvSpPr>
          <p:cNvPr id="32" name="Rectangle 31"/>
          <p:cNvSpPr/>
          <p:nvPr/>
        </p:nvSpPr>
        <p:spPr>
          <a:xfrm>
            <a:off x="9875520" y="3108960"/>
            <a:ext cx="9144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921240" y="3145536"/>
            <a:ext cx="822960" cy="338328"/>
          </a:xfrm>
          <a:prstGeom prst="rect">
            <a:avLst/>
          </a:prstGeom>
          <a:noFill/>
        </p:spPr>
        <p:txBody>
          <a:bodyPr wrap="square" lIns="0" tIns="0" rIns="0" bIns="0" anchor="ctr">
            <a:spAutoFit/>
          </a:bodyPr>
          <a:lstStyle/>
          <a:p>
            <a:pPr algn="l"/>
            <a:r>
              <a:rPr sz="1200" b="0">
                <a:solidFill>
                  <a:srgbClr val="5A5A5A"/>
                </a:solidFill>
                <a:latin typeface="Yu Gothic"/>
                <a:ea typeface="Yu Gothic"/>
              </a:rPr>
              <a:t>0.883</a:t>
            </a:r>
          </a:p>
        </p:txBody>
      </p:sp>
      <p:sp>
        <p:nvSpPr>
          <p:cNvPr id="34" name="Rectangle 33"/>
          <p:cNvSpPr/>
          <p:nvPr/>
        </p:nvSpPr>
        <p:spPr>
          <a:xfrm>
            <a:off x="10789920" y="3108960"/>
            <a:ext cx="9144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835640" y="3145536"/>
            <a:ext cx="822960" cy="338328"/>
          </a:xfrm>
          <a:prstGeom prst="rect">
            <a:avLst/>
          </a:prstGeom>
          <a:noFill/>
        </p:spPr>
        <p:txBody>
          <a:bodyPr wrap="square" lIns="0" tIns="0" rIns="0" bIns="0" anchor="ctr">
            <a:spAutoFit/>
          </a:bodyPr>
          <a:lstStyle/>
          <a:p>
            <a:pPr algn="l"/>
            <a:r>
              <a:rPr sz="1200" b="0">
                <a:solidFill>
                  <a:srgbClr val="5A5A5A"/>
                </a:solidFill>
                <a:latin typeface="Yu Gothic"/>
                <a:ea typeface="Yu Gothic"/>
              </a:rPr>
              <a:t>7.93</a:t>
            </a:r>
          </a:p>
        </p:txBody>
      </p:sp>
      <p:sp>
        <p:nvSpPr>
          <p:cNvPr id="36" name="Rectangle 35"/>
          <p:cNvSpPr/>
          <p:nvPr/>
        </p:nvSpPr>
        <p:spPr>
          <a:xfrm>
            <a:off x="6858000" y="3520440"/>
            <a:ext cx="2011680" cy="411480"/>
          </a:xfrm>
          <a:prstGeom prst="rect">
            <a:avLst/>
          </a:prstGeom>
          <a:solidFill>
            <a:srgbClr val="FDE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03720" y="3557016"/>
            <a:ext cx="1920240" cy="338328"/>
          </a:xfrm>
          <a:prstGeom prst="rect">
            <a:avLst/>
          </a:prstGeom>
          <a:noFill/>
        </p:spPr>
        <p:txBody>
          <a:bodyPr wrap="square" lIns="0" tIns="0" rIns="0" bIns="0" anchor="ctr">
            <a:spAutoFit/>
          </a:bodyPr>
          <a:lstStyle/>
          <a:p>
            <a:pPr algn="l"/>
            <a:r>
              <a:rPr sz="1200" b="1">
                <a:solidFill>
                  <a:srgbClr val="C8102E"/>
                </a:solidFill>
                <a:latin typeface="Yu Gothic"/>
                <a:ea typeface="Yu Gothic"/>
              </a:rPr>
              <a:t>C: Hybrid (本研究)</a:t>
            </a:r>
          </a:p>
        </p:txBody>
      </p:sp>
      <p:sp>
        <p:nvSpPr>
          <p:cNvPr id="38" name="Rectangle 37"/>
          <p:cNvSpPr/>
          <p:nvPr/>
        </p:nvSpPr>
        <p:spPr>
          <a:xfrm>
            <a:off x="8869680" y="3520440"/>
            <a:ext cx="1005840" cy="411480"/>
          </a:xfrm>
          <a:prstGeom prst="rect">
            <a:avLst/>
          </a:prstGeom>
          <a:solidFill>
            <a:srgbClr val="FDE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915400" y="3557016"/>
            <a:ext cx="914400" cy="338328"/>
          </a:xfrm>
          <a:prstGeom prst="rect">
            <a:avLst/>
          </a:prstGeom>
          <a:noFill/>
        </p:spPr>
        <p:txBody>
          <a:bodyPr wrap="square" lIns="0" tIns="0" rIns="0" bIns="0" anchor="ctr">
            <a:spAutoFit/>
          </a:bodyPr>
          <a:lstStyle/>
          <a:p>
            <a:pPr algn="l"/>
            <a:r>
              <a:rPr sz="1200" b="1">
                <a:solidFill>
                  <a:srgbClr val="C8102E"/>
                </a:solidFill>
                <a:latin typeface="Yu Gothic"/>
                <a:ea typeface="Yu Gothic"/>
              </a:rPr>
              <a:t>54.0</a:t>
            </a:r>
          </a:p>
        </p:txBody>
      </p:sp>
      <p:sp>
        <p:nvSpPr>
          <p:cNvPr id="40" name="Rectangle 39"/>
          <p:cNvSpPr/>
          <p:nvPr/>
        </p:nvSpPr>
        <p:spPr>
          <a:xfrm>
            <a:off x="9875520" y="3520440"/>
            <a:ext cx="914400" cy="411480"/>
          </a:xfrm>
          <a:prstGeom prst="rect">
            <a:avLst/>
          </a:prstGeom>
          <a:solidFill>
            <a:srgbClr val="FDE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921240" y="3557016"/>
            <a:ext cx="822960" cy="338328"/>
          </a:xfrm>
          <a:prstGeom prst="rect">
            <a:avLst/>
          </a:prstGeom>
          <a:noFill/>
        </p:spPr>
        <p:txBody>
          <a:bodyPr wrap="square" lIns="0" tIns="0" rIns="0" bIns="0" anchor="ctr">
            <a:spAutoFit/>
          </a:bodyPr>
          <a:lstStyle/>
          <a:p>
            <a:pPr algn="l"/>
            <a:r>
              <a:rPr sz="1200" b="1">
                <a:solidFill>
                  <a:srgbClr val="C8102E"/>
                </a:solidFill>
                <a:latin typeface="Yu Gothic"/>
                <a:ea typeface="Yu Gothic"/>
              </a:rPr>
              <a:t>0.905</a:t>
            </a:r>
          </a:p>
        </p:txBody>
      </p:sp>
      <p:sp>
        <p:nvSpPr>
          <p:cNvPr id="42" name="Rectangle 41"/>
          <p:cNvSpPr/>
          <p:nvPr/>
        </p:nvSpPr>
        <p:spPr>
          <a:xfrm>
            <a:off x="10789920" y="3520440"/>
            <a:ext cx="914400" cy="411480"/>
          </a:xfrm>
          <a:prstGeom prst="rect">
            <a:avLst/>
          </a:prstGeom>
          <a:solidFill>
            <a:srgbClr val="FDE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3557016"/>
            <a:ext cx="822960" cy="338328"/>
          </a:xfrm>
          <a:prstGeom prst="rect">
            <a:avLst/>
          </a:prstGeom>
          <a:noFill/>
        </p:spPr>
        <p:txBody>
          <a:bodyPr wrap="square" lIns="0" tIns="0" rIns="0" bIns="0" anchor="ctr">
            <a:spAutoFit/>
          </a:bodyPr>
          <a:lstStyle/>
          <a:p>
            <a:pPr algn="l"/>
            <a:r>
              <a:rPr sz="1200" b="1">
                <a:solidFill>
                  <a:srgbClr val="C8102E"/>
                </a:solidFill>
                <a:latin typeface="Yu Gothic"/>
                <a:ea typeface="Yu Gothic"/>
              </a:rPr>
              <a:t>7.28</a:t>
            </a:r>
          </a:p>
        </p:txBody>
      </p:sp>
      <p:sp>
        <p:nvSpPr>
          <p:cNvPr id="44" name="TextBox 43"/>
          <p:cNvSpPr txBox="1"/>
          <p:nvPr/>
        </p:nvSpPr>
        <p:spPr>
          <a:xfrm>
            <a:off x="6858000" y="4206240"/>
            <a:ext cx="5029200" cy="365760"/>
          </a:xfrm>
          <a:prstGeom prst="rect">
            <a:avLst/>
          </a:prstGeom>
          <a:noFill/>
        </p:spPr>
        <p:txBody>
          <a:bodyPr wrap="square" lIns="0" tIns="0" rIns="0" bIns="0" anchor="t">
            <a:spAutoFit/>
          </a:bodyPr>
          <a:lstStyle/>
          <a:p>
            <a:pPr algn="l"/>
            <a:r>
              <a:rPr sz="1500" b="1">
                <a:solidFill>
                  <a:srgbClr val="003B71"/>
                </a:solidFill>
                <a:latin typeface="Yu Gothic"/>
                <a:ea typeface="Yu Gothic"/>
              </a:rPr>
              <a:t>■ ポイント</a:t>
            </a:r>
          </a:p>
        </p:txBody>
      </p:sp>
      <p:sp>
        <p:nvSpPr>
          <p:cNvPr id="45" name="TextBox 44"/>
          <p:cNvSpPr txBox="1"/>
          <p:nvPr/>
        </p:nvSpPr>
        <p:spPr>
          <a:xfrm>
            <a:off x="6858000" y="4572000"/>
            <a:ext cx="5029200" cy="1723549"/>
          </a:xfrm>
          <a:prstGeom prst="rect">
            <a:avLst/>
          </a:prstGeom>
          <a:noFill/>
        </p:spPr>
        <p:txBody>
          <a:bodyPr wrap="square" lIns="0" tIns="0" rIns="0" bIns="0" anchor="t">
            <a:spAutoFit/>
          </a:bodyPr>
          <a:lstStyle/>
          <a:p>
            <a:pPr algn="l"/>
            <a:r>
              <a:rPr sz="1600" b="1" dirty="0">
                <a:solidFill>
                  <a:srgbClr val="5A5A5A"/>
                </a:solidFill>
                <a:latin typeface="Yu Gothic"/>
                <a:ea typeface="Yu Gothic"/>
              </a:rPr>
              <a:t>・C (Hybrid) </a:t>
            </a:r>
            <a:r>
              <a:rPr sz="1600" b="1" dirty="0" err="1">
                <a:solidFill>
                  <a:srgbClr val="5A5A5A"/>
                </a:solidFill>
                <a:latin typeface="Yu Gothic"/>
                <a:ea typeface="Yu Gothic"/>
              </a:rPr>
              <a:t>は</a:t>
            </a:r>
            <a:r>
              <a:rPr sz="1600" b="1" dirty="0">
                <a:solidFill>
                  <a:srgbClr val="5A5A5A"/>
                </a:solidFill>
                <a:latin typeface="Yu Gothic"/>
                <a:ea typeface="Yu Gothic"/>
              </a:rPr>
              <a:t> B </a:t>
            </a:r>
            <a:r>
              <a:rPr sz="1600" b="1" dirty="0" err="1">
                <a:solidFill>
                  <a:srgbClr val="5A5A5A"/>
                </a:solidFill>
                <a:latin typeface="Yu Gothic"/>
                <a:ea typeface="Yu Gothic"/>
              </a:rPr>
              <a:t>より</a:t>
            </a:r>
            <a:r>
              <a:rPr sz="1600" b="1" dirty="0">
                <a:solidFill>
                  <a:srgbClr val="5A5A5A"/>
                </a:solidFill>
                <a:latin typeface="Yu Gothic"/>
                <a:ea typeface="Yu Gothic"/>
              </a:rPr>
              <a:t> MAE 10%改善</a:t>
            </a:r>
          </a:p>
          <a:p>
            <a:pPr algn="l"/>
            <a:r>
              <a:rPr sz="1600" b="0" dirty="0">
                <a:solidFill>
                  <a:srgbClr val="5A5A5A"/>
                </a:solidFill>
                <a:latin typeface="Yu Gothic"/>
                <a:ea typeface="Yu Gothic"/>
              </a:rPr>
              <a:t>  (59.7 → 54.0 kW)</a:t>
            </a:r>
          </a:p>
          <a:p>
            <a:pPr algn="l"/>
            <a:endParaRPr sz="1600" b="0" dirty="0">
              <a:solidFill>
                <a:srgbClr val="5A5A5A"/>
              </a:solidFill>
              <a:latin typeface="Yu Gothic"/>
              <a:ea typeface="Yu Gothic"/>
            </a:endParaRPr>
          </a:p>
          <a:p>
            <a:r>
              <a:rPr sz="1600" b="1" dirty="0">
                <a:solidFill>
                  <a:srgbClr val="5A5A5A"/>
                </a:solidFill>
                <a:latin typeface="Yu Gothic"/>
                <a:ea typeface="Yu Gothic"/>
              </a:rPr>
              <a:t>・A (</a:t>
            </a:r>
            <a:r>
              <a:rPr sz="1600" b="1" dirty="0" err="1">
                <a:solidFill>
                  <a:srgbClr val="5A5A5A"/>
                </a:solidFill>
                <a:latin typeface="Yu Gothic"/>
                <a:ea typeface="Yu Gothic"/>
              </a:rPr>
              <a:t>上限</a:t>
            </a:r>
            <a:r>
              <a:rPr sz="1600" b="1" dirty="0">
                <a:solidFill>
                  <a:srgbClr val="5A5A5A"/>
                </a:solidFill>
                <a:latin typeface="Yu Gothic"/>
                <a:ea typeface="Yu Gothic"/>
              </a:rPr>
              <a:t>) </a:t>
            </a:r>
            <a:r>
              <a:rPr sz="1600" b="1" dirty="0" err="1">
                <a:solidFill>
                  <a:srgbClr val="5A5A5A"/>
                </a:solidFill>
                <a:latin typeface="Yu Gothic"/>
                <a:ea typeface="Yu Gothic"/>
              </a:rPr>
              <a:t>との差はわずか</a:t>
            </a:r>
            <a:r>
              <a:rPr sz="1600" b="1" dirty="0">
                <a:solidFill>
                  <a:srgbClr val="5A5A5A"/>
                </a:solidFill>
                <a:latin typeface="Yu Gothic"/>
                <a:ea typeface="Yu Gothic"/>
              </a:rPr>
              <a:t> 6%</a:t>
            </a:r>
          </a:p>
          <a:p>
            <a:pPr algn="l"/>
            <a:r>
              <a:rPr sz="1600" b="0" dirty="0">
                <a:solidFill>
                  <a:srgbClr val="5A5A5A"/>
                </a:solidFill>
                <a:latin typeface="Yu Gothic"/>
                <a:ea typeface="Yu Gothic"/>
              </a:rPr>
              <a:t>  (50.7 → 54.0 kW)</a:t>
            </a:r>
          </a:p>
          <a:p>
            <a:pPr algn="l"/>
            <a:endParaRPr sz="1600" b="0" dirty="0">
              <a:solidFill>
                <a:srgbClr val="5A5A5A"/>
              </a:solidFill>
              <a:latin typeface="Yu Gothic"/>
              <a:ea typeface="Yu Gothic"/>
            </a:endParaRPr>
          </a:p>
          <a:p>
            <a:r>
              <a:rPr sz="1600" b="1" dirty="0">
                <a:solidFill>
                  <a:srgbClr val="5A5A5A"/>
                </a:solidFill>
                <a:latin typeface="Yu Gothic"/>
                <a:ea typeface="Yu Gothic"/>
              </a:rPr>
              <a:t>・</a:t>
            </a:r>
            <a:r>
              <a:rPr sz="1600" b="1" dirty="0" err="1">
                <a:solidFill>
                  <a:srgbClr val="5A5A5A"/>
                </a:solidFill>
                <a:latin typeface="Yu Gothic"/>
                <a:ea typeface="Yu Gothic"/>
              </a:rPr>
              <a:t>上限値に迫る精度を実運用で実現</a:t>
            </a:r>
            <a:endParaRPr sz="1600" b="1" dirty="0">
              <a:solidFill>
                <a:srgbClr val="5A5A5A"/>
              </a:solidFill>
              <a:latin typeface="Yu Gothic"/>
              <a:ea typeface="Yu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11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結果③ 何が予測を決めているか</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SHAP値で見る上位特徴量</a:t>
            </a:r>
          </a:p>
        </p:txBody>
      </p:sp>
      <p:pic>
        <p:nvPicPr>
          <p:cNvPr id="10" name="Picture 9" descr="pres_06_shap_top10.png"/>
          <p:cNvPicPr>
            <a:picLocks noChangeAspect="1"/>
          </p:cNvPicPr>
          <p:nvPr/>
        </p:nvPicPr>
        <p:blipFill>
          <a:blip r:embed="rId3"/>
          <a:stretch>
            <a:fillRect/>
          </a:stretch>
        </p:blipFill>
        <p:spPr>
          <a:xfrm>
            <a:off x="365760" y="1828800"/>
            <a:ext cx="7315200" cy="4114800"/>
          </a:xfrm>
          <a:prstGeom prst="rect">
            <a:avLst/>
          </a:prstGeom>
        </p:spPr>
      </p:pic>
      <p:sp>
        <p:nvSpPr>
          <p:cNvPr id="11" name="TextBox 10"/>
          <p:cNvSpPr txBox="1"/>
          <p:nvPr/>
        </p:nvSpPr>
        <p:spPr>
          <a:xfrm>
            <a:off x="7863840" y="2025812"/>
            <a:ext cx="4114800" cy="365760"/>
          </a:xfrm>
          <a:prstGeom prst="rect">
            <a:avLst/>
          </a:prstGeom>
          <a:noFill/>
        </p:spPr>
        <p:txBody>
          <a:bodyPr wrap="square" lIns="0" tIns="0" rIns="0" bIns="0" anchor="t">
            <a:spAutoFit/>
          </a:bodyPr>
          <a:lstStyle/>
          <a:p>
            <a:pPr algn="l"/>
            <a:r>
              <a:rPr sz="1500" b="1">
                <a:solidFill>
                  <a:srgbClr val="003B71"/>
                </a:solidFill>
                <a:latin typeface="Yu Gothic"/>
                <a:ea typeface="Yu Gothic"/>
              </a:rPr>
              <a:t>■ 解釈</a:t>
            </a:r>
          </a:p>
        </p:txBody>
      </p:sp>
      <p:sp>
        <p:nvSpPr>
          <p:cNvPr id="12" name="TextBox 11"/>
          <p:cNvSpPr txBox="1"/>
          <p:nvPr/>
        </p:nvSpPr>
        <p:spPr>
          <a:xfrm>
            <a:off x="7863840" y="2483012"/>
            <a:ext cx="4114800" cy="4114800"/>
          </a:xfrm>
          <a:prstGeom prst="rect">
            <a:avLst/>
          </a:prstGeom>
          <a:noFill/>
        </p:spPr>
        <p:txBody>
          <a:bodyPr wrap="square" lIns="0" tIns="0" rIns="0" bIns="0" anchor="t">
            <a:spAutoFit/>
          </a:bodyPr>
          <a:lstStyle/>
          <a:p>
            <a:pPr algn="l"/>
            <a:r>
              <a:rPr sz="1250" b="0" dirty="0">
                <a:solidFill>
                  <a:srgbClr val="5A5A5A"/>
                </a:solidFill>
                <a:latin typeface="Yu Gothic"/>
                <a:ea typeface="Yu Gothic"/>
              </a:rPr>
              <a:t>1. </a:t>
            </a:r>
            <a:r>
              <a:rPr sz="1250" b="0" dirty="0" err="1">
                <a:solidFill>
                  <a:srgbClr val="5A5A5A"/>
                </a:solidFill>
                <a:latin typeface="Yu Gothic"/>
                <a:ea typeface="Yu Gothic"/>
              </a:rPr>
              <a:t>前週同時刻の負荷が最重要</a:t>
            </a:r>
            <a:endParaRPr sz="1250" b="0" dirty="0">
              <a:solidFill>
                <a:srgbClr val="5A5A5A"/>
              </a:solidFill>
              <a:latin typeface="Yu Gothic"/>
              <a:ea typeface="Yu Gothic"/>
            </a:endParaRPr>
          </a:p>
          <a:p>
            <a:pPr algn="l"/>
            <a:r>
              <a:rPr sz="1250" b="0" dirty="0">
                <a:solidFill>
                  <a:srgbClr val="5A5A5A"/>
                </a:solidFill>
                <a:latin typeface="Yu Gothic"/>
                <a:ea typeface="Yu Gothic"/>
              </a:rPr>
              <a:t>    → </a:t>
            </a:r>
            <a:r>
              <a:rPr sz="1250" b="0" dirty="0" err="1">
                <a:solidFill>
                  <a:srgbClr val="5A5A5A"/>
                </a:solidFill>
                <a:latin typeface="Yu Gothic"/>
                <a:ea typeface="Yu Gothic"/>
              </a:rPr>
              <a:t>週周期パターンが強い</a:t>
            </a:r>
            <a:endParaRPr sz="1250" b="0" dirty="0">
              <a:solidFill>
                <a:srgbClr val="5A5A5A"/>
              </a:solidFill>
              <a:latin typeface="Yu Gothic"/>
              <a:ea typeface="Yu Gothic"/>
            </a:endParaRPr>
          </a:p>
          <a:p>
            <a:pPr algn="l"/>
            <a:endParaRPr sz="1250" b="0" dirty="0">
              <a:solidFill>
                <a:srgbClr val="5A5A5A"/>
              </a:solidFill>
              <a:latin typeface="Yu Gothic"/>
              <a:ea typeface="Yu Gothic"/>
            </a:endParaRPr>
          </a:p>
          <a:p>
            <a:pPr algn="l"/>
            <a:r>
              <a:rPr sz="1250" b="0" dirty="0">
                <a:solidFill>
                  <a:srgbClr val="5A5A5A"/>
                </a:solidFill>
                <a:latin typeface="Yu Gothic"/>
                <a:ea typeface="Yu Gothic"/>
              </a:rPr>
              <a:t>2. </a:t>
            </a:r>
            <a:r>
              <a:rPr sz="1250" b="0" dirty="0" err="1">
                <a:solidFill>
                  <a:srgbClr val="5A5A5A"/>
                </a:solidFill>
                <a:latin typeface="Yu Gothic"/>
                <a:ea typeface="Yu Gothic"/>
              </a:rPr>
              <a:t>営業日</a:t>
            </a:r>
            <a:r>
              <a:rPr sz="1250" b="0" dirty="0">
                <a:solidFill>
                  <a:srgbClr val="5A5A5A"/>
                </a:solidFill>
                <a:latin typeface="Yu Gothic"/>
                <a:ea typeface="Yu Gothic"/>
              </a:rPr>
              <a:t> / </a:t>
            </a:r>
            <a:r>
              <a:rPr sz="1250" b="0" dirty="0" err="1">
                <a:solidFill>
                  <a:srgbClr val="5A5A5A"/>
                </a:solidFill>
                <a:latin typeface="Yu Gothic"/>
                <a:ea typeface="Yu Gothic"/>
              </a:rPr>
              <a:t>休日フラグ</a:t>
            </a:r>
            <a:endParaRPr sz="1250" b="0" dirty="0">
              <a:solidFill>
                <a:srgbClr val="5A5A5A"/>
              </a:solidFill>
              <a:latin typeface="Yu Gothic"/>
              <a:ea typeface="Yu Gothic"/>
            </a:endParaRPr>
          </a:p>
          <a:p>
            <a:pPr algn="l"/>
            <a:r>
              <a:rPr sz="1250" b="0" dirty="0">
                <a:solidFill>
                  <a:srgbClr val="5A5A5A"/>
                </a:solidFill>
                <a:latin typeface="Yu Gothic"/>
                <a:ea typeface="Yu Gothic"/>
              </a:rPr>
              <a:t>    → </a:t>
            </a:r>
            <a:r>
              <a:rPr sz="1250" b="0" dirty="0" err="1">
                <a:solidFill>
                  <a:srgbClr val="5A5A5A"/>
                </a:solidFill>
                <a:latin typeface="Yu Gothic"/>
                <a:ea typeface="Yu Gothic"/>
              </a:rPr>
              <a:t>平日と休日で大差</a:t>
            </a:r>
            <a:endParaRPr sz="1250" b="0" dirty="0">
              <a:solidFill>
                <a:srgbClr val="5A5A5A"/>
              </a:solidFill>
              <a:latin typeface="Yu Gothic"/>
              <a:ea typeface="Yu Gothic"/>
            </a:endParaRPr>
          </a:p>
          <a:p>
            <a:pPr algn="l"/>
            <a:endParaRPr sz="1250" b="0" dirty="0">
              <a:solidFill>
                <a:srgbClr val="5A5A5A"/>
              </a:solidFill>
              <a:latin typeface="Yu Gothic"/>
              <a:ea typeface="Yu Gothic"/>
            </a:endParaRPr>
          </a:p>
          <a:p>
            <a:pPr algn="l"/>
            <a:r>
              <a:rPr sz="1250" b="0" dirty="0">
                <a:solidFill>
                  <a:srgbClr val="5A5A5A"/>
                </a:solidFill>
                <a:latin typeface="Yu Gothic"/>
                <a:ea typeface="Yu Gothic"/>
              </a:rPr>
              <a:t>3. </a:t>
            </a:r>
            <a:r>
              <a:rPr sz="1250" b="0" dirty="0" err="1">
                <a:solidFill>
                  <a:srgbClr val="5A5A5A"/>
                </a:solidFill>
                <a:latin typeface="Yu Gothic"/>
                <a:ea typeface="Yu Gothic"/>
              </a:rPr>
              <a:t>前日同時刻の気温</a:t>
            </a:r>
            <a:endParaRPr sz="1250" b="0" dirty="0">
              <a:solidFill>
                <a:srgbClr val="5A5A5A"/>
              </a:solidFill>
              <a:latin typeface="Yu Gothic"/>
              <a:ea typeface="Yu Gothic"/>
            </a:endParaRPr>
          </a:p>
          <a:p>
            <a:pPr algn="l"/>
            <a:r>
              <a:rPr sz="1250" b="0" dirty="0">
                <a:solidFill>
                  <a:srgbClr val="5A5A5A"/>
                </a:solidFill>
                <a:latin typeface="Yu Gothic"/>
                <a:ea typeface="Yu Gothic"/>
              </a:rPr>
              <a:t>    → </a:t>
            </a:r>
            <a:r>
              <a:rPr sz="1250" b="0" dirty="0" err="1">
                <a:solidFill>
                  <a:srgbClr val="5A5A5A"/>
                </a:solidFill>
                <a:latin typeface="Yu Gothic"/>
                <a:ea typeface="Yu Gothic"/>
              </a:rPr>
              <a:t>暑熱の連続性を反映</a:t>
            </a:r>
            <a:endParaRPr sz="1250" b="0" dirty="0">
              <a:solidFill>
                <a:srgbClr val="5A5A5A"/>
              </a:solidFill>
              <a:latin typeface="Yu Gothic"/>
              <a:ea typeface="Yu Gothic"/>
            </a:endParaRPr>
          </a:p>
          <a:p>
            <a:pPr algn="l"/>
            <a:endParaRPr sz="1250" b="0" dirty="0">
              <a:solidFill>
                <a:srgbClr val="5A5A5A"/>
              </a:solidFill>
              <a:latin typeface="Yu Gothic"/>
              <a:ea typeface="Yu Gothic"/>
            </a:endParaRPr>
          </a:p>
          <a:p>
            <a:pPr algn="l"/>
            <a:r>
              <a:rPr sz="1250" b="0" dirty="0">
                <a:solidFill>
                  <a:srgbClr val="5A5A5A"/>
                </a:solidFill>
                <a:latin typeface="Yu Gothic"/>
                <a:ea typeface="Yu Gothic"/>
              </a:rPr>
              <a:t>4. </a:t>
            </a:r>
            <a:r>
              <a:rPr sz="1250" b="0" dirty="0" err="1">
                <a:solidFill>
                  <a:srgbClr val="5A5A5A"/>
                </a:solidFill>
                <a:latin typeface="Yu Gothic"/>
                <a:ea typeface="Yu Gothic"/>
              </a:rPr>
              <a:t>日射量</a:t>
            </a:r>
            <a:r>
              <a:rPr sz="1250" b="0" dirty="0">
                <a:solidFill>
                  <a:srgbClr val="5A5A5A"/>
                </a:solidFill>
                <a:latin typeface="Yu Gothic"/>
                <a:ea typeface="Yu Gothic"/>
              </a:rPr>
              <a:t> (</a:t>
            </a:r>
            <a:r>
              <a:rPr sz="1250" b="0" dirty="0" err="1">
                <a:solidFill>
                  <a:srgbClr val="5A5A5A"/>
                </a:solidFill>
                <a:latin typeface="Yu Gothic"/>
                <a:ea typeface="Yu Gothic"/>
              </a:rPr>
              <a:t>予報</a:t>
            </a:r>
            <a:r>
              <a:rPr sz="1250" b="0" dirty="0">
                <a:solidFill>
                  <a:srgbClr val="5A5A5A"/>
                </a:solidFill>
                <a:latin typeface="Yu Gothic"/>
                <a:ea typeface="Yu Gothic"/>
              </a:rPr>
              <a:t>)</a:t>
            </a:r>
          </a:p>
          <a:p>
            <a:pPr algn="l"/>
            <a:r>
              <a:rPr sz="1250" b="0" dirty="0">
                <a:solidFill>
                  <a:srgbClr val="5A5A5A"/>
                </a:solidFill>
                <a:latin typeface="Yu Gothic"/>
                <a:ea typeface="Yu Gothic"/>
              </a:rPr>
              <a:t>    → </a:t>
            </a:r>
            <a:r>
              <a:rPr sz="1250" b="0" dirty="0" err="1">
                <a:solidFill>
                  <a:srgbClr val="5A5A5A"/>
                </a:solidFill>
                <a:latin typeface="Yu Gothic"/>
                <a:ea typeface="Yu Gothic"/>
              </a:rPr>
              <a:t>翌日の冷房需要を予測</a:t>
            </a:r>
            <a:endParaRPr sz="1250" b="0" dirty="0">
              <a:solidFill>
                <a:srgbClr val="5A5A5A"/>
              </a:solidFill>
              <a:latin typeface="Yu Gothic"/>
              <a:ea typeface="Yu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36576"/>
            <a:ext cx="7315200" cy="246888"/>
          </a:xfrm>
          <a:prstGeom prst="rect">
            <a:avLst/>
          </a:prstGeom>
          <a:noFill/>
        </p:spPr>
        <p:txBody>
          <a:bodyPr wrap="square" lIns="0" tIns="0" rIns="0" bIns="0" anchor="ctr">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lIns="0" tIns="0" rIns="0" bIns="0" anchor="ctr">
            <a:spAutoFit/>
          </a:bodyPr>
          <a:lstStyle/>
          <a:p>
            <a:pPr algn="r"/>
            <a:r>
              <a:rPr sz="1000">
                <a:solidFill>
                  <a:srgbClr val="FFFFFF"/>
                </a:solidFill>
                <a:latin typeface="Yu Gothic"/>
                <a:ea typeface="Yu Gothic"/>
              </a:rPr>
              <a:t>Slide 14 / 14</a:t>
            </a:r>
          </a:p>
        </p:txBody>
      </p:sp>
      <p:sp>
        <p:nvSpPr>
          <p:cNvPr id="5" name="Rectangle 4"/>
          <p:cNvSpPr/>
          <p:nvPr/>
        </p:nvSpPr>
        <p:spPr>
          <a:xfrm>
            <a:off x="0" y="6629400"/>
            <a:ext cx="12191695"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82869"/>
            <a:ext cx="9144000" cy="130805"/>
          </a:xfrm>
          <a:prstGeom prst="rect">
            <a:avLst/>
          </a:prstGeom>
          <a:noFill/>
        </p:spPr>
        <p:txBody>
          <a:bodyPr wrap="square" lIns="0" tIns="0" rIns="0" bIns="0" anchor="ctr">
            <a:spAutoFit/>
          </a:bodyPr>
          <a:lstStyle/>
          <a:p>
            <a:pPr algn="l"/>
            <a:r>
              <a:rPr sz="850" b="0" dirty="0" err="1">
                <a:solidFill>
                  <a:srgbClr val="FFFFFF"/>
                </a:solidFill>
                <a:latin typeface="Yu Gothic"/>
                <a:ea typeface="Yu Gothic"/>
              </a:rPr>
              <a:t>山口大学</a:t>
            </a:r>
            <a:r>
              <a:rPr sz="850" b="0" dirty="0">
                <a:solidFill>
                  <a:srgbClr val="FFFFFF"/>
                </a:solidFill>
                <a:latin typeface="Yu Gothic"/>
                <a:ea typeface="Yu Gothic"/>
              </a:rPr>
              <a:t> (Yamaguchi University) — </a:t>
            </a:r>
            <a:r>
              <a:rPr lang="zh-CN" altLang="en-US" sz="850" b="0" dirty="0">
                <a:solidFill>
                  <a:srgbClr val="FFFFFF"/>
                </a:solidFill>
                <a:latin typeface="Yu Gothic"/>
                <a:ea typeface="Yu Gothic"/>
              </a:rPr>
              <a:t>省</a:t>
            </a:r>
            <a:r>
              <a:rPr lang="ja-JP" altLang="en-US" sz="850" b="0">
                <a:solidFill>
                  <a:srgbClr val="FFFFFF"/>
                </a:solidFill>
                <a:latin typeface="Yu Gothic"/>
                <a:ea typeface="Yu Gothic"/>
              </a:rPr>
              <a:t>エネ</a:t>
            </a:r>
            <a:r>
              <a:rPr lang="zh-CN" altLang="en-US" sz="850" b="0" dirty="0">
                <a:solidFill>
                  <a:srgbClr val="FFFFFF"/>
                </a:solidFill>
                <a:latin typeface="Yu Gothic"/>
                <a:ea typeface="Yu Gothic"/>
              </a:rPr>
              <a:t>推進室</a:t>
            </a:r>
            <a:r>
              <a:rPr sz="850" b="0" dirty="0">
                <a:solidFill>
                  <a:srgbClr val="FFFFFF"/>
                </a:solidFill>
                <a:latin typeface="Yu Gothic"/>
                <a:ea typeface="Yu Gothic"/>
              </a:rPr>
              <a:t>2026</a:t>
            </a:r>
          </a:p>
        </p:txBody>
      </p:sp>
      <p:sp>
        <p:nvSpPr>
          <p:cNvPr id="7" name="TextBox 6"/>
          <p:cNvSpPr txBox="1"/>
          <p:nvPr/>
        </p:nvSpPr>
        <p:spPr>
          <a:xfrm>
            <a:off x="365760" y="457200"/>
            <a:ext cx="11430000" cy="548640"/>
          </a:xfrm>
          <a:prstGeom prst="rect">
            <a:avLst/>
          </a:prstGeom>
          <a:noFill/>
        </p:spPr>
        <p:txBody>
          <a:bodyPr wrap="square" lIns="0" tIns="0" rIns="0" bIns="0" anchor="t">
            <a:spAutoFit/>
          </a:bodyPr>
          <a:lstStyle/>
          <a:p>
            <a:pPr algn="l"/>
            <a:r>
              <a:rPr sz="2600" b="1">
                <a:solidFill>
                  <a:srgbClr val="003B71"/>
                </a:solidFill>
                <a:latin typeface="Yu Gothic"/>
                <a:ea typeface="Yu Gothic"/>
              </a:rPr>
              <a:t>まとめと今後の課題</a:t>
            </a:r>
          </a:p>
        </p:txBody>
      </p:sp>
      <p:sp>
        <p:nvSpPr>
          <p:cNvPr id="8" name="Rectangle 7"/>
          <p:cNvSpPr/>
          <p:nvPr/>
        </p:nvSpPr>
        <p:spPr>
          <a:xfrm>
            <a:off x="365760" y="1024128"/>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97280"/>
            <a:ext cx="11430000" cy="365760"/>
          </a:xfrm>
          <a:prstGeom prst="rect">
            <a:avLst/>
          </a:prstGeom>
          <a:noFill/>
        </p:spPr>
        <p:txBody>
          <a:bodyPr wrap="square" lIns="0" tIns="0" rIns="0" bIns="0" anchor="t">
            <a:spAutoFit/>
          </a:bodyPr>
          <a:lstStyle/>
          <a:p>
            <a:pPr algn="l"/>
            <a:r>
              <a:rPr sz="1400" b="0">
                <a:solidFill>
                  <a:srgbClr val="5A5A5A"/>
                </a:solidFill>
                <a:latin typeface="Yu Gothic"/>
                <a:ea typeface="Yu Gothic"/>
              </a:rPr>
              <a:t>達成内容と次のステップ</a:t>
            </a:r>
          </a:p>
        </p:txBody>
      </p:sp>
      <p:sp>
        <p:nvSpPr>
          <p:cNvPr id="10" name="Rectangle 9"/>
          <p:cNvSpPr/>
          <p:nvPr/>
        </p:nvSpPr>
        <p:spPr>
          <a:xfrm>
            <a:off x="365760" y="1828800"/>
            <a:ext cx="5669280" cy="4572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1892807"/>
            <a:ext cx="5486400" cy="365760"/>
          </a:xfrm>
          <a:prstGeom prst="rect">
            <a:avLst/>
          </a:prstGeom>
          <a:noFill/>
        </p:spPr>
        <p:txBody>
          <a:bodyPr wrap="square" lIns="0" tIns="0" rIns="0" bIns="0" anchor="ctr">
            <a:spAutoFit/>
          </a:bodyPr>
          <a:lstStyle/>
          <a:p>
            <a:pPr algn="l"/>
            <a:r>
              <a:rPr sz="1500" b="1">
                <a:solidFill>
                  <a:srgbClr val="FFFFFF"/>
                </a:solidFill>
                <a:latin typeface="Yu Gothic"/>
                <a:ea typeface="Yu Gothic"/>
              </a:rPr>
              <a:t>■ 達成内容</a:t>
            </a:r>
          </a:p>
        </p:txBody>
      </p:sp>
      <p:sp>
        <p:nvSpPr>
          <p:cNvPr id="12" name="Rectangle 11"/>
          <p:cNvSpPr/>
          <p:nvPr/>
        </p:nvSpPr>
        <p:spPr>
          <a:xfrm>
            <a:off x="365760" y="2286000"/>
            <a:ext cx="5669280" cy="3200400"/>
          </a:xfrm>
          <a:prstGeom prst="rect">
            <a:avLst/>
          </a:prstGeom>
          <a:solidFill>
            <a:srgbClr val="F4F6FA"/>
          </a:solidFill>
          <a:ln w="9525">
            <a:solidFill>
              <a:srgbClr val="003B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423160"/>
            <a:ext cx="5394960" cy="3017520"/>
          </a:xfrm>
          <a:prstGeom prst="rect">
            <a:avLst/>
          </a:prstGeom>
          <a:noFill/>
        </p:spPr>
        <p:txBody>
          <a:bodyPr wrap="square" lIns="0" tIns="0" rIns="0" bIns="0" anchor="t">
            <a:spAutoFit/>
          </a:bodyPr>
          <a:lstStyle/>
          <a:p>
            <a:pPr algn="l"/>
            <a:r>
              <a:rPr sz="1250">
                <a:solidFill>
                  <a:srgbClr val="5A5A5A"/>
                </a:solidFill>
                <a:latin typeface="Yu Gothic"/>
                <a:ea typeface="Yu Gothic"/>
              </a:rPr>
              <a:t>1. JMA予報を活用した翌日電力予測</a:t>
            </a:r>
          </a:p>
          <a:p>
            <a:r>
              <a:rPr sz="1250">
                <a:solidFill>
                  <a:srgbClr val="5A5A5A"/>
                </a:solidFill>
                <a:latin typeface="Yu Gothic"/>
                <a:ea typeface="Yu Gothic"/>
              </a:rPr>
              <a:t>    ハイブリッド気象入力で MAE 54 kW</a:t>
            </a:r>
          </a:p>
          <a:p>
            <a:r>
              <a:rPr sz="1250">
                <a:solidFill>
                  <a:srgbClr val="5A5A5A"/>
                </a:solidFill>
                <a:latin typeface="Yu Gothic"/>
                <a:ea typeface="Yu Gothic"/>
              </a:rPr>
              <a:t/>
            </a:r>
          </a:p>
          <a:p>
            <a:r>
              <a:rPr sz="1250">
                <a:solidFill>
                  <a:srgbClr val="5A5A5A"/>
                </a:solidFill>
                <a:latin typeface="Yu Gothic"/>
                <a:ea typeface="Yu Gothic"/>
              </a:rPr>
              <a:t>2. 気象-電力関係の体系的解明</a:t>
            </a:r>
          </a:p>
          <a:p>
            <a:r>
              <a:rPr sz="1250">
                <a:solidFill>
                  <a:srgbClr val="5A5A5A"/>
                </a:solidFill>
                <a:latin typeface="Yu Gothic"/>
                <a:ea typeface="Yu Gothic"/>
              </a:rPr>
              <a:t>    PCA で 3 主成分が 76% を説明</a:t>
            </a:r>
          </a:p>
          <a:p>
            <a:r>
              <a:rPr sz="1250">
                <a:solidFill>
                  <a:srgbClr val="5A5A5A"/>
                </a:solidFill>
                <a:latin typeface="Yu Gothic"/>
                <a:ea typeface="Yu Gothic"/>
              </a:rPr>
              <a:t/>
            </a:r>
          </a:p>
          <a:p>
            <a:r>
              <a:rPr sz="1250">
                <a:solidFill>
                  <a:srgbClr val="5A5A5A"/>
                </a:solidFill>
                <a:latin typeface="Yu Gothic"/>
                <a:ea typeface="Yu Gothic"/>
              </a:rPr>
              <a:t>3. CCRI 警報配信フレームの設計</a:t>
            </a:r>
          </a:p>
          <a:p>
            <a:r>
              <a:rPr sz="1250">
                <a:solidFill>
                  <a:srgbClr val="5A5A5A"/>
                </a:solidFill>
                <a:latin typeface="Yu Gothic"/>
                <a:ea typeface="Yu Gothic"/>
              </a:rPr>
              <a:t>    Normal/High/Critical 3段階分類</a:t>
            </a:r>
          </a:p>
          <a:p>
            <a:r>
              <a:rPr sz="1250">
                <a:solidFill>
                  <a:srgbClr val="5A5A5A"/>
                </a:solidFill>
                <a:latin typeface="Yu Gothic"/>
                <a:ea typeface="Yu Gothic"/>
              </a:rPr>
              <a:t/>
            </a:r>
          </a:p>
          <a:p>
            <a:r>
              <a:rPr sz="1250">
                <a:solidFill>
                  <a:srgbClr val="5A5A5A"/>
                </a:solidFill>
                <a:latin typeface="Yu Gothic"/>
                <a:ea typeface="Yu Gothic"/>
              </a:rPr>
              <a:t>4. SHAP で統計-機械学習の整合性確認</a:t>
            </a:r>
          </a:p>
        </p:txBody>
      </p:sp>
      <p:sp>
        <p:nvSpPr>
          <p:cNvPr id="14" name="Rectangle 13"/>
          <p:cNvSpPr/>
          <p:nvPr/>
        </p:nvSpPr>
        <p:spPr>
          <a:xfrm>
            <a:off x="6263640" y="1828800"/>
            <a:ext cx="5577840" cy="457200"/>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892807"/>
            <a:ext cx="5394960" cy="365760"/>
          </a:xfrm>
          <a:prstGeom prst="rect">
            <a:avLst/>
          </a:prstGeom>
          <a:noFill/>
        </p:spPr>
        <p:txBody>
          <a:bodyPr wrap="square" lIns="0" tIns="0" rIns="0" bIns="0" anchor="ctr">
            <a:spAutoFit/>
          </a:bodyPr>
          <a:lstStyle/>
          <a:p>
            <a:pPr algn="l"/>
            <a:r>
              <a:rPr sz="1500" b="1">
                <a:solidFill>
                  <a:srgbClr val="FFFFFF"/>
                </a:solidFill>
                <a:latin typeface="Yu Gothic"/>
                <a:ea typeface="Yu Gothic"/>
              </a:rPr>
              <a:t>■ 今後の課題</a:t>
            </a:r>
          </a:p>
        </p:txBody>
      </p:sp>
      <p:sp>
        <p:nvSpPr>
          <p:cNvPr id="16" name="Rectangle 15"/>
          <p:cNvSpPr/>
          <p:nvPr/>
        </p:nvSpPr>
        <p:spPr>
          <a:xfrm>
            <a:off x="6263640" y="2286000"/>
            <a:ext cx="5577840" cy="3200400"/>
          </a:xfrm>
          <a:prstGeom prst="rect">
            <a:avLst/>
          </a:prstGeom>
          <a:solidFill>
            <a:srgbClr val="F4F6FA"/>
          </a:solidFill>
          <a:ln w="9525">
            <a:solidFill>
              <a:srgbClr val="E7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423160"/>
            <a:ext cx="5303520" cy="3017520"/>
          </a:xfrm>
          <a:prstGeom prst="rect">
            <a:avLst/>
          </a:prstGeom>
          <a:noFill/>
        </p:spPr>
        <p:txBody>
          <a:bodyPr wrap="square" lIns="0" tIns="0" rIns="0" bIns="0" anchor="t">
            <a:spAutoFit/>
          </a:bodyPr>
          <a:lstStyle/>
          <a:p>
            <a:pPr algn="l"/>
            <a:r>
              <a:rPr sz="1250">
                <a:solidFill>
                  <a:srgbClr val="5A5A5A"/>
                </a:solidFill>
                <a:latin typeface="Yu Gothic"/>
                <a:ea typeface="Yu Gothic"/>
              </a:rPr>
              <a:t>1. 通年データへの拡張</a:t>
            </a:r>
          </a:p>
          <a:p>
            <a:r>
              <a:rPr sz="1250">
                <a:solidFill>
                  <a:srgbClr val="5A5A5A"/>
                </a:solidFill>
                <a:latin typeface="Yu Gothic"/>
                <a:ea typeface="Yu Gothic"/>
              </a:rPr>
              <a:t>    2025 年通年・冬季の暖房需要も検証</a:t>
            </a:r>
          </a:p>
          <a:p>
            <a:r>
              <a:rPr sz="1250">
                <a:solidFill>
                  <a:srgbClr val="5A5A5A"/>
                </a:solidFill>
                <a:latin typeface="Yu Gothic"/>
                <a:ea typeface="Yu Gothic"/>
              </a:rPr>
              <a:t/>
            </a:r>
          </a:p>
          <a:p>
            <a:r>
              <a:rPr sz="1250">
                <a:solidFill>
                  <a:srgbClr val="5A5A5A"/>
                </a:solidFill>
                <a:latin typeface="Yu Gothic"/>
                <a:ea typeface="Yu Gothic"/>
              </a:rPr>
              <a:t>2. 全15棟へのスケールアップ</a:t>
            </a:r>
          </a:p>
          <a:p>
            <a:r>
              <a:rPr sz="1250">
                <a:solidFill>
                  <a:srgbClr val="5A5A5A"/>
                </a:solidFill>
                <a:latin typeface="Yu Gothic"/>
                <a:ea typeface="Yu Gothic"/>
              </a:rPr>
              <a:t>    棟ごとの特性を学習</a:t>
            </a:r>
          </a:p>
          <a:p>
            <a:r>
              <a:rPr sz="1250">
                <a:solidFill>
                  <a:srgbClr val="5A5A5A"/>
                </a:solidFill>
                <a:latin typeface="Yu Gothic"/>
                <a:ea typeface="Yu Gothic"/>
              </a:rPr>
              <a:t/>
            </a:r>
          </a:p>
          <a:p>
            <a:r>
              <a:rPr sz="1250">
                <a:solidFill>
                  <a:srgbClr val="5A5A5A"/>
                </a:solidFill>
                <a:latin typeface="Yu Gothic"/>
                <a:ea typeface="Yu Gothic"/>
              </a:rPr>
              <a:t>3. 管理者の意思決定評価 ★新</a:t>
            </a:r>
          </a:p>
          <a:p>
            <a:r>
              <a:rPr sz="1250">
                <a:solidFill>
                  <a:srgbClr val="5A5A5A"/>
                </a:solidFill>
                <a:latin typeface="Yu Gothic"/>
                <a:ea typeface="Yu Gothic"/>
              </a:rPr>
              <a:t>    インタビュー・アンケートで</a:t>
            </a:r>
          </a:p>
          <a:p>
            <a:r>
              <a:rPr sz="1250">
                <a:solidFill>
                  <a:srgbClr val="5A5A5A"/>
                </a:solidFill>
                <a:latin typeface="Yu Gothic"/>
                <a:ea typeface="Yu Gothic"/>
              </a:rPr>
              <a:t>    警報受信→ Soft DR 措置選択を調査</a:t>
            </a:r>
          </a:p>
          <a:p>
            <a:r>
              <a:rPr sz="1250">
                <a:solidFill>
                  <a:srgbClr val="5A5A5A"/>
                </a:solidFill>
                <a:latin typeface="Yu Gothic"/>
                <a:ea typeface="Yu Gothic"/>
              </a:rPr>
              <a:t/>
            </a:r>
          </a:p>
          <a:p>
            <a:r>
              <a:rPr sz="1250">
                <a:solidFill>
                  <a:srgbClr val="5A5A5A"/>
                </a:solidFill>
                <a:latin typeface="Yu Gothic"/>
                <a:ea typeface="Yu Gothic"/>
              </a:rPr>
              <a:t>4. CCRI 閾値・警報ルールの最適化</a:t>
            </a:r>
          </a:p>
        </p:txBody>
      </p:sp>
      <p:sp>
        <p:nvSpPr>
          <p:cNvPr id="18" name="Rectangle 17"/>
          <p:cNvSpPr/>
          <p:nvPr/>
        </p:nvSpPr>
        <p:spPr>
          <a:xfrm>
            <a:off x="365760" y="5669280"/>
            <a:ext cx="11475720" cy="59436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5827960"/>
            <a:ext cx="11475720" cy="276999"/>
          </a:xfrm>
          <a:prstGeom prst="rect">
            <a:avLst/>
          </a:prstGeom>
          <a:noFill/>
        </p:spPr>
        <p:txBody>
          <a:bodyPr wrap="square" lIns="0" tIns="0" rIns="0" bIns="0" anchor="ctr">
            <a:spAutoFit/>
          </a:bodyPr>
          <a:lstStyle/>
          <a:p>
            <a:pPr algn="ctr"/>
            <a:r>
              <a:rPr sz="1800" b="1" dirty="0" err="1">
                <a:solidFill>
                  <a:srgbClr val="FFFFFF"/>
                </a:solidFill>
                <a:latin typeface="Yu Gothic"/>
                <a:ea typeface="Yu Gothic"/>
              </a:rPr>
              <a:t>ご清聴ありがとうございました</a:t>
            </a:r>
            <a:r>
              <a:rPr sz="1800" b="1" dirty="0">
                <a:solidFill>
                  <a:srgbClr val="FFFFFF"/>
                </a:solidFill>
                <a:latin typeface="Yu Gothic"/>
                <a:ea typeface="Yu Gothic"/>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36576"/>
            <a:ext cx="10058400" cy="246888"/>
          </a:xfrm>
          <a:prstGeom prst="rect">
            <a:avLst/>
          </a:prstGeom>
          <a:noFill/>
        </p:spPr>
        <p:txBody>
          <a:bodyPr wrap="square" anchor="ctr" lIns="0" rIns="0" tIns="0" bIns="0">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anchor="ctr" lIns="0" rIns="0" tIns="0" bIns="0">
            <a:spAutoFit/>
          </a:bodyPr>
          <a:lstStyle/>
          <a:p>
            <a:pPr algn="r"/>
            <a:r>
              <a:rPr sz="1000">
                <a:solidFill>
                  <a:srgbClr val="FFFFFF"/>
                </a:solidFill>
                <a:latin typeface="Yu Gothic"/>
                <a:ea typeface="Yu Gothic"/>
              </a:rPr>
              <a:t>Slide 12 / 14</a:t>
            </a:r>
          </a:p>
        </p:txBody>
      </p:sp>
      <p:sp>
        <p:nvSpPr>
          <p:cNvPr id="5" name="Rectangle 4"/>
          <p:cNvSpPr/>
          <p:nvPr/>
        </p:nvSpPr>
        <p:spPr>
          <a:xfrm>
            <a:off x="0" y="6629400"/>
            <a:ext cx="12192000"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56832"/>
            <a:ext cx="9144000" cy="182880"/>
          </a:xfrm>
          <a:prstGeom prst="rect">
            <a:avLst/>
          </a:prstGeom>
          <a:noFill/>
        </p:spPr>
        <p:txBody>
          <a:bodyPr wrap="square" anchor="ctr" lIns="0" rIns="0" tIns="0" bIns="0">
            <a:spAutoFit/>
          </a:bodyPr>
          <a:lstStyle/>
          <a:p>
            <a:pPr algn="l"/>
            <a:r>
              <a:rPr sz="850" b="0">
                <a:solidFill>
                  <a:srgbClr val="FFFFFF"/>
                </a:solidFill>
                <a:latin typeface="Yu Gothic"/>
                <a:ea typeface="Yu Gothic"/>
              </a:rPr>
              <a:t>山口大学 (Yamaguchi University) — 省エネ推進室2026</a:t>
            </a:r>
          </a:p>
        </p:txBody>
      </p:sp>
      <p:sp>
        <p:nvSpPr>
          <p:cNvPr id="7" name="TextBox 6"/>
          <p:cNvSpPr txBox="1"/>
          <p:nvPr/>
        </p:nvSpPr>
        <p:spPr>
          <a:xfrm>
            <a:off x="365760" y="457200"/>
            <a:ext cx="11430000" cy="548640"/>
          </a:xfrm>
          <a:prstGeom prst="rect">
            <a:avLst/>
          </a:prstGeom>
          <a:noFill/>
        </p:spPr>
        <p:txBody>
          <a:bodyPr wrap="square" anchor="t" lIns="0" rIns="0" tIns="0" bIns="0">
            <a:spAutoFit/>
          </a:bodyPr>
          <a:lstStyle/>
          <a:p>
            <a:pPr algn="l"/>
            <a:r>
              <a:rPr sz="2400" b="1">
                <a:solidFill>
                  <a:srgbClr val="003B71"/>
                </a:solidFill>
                <a:latin typeface="Yu Gothic"/>
                <a:ea typeface="Yu Gothic"/>
              </a:rPr>
              <a:t>システム全体像</a:t>
            </a:r>
          </a:p>
        </p:txBody>
      </p:sp>
      <p:sp>
        <p:nvSpPr>
          <p:cNvPr id="8" name="Rectangle 7"/>
          <p:cNvSpPr/>
          <p:nvPr/>
        </p:nvSpPr>
        <p:spPr>
          <a:xfrm>
            <a:off x="365760" y="987552"/>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78992"/>
            <a:ext cx="11430000" cy="365760"/>
          </a:xfrm>
          <a:prstGeom prst="rect">
            <a:avLst/>
          </a:prstGeom>
          <a:noFill/>
        </p:spPr>
        <p:txBody>
          <a:bodyPr wrap="square" anchor="t" lIns="0" rIns="0" tIns="0" bIns="0">
            <a:spAutoFit/>
          </a:bodyPr>
          <a:lstStyle/>
          <a:p>
            <a:pPr algn="l"/>
            <a:r>
              <a:rPr sz="1300" b="0">
                <a:solidFill>
                  <a:srgbClr val="5A5A5A"/>
                </a:solidFill>
                <a:latin typeface="Yu Gothic"/>
                <a:ea typeface="Yu Gothic"/>
              </a:rPr>
              <a:t>気象データ → 予測 → 警報 → 管理者判断 → Soft DR 措置 (人間介在型)</a:t>
            </a:r>
          </a:p>
        </p:txBody>
      </p:sp>
      <p:sp>
        <p:nvSpPr>
          <p:cNvPr id="10" name="TextBox 9"/>
          <p:cNvSpPr txBox="1"/>
          <p:nvPr/>
        </p:nvSpPr>
        <p:spPr>
          <a:xfrm>
            <a:off x="365760" y="1737360"/>
            <a:ext cx="2286000" cy="274320"/>
          </a:xfrm>
          <a:prstGeom prst="rect">
            <a:avLst/>
          </a:prstGeom>
          <a:noFill/>
        </p:spPr>
        <p:txBody>
          <a:bodyPr wrap="square" anchor="t" lIns="0" rIns="0" tIns="0" bIns="0">
            <a:spAutoFit/>
          </a:bodyPr>
          <a:lstStyle/>
          <a:p>
            <a:pPr algn="l"/>
            <a:r>
              <a:rPr sz="1150" b="1">
                <a:solidFill>
                  <a:srgbClr val="003B71"/>
                </a:solidFill>
                <a:latin typeface="Yu Gothic"/>
                <a:ea typeface="Yu Gothic"/>
              </a:rPr>
              <a:t>[入力層]</a:t>
            </a:r>
          </a:p>
        </p:txBody>
      </p:sp>
      <p:sp>
        <p:nvSpPr>
          <p:cNvPr id="11" name="Rectangle 10"/>
          <p:cNvSpPr/>
          <p:nvPr/>
        </p:nvSpPr>
        <p:spPr>
          <a:xfrm>
            <a:off x="365760" y="2011680"/>
            <a:ext cx="2011680" cy="64008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103120"/>
            <a:ext cx="2011680" cy="274320"/>
          </a:xfrm>
          <a:prstGeom prst="rect">
            <a:avLst/>
          </a:prstGeom>
          <a:noFill/>
        </p:spPr>
        <p:txBody>
          <a:bodyPr wrap="square" anchor="ctr" lIns="0" rIns="0" tIns="0" bIns="0">
            <a:spAutoFit/>
          </a:bodyPr>
          <a:lstStyle/>
          <a:p>
            <a:pPr algn="ctr"/>
            <a:r>
              <a:rPr sz="1150" b="1">
                <a:solidFill>
                  <a:srgbClr val="FFFFFF"/>
                </a:solidFill>
                <a:latin typeface="Yu Gothic"/>
                <a:ea typeface="Yu Gothic"/>
              </a:rPr>
              <a:t>気象観測</a:t>
            </a:r>
          </a:p>
        </p:txBody>
      </p:sp>
      <p:sp>
        <p:nvSpPr>
          <p:cNvPr id="13" name="TextBox 12"/>
          <p:cNvSpPr txBox="1"/>
          <p:nvPr/>
        </p:nvSpPr>
        <p:spPr>
          <a:xfrm>
            <a:off x="365760" y="2377440"/>
            <a:ext cx="2011680" cy="201168"/>
          </a:xfrm>
          <a:prstGeom prst="rect">
            <a:avLst/>
          </a:prstGeom>
          <a:noFill/>
        </p:spPr>
        <p:txBody>
          <a:bodyPr wrap="square" anchor="ctr" lIns="0" rIns="0" tIns="0" bIns="0">
            <a:spAutoFit/>
          </a:bodyPr>
          <a:lstStyle/>
          <a:p>
            <a:pPr algn="ctr"/>
            <a:r>
              <a:rPr sz="950" b="0">
                <a:solidFill>
                  <a:srgbClr val="FFFFFF"/>
                </a:solidFill>
                <a:latin typeface="Yu Gothic"/>
                <a:ea typeface="Yu Gothic"/>
              </a:rPr>
              <a:t>ERA5 再解析</a:t>
            </a:r>
          </a:p>
        </p:txBody>
      </p:sp>
      <p:sp>
        <p:nvSpPr>
          <p:cNvPr id="14" name="Rectangle 13"/>
          <p:cNvSpPr/>
          <p:nvPr/>
        </p:nvSpPr>
        <p:spPr>
          <a:xfrm>
            <a:off x="2606040" y="2011680"/>
            <a:ext cx="2011680" cy="640080"/>
          </a:xfrm>
          <a:prstGeom prst="rect">
            <a:avLst/>
          </a:prstGeom>
          <a:solidFill>
            <a:srgbClr val="2A5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2103120"/>
            <a:ext cx="2011680" cy="274320"/>
          </a:xfrm>
          <a:prstGeom prst="rect">
            <a:avLst/>
          </a:prstGeom>
          <a:noFill/>
        </p:spPr>
        <p:txBody>
          <a:bodyPr wrap="square" anchor="ctr" lIns="0" rIns="0" tIns="0" bIns="0">
            <a:spAutoFit/>
          </a:bodyPr>
          <a:lstStyle/>
          <a:p>
            <a:pPr algn="ctr"/>
            <a:r>
              <a:rPr sz="1150" b="1">
                <a:solidFill>
                  <a:srgbClr val="FFFFFF"/>
                </a:solidFill>
                <a:latin typeface="Yu Gothic"/>
                <a:ea typeface="Yu Gothic"/>
              </a:rPr>
              <a:t>気象予報</a:t>
            </a:r>
          </a:p>
        </p:txBody>
      </p:sp>
      <p:sp>
        <p:nvSpPr>
          <p:cNvPr id="16" name="TextBox 15"/>
          <p:cNvSpPr txBox="1"/>
          <p:nvPr/>
        </p:nvSpPr>
        <p:spPr>
          <a:xfrm>
            <a:off x="2606040" y="2377440"/>
            <a:ext cx="2011680" cy="201168"/>
          </a:xfrm>
          <a:prstGeom prst="rect">
            <a:avLst/>
          </a:prstGeom>
          <a:noFill/>
        </p:spPr>
        <p:txBody>
          <a:bodyPr wrap="square" anchor="ctr" lIns="0" rIns="0" tIns="0" bIns="0">
            <a:spAutoFit/>
          </a:bodyPr>
          <a:lstStyle/>
          <a:p>
            <a:pPr algn="ctr"/>
            <a:r>
              <a:rPr sz="950" b="0">
                <a:solidFill>
                  <a:srgbClr val="FFFFFF"/>
                </a:solidFill>
                <a:latin typeface="Yu Gothic"/>
                <a:ea typeface="Yu Gothic"/>
              </a:rPr>
              <a:t>JMA MSM (+39h)</a:t>
            </a:r>
          </a:p>
        </p:txBody>
      </p:sp>
      <p:sp>
        <p:nvSpPr>
          <p:cNvPr id="17" name="Rectangle 16"/>
          <p:cNvSpPr/>
          <p:nvPr/>
        </p:nvSpPr>
        <p:spPr>
          <a:xfrm>
            <a:off x="4846320" y="2011680"/>
            <a:ext cx="2011680" cy="640080"/>
          </a:xfrm>
          <a:prstGeom prst="rect">
            <a:avLst/>
          </a:prstGeom>
          <a:solidFill>
            <a:srgbClr val="2A5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2103120"/>
            <a:ext cx="2011680" cy="274320"/>
          </a:xfrm>
          <a:prstGeom prst="rect">
            <a:avLst/>
          </a:prstGeom>
          <a:noFill/>
        </p:spPr>
        <p:txBody>
          <a:bodyPr wrap="square" anchor="ctr" lIns="0" rIns="0" tIns="0" bIns="0">
            <a:spAutoFit/>
          </a:bodyPr>
          <a:lstStyle/>
          <a:p>
            <a:pPr algn="ctr"/>
            <a:r>
              <a:rPr sz="1150" b="1">
                <a:solidFill>
                  <a:srgbClr val="FFFFFF"/>
                </a:solidFill>
                <a:latin typeface="Yu Gothic"/>
                <a:ea typeface="Yu Gothic"/>
              </a:rPr>
              <a:t>電力履歴</a:t>
            </a:r>
          </a:p>
        </p:txBody>
      </p:sp>
      <p:sp>
        <p:nvSpPr>
          <p:cNvPr id="19" name="TextBox 18"/>
          <p:cNvSpPr txBox="1"/>
          <p:nvPr/>
        </p:nvSpPr>
        <p:spPr>
          <a:xfrm>
            <a:off x="4846320" y="2377440"/>
            <a:ext cx="2011680" cy="201168"/>
          </a:xfrm>
          <a:prstGeom prst="rect">
            <a:avLst/>
          </a:prstGeom>
          <a:noFill/>
        </p:spPr>
        <p:txBody>
          <a:bodyPr wrap="square" anchor="ctr" lIns="0" rIns="0" tIns="0" bIns="0">
            <a:spAutoFit/>
          </a:bodyPr>
          <a:lstStyle/>
          <a:p>
            <a:pPr algn="ctr"/>
            <a:r>
              <a:rPr sz="950" b="0">
                <a:solidFill>
                  <a:srgbClr val="FFFFFF"/>
                </a:solidFill>
                <a:latin typeface="Yu Gothic"/>
                <a:ea typeface="Yu Gothic"/>
              </a:rPr>
              <a:t>BEMS 1h</a:t>
            </a:r>
          </a:p>
        </p:txBody>
      </p:sp>
      <p:sp>
        <p:nvSpPr>
          <p:cNvPr id="20" name="TextBox 19"/>
          <p:cNvSpPr txBox="1"/>
          <p:nvPr/>
        </p:nvSpPr>
        <p:spPr>
          <a:xfrm>
            <a:off x="365760" y="2880360"/>
            <a:ext cx="2286000" cy="274320"/>
          </a:xfrm>
          <a:prstGeom prst="rect">
            <a:avLst/>
          </a:prstGeom>
          <a:noFill/>
        </p:spPr>
        <p:txBody>
          <a:bodyPr wrap="square" anchor="t" lIns="0" rIns="0" tIns="0" bIns="0">
            <a:spAutoFit/>
          </a:bodyPr>
          <a:lstStyle/>
          <a:p>
            <a:pPr algn="l"/>
            <a:r>
              <a:rPr sz="1150" b="1">
                <a:solidFill>
                  <a:srgbClr val="003B71"/>
                </a:solidFill>
                <a:latin typeface="Yu Gothic"/>
                <a:ea typeface="Yu Gothic"/>
              </a:rPr>
              <a:t>[モデル層]</a:t>
            </a:r>
          </a:p>
        </p:txBody>
      </p:sp>
      <p:sp>
        <p:nvSpPr>
          <p:cNvPr id="21" name="Rectangle 20"/>
          <p:cNvSpPr/>
          <p:nvPr/>
        </p:nvSpPr>
        <p:spPr>
          <a:xfrm>
            <a:off x="2606040" y="3154680"/>
            <a:ext cx="2011680" cy="640080"/>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6040" y="3246120"/>
            <a:ext cx="2011680" cy="274320"/>
          </a:xfrm>
          <a:prstGeom prst="rect">
            <a:avLst/>
          </a:prstGeom>
          <a:noFill/>
        </p:spPr>
        <p:txBody>
          <a:bodyPr wrap="square" anchor="ctr" lIns="0" rIns="0" tIns="0" bIns="0">
            <a:spAutoFit/>
          </a:bodyPr>
          <a:lstStyle/>
          <a:p>
            <a:pPr algn="ctr"/>
            <a:r>
              <a:rPr sz="1150" b="1">
                <a:solidFill>
                  <a:srgbClr val="FFFFFF"/>
                </a:solidFill>
                <a:latin typeface="Yu Gothic"/>
                <a:ea typeface="Yu Gothic"/>
              </a:rPr>
              <a:t>LightGBM Hybrid</a:t>
            </a:r>
          </a:p>
        </p:txBody>
      </p:sp>
      <p:sp>
        <p:nvSpPr>
          <p:cNvPr id="23" name="TextBox 22"/>
          <p:cNvSpPr txBox="1"/>
          <p:nvPr/>
        </p:nvSpPr>
        <p:spPr>
          <a:xfrm>
            <a:off x="2606040" y="3520440"/>
            <a:ext cx="2011680" cy="201168"/>
          </a:xfrm>
          <a:prstGeom prst="rect">
            <a:avLst/>
          </a:prstGeom>
          <a:noFill/>
        </p:spPr>
        <p:txBody>
          <a:bodyPr wrap="square" anchor="ctr" lIns="0" rIns="0" tIns="0" bIns="0">
            <a:spAutoFit/>
          </a:bodyPr>
          <a:lstStyle/>
          <a:p>
            <a:pPr algn="ctr"/>
            <a:r>
              <a:rPr sz="950" b="0">
                <a:solidFill>
                  <a:srgbClr val="FFFFFF"/>
                </a:solidFill>
                <a:latin typeface="Yu Gothic"/>
                <a:ea typeface="Yu Gothic"/>
              </a:rPr>
              <a:t>MAE 54 kW</a:t>
            </a:r>
          </a:p>
        </p:txBody>
      </p:sp>
      <p:sp>
        <p:nvSpPr>
          <p:cNvPr id="24" name="TextBox 23"/>
          <p:cNvSpPr txBox="1"/>
          <p:nvPr/>
        </p:nvSpPr>
        <p:spPr>
          <a:xfrm>
            <a:off x="365760" y="4023360"/>
            <a:ext cx="2286000" cy="274320"/>
          </a:xfrm>
          <a:prstGeom prst="rect">
            <a:avLst/>
          </a:prstGeom>
          <a:noFill/>
        </p:spPr>
        <p:txBody>
          <a:bodyPr wrap="square" anchor="t" lIns="0" rIns="0" tIns="0" bIns="0">
            <a:spAutoFit/>
          </a:bodyPr>
          <a:lstStyle/>
          <a:p>
            <a:pPr algn="l"/>
            <a:r>
              <a:rPr sz="1150" b="1">
                <a:solidFill>
                  <a:srgbClr val="003B71"/>
                </a:solidFill>
                <a:latin typeface="Yu Gothic"/>
                <a:ea typeface="Yu Gothic"/>
              </a:rPr>
              <a:t>[判定層]</a:t>
            </a:r>
          </a:p>
        </p:txBody>
      </p:sp>
      <p:sp>
        <p:nvSpPr>
          <p:cNvPr id="25" name="Rectangle 24"/>
          <p:cNvSpPr/>
          <p:nvPr/>
        </p:nvSpPr>
        <p:spPr>
          <a:xfrm>
            <a:off x="2606040" y="4297680"/>
            <a:ext cx="2011680" cy="640080"/>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06040" y="4389120"/>
            <a:ext cx="2011680" cy="274320"/>
          </a:xfrm>
          <a:prstGeom prst="rect">
            <a:avLst/>
          </a:prstGeom>
          <a:noFill/>
        </p:spPr>
        <p:txBody>
          <a:bodyPr wrap="square" anchor="ctr" lIns="0" rIns="0" tIns="0" bIns="0">
            <a:spAutoFit/>
          </a:bodyPr>
          <a:lstStyle/>
          <a:p>
            <a:pPr algn="ctr"/>
            <a:r>
              <a:rPr sz="1150" b="1">
                <a:solidFill>
                  <a:srgbClr val="FFFFFF"/>
                </a:solidFill>
                <a:latin typeface="Yu Gothic"/>
                <a:ea typeface="Yu Gothic"/>
              </a:rPr>
              <a:t>CCRI 算出</a:t>
            </a:r>
          </a:p>
        </p:txBody>
      </p:sp>
      <p:sp>
        <p:nvSpPr>
          <p:cNvPr id="27" name="TextBox 26"/>
          <p:cNvSpPr txBox="1"/>
          <p:nvPr/>
        </p:nvSpPr>
        <p:spPr>
          <a:xfrm>
            <a:off x="2606040" y="4663440"/>
            <a:ext cx="2011680" cy="201168"/>
          </a:xfrm>
          <a:prstGeom prst="rect">
            <a:avLst/>
          </a:prstGeom>
          <a:noFill/>
        </p:spPr>
        <p:txBody>
          <a:bodyPr wrap="square" anchor="ctr" lIns="0" rIns="0" tIns="0" bIns="0">
            <a:spAutoFit/>
          </a:bodyPr>
          <a:lstStyle/>
          <a:p>
            <a:pPr algn="ctr"/>
            <a:r>
              <a:rPr sz="950" b="0">
                <a:solidFill>
                  <a:srgbClr val="FFFFFF"/>
                </a:solidFill>
                <a:latin typeface="Yu Gothic"/>
                <a:ea typeface="Yu Gothic"/>
              </a:rPr>
              <a:t>リスク指標</a:t>
            </a:r>
          </a:p>
        </p:txBody>
      </p:sp>
      <p:sp>
        <p:nvSpPr>
          <p:cNvPr id="28" name="TextBox 27"/>
          <p:cNvSpPr txBox="1"/>
          <p:nvPr/>
        </p:nvSpPr>
        <p:spPr>
          <a:xfrm>
            <a:off x="365760" y="5166360"/>
            <a:ext cx="2286000" cy="274320"/>
          </a:xfrm>
          <a:prstGeom prst="rect">
            <a:avLst/>
          </a:prstGeom>
          <a:noFill/>
        </p:spPr>
        <p:txBody>
          <a:bodyPr wrap="square" anchor="t" lIns="0" rIns="0" tIns="0" bIns="0">
            <a:spAutoFit/>
          </a:bodyPr>
          <a:lstStyle/>
          <a:p>
            <a:pPr algn="l"/>
            <a:r>
              <a:rPr sz="1150" b="1">
                <a:solidFill>
                  <a:srgbClr val="003B71"/>
                </a:solidFill>
                <a:latin typeface="Yu Gothic"/>
                <a:ea typeface="Yu Gothic"/>
              </a:rPr>
              <a:t>[配信層]</a:t>
            </a:r>
          </a:p>
        </p:txBody>
      </p:sp>
      <p:sp>
        <p:nvSpPr>
          <p:cNvPr id="29" name="Rectangle 28"/>
          <p:cNvSpPr/>
          <p:nvPr/>
        </p:nvSpPr>
        <p:spPr>
          <a:xfrm>
            <a:off x="2606040" y="5440680"/>
            <a:ext cx="868680" cy="640080"/>
          </a:xfrm>
          <a:prstGeom prst="rect">
            <a:avLst/>
          </a:prstGeom>
          <a:solidFill>
            <a:srgbClr val="2D9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06040" y="5532120"/>
            <a:ext cx="868680" cy="274320"/>
          </a:xfrm>
          <a:prstGeom prst="rect">
            <a:avLst/>
          </a:prstGeom>
          <a:noFill/>
        </p:spPr>
        <p:txBody>
          <a:bodyPr wrap="square" anchor="ctr" lIns="0" rIns="0" tIns="0" bIns="0">
            <a:spAutoFit/>
          </a:bodyPr>
          <a:lstStyle/>
          <a:p>
            <a:pPr algn="ctr"/>
            <a:r>
              <a:rPr sz="1150" b="1">
                <a:solidFill>
                  <a:srgbClr val="FFFFFF"/>
                </a:solidFill>
                <a:latin typeface="Yu Gothic"/>
                <a:ea typeface="Yu Gothic"/>
              </a:rPr>
              <a:t>Normal</a:t>
            </a:r>
          </a:p>
        </p:txBody>
      </p:sp>
      <p:sp>
        <p:nvSpPr>
          <p:cNvPr id="31" name="TextBox 30"/>
          <p:cNvSpPr txBox="1"/>
          <p:nvPr/>
        </p:nvSpPr>
        <p:spPr>
          <a:xfrm>
            <a:off x="2606040" y="5806440"/>
            <a:ext cx="868680" cy="201168"/>
          </a:xfrm>
          <a:prstGeom prst="rect">
            <a:avLst/>
          </a:prstGeom>
          <a:noFill/>
        </p:spPr>
        <p:txBody>
          <a:bodyPr wrap="square" anchor="ctr" lIns="0" rIns="0" tIns="0" bIns="0">
            <a:spAutoFit/>
          </a:bodyPr>
          <a:lstStyle/>
          <a:p>
            <a:pPr algn="ctr"/>
            <a:r>
              <a:rPr sz="950" b="0">
                <a:solidFill>
                  <a:srgbClr val="FFFFFF"/>
                </a:solidFill>
                <a:latin typeface="Yu Gothic"/>
                <a:ea typeface="Yu Gothic"/>
              </a:rPr>
              <a:t>通知なし</a:t>
            </a:r>
          </a:p>
        </p:txBody>
      </p:sp>
      <p:sp>
        <p:nvSpPr>
          <p:cNvPr id="32" name="Rectangle 31"/>
          <p:cNvSpPr/>
          <p:nvPr/>
        </p:nvSpPr>
        <p:spPr>
          <a:xfrm>
            <a:off x="3566160" y="5440680"/>
            <a:ext cx="868680" cy="640080"/>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66160" y="5532120"/>
            <a:ext cx="868680" cy="274320"/>
          </a:xfrm>
          <a:prstGeom prst="rect">
            <a:avLst/>
          </a:prstGeom>
          <a:noFill/>
        </p:spPr>
        <p:txBody>
          <a:bodyPr wrap="square" anchor="ctr" lIns="0" rIns="0" tIns="0" bIns="0">
            <a:spAutoFit/>
          </a:bodyPr>
          <a:lstStyle/>
          <a:p>
            <a:pPr algn="ctr"/>
            <a:r>
              <a:rPr sz="1150" b="1">
                <a:solidFill>
                  <a:srgbClr val="FFFFFF"/>
                </a:solidFill>
                <a:latin typeface="Yu Gothic"/>
                <a:ea typeface="Yu Gothic"/>
              </a:rPr>
              <a:t>High</a:t>
            </a:r>
          </a:p>
        </p:txBody>
      </p:sp>
      <p:sp>
        <p:nvSpPr>
          <p:cNvPr id="34" name="TextBox 33"/>
          <p:cNvSpPr txBox="1"/>
          <p:nvPr/>
        </p:nvSpPr>
        <p:spPr>
          <a:xfrm>
            <a:off x="3566160" y="5806440"/>
            <a:ext cx="868680" cy="201168"/>
          </a:xfrm>
          <a:prstGeom prst="rect">
            <a:avLst/>
          </a:prstGeom>
          <a:noFill/>
        </p:spPr>
        <p:txBody>
          <a:bodyPr wrap="square" anchor="ctr" lIns="0" rIns="0" tIns="0" bIns="0">
            <a:spAutoFit/>
          </a:bodyPr>
          <a:lstStyle/>
          <a:p>
            <a:pPr algn="ctr"/>
            <a:r>
              <a:rPr sz="950" b="0">
                <a:solidFill>
                  <a:srgbClr val="FFFFFF"/>
                </a:solidFill>
                <a:latin typeface="Yu Gothic"/>
                <a:ea typeface="Yu Gothic"/>
              </a:rPr>
              <a:t>メール</a:t>
            </a:r>
          </a:p>
        </p:txBody>
      </p:sp>
      <p:sp>
        <p:nvSpPr>
          <p:cNvPr id="35" name="Rectangle 34"/>
          <p:cNvSpPr/>
          <p:nvPr/>
        </p:nvSpPr>
        <p:spPr>
          <a:xfrm>
            <a:off x="4526280" y="5440680"/>
            <a:ext cx="86868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80" y="5532120"/>
            <a:ext cx="868680" cy="274320"/>
          </a:xfrm>
          <a:prstGeom prst="rect">
            <a:avLst/>
          </a:prstGeom>
          <a:noFill/>
        </p:spPr>
        <p:txBody>
          <a:bodyPr wrap="square" anchor="ctr" lIns="0" rIns="0" tIns="0" bIns="0">
            <a:spAutoFit/>
          </a:bodyPr>
          <a:lstStyle/>
          <a:p>
            <a:pPr algn="ctr"/>
            <a:r>
              <a:rPr sz="1150" b="1">
                <a:solidFill>
                  <a:srgbClr val="FFFFFF"/>
                </a:solidFill>
                <a:latin typeface="Yu Gothic"/>
                <a:ea typeface="Yu Gothic"/>
              </a:rPr>
              <a:t>Critical</a:t>
            </a:r>
          </a:p>
        </p:txBody>
      </p:sp>
      <p:sp>
        <p:nvSpPr>
          <p:cNvPr id="37" name="TextBox 36"/>
          <p:cNvSpPr txBox="1"/>
          <p:nvPr/>
        </p:nvSpPr>
        <p:spPr>
          <a:xfrm>
            <a:off x="4526280" y="5806440"/>
            <a:ext cx="868680" cy="201168"/>
          </a:xfrm>
          <a:prstGeom prst="rect">
            <a:avLst/>
          </a:prstGeom>
          <a:noFill/>
        </p:spPr>
        <p:txBody>
          <a:bodyPr wrap="square" anchor="ctr" lIns="0" rIns="0" tIns="0" bIns="0">
            <a:spAutoFit/>
          </a:bodyPr>
          <a:lstStyle/>
          <a:p>
            <a:pPr algn="ctr"/>
            <a:r>
              <a:rPr sz="950" b="0">
                <a:solidFill>
                  <a:srgbClr val="FFFFFF"/>
                </a:solidFill>
                <a:latin typeface="Yu Gothic"/>
                <a:ea typeface="Yu Gothic"/>
              </a:rPr>
              <a:t>SMS+メール</a:t>
            </a:r>
          </a:p>
        </p:txBody>
      </p:sp>
      <p:sp>
        <p:nvSpPr>
          <p:cNvPr id="38" name="Rectangle 37"/>
          <p:cNvSpPr/>
          <p:nvPr/>
        </p:nvSpPr>
        <p:spPr>
          <a:xfrm>
            <a:off x="7269480" y="1828800"/>
            <a:ext cx="36576" cy="43891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1691640"/>
            <a:ext cx="914400" cy="274320"/>
          </a:xfrm>
          <a:prstGeom prst="rect">
            <a:avLst/>
          </a:prstGeom>
          <a:noFill/>
        </p:spPr>
        <p:txBody>
          <a:bodyPr wrap="square" anchor="t" lIns="0" rIns="0" tIns="0" bIns="0">
            <a:spAutoFit/>
          </a:bodyPr>
          <a:lstStyle/>
          <a:p>
            <a:pPr algn="ctr"/>
            <a:r>
              <a:rPr sz="1000" b="1">
                <a:solidFill>
                  <a:srgbClr val="C8102E"/>
                </a:solidFill>
                <a:latin typeface="Yu Gothic"/>
                <a:ea typeface="Yu Gothic"/>
              </a:rPr>
              <a:t>境界線</a:t>
            </a:r>
          </a:p>
        </p:txBody>
      </p:sp>
      <p:sp>
        <p:nvSpPr>
          <p:cNvPr id="40" name="TextBox 39"/>
          <p:cNvSpPr txBox="1"/>
          <p:nvPr/>
        </p:nvSpPr>
        <p:spPr>
          <a:xfrm>
            <a:off x="7680960" y="1737360"/>
            <a:ext cx="4297680" cy="274320"/>
          </a:xfrm>
          <a:prstGeom prst="rect">
            <a:avLst/>
          </a:prstGeom>
          <a:noFill/>
        </p:spPr>
        <p:txBody>
          <a:bodyPr wrap="square" anchor="t" lIns="0" rIns="0" tIns="0" bIns="0">
            <a:spAutoFit/>
          </a:bodyPr>
          <a:lstStyle/>
          <a:p>
            <a:pPr algn="l"/>
            <a:r>
              <a:rPr sz="1150" b="1">
                <a:solidFill>
                  <a:srgbClr val="C8102E"/>
                </a:solidFill>
                <a:latin typeface="Yu Gothic"/>
                <a:ea typeface="Yu Gothic"/>
              </a:rPr>
              <a:t>[管理者の判断 + Soft DR 措置]</a:t>
            </a:r>
          </a:p>
        </p:txBody>
      </p:sp>
      <p:sp>
        <p:nvSpPr>
          <p:cNvPr id="41" name="Rectangle 40"/>
          <p:cNvSpPr/>
          <p:nvPr/>
        </p:nvSpPr>
        <p:spPr>
          <a:xfrm>
            <a:off x="7680960" y="2011680"/>
            <a:ext cx="4297680" cy="640080"/>
          </a:xfrm>
          <a:prstGeom prst="rect">
            <a:avLst/>
          </a:prstGeom>
          <a:solidFill>
            <a:srgbClr val="FDE9C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0" y="2057400"/>
            <a:ext cx="4297680" cy="548640"/>
          </a:xfrm>
          <a:prstGeom prst="rect">
            <a:avLst/>
          </a:prstGeom>
          <a:noFill/>
        </p:spPr>
        <p:txBody>
          <a:bodyPr wrap="square" anchor="ctr" lIns="0" rIns="0" tIns="0" bIns="0">
            <a:spAutoFit/>
          </a:bodyPr>
          <a:lstStyle/>
          <a:p>
            <a:pPr algn="ctr"/>
            <a:r>
              <a:rPr sz="1100" b="1">
                <a:solidFill>
                  <a:srgbClr val="C8102E"/>
                </a:solidFill>
                <a:latin typeface="Yu Gothic"/>
                <a:ea typeface="Yu Gothic"/>
              </a:rPr>
              <a:t>★ 設備管理者の判断 ★</a:t>
            </a:r>
          </a:p>
          <a:p>
            <a:pPr algn="ctr"/>
            <a:r>
              <a:rPr sz="1100" b="1">
                <a:solidFill>
                  <a:srgbClr val="C8102E"/>
                </a:solidFill>
                <a:latin typeface="Yu Gothic"/>
                <a:ea typeface="Yu Gothic"/>
              </a:rPr>
              <a:t>警報受信 → 状況確認 → 措置選択</a:t>
            </a:r>
          </a:p>
        </p:txBody>
      </p:sp>
      <p:sp>
        <p:nvSpPr>
          <p:cNvPr id="43" name="TextBox 42"/>
          <p:cNvSpPr txBox="1"/>
          <p:nvPr/>
        </p:nvSpPr>
        <p:spPr>
          <a:xfrm>
            <a:off x="7680960" y="2880360"/>
            <a:ext cx="365760" cy="365760"/>
          </a:xfrm>
          <a:prstGeom prst="rect">
            <a:avLst/>
          </a:prstGeom>
          <a:noFill/>
        </p:spPr>
        <p:txBody>
          <a:bodyPr wrap="square" anchor="ctr" lIns="0" rIns="0" tIns="0" bIns="0">
            <a:spAutoFit/>
          </a:bodyPr>
          <a:lstStyle/>
          <a:p>
            <a:pPr algn="l"/>
            <a:r>
              <a:rPr sz="1200" b="1">
                <a:solidFill>
                  <a:srgbClr val="003B71"/>
                </a:solidFill>
                <a:latin typeface="Yu Gothic"/>
                <a:ea typeface="Yu Gothic"/>
              </a:rPr>
              <a:t>1.</a:t>
            </a:r>
          </a:p>
        </p:txBody>
      </p:sp>
      <p:sp>
        <p:nvSpPr>
          <p:cNvPr id="44" name="TextBox 43"/>
          <p:cNvSpPr txBox="1"/>
          <p:nvPr/>
        </p:nvSpPr>
        <p:spPr>
          <a:xfrm>
            <a:off x="8092440" y="2880360"/>
            <a:ext cx="3840480" cy="365760"/>
          </a:xfrm>
          <a:prstGeom prst="rect">
            <a:avLst/>
          </a:prstGeom>
          <a:noFill/>
        </p:spPr>
        <p:txBody>
          <a:bodyPr wrap="square" anchor="ctr" lIns="0" rIns="0" tIns="0" bIns="0">
            <a:spAutoFit/>
          </a:bodyPr>
          <a:lstStyle/>
          <a:p>
            <a:pPr algn="l"/>
            <a:r>
              <a:rPr sz="1100" b="0">
                <a:solidFill>
                  <a:srgbClr val="5A5A5A"/>
                </a:solidFill>
                <a:latin typeface="Yu Gothic"/>
                <a:ea typeface="Yu Gothic"/>
              </a:rPr>
              <a:t>節電依頼の学内放送・メール</a:t>
            </a:r>
          </a:p>
        </p:txBody>
      </p:sp>
      <p:sp>
        <p:nvSpPr>
          <p:cNvPr id="45" name="TextBox 44"/>
          <p:cNvSpPr txBox="1"/>
          <p:nvPr/>
        </p:nvSpPr>
        <p:spPr>
          <a:xfrm>
            <a:off x="7680960" y="3337560"/>
            <a:ext cx="365760" cy="365760"/>
          </a:xfrm>
          <a:prstGeom prst="rect">
            <a:avLst/>
          </a:prstGeom>
          <a:noFill/>
        </p:spPr>
        <p:txBody>
          <a:bodyPr wrap="square" anchor="ctr" lIns="0" rIns="0" tIns="0" bIns="0">
            <a:spAutoFit/>
          </a:bodyPr>
          <a:lstStyle/>
          <a:p>
            <a:pPr algn="l"/>
            <a:r>
              <a:rPr sz="1200" b="1">
                <a:solidFill>
                  <a:srgbClr val="003B71"/>
                </a:solidFill>
                <a:latin typeface="Yu Gothic"/>
                <a:ea typeface="Yu Gothic"/>
              </a:rPr>
              <a:t>2.</a:t>
            </a:r>
          </a:p>
        </p:txBody>
      </p:sp>
      <p:sp>
        <p:nvSpPr>
          <p:cNvPr id="46" name="TextBox 45"/>
          <p:cNvSpPr txBox="1"/>
          <p:nvPr/>
        </p:nvSpPr>
        <p:spPr>
          <a:xfrm>
            <a:off x="8092440" y="3337560"/>
            <a:ext cx="3840480" cy="365760"/>
          </a:xfrm>
          <a:prstGeom prst="rect">
            <a:avLst/>
          </a:prstGeom>
          <a:noFill/>
        </p:spPr>
        <p:txBody>
          <a:bodyPr wrap="square" anchor="ctr" lIns="0" rIns="0" tIns="0" bIns="0">
            <a:spAutoFit/>
          </a:bodyPr>
          <a:lstStyle/>
          <a:p>
            <a:pPr algn="l"/>
            <a:r>
              <a:rPr sz="1100" b="0">
                <a:solidFill>
                  <a:srgbClr val="5A5A5A"/>
                </a:solidFill>
                <a:latin typeface="Yu Gothic"/>
                <a:ea typeface="Yu Gothic"/>
              </a:rPr>
              <a:t>空調設定温度の見直し (+1〜2℃)</a:t>
            </a:r>
          </a:p>
        </p:txBody>
      </p:sp>
      <p:sp>
        <p:nvSpPr>
          <p:cNvPr id="47" name="TextBox 46"/>
          <p:cNvSpPr txBox="1"/>
          <p:nvPr/>
        </p:nvSpPr>
        <p:spPr>
          <a:xfrm>
            <a:off x="7680960" y="3794760"/>
            <a:ext cx="365760" cy="365760"/>
          </a:xfrm>
          <a:prstGeom prst="rect">
            <a:avLst/>
          </a:prstGeom>
          <a:noFill/>
        </p:spPr>
        <p:txBody>
          <a:bodyPr wrap="square" anchor="ctr" lIns="0" rIns="0" tIns="0" bIns="0">
            <a:spAutoFit/>
          </a:bodyPr>
          <a:lstStyle/>
          <a:p>
            <a:pPr algn="l"/>
            <a:r>
              <a:rPr sz="1200" b="1">
                <a:solidFill>
                  <a:srgbClr val="003B71"/>
                </a:solidFill>
                <a:latin typeface="Yu Gothic"/>
                <a:ea typeface="Yu Gothic"/>
              </a:rPr>
              <a:t>3.</a:t>
            </a:r>
          </a:p>
        </p:txBody>
      </p:sp>
      <p:sp>
        <p:nvSpPr>
          <p:cNvPr id="48" name="TextBox 47"/>
          <p:cNvSpPr txBox="1"/>
          <p:nvPr/>
        </p:nvSpPr>
        <p:spPr>
          <a:xfrm>
            <a:off x="8092440" y="3794760"/>
            <a:ext cx="3840480" cy="365760"/>
          </a:xfrm>
          <a:prstGeom prst="rect">
            <a:avLst/>
          </a:prstGeom>
          <a:noFill/>
        </p:spPr>
        <p:txBody>
          <a:bodyPr wrap="square" anchor="ctr" lIns="0" rIns="0" tIns="0" bIns="0">
            <a:spAutoFit/>
          </a:bodyPr>
          <a:lstStyle/>
          <a:p>
            <a:pPr algn="l"/>
            <a:r>
              <a:rPr sz="1100" b="0">
                <a:solidFill>
                  <a:srgbClr val="5A5A5A"/>
                </a:solidFill>
                <a:latin typeface="Yu Gothic"/>
                <a:ea typeface="Yu Gothic"/>
              </a:rPr>
              <a:t>照明調光 (廊下・共用空間)</a:t>
            </a:r>
          </a:p>
        </p:txBody>
      </p:sp>
      <p:sp>
        <p:nvSpPr>
          <p:cNvPr id="49" name="TextBox 48"/>
          <p:cNvSpPr txBox="1"/>
          <p:nvPr/>
        </p:nvSpPr>
        <p:spPr>
          <a:xfrm>
            <a:off x="7680960" y="4251960"/>
            <a:ext cx="365760" cy="365760"/>
          </a:xfrm>
          <a:prstGeom prst="rect">
            <a:avLst/>
          </a:prstGeom>
          <a:noFill/>
        </p:spPr>
        <p:txBody>
          <a:bodyPr wrap="square" anchor="ctr" lIns="0" rIns="0" tIns="0" bIns="0">
            <a:spAutoFit/>
          </a:bodyPr>
          <a:lstStyle/>
          <a:p>
            <a:pPr algn="l"/>
            <a:r>
              <a:rPr sz="1200" b="1">
                <a:solidFill>
                  <a:srgbClr val="003B71"/>
                </a:solidFill>
                <a:latin typeface="Yu Gothic"/>
                <a:ea typeface="Yu Gothic"/>
              </a:rPr>
              <a:t>4.</a:t>
            </a:r>
          </a:p>
        </p:txBody>
      </p:sp>
      <p:sp>
        <p:nvSpPr>
          <p:cNvPr id="50" name="TextBox 49"/>
          <p:cNvSpPr txBox="1"/>
          <p:nvPr/>
        </p:nvSpPr>
        <p:spPr>
          <a:xfrm>
            <a:off x="8092440" y="4251960"/>
            <a:ext cx="3840480" cy="365760"/>
          </a:xfrm>
          <a:prstGeom prst="rect">
            <a:avLst/>
          </a:prstGeom>
          <a:noFill/>
        </p:spPr>
        <p:txBody>
          <a:bodyPr wrap="square" anchor="ctr" lIns="0" rIns="0" tIns="0" bIns="0">
            <a:spAutoFit/>
          </a:bodyPr>
          <a:lstStyle/>
          <a:p>
            <a:pPr algn="l"/>
            <a:r>
              <a:rPr sz="1100" b="0">
                <a:solidFill>
                  <a:srgbClr val="5A5A5A"/>
                </a:solidFill>
                <a:latin typeface="Yu Gothic"/>
                <a:ea typeface="Yu Gothic"/>
              </a:rPr>
              <a:t>非必須機器の運用時刻シフト</a:t>
            </a:r>
          </a:p>
        </p:txBody>
      </p:sp>
      <p:sp>
        <p:nvSpPr>
          <p:cNvPr id="51" name="TextBox 50"/>
          <p:cNvSpPr txBox="1"/>
          <p:nvPr/>
        </p:nvSpPr>
        <p:spPr>
          <a:xfrm>
            <a:off x="7680960" y="4709160"/>
            <a:ext cx="365760" cy="365760"/>
          </a:xfrm>
          <a:prstGeom prst="rect">
            <a:avLst/>
          </a:prstGeom>
          <a:noFill/>
        </p:spPr>
        <p:txBody>
          <a:bodyPr wrap="square" anchor="ctr" lIns="0" rIns="0" tIns="0" bIns="0">
            <a:spAutoFit/>
          </a:bodyPr>
          <a:lstStyle/>
          <a:p>
            <a:pPr algn="l"/>
            <a:r>
              <a:rPr sz="1200" b="1">
                <a:solidFill>
                  <a:srgbClr val="003B71"/>
                </a:solidFill>
                <a:latin typeface="Yu Gothic"/>
                <a:ea typeface="Yu Gothic"/>
              </a:rPr>
              <a:t>5.</a:t>
            </a:r>
          </a:p>
        </p:txBody>
      </p:sp>
      <p:sp>
        <p:nvSpPr>
          <p:cNvPr id="52" name="TextBox 51"/>
          <p:cNvSpPr txBox="1"/>
          <p:nvPr/>
        </p:nvSpPr>
        <p:spPr>
          <a:xfrm>
            <a:off x="8092440" y="4709160"/>
            <a:ext cx="3840480" cy="365760"/>
          </a:xfrm>
          <a:prstGeom prst="rect">
            <a:avLst/>
          </a:prstGeom>
          <a:noFill/>
        </p:spPr>
        <p:txBody>
          <a:bodyPr wrap="square" anchor="ctr" lIns="0" rIns="0" tIns="0" bIns="0">
            <a:spAutoFit/>
          </a:bodyPr>
          <a:lstStyle/>
          <a:p>
            <a:pPr algn="l"/>
            <a:r>
              <a:rPr sz="1100" b="0">
                <a:solidFill>
                  <a:srgbClr val="5A5A5A"/>
                </a:solidFill>
                <a:latin typeface="Yu Gothic"/>
                <a:ea typeface="Yu Gothic"/>
              </a:rPr>
              <a:t>利用者への協力呼びかけ</a:t>
            </a:r>
          </a:p>
        </p:txBody>
      </p:sp>
      <p:sp>
        <p:nvSpPr>
          <p:cNvPr id="53" name="Rectangle 52"/>
          <p:cNvSpPr/>
          <p:nvPr/>
        </p:nvSpPr>
        <p:spPr>
          <a:xfrm>
            <a:off x="7680960" y="5349240"/>
            <a:ext cx="4297680" cy="777240"/>
          </a:xfrm>
          <a:prstGeom prst="rect">
            <a:avLst/>
          </a:prstGeom>
          <a:solidFill>
            <a:srgbClr val="F4F6FA"/>
          </a:solidFill>
          <a:ln w="9525">
            <a:solidFill>
              <a:srgbClr val="003B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18120" y="5413248"/>
            <a:ext cx="4114800" cy="365760"/>
          </a:xfrm>
          <a:prstGeom prst="rect">
            <a:avLst/>
          </a:prstGeom>
          <a:noFill/>
        </p:spPr>
        <p:txBody>
          <a:bodyPr wrap="square" anchor="t" lIns="0" rIns="0" tIns="0" bIns="0">
            <a:spAutoFit/>
          </a:bodyPr>
          <a:lstStyle/>
          <a:p>
            <a:pPr algn="l"/>
            <a:r>
              <a:rPr sz="1100" b="1">
                <a:solidFill>
                  <a:srgbClr val="003B71"/>
                </a:solidFill>
                <a:latin typeface="Yu Gothic"/>
                <a:ea typeface="Yu Gothic"/>
              </a:rPr>
              <a:t>本研究の境界線:</a:t>
            </a:r>
          </a:p>
        </p:txBody>
      </p:sp>
      <p:sp>
        <p:nvSpPr>
          <p:cNvPr id="55" name="TextBox 54"/>
          <p:cNvSpPr txBox="1"/>
          <p:nvPr/>
        </p:nvSpPr>
        <p:spPr>
          <a:xfrm>
            <a:off x="7818120" y="5733288"/>
            <a:ext cx="4114800" cy="457200"/>
          </a:xfrm>
          <a:prstGeom prst="rect">
            <a:avLst/>
          </a:prstGeom>
          <a:noFill/>
        </p:spPr>
        <p:txBody>
          <a:bodyPr wrap="square" anchor="t" lIns="0" rIns="0" tIns="0" bIns="0">
            <a:spAutoFit/>
          </a:bodyPr>
          <a:lstStyle/>
          <a:p>
            <a:pPr algn="l"/>
            <a:r>
              <a:rPr sz="1000" b="0">
                <a:solidFill>
                  <a:srgbClr val="5A5A5A"/>
                </a:solidFill>
                <a:latin typeface="Yu Gothic"/>
                <a:ea typeface="Yu Gothic"/>
              </a:rPr>
              <a:t>「予測 → 警報配信」までが対象</a:t>
            </a:r>
          </a:p>
          <a:p>
            <a:pPr algn="l"/>
            <a:r>
              <a:rPr sz="1000" b="0">
                <a:solidFill>
                  <a:srgbClr val="5A5A5A"/>
                </a:solidFill>
                <a:latin typeface="Yu Gothic"/>
                <a:ea typeface="Yu Gothic"/>
              </a:rPr>
              <a:t>Soft DR 実施は管理者の判断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32004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36576"/>
            <a:ext cx="10058400" cy="246888"/>
          </a:xfrm>
          <a:prstGeom prst="rect">
            <a:avLst/>
          </a:prstGeom>
          <a:noFill/>
        </p:spPr>
        <p:txBody>
          <a:bodyPr wrap="square" anchor="ctr" lIns="0" rIns="0" tIns="0" bIns="0">
            <a:spAutoFit/>
          </a:bodyPr>
          <a:lstStyle/>
          <a:p>
            <a:pPr algn="l"/>
            <a:r>
              <a:rPr sz="1100" b="1">
                <a:solidFill>
                  <a:srgbClr val="FFFFFF"/>
                </a:solidFill>
                <a:latin typeface="Yu Gothic"/>
                <a:ea typeface="Yu Gothic"/>
              </a:rPr>
              <a:t>省エネ研究 (山口大学)</a:t>
            </a:r>
          </a:p>
        </p:txBody>
      </p:sp>
      <p:sp>
        <p:nvSpPr>
          <p:cNvPr id="4" name="TextBox 3"/>
          <p:cNvSpPr txBox="1"/>
          <p:nvPr/>
        </p:nvSpPr>
        <p:spPr>
          <a:xfrm>
            <a:off x="10515600" y="36576"/>
            <a:ext cx="1463040" cy="246888"/>
          </a:xfrm>
          <a:prstGeom prst="rect">
            <a:avLst/>
          </a:prstGeom>
          <a:noFill/>
        </p:spPr>
        <p:txBody>
          <a:bodyPr wrap="square" anchor="ctr" lIns="0" rIns="0" tIns="0" bIns="0">
            <a:spAutoFit/>
          </a:bodyPr>
          <a:lstStyle/>
          <a:p>
            <a:pPr algn="r"/>
            <a:r>
              <a:rPr sz="1000">
                <a:solidFill>
                  <a:srgbClr val="FFFFFF"/>
                </a:solidFill>
                <a:latin typeface="Yu Gothic"/>
                <a:ea typeface="Yu Gothic"/>
              </a:rPr>
              <a:t>Slide 13 / 14</a:t>
            </a:r>
          </a:p>
        </p:txBody>
      </p:sp>
      <p:sp>
        <p:nvSpPr>
          <p:cNvPr id="5" name="Rectangle 4"/>
          <p:cNvSpPr/>
          <p:nvPr/>
        </p:nvSpPr>
        <p:spPr>
          <a:xfrm>
            <a:off x="0" y="6629400"/>
            <a:ext cx="12192000" cy="228600"/>
          </a:xfrm>
          <a:prstGeom prst="rect">
            <a:avLst/>
          </a:prstGeom>
          <a:solidFill>
            <a:srgbClr val="003B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56832"/>
            <a:ext cx="9144000" cy="182880"/>
          </a:xfrm>
          <a:prstGeom prst="rect">
            <a:avLst/>
          </a:prstGeom>
          <a:noFill/>
        </p:spPr>
        <p:txBody>
          <a:bodyPr wrap="square" anchor="ctr" lIns="0" rIns="0" tIns="0" bIns="0">
            <a:spAutoFit/>
          </a:bodyPr>
          <a:lstStyle/>
          <a:p>
            <a:pPr algn="l"/>
            <a:r>
              <a:rPr sz="850" b="0">
                <a:solidFill>
                  <a:srgbClr val="FFFFFF"/>
                </a:solidFill>
                <a:latin typeface="Yu Gothic"/>
                <a:ea typeface="Yu Gothic"/>
              </a:rPr>
              <a:t>山口大学 (Yamaguchi University) — 省エネ推進室2026</a:t>
            </a:r>
          </a:p>
        </p:txBody>
      </p:sp>
      <p:sp>
        <p:nvSpPr>
          <p:cNvPr id="7" name="TextBox 6"/>
          <p:cNvSpPr txBox="1"/>
          <p:nvPr/>
        </p:nvSpPr>
        <p:spPr>
          <a:xfrm>
            <a:off x="365760" y="457200"/>
            <a:ext cx="11430000" cy="548640"/>
          </a:xfrm>
          <a:prstGeom prst="rect">
            <a:avLst/>
          </a:prstGeom>
          <a:noFill/>
        </p:spPr>
        <p:txBody>
          <a:bodyPr wrap="square" anchor="t" lIns="0" rIns="0" tIns="0" bIns="0">
            <a:spAutoFit/>
          </a:bodyPr>
          <a:lstStyle/>
          <a:p>
            <a:pPr algn="l"/>
            <a:r>
              <a:rPr sz="2400" b="1">
                <a:solidFill>
                  <a:srgbClr val="003B71"/>
                </a:solidFill>
                <a:latin typeface="Yu Gothic"/>
                <a:ea typeface="Yu Gothic"/>
              </a:rPr>
              <a:t>CCRI 警報の設計と配信</a:t>
            </a:r>
          </a:p>
        </p:txBody>
      </p:sp>
      <p:sp>
        <p:nvSpPr>
          <p:cNvPr id="8" name="Rectangle 7"/>
          <p:cNvSpPr/>
          <p:nvPr/>
        </p:nvSpPr>
        <p:spPr>
          <a:xfrm>
            <a:off x="365760" y="987552"/>
            <a:ext cx="1097280" cy="54864"/>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78992"/>
            <a:ext cx="11430000" cy="365760"/>
          </a:xfrm>
          <a:prstGeom prst="rect">
            <a:avLst/>
          </a:prstGeom>
          <a:noFill/>
        </p:spPr>
        <p:txBody>
          <a:bodyPr wrap="square" anchor="t" lIns="0" rIns="0" tIns="0" bIns="0">
            <a:spAutoFit/>
          </a:bodyPr>
          <a:lstStyle/>
          <a:p>
            <a:pPr algn="l"/>
            <a:r>
              <a:rPr sz="1300" b="0">
                <a:solidFill>
                  <a:srgbClr val="5A5A5A"/>
                </a:solidFill>
                <a:latin typeface="Yu Gothic"/>
                <a:ea typeface="Yu Gothic"/>
              </a:rPr>
              <a:t>予測値 → リスク指標 → 警報レベル → 配信タイミング</a:t>
            </a:r>
          </a:p>
        </p:txBody>
      </p:sp>
      <p:sp>
        <p:nvSpPr>
          <p:cNvPr id="10" name="TextBox 9"/>
          <p:cNvSpPr txBox="1"/>
          <p:nvPr/>
        </p:nvSpPr>
        <p:spPr>
          <a:xfrm>
            <a:off x="365760" y="1783080"/>
            <a:ext cx="5486400" cy="365760"/>
          </a:xfrm>
          <a:prstGeom prst="rect">
            <a:avLst/>
          </a:prstGeom>
          <a:noFill/>
        </p:spPr>
        <p:txBody>
          <a:bodyPr wrap="square" anchor="t" lIns="0" rIns="0" tIns="0" bIns="0">
            <a:spAutoFit/>
          </a:bodyPr>
          <a:lstStyle/>
          <a:p>
            <a:pPr algn="l"/>
            <a:r>
              <a:rPr sz="1400" b="1">
                <a:solidFill>
                  <a:srgbClr val="003B71"/>
                </a:solidFill>
                <a:latin typeface="Yu Gothic"/>
                <a:ea typeface="Yu Gothic"/>
              </a:rPr>
              <a:t>■ CCRI 算出式</a:t>
            </a:r>
          </a:p>
        </p:txBody>
      </p:sp>
      <p:sp>
        <p:nvSpPr>
          <p:cNvPr id="11" name="Rectangle 10"/>
          <p:cNvSpPr/>
          <p:nvPr/>
        </p:nvSpPr>
        <p:spPr>
          <a:xfrm>
            <a:off x="365760" y="2194560"/>
            <a:ext cx="5669280" cy="1371600"/>
          </a:xfrm>
          <a:prstGeom prst="rect">
            <a:avLst/>
          </a:prstGeom>
          <a:solidFill>
            <a:srgbClr val="F4F6FA"/>
          </a:solidFill>
          <a:ln w="9525">
            <a:solidFill>
              <a:srgbClr val="003B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286000"/>
            <a:ext cx="5394960" cy="411480"/>
          </a:xfrm>
          <a:prstGeom prst="rect">
            <a:avLst/>
          </a:prstGeom>
          <a:noFill/>
        </p:spPr>
        <p:txBody>
          <a:bodyPr wrap="square" anchor="t" lIns="0" rIns="0" tIns="0" bIns="0">
            <a:spAutoFit/>
          </a:bodyPr>
          <a:lstStyle/>
          <a:p>
            <a:pPr algn="l"/>
            <a:r>
              <a:rPr sz="1250" b="1">
                <a:solidFill>
                  <a:srgbClr val="003B71"/>
                </a:solidFill>
                <a:latin typeface="Yu Gothic"/>
                <a:ea typeface="Yu Gothic"/>
              </a:rPr>
              <a:t>CCRI = 0.50 × (予測値 / P80)</a:t>
            </a:r>
          </a:p>
          <a:p>
            <a:pPr algn="l"/>
            <a:r>
              <a:rPr sz="1250" b="1">
                <a:solidFill>
                  <a:srgbClr val="003B71"/>
                </a:solidFill>
                <a:latin typeface="Yu Gothic"/>
                <a:ea typeface="Yu Gothic"/>
              </a:rPr>
              <a:t>       + 0.30 × P95超過確率</a:t>
            </a:r>
          </a:p>
        </p:txBody>
      </p:sp>
      <p:sp>
        <p:nvSpPr>
          <p:cNvPr id="13" name="TextBox 12"/>
          <p:cNvSpPr txBox="1"/>
          <p:nvPr/>
        </p:nvSpPr>
        <p:spPr>
          <a:xfrm>
            <a:off x="502920" y="3108960"/>
            <a:ext cx="5394960" cy="411480"/>
          </a:xfrm>
          <a:prstGeom prst="rect">
            <a:avLst/>
          </a:prstGeom>
          <a:noFill/>
        </p:spPr>
        <p:txBody>
          <a:bodyPr wrap="square" anchor="t" lIns="0" rIns="0" tIns="0" bIns="0">
            <a:spAutoFit/>
          </a:bodyPr>
          <a:lstStyle/>
          <a:p>
            <a:pPr algn="l"/>
            <a:r>
              <a:rPr sz="1250" b="1">
                <a:solidFill>
                  <a:srgbClr val="003B71"/>
                </a:solidFill>
                <a:latin typeface="Yu Gothic"/>
                <a:ea typeface="Yu Gothic"/>
              </a:rPr>
              <a:t>       + 0.20 × (6h 連続超過時間 / 6)</a:t>
            </a:r>
          </a:p>
        </p:txBody>
      </p:sp>
      <p:sp>
        <p:nvSpPr>
          <p:cNvPr id="14" name="TextBox 13"/>
          <p:cNvSpPr txBox="1"/>
          <p:nvPr/>
        </p:nvSpPr>
        <p:spPr>
          <a:xfrm>
            <a:off x="365760" y="3703320"/>
            <a:ext cx="5486400" cy="365760"/>
          </a:xfrm>
          <a:prstGeom prst="rect">
            <a:avLst/>
          </a:prstGeom>
          <a:noFill/>
        </p:spPr>
        <p:txBody>
          <a:bodyPr wrap="square" anchor="t" lIns="0" rIns="0" tIns="0" bIns="0">
            <a:spAutoFit/>
          </a:bodyPr>
          <a:lstStyle/>
          <a:p>
            <a:pPr algn="l"/>
            <a:r>
              <a:rPr sz="1400" b="1">
                <a:solidFill>
                  <a:srgbClr val="003B71"/>
                </a:solidFill>
                <a:latin typeface="Yu Gothic"/>
                <a:ea typeface="Yu Gothic"/>
              </a:rPr>
              <a:t>■ 警報レベル</a:t>
            </a:r>
          </a:p>
        </p:txBody>
      </p:sp>
      <p:sp>
        <p:nvSpPr>
          <p:cNvPr id="15" name="Rectangle 14"/>
          <p:cNvSpPr/>
          <p:nvPr/>
        </p:nvSpPr>
        <p:spPr>
          <a:xfrm>
            <a:off x="365760" y="4114800"/>
            <a:ext cx="640080" cy="5029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4114800"/>
            <a:ext cx="640080" cy="502920"/>
          </a:xfrm>
          <a:prstGeom prst="rect">
            <a:avLst/>
          </a:prstGeom>
          <a:noFill/>
        </p:spPr>
        <p:txBody>
          <a:bodyPr wrap="square" anchor="ctr" lIns="0" rIns="0" tIns="0" bIns="0">
            <a:spAutoFit/>
          </a:bodyPr>
          <a:lstStyle/>
          <a:p>
            <a:pPr algn="ctr"/>
            <a:r>
              <a:rPr sz="1200" b="1">
                <a:solidFill>
                  <a:srgbClr val="FFFFFF"/>
                </a:solidFill>
                <a:latin typeface="Yu Gothic"/>
                <a:ea typeface="Yu Gothic"/>
              </a:rPr>
              <a:t>高</a:t>
            </a:r>
          </a:p>
        </p:txBody>
      </p:sp>
      <p:sp>
        <p:nvSpPr>
          <p:cNvPr id="17" name="TextBox 16"/>
          <p:cNvSpPr txBox="1"/>
          <p:nvPr/>
        </p:nvSpPr>
        <p:spPr>
          <a:xfrm>
            <a:off x="1097280" y="4114800"/>
            <a:ext cx="2103120" cy="502920"/>
          </a:xfrm>
          <a:prstGeom prst="rect">
            <a:avLst/>
          </a:prstGeom>
          <a:noFill/>
        </p:spPr>
        <p:txBody>
          <a:bodyPr wrap="square" anchor="ctr" lIns="0" rIns="0" tIns="0" bIns="0">
            <a:spAutoFit/>
          </a:bodyPr>
          <a:lstStyle/>
          <a:p>
            <a:pPr algn="l"/>
            <a:r>
              <a:rPr sz="1100" b="1">
                <a:solidFill>
                  <a:srgbClr val="5A5A5A"/>
                </a:solidFill>
                <a:latin typeface="Yu Gothic"/>
                <a:ea typeface="Yu Gothic"/>
              </a:rPr>
              <a:t>Critical CCRI ≥ 0.85</a:t>
            </a:r>
          </a:p>
        </p:txBody>
      </p:sp>
      <p:sp>
        <p:nvSpPr>
          <p:cNvPr id="18" name="TextBox 17"/>
          <p:cNvSpPr txBox="1"/>
          <p:nvPr/>
        </p:nvSpPr>
        <p:spPr>
          <a:xfrm>
            <a:off x="3291840" y="4114800"/>
            <a:ext cx="274320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メール + SMS</a:t>
            </a:r>
          </a:p>
        </p:txBody>
      </p:sp>
      <p:sp>
        <p:nvSpPr>
          <p:cNvPr id="19" name="Rectangle 18"/>
          <p:cNvSpPr/>
          <p:nvPr/>
        </p:nvSpPr>
        <p:spPr>
          <a:xfrm>
            <a:off x="365760" y="4663440"/>
            <a:ext cx="640080" cy="502920"/>
          </a:xfrm>
          <a:prstGeom prst="rect">
            <a:avLst/>
          </a:prstGeom>
          <a:solidFill>
            <a:srgbClr val="E7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4663440"/>
            <a:ext cx="640080" cy="502920"/>
          </a:xfrm>
          <a:prstGeom prst="rect">
            <a:avLst/>
          </a:prstGeom>
          <a:noFill/>
        </p:spPr>
        <p:txBody>
          <a:bodyPr wrap="square" anchor="ctr" lIns="0" rIns="0" tIns="0" bIns="0">
            <a:spAutoFit/>
          </a:bodyPr>
          <a:lstStyle/>
          <a:p>
            <a:pPr algn="ctr"/>
            <a:r>
              <a:rPr sz="1200" b="1">
                <a:solidFill>
                  <a:srgbClr val="FFFFFF"/>
                </a:solidFill>
                <a:latin typeface="Yu Gothic"/>
                <a:ea typeface="Yu Gothic"/>
              </a:rPr>
              <a:t>中</a:t>
            </a:r>
          </a:p>
        </p:txBody>
      </p:sp>
      <p:sp>
        <p:nvSpPr>
          <p:cNvPr id="21" name="TextBox 20"/>
          <p:cNvSpPr txBox="1"/>
          <p:nvPr/>
        </p:nvSpPr>
        <p:spPr>
          <a:xfrm>
            <a:off x="1097280" y="4663440"/>
            <a:ext cx="2103120" cy="502920"/>
          </a:xfrm>
          <a:prstGeom prst="rect">
            <a:avLst/>
          </a:prstGeom>
          <a:noFill/>
        </p:spPr>
        <p:txBody>
          <a:bodyPr wrap="square" anchor="ctr" lIns="0" rIns="0" tIns="0" bIns="0">
            <a:spAutoFit/>
          </a:bodyPr>
          <a:lstStyle/>
          <a:p>
            <a:pPr algn="l"/>
            <a:r>
              <a:rPr sz="1100" b="1">
                <a:solidFill>
                  <a:srgbClr val="5A5A5A"/>
                </a:solidFill>
                <a:latin typeface="Yu Gothic"/>
                <a:ea typeface="Yu Gothic"/>
              </a:rPr>
              <a:t>High 0.65 ≤ CCRI &lt; 0.85</a:t>
            </a:r>
          </a:p>
        </p:txBody>
      </p:sp>
      <p:sp>
        <p:nvSpPr>
          <p:cNvPr id="22" name="TextBox 21"/>
          <p:cNvSpPr txBox="1"/>
          <p:nvPr/>
        </p:nvSpPr>
        <p:spPr>
          <a:xfrm>
            <a:off x="3291840" y="4663440"/>
            <a:ext cx="274320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メール</a:t>
            </a:r>
          </a:p>
        </p:txBody>
      </p:sp>
      <p:sp>
        <p:nvSpPr>
          <p:cNvPr id="23" name="Rectangle 22"/>
          <p:cNvSpPr/>
          <p:nvPr/>
        </p:nvSpPr>
        <p:spPr>
          <a:xfrm>
            <a:off x="365760" y="5212080"/>
            <a:ext cx="640080" cy="502920"/>
          </a:xfrm>
          <a:prstGeom prst="rect">
            <a:avLst/>
          </a:prstGeom>
          <a:solidFill>
            <a:srgbClr val="2D9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5212080"/>
            <a:ext cx="640080" cy="502920"/>
          </a:xfrm>
          <a:prstGeom prst="rect">
            <a:avLst/>
          </a:prstGeom>
          <a:noFill/>
        </p:spPr>
        <p:txBody>
          <a:bodyPr wrap="square" anchor="ctr" lIns="0" rIns="0" tIns="0" bIns="0">
            <a:spAutoFit/>
          </a:bodyPr>
          <a:lstStyle/>
          <a:p>
            <a:pPr algn="ctr"/>
            <a:r>
              <a:rPr sz="1200" b="1">
                <a:solidFill>
                  <a:srgbClr val="FFFFFF"/>
                </a:solidFill>
                <a:latin typeface="Yu Gothic"/>
                <a:ea typeface="Yu Gothic"/>
              </a:rPr>
              <a:t>低</a:t>
            </a:r>
          </a:p>
        </p:txBody>
      </p:sp>
      <p:sp>
        <p:nvSpPr>
          <p:cNvPr id="25" name="TextBox 24"/>
          <p:cNvSpPr txBox="1"/>
          <p:nvPr/>
        </p:nvSpPr>
        <p:spPr>
          <a:xfrm>
            <a:off x="1097280" y="5212080"/>
            <a:ext cx="2103120" cy="502920"/>
          </a:xfrm>
          <a:prstGeom prst="rect">
            <a:avLst/>
          </a:prstGeom>
          <a:noFill/>
        </p:spPr>
        <p:txBody>
          <a:bodyPr wrap="square" anchor="ctr" lIns="0" rIns="0" tIns="0" bIns="0">
            <a:spAutoFit/>
          </a:bodyPr>
          <a:lstStyle/>
          <a:p>
            <a:pPr algn="l"/>
            <a:r>
              <a:rPr sz="1100" b="1">
                <a:solidFill>
                  <a:srgbClr val="5A5A5A"/>
                </a:solidFill>
                <a:latin typeface="Yu Gothic"/>
                <a:ea typeface="Yu Gothic"/>
              </a:rPr>
              <a:t>Normal  CCRI &lt; 0.65</a:t>
            </a:r>
          </a:p>
        </p:txBody>
      </p:sp>
      <p:sp>
        <p:nvSpPr>
          <p:cNvPr id="26" name="TextBox 25"/>
          <p:cNvSpPr txBox="1"/>
          <p:nvPr/>
        </p:nvSpPr>
        <p:spPr>
          <a:xfrm>
            <a:off x="3291840" y="5212080"/>
            <a:ext cx="274320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通知なし</a:t>
            </a:r>
          </a:p>
        </p:txBody>
      </p:sp>
      <p:sp>
        <p:nvSpPr>
          <p:cNvPr id="27" name="TextBox 26"/>
          <p:cNvSpPr txBox="1"/>
          <p:nvPr/>
        </p:nvSpPr>
        <p:spPr>
          <a:xfrm>
            <a:off x="6400800" y="1783080"/>
            <a:ext cx="5486400" cy="365760"/>
          </a:xfrm>
          <a:prstGeom prst="rect">
            <a:avLst/>
          </a:prstGeom>
          <a:noFill/>
        </p:spPr>
        <p:txBody>
          <a:bodyPr wrap="square" anchor="t" lIns="0" rIns="0" tIns="0" bIns="0">
            <a:spAutoFit/>
          </a:bodyPr>
          <a:lstStyle/>
          <a:p>
            <a:pPr algn="l"/>
            <a:r>
              <a:rPr sz="1400" b="1">
                <a:solidFill>
                  <a:srgbClr val="003B71"/>
                </a:solidFill>
                <a:latin typeface="Yu Gothic"/>
                <a:ea typeface="Yu Gothic"/>
              </a:rPr>
              <a:t>■ 配信ワークフロー (1 日 1 回)</a:t>
            </a:r>
          </a:p>
        </p:txBody>
      </p:sp>
      <p:sp>
        <p:nvSpPr>
          <p:cNvPr id="28" name="Rectangle 27"/>
          <p:cNvSpPr/>
          <p:nvPr/>
        </p:nvSpPr>
        <p:spPr>
          <a:xfrm>
            <a:off x="6400800" y="2240280"/>
            <a:ext cx="1554480" cy="502920"/>
          </a:xfrm>
          <a:prstGeom prst="rect">
            <a:avLst/>
          </a:prstGeom>
          <a:solidFill>
            <a:srgbClr val="2A5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2240280"/>
            <a:ext cx="1554480" cy="502920"/>
          </a:xfrm>
          <a:prstGeom prst="rect">
            <a:avLst/>
          </a:prstGeom>
          <a:noFill/>
        </p:spPr>
        <p:txBody>
          <a:bodyPr wrap="square" anchor="ctr" lIns="0" rIns="0" tIns="0" bIns="0">
            <a:spAutoFit/>
          </a:bodyPr>
          <a:lstStyle/>
          <a:p>
            <a:pPr algn="ctr"/>
            <a:r>
              <a:rPr sz="1100" b="1">
                <a:solidFill>
                  <a:srgbClr val="FFFFFF"/>
                </a:solidFill>
                <a:latin typeface="Yu Gothic"/>
                <a:ea typeface="Yu Gothic"/>
              </a:rPr>
              <a:t>当日 16:00</a:t>
            </a:r>
          </a:p>
        </p:txBody>
      </p:sp>
      <p:sp>
        <p:nvSpPr>
          <p:cNvPr id="30" name="TextBox 29"/>
          <p:cNvSpPr txBox="1"/>
          <p:nvPr/>
        </p:nvSpPr>
        <p:spPr>
          <a:xfrm>
            <a:off x="8046720" y="2240280"/>
            <a:ext cx="384048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JMA予報・最新観測の自動取得</a:t>
            </a:r>
          </a:p>
        </p:txBody>
      </p:sp>
      <p:sp>
        <p:nvSpPr>
          <p:cNvPr id="31" name="Rectangle 30"/>
          <p:cNvSpPr/>
          <p:nvPr/>
        </p:nvSpPr>
        <p:spPr>
          <a:xfrm>
            <a:off x="6400800" y="2834640"/>
            <a:ext cx="1554480" cy="502920"/>
          </a:xfrm>
          <a:prstGeom prst="rect">
            <a:avLst/>
          </a:prstGeom>
          <a:solidFill>
            <a:srgbClr val="2A5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2834640"/>
            <a:ext cx="1554480" cy="502920"/>
          </a:xfrm>
          <a:prstGeom prst="rect">
            <a:avLst/>
          </a:prstGeom>
          <a:noFill/>
        </p:spPr>
        <p:txBody>
          <a:bodyPr wrap="square" anchor="ctr" lIns="0" rIns="0" tIns="0" bIns="0">
            <a:spAutoFit/>
          </a:bodyPr>
          <a:lstStyle/>
          <a:p>
            <a:pPr algn="ctr"/>
            <a:r>
              <a:rPr sz="1100" b="1">
                <a:solidFill>
                  <a:srgbClr val="FFFFFF"/>
                </a:solidFill>
                <a:latin typeface="Yu Gothic"/>
                <a:ea typeface="Yu Gothic"/>
              </a:rPr>
              <a:t>当日 16:30</a:t>
            </a:r>
          </a:p>
        </p:txBody>
      </p:sp>
      <p:sp>
        <p:nvSpPr>
          <p:cNvPr id="33" name="TextBox 32"/>
          <p:cNvSpPr txBox="1"/>
          <p:nvPr/>
        </p:nvSpPr>
        <p:spPr>
          <a:xfrm>
            <a:off x="8046720" y="2834640"/>
            <a:ext cx="384048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ハイブリッドモデル予測実行</a:t>
            </a:r>
          </a:p>
        </p:txBody>
      </p:sp>
      <p:sp>
        <p:nvSpPr>
          <p:cNvPr id="34" name="Rectangle 33"/>
          <p:cNvSpPr/>
          <p:nvPr/>
        </p:nvSpPr>
        <p:spPr>
          <a:xfrm>
            <a:off x="6400800" y="3429000"/>
            <a:ext cx="1554480" cy="502920"/>
          </a:xfrm>
          <a:prstGeom prst="rect">
            <a:avLst/>
          </a:prstGeom>
          <a:solidFill>
            <a:srgbClr val="2A5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3429000"/>
            <a:ext cx="1554480" cy="502920"/>
          </a:xfrm>
          <a:prstGeom prst="rect">
            <a:avLst/>
          </a:prstGeom>
          <a:noFill/>
        </p:spPr>
        <p:txBody>
          <a:bodyPr wrap="square" anchor="ctr" lIns="0" rIns="0" tIns="0" bIns="0">
            <a:spAutoFit/>
          </a:bodyPr>
          <a:lstStyle/>
          <a:p>
            <a:pPr algn="ctr"/>
            <a:r>
              <a:rPr sz="1100" b="1">
                <a:solidFill>
                  <a:srgbClr val="FFFFFF"/>
                </a:solidFill>
                <a:latin typeface="Yu Gothic"/>
                <a:ea typeface="Yu Gothic"/>
              </a:rPr>
              <a:t>当日 16:45</a:t>
            </a:r>
          </a:p>
        </p:txBody>
      </p:sp>
      <p:sp>
        <p:nvSpPr>
          <p:cNvPr id="36" name="TextBox 35"/>
          <p:cNvSpPr txBox="1"/>
          <p:nvPr/>
        </p:nvSpPr>
        <p:spPr>
          <a:xfrm>
            <a:off x="8046720" y="3429000"/>
            <a:ext cx="384048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CCRI 算出・警報レベル分類</a:t>
            </a:r>
          </a:p>
        </p:txBody>
      </p:sp>
      <p:sp>
        <p:nvSpPr>
          <p:cNvPr id="37" name="Rectangle 36"/>
          <p:cNvSpPr/>
          <p:nvPr/>
        </p:nvSpPr>
        <p:spPr>
          <a:xfrm>
            <a:off x="6400800" y="4023360"/>
            <a:ext cx="1554480" cy="502920"/>
          </a:xfrm>
          <a:prstGeom prst="rect">
            <a:avLst/>
          </a:prstGeom>
          <a:solidFill>
            <a:srgbClr val="2A5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4023360"/>
            <a:ext cx="1554480" cy="502920"/>
          </a:xfrm>
          <a:prstGeom prst="rect">
            <a:avLst/>
          </a:prstGeom>
          <a:noFill/>
        </p:spPr>
        <p:txBody>
          <a:bodyPr wrap="square" anchor="ctr" lIns="0" rIns="0" tIns="0" bIns="0">
            <a:spAutoFit/>
          </a:bodyPr>
          <a:lstStyle/>
          <a:p>
            <a:pPr algn="ctr"/>
            <a:r>
              <a:rPr sz="1100" b="1">
                <a:solidFill>
                  <a:srgbClr val="FFFFFF"/>
                </a:solidFill>
                <a:latin typeface="Yu Gothic"/>
                <a:ea typeface="Yu Gothic"/>
              </a:rPr>
              <a:t>当日 17:00</a:t>
            </a:r>
          </a:p>
        </p:txBody>
      </p:sp>
      <p:sp>
        <p:nvSpPr>
          <p:cNvPr id="39" name="TextBox 38"/>
          <p:cNvSpPr txBox="1"/>
          <p:nvPr/>
        </p:nvSpPr>
        <p:spPr>
          <a:xfrm>
            <a:off x="8046720" y="4023360"/>
            <a:ext cx="384048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管理者へメール/SMS 配信 ★</a:t>
            </a:r>
          </a:p>
        </p:txBody>
      </p:sp>
      <p:sp>
        <p:nvSpPr>
          <p:cNvPr id="40" name="Rectangle 39"/>
          <p:cNvSpPr/>
          <p:nvPr/>
        </p:nvSpPr>
        <p:spPr>
          <a:xfrm>
            <a:off x="6400800" y="4617720"/>
            <a:ext cx="1554480" cy="502920"/>
          </a:xfrm>
          <a:prstGeom prst="rect">
            <a:avLst/>
          </a:prstGeom>
          <a:solidFill>
            <a:srgbClr val="2A5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0" y="4617720"/>
            <a:ext cx="1554480" cy="502920"/>
          </a:xfrm>
          <a:prstGeom prst="rect">
            <a:avLst/>
          </a:prstGeom>
          <a:noFill/>
        </p:spPr>
        <p:txBody>
          <a:bodyPr wrap="square" anchor="ctr" lIns="0" rIns="0" tIns="0" bIns="0">
            <a:spAutoFit/>
          </a:bodyPr>
          <a:lstStyle/>
          <a:p>
            <a:pPr algn="ctr"/>
            <a:r>
              <a:rPr sz="1100" b="1">
                <a:solidFill>
                  <a:srgbClr val="FFFFFF"/>
                </a:solidFill>
                <a:latin typeface="Yu Gothic"/>
                <a:ea typeface="Yu Gothic"/>
              </a:rPr>
              <a:t>当日 17:00–</a:t>
            </a:r>
          </a:p>
        </p:txBody>
      </p:sp>
      <p:sp>
        <p:nvSpPr>
          <p:cNvPr id="42" name="TextBox 41"/>
          <p:cNvSpPr txBox="1"/>
          <p:nvPr/>
        </p:nvSpPr>
        <p:spPr>
          <a:xfrm>
            <a:off x="8046720" y="4617720"/>
            <a:ext cx="384048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管理者が Soft DR 措置を判断</a:t>
            </a:r>
          </a:p>
        </p:txBody>
      </p:sp>
      <p:sp>
        <p:nvSpPr>
          <p:cNvPr id="43" name="Rectangle 42"/>
          <p:cNvSpPr/>
          <p:nvPr/>
        </p:nvSpPr>
        <p:spPr>
          <a:xfrm>
            <a:off x="6400800" y="5212080"/>
            <a:ext cx="1554480" cy="502920"/>
          </a:xfrm>
          <a:prstGeom prst="rect">
            <a:avLst/>
          </a:prstGeom>
          <a:solidFill>
            <a:srgbClr val="2A5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5212080"/>
            <a:ext cx="1554480" cy="502920"/>
          </a:xfrm>
          <a:prstGeom prst="rect">
            <a:avLst/>
          </a:prstGeom>
          <a:noFill/>
        </p:spPr>
        <p:txBody>
          <a:bodyPr wrap="square" anchor="ctr" lIns="0" rIns="0" tIns="0" bIns="0">
            <a:spAutoFit/>
          </a:bodyPr>
          <a:lstStyle/>
          <a:p>
            <a:pPr algn="ctr"/>
            <a:r>
              <a:rPr sz="1100" b="1">
                <a:solidFill>
                  <a:srgbClr val="FFFFFF"/>
                </a:solidFill>
                <a:latin typeface="Yu Gothic"/>
                <a:ea typeface="Yu Gothic"/>
              </a:rPr>
              <a:t>翌日</a:t>
            </a:r>
          </a:p>
        </p:txBody>
      </p:sp>
      <p:sp>
        <p:nvSpPr>
          <p:cNvPr id="45" name="TextBox 44"/>
          <p:cNvSpPr txBox="1"/>
          <p:nvPr/>
        </p:nvSpPr>
        <p:spPr>
          <a:xfrm>
            <a:off x="8046720" y="5212080"/>
            <a:ext cx="3840480" cy="502920"/>
          </a:xfrm>
          <a:prstGeom prst="rect">
            <a:avLst/>
          </a:prstGeom>
          <a:noFill/>
        </p:spPr>
        <p:txBody>
          <a:bodyPr wrap="square" anchor="ctr" lIns="0" rIns="0" tIns="0" bIns="0">
            <a:spAutoFit/>
          </a:bodyPr>
          <a:lstStyle/>
          <a:p>
            <a:pPr algn="l"/>
            <a:r>
              <a:rPr sz="1100" b="0">
                <a:solidFill>
                  <a:srgbClr val="5A5A5A"/>
                </a:solidFill>
                <a:latin typeface="Yu Gothic"/>
                <a:ea typeface="Yu Gothic"/>
              </a:rPr>
              <a:t>実績との比較で品質検証</a:t>
            </a:r>
          </a:p>
        </p:txBody>
      </p:sp>
      <p:sp>
        <p:nvSpPr>
          <p:cNvPr id="46" name="Rectangle 45"/>
          <p:cNvSpPr/>
          <p:nvPr/>
        </p:nvSpPr>
        <p:spPr>
          <a:xfrm>
            <a:off x="365760" y="5852160"/>
            <a:ext cx="11475720" cy="502920"/>
          </a:xfrm>
          <a:prstGeom prst="rect">
            <a:avLst/>
          </a:prstGeom>
          <a:solidFill>
            <a:srgbClr val="FDE9CE"/>
          </a:solidFill>
          <a:ln w="9525">
            <a:solidFill>
              <a:srgbClr val="E7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5897880"/>
            <a:ext cx="11247120" cy="411480"/>
          </a:xfrm>
          <a:prstGeom prst="rect">
            <a:avLst/>
          </a:prstGeom>
          <a:noFill/>
        </p:spPr>
        <p:txBody>
          <a:bodyPr wrap="square" anchor="ctr" lIns="0" rIns="0" tIns="0" bIns="0">
            <a:spAutoFit/>
          </a:bodyPr>
          <a:lstStyle/>
          <a:p>
            <a:pPr algn="l"/>
            <a:r>
              <a:rPr sz="1250" b="1">
                <a:solidFill>
                  <a:srgbClr val="C8102E"/>
                </a:solidFill>
                <a:latin typeface="Yu Gothic"/>
                <a:ea typeface="Yu Gothic"/>
              </a:rPr>
              <a:t>■ Soft DR 措置の選択 (節電依頼・温度調整・照明・機器シフト等) は 管理者の判断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1680</Words>
  <Application>Microsoft Macintosh PowerPoint</Application>
  <PresentationFormat>宽屏</PresentationFormat>
  <Paragraphs>293</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Yu Gothic</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劉海強</cp:lastModifiedBy>
  <cp:revision>3</cp:revision>
  <dcterms:created xsi:type="dcterms:W3CDTF">2013-01-27T09:14:16Z</dcterms:created>
  <dcterms:modified xsi:type="dcterms:W3CDTF">2026-05-21T06:18:21Z</dcterms:modified>
  <cp:category/>
</cp:coreProperties>
</file>