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皆さま、本日はお時間をいただきありがとうございます。山口大学の○○です。</a:t>
            </a:r>
          </a:p>
          <a:p>
            <a:r>
              <a:t>本日は『気象データに基づくキャンパス電力ピーク予測とSoft DR運用支援』</a:t>
            </a:r>
          </a:p>
          <a:p>
            <a:r>
              <a:t>について発表いたします。</a:t>
            </a:r>
          </a:p>
          <a:p/>
          <a:p>
            <a:r>
              <a:t>Soft DR、つまり「ソフトデマンドレスポンス」とは、空調設定温度の調整や</a:t>
            </a:r>
          </a:p>
          <a:p>
            <a:r>
              <a:t>照明・OA機器の運用最適化など、利用者に強い負担をかけずに需要を抑える</a:t>
            </a:r>
          </a:p>
          <a:p>
            <a:r>
              <a:t>運用全般を指します。</a:t>
            </a:r>
          </a:p>
          <a:p/>
          <a:p>
            <a:r>
              <a:t>本研究では、特に翌日のピーク電力を事前に予測し、Soft DR の発令判断を</a:t>
            </a:r>
          </a:p>
          <a:p>
            <a:r>
              <a:t>支援する仕組みを開発しました。</a:t>
            </a:r>
          </a:p>
          <a:p>
            <a:r>
              <a:t>発表のキーポイントは「相関分析を通じて発見した気象とエネルギー消費の</a:t>
            </a:r>
          </a:p>
          <a:p>
            <a:r>
              <a:t>本質的な関係性」と「それを活かした予測モデル」です。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研究背景を3点でご説明します。</a:t>
            </a:r>
          </a:p>
          <a:p>
            <a:r>
              <a:t>①、気候変動による猛暑で電力需要が増加しています。キャンパス電力の</a:t>
            </a:r>
          </a:p>
          <a:p>
            <a:r>
              <a:t>約4割が空調由来で、ピーク削減の余地が大きい領域です。</a:t>
            </a:r>
          </a:p>
          <a:p>
            <a:r>
              <a:t>②、Soft DR は設定温度や機器運用を「非強制的に」調整する手法で、</a:t>
            </a:r>
          </a:p>
          <a:p>
            <a:r>
              <a:t>5〜10% の節電効果があります。利用者の快適性を保ちながら省エネが可能です。</a:t>
            </a:r>
          </a:p>
          <a:p>
            <a:r>
              <a:t>③、しかし「どの日に発令すべきか」が運用課題です。前日の気象予報から</a:t>
            </a:r>
          </a:p>
          <a:p>
            <a:r>
              <a:t>翌日のピークを予測することで、無駄な発令を避けつつ効果を最大化できます。</a:t>
            </a:r>
          </a:p>
          <a:p>
            <a:r>
              <a:t>本研究の貢献は、気象と電力の関係性を統計的に解明し、それを予測モデルへ</a:t>
            </a:r>
          </a:p>
          <a:p>
            <a:r>
              <a:t>接続したことです。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研究の問いは2つあります。</a:t>
            </a:r>
          </a:p>
          <a:p>
            <a:r>
              <a:t>Q1: どの気象因子が電力ピークを駆動するか?</a:t>
            </a:r>
          </a:p>
          <a:p>
            <a:r>
              <a:t>これを Pearson/Spearman 相関、時刻別層別化、標準化回帰、主成分分析の</a:t>
            </a:r>
          </a:p>
          <a:p>
            <a:r>
              <a:t>4手法で多角的に解明します。</a:t>
            </a:r>
          </a:p>
          <a:p/>
          <a:p>
            <a:r>
              <a:t>Q2: 翌日のピークを精度良く予測できるか?</a:t>
            </a:r>
          </a:p>
          <a:p>
            <a:r>
              <a:t>ハイブリッド気象入力という工夫を加えた LightGBM モデルで予測し、</a:t>
            </a:r>
          </a:p>
          <a:p>
            <a:r>
              <a:t>SHAP 値で解釈します。</a:t>
            </a:r>
          </a:p>
          <a:p/>
          <a:p>
            <a:r>
              <a:t>重要なのは二段階の論理です。Q1 で「気象の影響構造」を統計的に明確化し、</a:t>
            </a:r>
          </a:p>
          <a:p>
            <a:r>
              <a:t>Q2 でその知見を活かして予測モデルを設計、最後に SHAP で「機械学習</a:t>
            </a:r>
          </a:p>
          <a:p>
            <a:r>
              <a:t>モデルが Q1 で発見した要因を重視しているか」を検証します。</a:t>
            </a:r>
          </a:p>
          <a:p>
            <a:r>
              <a:t>統計と機械学習の整合性を担保する設計です。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データと方法をご説明します。</a:t>
            </a:r>
          </a:p>
          <a:p>
            <a:r>
              <a:t>電力データは山口大学キャンパスのBEMSから取得した1時間値、本研究は</a:t>
            </a:r>
          </a:p>
          <a:p>
            <a:r>
              <a:t>主棟 b00 を対象としました。</a:t>
            </a:r>
          </a:p>
          <a:p/>
          <a:p>
            <a:r>
              <a:t>気象データは、観測には ERA5 再解析、予報には JMA MSM の両方を使用</a:t>
            </a:r>
          </a:p>
          <a:p>
            <a:r>
              <a:t>しました。ここで重要なのは、AMeDAS 宇部站の制約です。</a:t>
            </a:r>
          </a:p>
          <a:p>
            <a:r>
              <a:t>宇部站は四要素観測 (気温・風・降水・日照) のみで、湿度や気圧の観測</a:t>
            </a:r>
          </a:p>
          <a:p>
            <a:r>
              <a:t>がありません。そこで、ERA5 という ECMWF の再解析データを採用しました。</a:t>
            </a:r>
          </a:p>
          <a:p>
            <a:r>
              <a:t>ERA5 は全球の高品質格子データで、Hersbach 等 2020 年の論文以降、</a:t>
            </a:r>
          </a:p>
          <a:p>
            <a:r>
              <a:t>エネルギー研究分野で広く採用されています。</a:t>
            </a:r>
          </a:p>
          <a:p/>
          <a:p>
            <a:r>
              <a:t>解析フローは6段階です。①探索 → ②③④⑤で相関構造の解明 → ⑥予測モデル</a:t>
            </a:r>
          </a:p>
          <a:p>
            <a:r>
              <a:t>と SHAP 解釈、と段階的に進めます。</a:t>
            </a:r>
          </a:p>
          <a:p/>
          <a:p>
            <a:r>
              <a:t>なお、今後のデータ拡張として、2025年通年のデータを取得予定で、暖房</a:t>
            </a:r>
          </a:p>
          <a:p>
            <a:r>
              <a:t>需要も含めた評価へ拡張する予定です。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まず探索的分析として、月別の1日の負荷パターンを見ます。</a:t>
            </a:r>
          </a:p>
          <a:p>
            <a:r>
              <a:t>赤い線が7月、青い線が10月です。</a:t>
            </a:r>
          </a:p>
          <a:p>
            <a:r>
              <a:t>7月の真夏は午後2時頃に最大1,360 kWのピークを迎えます。</a:t>
            </a:r>
          </a:p>
          <a:p>
            <a:r>
              <a:t>10月の秋になると1,040 kWまで下がります。差は約 320 kW で、これが</a:t>
            </a:r>
          </a:p>
          <a:p>
            <a:r>
              <a:t>冷房負荷の典型的な大きさです。</a:t>
            </a:r>
          </a:p>
          <a:p>
            <a:r>
              <a:t>全月共通して、朝5〜6時に最低、午後14〜15時に最高、夜にかけて減少</a:t>
            </a:r>
          </a:p>
          <a:p>
            <a:r>
              <a:t>というパターンを示します。</a:t>
            </a:r>
          </a:p>
          <a:p>
            <a:r>
              <a:t>このパターンから、ピーク予測の対象時間帯と、それを駆動する気象要素</a:t>
            </a:r>
          </a:p>
          <a:p>
            <a:r>
              <a:t>の特定が次の課題となります。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次に、各気象変数と電力 b00 の関係を散布図で見ていきます。</a:t>
            </a:r>
          </a:p>
          <a:p>
            <a:r>
              <a:t>6つの代表的な気象変数を表示しています。色は時刻を表します。</a:t>
            </a:r>
          </a:p>
          <a:p/>
          <a:p>
            <a:r>
              <a:t>気温 (左上) と日射量 (右上) は明瞭な正相関を示します。</a:t>
            </a:r>
          </a:p>
          <a:p>
            <a:r>
              <a:t>湿度 (中上) は負相関、つまり湿度が高い日は電力が下がる傾向です。</a:t>
            </a:r>
          </a:p>
          <a:p>
            <a:r>
              <a:t>これは「湿度が高い日 = 曇り雨 = 気温も低め」という気象学的な関係を</a:t>
            </a:r>
          </a:p>
          <a:p>
            <a:r>
              <a:t>反映しています。</a:t>
            </a:r>
          </a:p>
          <a:p>
            <a:r>
              <a:t>WBGT (左下) は非線形で、特に高温域で急増します。</a:t>
            </a:r>
          </a:p>
          <a:p>
            <a:r>
              <a:t>雲量 (中下) は明確な関係が見えにくく、これは「曇りでも気温が高ければ</a:t>
            </a:r>
          </a:p>
          <a:p>
            <a:r>
              <a:t>冷房は使う」ためです。</a:t>
            </a:r>
          </a:p>
          <a:p/>
          <a:p>
            <a:r>
              <a:t>視覚的な傾向は確認できましたが、次に定量的な相関係数で評価します。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こちらが Pearson 相関と Spearman 順位相関のヒートマップです。</a:t>
            </a:r>
          </a:p>
          <a:p>
            <a:r>
              <a:t>左 (a) は時間別データ、右 (b) は日単位に集計後の相関です。</a:t>
            </a:r>
          </a:p>
          <a:p/>
          <a:p>
            <a:r>
              <a:t>時間別データで最も強い相関は:</a:t>
            </a:r>
          </a:p>
          <a:p>
            <a:r>
              <a:t>・日射量: Pearson r = +0.67 (最強の正相関)</a:t>
            </a:r>
          </a:p>
          <a:p>
            <a:r>
              <a:t>・気温: r = +0.57</a:t>
            </a:r>
          </a:p>
          <a:p>
            <a:r>
              <a:t>・湿度: r = -0.52 (最強の負相関)</a:t>
            </a:r>
          </a:p>
          <a:p>
            <a:r>
              <a:t>・体感気温: r = +0.44</a:t>
            </a:r>
          </a:p>
          <a:p>
            <a:r>
              <a:t>・WBGT: r = +0.37</a:t>
            </a:r>
          </a:p>
          <a:p/>
          <a:p>
            <a:r>
              <a:t>日単位に集計すると、相関は若干弱まりますが、傾向は同じです。</a:t>
            </a:r>
          </a:p>
          <a:p>
            <a:r>
              <a:t>これは時間内の細かな変動が平均化されるためです。</a:t>
            </a:r>
          </a:p>
          <a:p/>
          <a:p>
            <a:r>
              <a:t>重要な発見は、「日射」「気温」「湿度」の3変数が支配的な要因</a:t>
            </a:r>
          </a:p>
          <a:p>
            <a:r>
              <a:t>であることです。次に、これが本物の関係性なのか、それとも</a:t>
            </a:r>
          </a:p>
          <a:p>
            <a:r>
              <a:t>「日内変動の見せかけ」なのかを検証します。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これが本研究の重要な発見の一つです。</a:t>
            </a:r>
          </a:p>
          <a:p/>
          <a:p>
            <a:r>
              <a:t>時間別の相関を見ると、日射量と電力は強く相関しますが、これは</a:t>
            </a:r>
          </a:p>
          <a:p>
            <a:r>
              <a:t>「両者が共に正午頃ピークを取る」という時刻の交絡 (confounder) の</a:t>
            </a:r>
          </a:p>
          <a:p>
            <a:r>
              <a:t>可能性があります。つまり擬似相関の懸念があります。</a:t>
            </a:r>
          </a:p>
          <a:p/>
          <a:p>
            <a:r>
              <a:t>そこで、時刻別に層別化した相関を計算しました。これは「同じ時刻</a:t>
            </a:r>
          </a:p>
          <a:p>
            <a:r>
              <a:t>内」で気象と電力がどう動くかを見る分析です。</a:t>
            </a:r>
          </a:p>
          <a:p>
            <a:r>
              <a:t>結果、気温・WBGT・体感気温の正相関は、ほぼすべての時刻で維持</a:t>
            </a:r>
          </a:p>
          <a:p>
            <a:r>
              <a:t>されています。赤色の濃い領域が広く分布しています。</a:t>
            </a:r>
          </a:p>
          <a:p/>
          <a:p>
            <a:r>
              <a:t>これは「暑い日ほど電力が増える」という本質的な気象-電力結合の</a:t>
            </a:r>
          </a:p>
          <a:p>
            <a:r>
              <a:t>存在を実証しており、日射の見かけ相関ではない、と言えます。</a:t>
            </a:r>
          </a:p>
          <a:p>
            <a:r>
              <a:t>次に、これらの相関を「相対的な寄与度」として定量化します。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次に標準化重回帰係数 β です。これは「他の変数の影響を取り除いた</a:t>
            </a:r>
          </a:p>
          <a:p>
            <a:r>
              <a:t>上での各変数の独立な寄与」を表します。</a:t>
            </a:r>
          </a:p>
          <a:p>
            <a:r>
              <a:t>全変数を同じスケールに揃えてから回帰係数を見るので、相対比較が</a:t>
            </a:r>
          </a:p>
          <a:p>
            <a:r>
              <a:t>可能になります。</a:t>
            </a:r>
          </a:p>
          <a:p/>
          <a:p>
            <a:r>
              <a:t>なお、体感気温や WBGT などの派生変数は気温と湿度から計算される</a:t>
            </a:r>
          </a:p>
          <a:p>
            <a:r>
              <a:t>ため、共線性が高く β が不安定です。そのため、7つの独立した</a:t>
            </a:r>
          </a:p>
          <a:p>
            <a:r>
              <a:t>気象変数のみで再回帰しました。</a:t>
            </a:r>
          </a:p>
          <a:p/>
          <a:p>
            <a:r>
              <a:t>結果、最大の正の寄与は日射量、β = +0.41。次が気温、β = +0.22。</a:t>
            </a:r>
          </a:p>
          <a:p>
            <a:r>
              <a:t>湿度は −0.19 と最大の負寄与で、これは「曇り雨の日は電力が下がる」</a:t>
            </a:r>
          </a:p>
          <a:p>
            <a:r>
              <a:t>という関係を反映しています。</a:t>
            </a:r>
          </a:p>
          <a:p/>
          <a:p>
            <a:r>
              <a:t>重要な指標として、R² = 0.527 です。つまり、気象変数だけで</a:t>
            </a:r>
          </a:p>
          <a:p>
            <a:r>
              <a:t>電力分散の53%を説明できることが分かりました。</a:t>
            </a:r>
          </a:p>
          <a:p>
            <a:r>
              <a:t>残りの47%は曜日・時刻・休日・建物特性などの非気象要因です。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次に主成分分析、PCAの結果です。</a:t>
            </a:r>
          </a:p>
          <a:p>
            <a:r>
              <a:t>気象10変数は互いに相関しているため、独立な寄与の解釈が困難です。</a:t>
            </a:r>
          </a:p>
          <a:p>
            <a:r>
              <a:t>そこで、PCA で直交独立な成分 (主成分) に変換しました。</a:t>
            </a:r>
          </a:p>
          <a:p/>
          <a:p>
            <a:r>
              <a:t>結果、PC1 が 41.7%、PC2 が 21.1%、PC3 が 13.1% の分散を説明します。</a:t>
            </a:r>
          </a:p>
          <a:p>
            <a:r>
              <a:t>3つの主成分だけで、気象変動全体の76%を説明できます。</a:t>
            </a:r>
          </a:p>
          <a:p/>
          <a:p>
            <a:r>
              <a:t>残りの4成分は5%以下と寄与が小さく、ノイズに近いと言えます。</a:t>
            </a:r>
          </a:p>
          <a:p>
            <a:r>
              <a:t>つまり、気象の本質的な変動は「3つの軸」で十分捉えられます。</a:t>
            </a:r>
          </a:p>
          <a:p/>
          <a:p>
            <a:r>
              <a:t>次のスライドで、これら3つの主成分が何を意味するかを見ていきます。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PCA の本質、各主成分の構成を見ていきます。</a:t>
            </a:r>
          </a:p>
          <a:p/>
          <a:p>
            <a:r>
              <a:t>左のヒートマップは、各気象変数が各主成分にどれだけ寄与するかを</a:t>
            </a:r>
          </a:p>
          <a:p>
            <a:r>
              <a:t>示しています。</a:t>
            </a:r>
          </a:p>
          <a:p/>
          <a:p>
            <a:r>
              <a:t>PC1 を見ると、気温・WBGT・体感気温が共に高い正の寄与を持っています。</a:t>
            </a:r>
          </a:p>
          <a:p>
            <a:r>
              <a:t>つまり PC1 は「熱関連成分」と解釈できます。</a:t>
            </a:r>
          </a:p>
          <a:p>
            <a:r>
              <a:t>右のバーで、PC1 と b00 の相関は +0.47 ですので、「PC1 が高い日 =</a:t>
            </a:r>
          </a:p>
          <a:p>
            <a:r>
              <a:t>暑い日 = 電力が増える」という直感に合います。</a:t>
            </a:r>
          </a:p>
          <a:p/>
          <a:p>
            <a:r>
              <a:t>PC2 は、湿度が大きな正の寄与、日射量が大きな負の寄与です。つまり</a:t>
            </a:r>
          </a:p>
          <a:p>
            <a:r>
              <a:t>「湿度高く日射弱い日 = 悪天候の日」を表します。</a:t>
            </a:r>
          </a:p>
          <a:p>
            <a:r>
              <a:t>b00 との相関は −0.50 で、悪天候の日は電力が下がります。</a:t>
            </a:r>
          </a:p>
          <a:p/>
          <a:p>
            <a:r>
              <a:t>PC3 は風速・降水が支配的ですが、b00 との相関は +0.16 と小さく、</a:t>
            </a:r>
          </a:p>
          <a:p>
            <a:r>
              <a:t>影響は限定的です。</a:t>
            </a:r>
          </a:p>
          <a:p/>
          <a:p>
            <a:r>
              <a:t>まとめると、気象変動は「熱」と「天候」という2つの軸で大半が表現</a:t>
            </a:r>
          </a:p>
          <a:p>
            <a:r>
              <a:t>でき、これらが電力に強く影響することが定量的に示されました。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次に予測モデルです。Q1 で発見した気象の影響構造を活かして、</a:t>
            </a:r>
          </a:p>
          <a:p>
            <a:r>
              <a:t>翌日のピーク予測モデルを構築しました。</a:t>
            </a:r>
          </a:p>
          <a:p/>
          <a:p>
            <a:r>
              <a:t>工夫として「ハイブリッド気象入力」を提案します。</a:t>
            </a:r>
          </a:p>
          <a:p>
            <a:r>
              <a:t>過去の気象はERA5の観測値を、未来の気象は JMA予報を使い分けます。</a:t>
            </a:r>
          </a:p>
          <a:p>
            <a:r>
              <a:t>これにより、訓練データの質を保ちつつ、実運用時の現実性も担保</a:t>
            </a:r>
          </a:p>
          <a:p>
            <a:r>
              <a:t>できます。</a:t>
            </a:r>
          </a:p>
          <a:p/>
          <a:p>
            <a:r>
              <a:t>左の図は3つのアーキテクチャの比較です。</a:t>
            </a:r>
          </a:p>
          <a:p>
            <a:r>
              <a:t>・A: 観測のみ (理論上限) MAE 50.7 kW</a:t>
            </a:r>
          </a:p>
          <a:p>
            <a:r>
              <a:t>・B: 予報のみ (従来手法) MAE 59.7 kW</a:t>
            </a:r>
          </a:p>
          <a:p>
            <a:r>
              <a:t>・C: ハイブリッド (本研究) MAE 54.0 kW</a:t>
            </a:r>
          </a:p>
          <a:p>
            <a:r>
              <a:t>提案手法は理論上限とわずか 6% の差、従来手法より 10% 改善です。</a:t>
            </a:r>
          </a:p>
          <a:p/>
          <a:p>
            <a:r>
              <a:t>右の図は実際の予測結果です。青が実測、オレンジが予測です。</a:t>
            </a:r>
          </a:p>
          <a:p>
            <a:r>
              <a:t>複数のピーク日を正しく追従できています。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最後に、機械学習モデルの解釈です。SHAP値で各特徴量の予測寄与を</a:t>
            </a:r>
          </a:p>
          <a:p>
            <a:r>
              <a:t>可視化しました。</a:t>
            </a:r>
          </a:p>
          <a:p/>
          <a:p>
            <a:r>
              <a:t>上位の特徴量を見ると、興味深い結果が出ています。</a:t>
            </a:r>
          </a:p>
          <a:p>
            <a:r>
              <a:t>1位: 前週同時刻負荷 — 週周期パターン</a:t>
            </a:r>
          </a:p>
          <a:p>
            <a:r>
              <a:t>2位: 営業日フラグ — 平日と休日の差</a:t>
            </a:r>
          </a:p>
          <a:p>
            <a:r>
              <a:t>3位: 前日同時刻気温 — 暑熱の連続性</a:t>
            </a:r>
          </a:p>
          <a:p>
            <a:r>
              <a:t>4位: 前日同時刻負荷 — 短期的な状態継続</a:t>
            </a:r>
          </a:p>
          <a:p>
            <a:r>
              <a:t>5位: 年内日付 — 季節性</a:t>
            </a:r>
          </a:p>
          <a:p>
            <a:r>
              <a:t>6位: 日射量 (予報) — Q1 で発見した最強の気象因子</a:t>
            </a:r>
          </a:p>
          <a:p/>
          <a:p>
            <a:r>
              <a:t>重要なのは、Q1 の相関分析・PCA で発見した「熱関連変数 (気温・WBGT)」</a:t>
            </a:r>
          </a:p>
          <a:p>
            <a:r>
              <a:t>と「日射量」が SHAP の上位にも入っていることです。</a:t>
            </a:r>
          </a:p>
          <a:p>
            <a:r>
              <a:t>これは「機械学習モデルが統計分析と整合的な要因を学んだ」ことの</a:t>
            </a:r>
          </a:p>
          <a:p>
            <a:r>
              <a:t>検証になります。</a:t>
            </a:r>
          </a:p>
          <a:p/>
          <a:p>
            <a:r>
              <a:t>加えて、機械学習モデルは「前週負荷」「前日負荷」など、相関分析</a:t>
            </a:r>
          </a:p>
          <a:p>
            <a:r>
              <a:t>だけでは見えない時間構造も学習しており、これが予測精度の向上に</a:t>
            </a:r>
          </a:p>
          <a:p>
            <a:r>
              <a:t>つながっています。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最後にまとめです。</a:t>
            </a:r>
          </a:p>
          <a:p/>
          <a:p>
            <a:r>
              <a:t>達成した成果は3点です。</a:t>
            </a:r>
          </a:p>
          <a:p>
            <a:r>
              <a:t>1つ目、Q1 「気象-電力関係の解明」: 気象変数だけで電力分散の 53% を</a:t>
            </a:r>
          </a:p>
          <a:p>
            <a:r>
              <a:t>説明できることを示し、主成分分析で「熱」と「湿度×日射」の2軸が</a:t>
            </a:r>
          </a:p>
          <a:p>
            <a:r>
              <a:t>気象変動の63%を要約することを発見しました。</a:t>
            </a:r>
          </a:p>
          <a:p/>
          <a:p>
            <a:r>
              <a:t>2つ目、Q2 「翌日ピーク予測の達成」: ハイブリッド気象入力という</a:t>
            </a:r>
          </a:p>
          <a:p>
            <a:r>
              <a:t>工夫により、MAE 54 kWの精度を達成、観測のみの理論上限の 94% の</a:t>
            </a:r>
          </a:p>
          <a:p>
            <a:r>
              <a:t>精度を実運用環境で実現しました。</a:t>
            </a:r>
          </a:p>
          <a:p/>
          <a:p>
            <a:r>
              <a:t>3つ目、SHAP 解析により、機械学習モデルが統計分析の発見と整合的</a:t>
            </a:r>
          </a:p>
          <a:p>
            <a:r>
              <a:t>な要因を学んでいることを確認できました。</a:t>
            </a:r>
          </a:p>
          <a:p/>
          <a:p>
            <a:r>
              <a:t>今後の課題は4点です。データ拡張 (2025年通年・冬季暖房評価)、他棟</a:t>
            </a:r>
          </a:p>
          <a:p>
            <a:r>
              <a:t>へのスケール、Soft DR 実機運用試験、CCRI 閾値の最適化です。</a:t>
            </a:r>
          </a:p>
          <a:p/>
          <a:p>
            <a:r>
              <a:t>以上で発表を終わります。ご清聴ありがとうございました。</a:t>
            </a:r>
          </a:p>
          <a:p>
            <a:r>
              <a:t>ご質問をお願いいたします。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山口大学  YAMAGUCHI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Yu Gothic"/>
                <a:ea typeface="Yu Gothic"/>
              </a:rPr>
              <a:t>気象データに基づく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Yu Gothic"/>
                <a:ea typeface="Yu Gothic"/>
              </a:rPr>
              <a:t>キャンパス電力ピーク予測とSoft DR運用支援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FC880"/>
                </a:solidFill>
                <a:latin typeface="Yu Gothic"/>
                <a:ea typeface="Yu Gothic"/>
              </a:rPr>
              <a:t>— 相関分析・主成分分析・ハイブリッド予測の統合アプローチ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Yu Gothic"/>
                <a:ea typeface="Yu Gothic"/>
              </a:rPr>
              <a:t>発表者: ○○ ○○ (山口大学 ○○研究室)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Yu Gothic"/>
                <a:ea typeface="Yu Gothic"/>
              </a:rPr>
              <a:t>省エネ研究会 /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研究背景と課題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なぜキャンパス電力ピークの予測が必要か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3657600" cy="5486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9280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①.  気候変動と猛暑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365760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003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3246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・近年の夏季猛暑による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電力需要急増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・キャンパス電力の約 40%が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空調由来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・契約電力の更新は経費直結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828800"/>
            <a:ext cx="3657600" cy="548640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89280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②.  Soft DR の有効性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377440"/>
            <a:ext cx="365760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E7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514600"/>
            <a:ext cx="3246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・設定温度を1〜2℃上げる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だけで 5〜10% 削減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・照明・機器の調整も含む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「非強制」DR 手法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・快適性を犠牲にしない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657600" cy="548640"/>
          </a:xfrm>
          <a:prstGeom prst="rect">
            <a:avLst/>
          </a:prstGeom>
          <a:solidFill>
            <a:srgbClr val="2D9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9280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③.  予測ベース発令判断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377440"/>
            <a:ext cx="3657600" cy="3108960"/>
          </a:xfrm>
          <a:prstGeom prst="rect">
            <a:avLst/>
          </a:prstGeom>
          <a:solidFill>
            <a:srgbClr val="F4F6FA"/>
          </a:solidFill>
          <a:ln w="9525">
            <a:solidFill>
              <a:srgbClr val="2D9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514600"/>
            <a:ext cx="3246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・前日の気象予報から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翌日ピークを予測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・「いつ Soft DR を発令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  すべきか」を判断</a:t>
            </a:r>
          </a:p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・無駄な発令を回避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1"/>
                </a:solidFill>
                <a:latin typeface="Yu Gothic"/>
                <a:ea typeface="Yu Gothic"/>
              </a:rPr>
              <a:t>■ 本研究の貢献: 気象と電力の関係性を統計的に解明 → 予測モデルへ接続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研究の問いとアプローチ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二段階アプローチ: 理解 → 予測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577840" cy="50292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Q1. どの気象因子が電力ピークを駆動するか?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31720"/>
            <a:ext cx="5577840" cy="2286000"/>
          </a:xfrm>
          <a:prstGeom prst="rect">
            <a:avLst/>
          </a:prstGeom>
          <a:solidFill>
            <a:srgbClr val="F4F6FA"/>
          </a:solidFill>
          <a:ln w="9525">
            <a:solidFill>
              <a:srgbClr val="003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5394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解析手段: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・Pearson / Spearman 相関係数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・時刻別 層別化相関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・標準化重回帰係数 (β)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・主成分分析 (PCA)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→ 気象10変数 → 本質的な軸 (PC) に圧縮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01952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Q2. 翌日のピークを精度良く予測できるか?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331720"/>
            <a:ext cx="5577840" cy="2286000"/>
          </a:xfrm>
          <a:prstGeom prst="rect">
            <a:avLst/>
          </a:prstGeom>
          <a:solidFill>
            <a:srgbClr val="F4F6FA"/>
          </a:solidFill>
          <a:ln w="9525">
            <a:solidFill>
              <a:srgbClr val="E7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5394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予測手法: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・ハイブリッド気象入力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  (過去=観測、未来=JMA予報)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・LightGBM 回帰モデル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・SHAP 値による解釈</a:t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50" b="0">
                <a:solidFill>
                  <a:srgbClr val="5A5A5A"/>
                </a:solidFill>
                <a:latin typeface="Yu Gothic"/>
                <a:ea typeface="Yu Gothic"/>
              </a:rPr>
              <a:t>→ 17時時点で翌24時間ピークを推定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37760"/>
            <a:ext cx="11475720" cy="914400"/>
          </a:xfrm>
          <a:prstGeom prst="rect">
            <a:avLst/>
          </a:prstGeom>
          <a:solidFill>
            <a:srgbClr val="FDE9CE"/>
          </a:solidFill>
          <a:ln w="9525">
            <a:solidFill>
              <a:srgbClr val="E7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B71"/>
                </a:solidFill>
                <a:latin typeface="Yu Gothic"/>
                <a:ea typeface="Yu Gothic"/>
              </a:rPr>
              <a:t>■ 二段階の論理: Q1 で気象の影響構造を明確化 → Q2 でその知見を予測に活用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Yu Gothic"/>
                <a:ea typeface="Yu Gothic"/>
              </a:rPr>
              <a:t>  気象 → 電力ピークの「決定要因」を統計的に同定 → 機械学習モデルが同じ要因を重視するか SHAP で検証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データと方法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使用期間: 2025-07-20 → 2025-10-26 (2,145 有効時間)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1"/>
                </a:solidFill>
                <a:latin typeface="Yu Gothic"/>
                <a:ea typeface="Yu Gothic"/>
              </a:rPr>
              <a:t>■ データ源 (重要: 観測データはERA5再解析を使用)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3B71"/>
                </a:solidFill>
                <a:latin typeface="Yu Gothic"/>
                <a:ea typeface="Yu Gothic"/>
              </a:rPr>
              <a:t>電力 (1h)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28600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BEMS 山口大学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86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建物別 b00–b15  (本研究は b00 主棟)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0604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3B71"/>
                </a:solidFill>
                <a:latin typeface="Yu Gothic"/>
                <a:ea typeface="Yu Gothic"/>
              </a:rPr>
              <a:t>気象観測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60604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ERA5 再解析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6060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気温/湿度/日射/気圧/雲/風/降水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2608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3B71"/>
                </a:solidFill>
                <a:latin typeface="Yu Gothic"/>
                <a:ea typeface="Yu Gothic"/>
              </a:rPr>
              <a:t>気象予報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92608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JMA MSM 5km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92608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気温/湿度/日射 等 (+39h)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46120"/>
            <a:ext cx="1920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3B71"/>
                </a:solidFill>
                <a:latin typeface="Yu Gothic"/>
                <a:ea typeface="Yu Gothic"/>
              </a:rPr>
              <a:t>派生量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24612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(計算)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24612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WBGT, 体感気温, 露点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57600"/>
            <a:ext cx="6400800" cy="1280160"/>
          </a:xfrm>
          <a:prstGeom prst="rect">
            <a:avLst/>
          </a:prstGeom>
          <a:solidFill>
            <a:srgbClr val="FDE9CE"/>
          </a:solidFill>
          <a:ln w="9525">
            <a:solidFill>
              <a:srgbClr val="E7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21608"/>
            <a:ext cx="6126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C8102E"/>
                </a:solidFill>
                <a:latin typeface="Yu Gothic"/>
                <a:ea typeface="Yu Gothic"/>
              </a:rPr>
              <a:t>※ AMeDAS 宇部站の制約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041648"/>
            <a:ext cx="61264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・AMeDAS 宇部は四要素観測 (気温・風・降水・日照) のみ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・湿度・気圧データなし → ERA5 再解析を採用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・ERA5: 全球グリッド 31km、地点補間で高品質、IF~7誌で広く採用 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  (Hersbach et al. 2020, Q.J.R.M.S.)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1828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1"/>
                </a:solidFill>
                <a:latin typeface="Yu Gothic"/>
                <a:ea typeface="Yu Gothic"/>
              </a:rPr>
              <a:t>■ 解析フロー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2286000"/>
            <a:ext cx="502920" cy="41148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2286000"/>
            <a:ext cx="502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33172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Yu Gothic"/>
                <a:ea typeface="Yu Gothic"/>
              </a:rPr>
              <a:t>探索的データ分析 (パターン把握)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2788920"/>
            <a:ext cx="502920" cy="41148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2788920"/>
            <a:ext cx="502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283464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Yu Gothic"/>
                <a:ea typeface="Yu Gothic"/>
              </a:rPr>
              <a:t>ペアワイズ相関 (Pearson, Spearman)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3291840"/>
            <a:ext cx="502920" cy="41148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3291840"/>
            <a:ext cx="502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337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Yu Gothic"/>
                <a:ea typeface="Yu Gothic"/>
              </a:rPr>
              <a:t>時刻別層別化相関 (日内変動の除去)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3794760"/>
            <a:ext cx="502920" cy="411480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3794760"/>
            <a:ext cx="502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384048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Yu Gothic"/>
                <a:ea typeface="Yu Gothic"/>
              </a:rPr>
              <a:t>標準化重回帰 (相対寄与度)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4297680"/>
            <a:ext cx="502920" cy="411480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40" y="4297680"/>
            <a:ext cx="502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34340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Yu Gothic"/>
                <a:ea typeface="Yu Gothic"/>
              </a:rPr>
              <a:t>主成分分析 (本質的な軸の抽出)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8040" y="4800600"/>
            <a:ext cx="502920" cy="4114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4800600"/>
            <a:ext cx="502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84632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Yu Gothic"/>
                <a:ea typeface="Yu Gothic"/>
              </a:rPr>
              <a:t>ハイブリッド予測モデル + SHAP 解釈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78A00"/>
                </a:solidFill>
                <a:latin typeface="Yu Gothic"/>
                <a:ea typeface="Yu Gothic"/>
              </a:rPr>
              <a:t>■ 今後のデータ拡張: 2025年通年 (1月〜12月) データを取得予定 → 暖房需要も評価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5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探索的分析: 日内・月別 負荷パターン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→ ①「夏季の14時頃にピーク」「平日と休日で大差」を確認</a:t>
            </a:r>
          </a:p>
        </p:txBody>
      </p:sp>
      <p:pic>
        <p:nvPicPr>
          <p:cNvPr id="10" name="Picture 9" descr="pres_01_overview_dail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73152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18288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1"/>
                </a:solidFill>
                <a:latin typeface="Yu Gothic"/>
                <a:ea typeface="Yu Gothic"/>
              </a:rPr>
              <a:t>■ 主な観察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86000"/>
            <a:ext cx="41148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1. ピーク時刻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全月 14〜15時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2. ピーク振幅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7月: 1,360 kW (最大)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10月: 1,040 kW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3. 夏季と秋季の差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冷房負荷で約 320 kW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4. ベース負荷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早朝5〜6時に 550〜700 kW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6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気象 × 電力 散布図グリッド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→ ②各気象変数と b00 の関係を視覚的に確認 (色: 時刻)</a:t>
            </a:r>
          </a:p>
        </p:txBody>
      </p:sp>
      <p:pic>
        <p:nvPicPr>
          <p:cNvPr id="10" name="Picture 9" descr="corr_03_scatte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9144000" cy="5403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92640" y="18288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1"/>
                </a:solidFill>
                <a:latin typeface="Yu Gothic"/>
                <a:ea typeface="Yu Gothic"/>
              </a:rPr>
              <a:t>■ 視覚的所見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286000"/>
            <a:ext cx="22860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・気温 (左上)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  明瞭な正相関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・湿度 (中上)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  負相関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・日射量 (右上)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  最も強い正相関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・WBGT (左下)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  非線形 (高温で急増)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・雲量 (中下)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  明確な関係なし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・体感気温 (右下)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Yu Gothic"/>
                <a:ea typeface="Yu Gothic"/>
              </a:rPr>
              <a:t>  正相関、線形に近い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7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相関分析①  Pearson / Spearman 相関係数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→ ③定量的に「電力を駆動する気象因子」をランク付け</a:t>
            </a:r>
          </a:p>
        </p:txBody>
      </p:sp>
      <p:pic>
        <p:nvPicPr>
          <p:cNvPr id="10" name="Picture 9" descr="corr_01_pears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5852160" cy="3901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60807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5A5A5A"/>
                </a:solidFill>
                <a:latin typeface="Yu Gothic"/>
                <a:ea typeface="Yu Gothic"/>
              </a:rPr>
              <a:t>(a) 時間別データ (n=2,635 hours)</a:t>
            </a:r>
          </a:p>
        </p:txBody>
      </p:sp>
      <p:pic>
        <p:nvPicPr>
          <p:cNvPr id="12" name="Picture 11" descr="corr_02_dail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669280" cy="3779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608076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5A5A5A"/>
                </a:solidFill>
                <a:latin typeface="Yu Gothic"/>
                <a:ea typeface="Yu Gothic"/>
              </a:rPr>
              <a:t>(b) 日単位集計後 (n=113 days)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8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相関分析②  時刻別 層別化相関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→ ④日内変動の交絡を除去 → 真の気象効果を抽出</a:t>
            </a:r>
          </a:p>
        </p:txBody>
      </p:sp>
      <p:pic>
        <p:nvPicPr>
          <p:cNvPr id="10" name="Picture 9" descr="corr_04_hourly_strat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11430000" cy="519545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5394960"/>
            <a:ext cx="11475720" cy="1005840"/>
          </a:xfrm>
          <a:prstGeom prst="rect">
            <a:avLst/>
          </a:prstGeom>
          <a:solidFill>
            <a:srgbClr val="FDE9CE"/>
          </a:solidFill>
          <a:ln w="9525">
            <a:solidFill>
              <a:srgbClr val="E7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B71"/>
                </a:solidFill>
                <a:latin typeface="Yu Gothic"/>
                <a:ea typeface="Yu Gothic"/>
              </a:rPr>
              <a:t>■ 重要な発見:  時刻を固定しても気温・WBGT・体感気温の正相関は維持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→ 「日射と電力が共にピークを取るのは時刻が同じだから」という擬似相関ではなく、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    「暑い日ほど電力が増える」という本質的な気象-電力結合が存在することを実証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9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相関分析③  標準化重回帰係数 β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→ ⑤各気象変数の「相対的寄与度」を一つの指標で比較</a:t>
            </a:r>
          </a:p>
        </p:txBody>
      </p:sp>
      <p:pic>
        <p:nvPicPr>
          <p:cNvPr id="10" name="Picture 9" descr="corr_07_standardized_b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7315200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18288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1"/>
                </a:solidFill>
                <a:latin typeface="Yu Gothic"/>
                <a:ea typeface="Yu Gothic"/>
              </a:rPr>
              <a:t>■ 主な所見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86000"/>
            <a:ext cx="41148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1. 最大の正寄与: 日射量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β = +0.41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2. 次点: 気温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β = +0.22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3. 最大の負寄与: 湿度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β = −0.19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4. 寄与小: 風速・降水・雲量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5. R² = 0.527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気象だけで電力分散の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53% を説明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10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主成分分析①  各主成分の寄与率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→ ⑥気象10変数を「独立な3軸」に次元削減</a:t>
            </a:r>
          </a:p>
        </p:txBody>
      </p:sp>
      <p:pic>
        <p:nvPicPr>
          <p:cNvPr id="10" name="Picture 9" descr="corr_05_pca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73152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0" y="18288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1"/>
                </a:solidFill>
                <a:latin typeface="Yu Gothic"/>
                <a:ea typeface="Yu Gothic"/>
              </a:rPr>
              <a:t>■ なぜ PCA を使うか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86000"/>
            <a:ext cx="41148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問題: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気象10変数は互いに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相関 → 寄与解釈が困難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解決: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PCAで直交独立な成分に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変換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結果: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・PC1: 41.7%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・PC2: 21.1%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・PC3: 13.1%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→ 3成分で 76% を説明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11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主成分分析②  各主成分の構成と b00 への影響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→ ⑦各主成分の物理的意味を解明 + b00 との関係性を定量化</a:t>
            </a:r>
          </a:p>
        </p:txBody>
      </p:sp>
      <p:pic>
        <p:nvPicPr>
          <p:cNvPr id="10" name="Picture 9" descr="corr_06_pca_lo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11430000" cy="51683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5394960"/>
            <a:ext cx="11475720" cy="1005840"/>
          </a:xfrm>
          <a:prstGeom prst="rect">
            <a:avLst/>
          </a:prstGeom>
          <a:solidFill>
            <a:srgbClr val="FDE9CE"/>
          </a:solidFill>
          <a:ln w="9525">
            <a:solidFill>
              <a:srgbClr val="E7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3B71"/>
                </a:solidFill>
                <a:latin typeface="Yu Gothic"/>
                <a:ea typeface="Yu Gothic"/>
              </a:rPr>
              <a:t>■ 主成分の物理的解釈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2471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・PC1 (41.7%) = 「熱関連成分」  気温・WBGT・体感気温が同方向 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                                        → b00 と r=+0.47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・PC2 (21.1%) = 「湿度↑×日射↓ の悪天候成分」  湿度高くて日射弱い日  → b00 と r=−0.50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・PC3 (13.1%) = 「風・降水成分」  影響小 (b00 との相関 +0.16)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12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予測モデル: ハイブリッド気象入力 + 結果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Q1 の知見を活用 → 翌日ピーク予測 (MAE = 54.0 kW)</a:t>
            </a:r>
          </a:p>
        </p:txBody>
      </p:sp>
      <p:pic>
        <p:nvPicPr>
          <p:cNvPr id="10" name="Picture 9" descr="pres_03_arch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6400800" cy="2844800"/>
          </a:xfrm>
          <a:prstGeom prst="rect">
            <a:avLst/>
          </a:prstGeom>
        </p:spPr>
      </p:pic>
      <p:pic>
        <p:nvPicPr>
          <p:cNvPr id="11" name="Picture 10" descr="pres_04_holdout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37360"/>
            <a:ext cx="5120640" cy="20948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521208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78A00"/>
                </a:solidFill>
                <a:latin typeface="Yu Gothic"/>
                <a:ea typeface="Yu Gothic"/>
              </a:rPr>
              <a:t>■ ポイント: 観測のみ (理論上限) との差はわずか 6%、予報のみ (従来) より 10% 改善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623560"/>
            <a:ext cx="11430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・最終性能:  MAE = 54.0 kW,  R² = 0.905,  MAPE = 7.28%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・「過去の気象は観測、未来の気象は予報」というハイブリッド入力で、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 訓練データの質と部署時の現実性を両立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13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解釈と検証: SHAP値が示す重要特徴量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→ ⑧機械学習モデルが「相関分析の発見」と一致する特徴量を重視</a:t>
            </a:r>
          </a:p>
        </p:txBody>
      </p:sp>
      <p:pic>
        <p:nvPicPr>
          <p:cNvPr id="10" name="Picture 9" descr="pres_06_shap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73152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18288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3B71"/>
                </a:solidFill>
                <a:latin typeface="Yu Gothic"/>
                <a:ea typeface="Yu Gothic"/>
              </a:rPr>
              <a:t>■ 統計分析との整合性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86000"/>
            <a:ext cx="41148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PCA / 相関分析の発見: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→ 熱関連 (PC1) + 過去負荷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SHAP の上位特徴量: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1. 前週同時刻負荷 (週周期)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2. 営業日フラグ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3. 前日同時刻気温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4. 前日同時刻負荷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5. 年内日付 (季節性)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6. 日射量 (予報)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→ 統計 (気象) +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  時間構造 (過去・周期)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Yu Gothic"/>
                <a:ea typeface="Yu Gothic"/>
              </a:rPr>
              <a:t>    の両方を学習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058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"/>
                <a:ea typeface="Yu Gothic"/>
              </a:rPr>
              <a:t>省エネ研究 (山口大学) — 気象 × 電力 相関解析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"/>
            <a:ext cx="14630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Yu Gothic"/>
                <a:ea typeface="Yu Gothic"/>
              </a:rPr>
              <a:t>Slide 14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56832"/>
            <a:ext cx="91440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Yu Gothic"/>
                <a:ea typeface="Yu Gothic"/>
              </a:rPr>
              <a:t>山口大学 Yamaguchi University — 省エネ研究会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3B71"/>
                </a:solidFill>
                <a:latin typeface="Yu Gothic"/>
                <a:ea typeface="Yu Gothic"/>
              </a:rPr>
              <a:t>まとめと今後の課題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1097280" cy="54864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Yu Gothic"/>
                <a:ea typeface="Yu Gothic"/>
              </a:rPr>
              <a:t>達成内容と次のステップ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5669280" cy="45720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92807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■ 達成した成果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5669280" cy="3291840"/>
          </a:xfrm>
          <a:prstGeom prst="rect">
            <a:avLst/>
          </a:prstGeom>
          <a:solidFill>
            <a:srgbClr val="F4F6FA"/>
          </a:solidFill>
          <a:ln w="9525">
            <a:solidFill>
              <a:srgbClr val="003B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23160"/>
            <a:ext cx="53949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1. Q1. 気象-電力関係の解明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・気象変数だけで b00 分散の 53% を説明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・主成分 PC1 (熱) +PC2 (湿度×日射) で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  気象変動の 63% を要約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2. Q2. 翌日ピーク予測の達成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・ハイブリッド手法で MAE = 54 kW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・観測上限の 94% の精度を実運用で実現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3. SHAP による統計-機械学習の整合性確認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5577840" cy="457200"/>
          </a:xfrm>
          <a:prstGeom prst="rect">
            <a:avLst/>
          </a:prstGeom>
          <a:solidFill>
            <a:srgbClr val="E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92807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■ 今後の課題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286000"/>
            <a:ext cx="5577840" cy="3291840"/>
          </a:xfrm>
          <a:prstGeom prst="rect">
            <a:avLst/>
          </a:prstGeom>
          <a:solidFill>
            <a:srgbClr val="F4F6FA"/>
          </a:solidFill>
          <a:ln w="9525">
            <a:solidFill>
              <a:srgbClr val="E7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303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1. データ拡張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・2025年通年データの取得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・冬季 (暖房) 需要の評価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2. 他棟へのスケール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・b01-b15 各棟への適用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3. Soft DR 実機運用試験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・現場担当者との連携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    ・反事実的削減効果の検証</a:t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/>
            </a:r>
          </a:p>
          <a:p>
            <a:pPr algn="l"/>
            <a:r>
              <a:rPr sz="1200" b="0">
                <a:solidFill>
                  <a:srgbClr val="5A5A5A"/>
                </a:solidFill>
                <a:latin typeface="Yu Gothic"/>
                <a:ea typeface="Yu Gothic"/>
              </a:rPr>
              <a:t>4. CCRI 閾値の最適化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669280"/>
            <a:ext cx="11475720" cy="594360"/>
          </a:xfrm>
          <a:prstGeom prst="rect">
            <a:avLst/>
          </a:prstGeom>
          <a:solidFill>
            <a:srgbClr val="00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715000"/>
            <a:ext cx="11475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  <a:ea typeface="Yu Gothic"/>
              </a:rPr>
              <a:t>ご清聴ありがとうございました。  ご質問をお待ちしております。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